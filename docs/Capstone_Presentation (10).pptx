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s/modernComment_106_0.xml" ContentType="application/vnd.ms-powerpoint.comments+xml"/>
  <Override PartName="/ppt/comments/modernComment_107_0.xml" ContentType="application/vnd.ms-powerpoint.comments+xml"/>
  <Override PartName="/ppt/comments/modernComment_108_0.xml" ContentType="application/vnd.ms-powerpoint.comments+xml"/>
  <Override PartName="/ppt/comments/modernComment_10A_0.xml" ContentType="application/vnd.ms-powerpoint.comments+xml"/>
  <Override PartName="/ppt/comments/modernComment_118_0.xml" ContentType="application/vnd.ms-powerpoint.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73" r:id="rId4"/>
  </p:sldMasterIdLst>
  <p:notesMasterIdLst>
    <p:notesMasterId r:id="rId26"/>
  </p:notesMasterIdLst>
  <p:sldIdLst>
    <p:sldId id="256" r:id="rId5"/>
    <p:sldId id="257" r:id="rId6"/>
    <p:sldId id="258" r:id="rId7"/>
    <p:sldId id="260" r:id="rId8"/>
    <p:sldId id="285" r:id="rId9"/>
    <p:sldId id="261" r:id="rId10"/>
    <p:sldId id="262" r:id="rId11"/>
    <p:sldId id="266" r:id="rId12"/>
    <p:sldId id="263" r:id="rId13"/>
    <p:sldId id="264" r:id="rId14"/>
    <p:sldId id="280" r:id="rId15"/>
    <p:sldId id="265" r:id="rId16"/>
    <p:sldId id="283" r:id="rId17"/>
    <p:sldId id="284" r:id="rId18"/>
    <p:sldId id="289" r:id="rId19"/>
    <p:sldId id="269" r:id="rId20"/>
    <p:sldId id="288" r:id="rId21"/>
    <p:sldId id="267" r:id="rId22"/>
    <p:sldId id="275" r:id="rId23"/>
    <p:sldId id="278" r:id="rId24"/>
    <p:sldId id="279" r:id="rId25"/>
  </p:sldIdLst>
  <p:sldSz cx="12192000" cy="6858000"/>
  <p:notesSz cx="6858000" cy="9144000"/>
  <p:embeddedFontLst>
    <p:embeddedFont>
      <p:font typeface="Segoe UI" panose="020B0502040204020203" pitchFamily="34" charset="0"/>
      <p:regular r:id="rId27"/>
      <p:bold r:id="rId28"/>
      <p:italic r:id="rId29"/>
      <p:boldItalic r:id="rId30"/>
    </p:embeddedFont>
    <p:embeddedFont>
      <p:font typeface="Trust Hartford Sans" panose="020B0604020202020204" charset="0"/>
      <p:regular r:id="rId31"/>
      <p:bold r:id="rId32"/>
      <p:italic r:id="rId33"/>
      <p:boldItalic r:id="rId34"/>
    </p:embeddedFont>
    <p:embeddedFont>
      <p:font typeface="Trust Hartford Sans Light" panose="020B0604020202020204" charset="0"/>
      <p:regular r:id="rId35"/>
      <p:italic r:id="rId36"/>
    </p:embeddedFont>
    <p:embeddedFont>
      <p:font typeface="Trust Hartford Serif" panose="020B0604020202020204" charset="0"/>
      <p:regular r:id="rId37"/>
      <p:bold r:id="rId38"/>
      <p:italic r:id="rId39"/>
      <p:boldItalic r:id="rId40"/>
    </p:embeddedFont>
    <p:embeddedFont>
      <p:font typeface="Trust Hartford Serif XLight" panose="020B0604020202020204" charset="0"/>
      <p:regular r:id="rId41"/>
      <p:italic r:id="rId42"/>
    </p:embeddedFont>
  </p:embeddedFontLst>
  <p:defaultTextStyle>
    <a:defPPr>
      <a:defRPr lang="en-US"/>
    </a:defPPr>
    <a:lvl1pPr marL="0" algn="l" defTabSz="914400" rtl="0" eaLnBrk="1" fontAlgn="ctr" latinLnBrk="0" hangingPunct="1">
      <a:defRPr sz="1800" kern="1200">
        <a:solidFill>
          <a:schemeClr val="tx1"/>
        </a:solidFill>
        <a:latin typeface="+mn-lt"/>
        <a:ea typeface="+mn-ea"/>
        <a:cs typeface="+mn-cs"/>
      </a:defRPr>
    </a:lvl1pPr>
    <a:lvl2pPr marL="457200" algn="l" defTabSz="914400" rtl="0" eaLnBrk="1" fontAlgn="ctr" latinLnBrk="0" hangingPunct="1">
      <a:defRPr sz="1800" kern="1200">
        <a:solidFill>
          <a:schemeClr val="tx1"/>
        </a:solidFill>
        <a:latin typeface="+mn-lt"/>
        <a:ea typeface="+mn-ea"/>
        <a:cs typeface="+mn-cs"/>
      </a:defRPr>
    </a:lvl2pPr>
    <a:lvl3pPr marL="914400" algn="l" defTabSz="914400" rtl="0" eaLnBrk="1" fontAlgn="ctr" latinLnBrk="0" hangingPunct="1">
      <a:defRPr sz="1800" kern="1200">
        <a:solidFill>
          <a:schemeClr val="tx1"/>
        </a:solidFill>
        <a:latin typeface="+mn-lt"/>
        <a:ea typeface="+mn-ea"/>
        <a:cs typeface="+mn-cs"/>
      </a:defRPr>
    </a:lvl3pPr>
    <a:lvl4pPr marL="1371600" algn="l" defTabSz="914400" rtl="0" eaLnBrk="1" fontAlgn="ctr" latinLnBrk="0" hangingPunct="1">
      <a:defRPr sz="1800" kern="1200">
        <a:solidFill>
          <a:schemeClr val="tx1"/>
        </a:solidFill>
        <a:latin typeface="+mn-lt"/>
        <a:ea typeface="+mn-ea"/>
        <a:cs typeface="+mn-cs"/>
      </a:defRPr>
    </a:lvl4pPr>
    <a:lvl5pPr marL="1828800" algn="l" defTabSz="914400" rtl="0" eaLnBrk="1" fontAlgn="ctr" latinLnBrk="0" hangingPunct="1">
      <a:defRPr sz="1800" kern="1200">
        <a:solidFill>
          <a:schemeClr val="tx1"/>
        </a:solidFill>
        <a:latin typeface="+mn-lt"/>
        <a:ea typeface="+mn-ea"/>
        <a:cs typeface="+mn-cs"/>
      </a:defRPr>
    </a:lvl5pPr>
    <a:lvl6pPr marL="2286000" algn="l" defTabSz="914400" rtl="0" eaLnBrk="1" fontAlgn="ctr" latinLnBrk="0" hangingPunct="1">
      <a:defRPr sz="1800" kern="1200">
        <a:solidFill>
          <a:schemeClr val="tx1"/>
        </a:solidFill>
        <a:latin typeface="+mn-lt"/>
        <a:ea typeface="+mn-ea"/>
        <a:cs typeface="+mn-cs"/>
      </a:defRPr>
    </a:lvl6pPr>
    <a:lvl7pPr marL="2743200" algn="l" defTabSz="914400" rtl="0" eaLnBrk="1" fontAlgn="ctr" latinLnBrk="0" hangingPunct="1">
      <a:defRPr sz="1800" kern="1200">
        <a:solidFill>
          <a:schemeClr val="tx1"/>
        </a:solidFill>
        <a:latin typeface="+mn-lt"/>
        <a:ea typeface="+mn-ea"/>
        <a:cs typeface="+mn-cs"/>
      </a:defRPr>
    </a:lvl7pPr>
    <a:lvl8pPr marL="3200400" algn="l" defTabSz="914400" rtl="0" eaLnBrk="1" fontAlgn="ctr" latinLnBrk="0" hangingPunct="1">
      <a:defRPr sz="1800" kern="1200">
        <a:solidFill>
          <a:schemeClr val="tx1"/>
        </a:solidFill>
        <a:latin typeface="+mn-lt"/>
        <a:ea typeface="+mn-ea"/>
        <a:cs typeface="+mn-cs"/>
      </a:defRPr>
    </a:lvl8pPr>
    <a:lvl9pPr marL="3657600" algn="l" defTabSz="914400" rtl="0" eaLnBrk="1" fontAlgn="ctr"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B14874C-4B50-8014-91A3-463629EBBE24}" name="Klim, Jamie (Enterprise Marketing)" initials="" userId="S::James.Klim@thehartford.com::ad579b43-3ce8-40d5-ae4c-10bb8498a6fa" providerId="AD"/>
  <p188:author id="{F1E415D1-44F3-4EC2-856E-EF09CF6AD433}" name="Marin, Orlando (Applied AI and Analytics)" initials="MA" userId="S::orlando.marin@thehartford.com::390b000f-a7aa-4388-ba72-ff8eedcc0bf5" providerId="AD"/>
  <p188:author id="{4FB9D2F5-E275-8295-0520-7EF5F7DC6A9A}" name="Lopez, Ariana (PI Data Analytics)" initials="LA" userId="S::ariana.lopez@thehartford.com::a8ee6070-ce53-4799-bf07-949fe8488c7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63AF"/>
    <a:srgbClr val="8B0138"/>
    <a:srgbClr val="2D805D"/>
    <a:srgbClr val="000000"/>
    <a:srgbClr val="EAE5DF"/>
    <a:srgbClr val="FE3082"/>
    <a:srgbClr val="73A2C2"/>
    <a:srgbClr val="8F96AD"/>
    <a:srgbClr val="C7CB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DD2064-90AA-EB45-550B-FD5F95CD47A9}" v="1" dt="2026-08-17T13:49:37.380"/>
    <p1510:client id="{55CEEAA3-0129-5D74-EA63-FF414F97CB10}" v="20" dt="2026-08-17T03:18:03.237"/>
    <p1510:client id="{BB6831CA-8D10-EC19-2E7C-59C49705195E}" v="72" dt="2026-08-18T00:21:02.527"/>
    <p1510:client id="{E9881596-AEDA-EE99-5150-E042AB240479}" v="2" dt="2026-08-17T13:59:20.061"/>
  </p1510:revLst>
</p1510:revInfo>
</file>

<file path=ppt/tableStyles.xml><?xml version="1.0" encoding="utf-8"?>
<a:tblStyleLst xmlns:a="http://schemas.openxmlformats.org/drawingml/2006/main" def="{F74A2FF2-876A-4A6F-922C-DD539E22E740}">
  <a:tblStyle styleId="{F74A2FF2-876A-4A6F-922C-DD539E22E740}" styleName="The Hartford Table Style 1">
    <a:wholeTbl>
      <a:tcTxStyle>
        <a:fontRef idx="minor">
          <a:scrgbClr r="0" g="0" b="0"/>
        </a:fontRef>
        <a:schemeClr val="tx1"/>
      </a:tcTxStyle>
      <a:tcStyle>
        <a:tcBdr>
          <a:left>
            <a:ln w="12700" cmpd="sng">
              <a:solidFill>
                <a:schemeClr val="bg1"/>
              </a:solidFill>
            </a:ln>
          </a:left>
          <a:right>
            <a:ln w="12700" cmpd="sng">
              <a:solidFill>
                <a:schemeClr val="bg1"/>
              </a:solidFill>
            </a:ln>
          </a:right>
          <a:top>
            <a:ln w="12700" cmpd="sng">
              <a:solidFill>
                <a:schemeClr val="bg1"/>
              </a:solidFill>
            </a:ln>
          </a:top>
          <a:bottom>
            <a:ln w="12700" cmpd="sng">
              <a:solidFill>
                <a:schemeClr val="bg1"/>
              </a:solidFill>
            </a:ln>
          </a:bottom>
          <a:insideH>
            <a:ln w="12700" cmpd="sng">
              <a:solidFill>
                <a:schemeClr val="bg1"/>
              </a:solidFill>
            </a:ln>
          </a:insideH>
          <a:insideV>
            <a:ln w="12700" cmpd="sng">
              <a:solidFill>
                <a:schemeClr val="bg1"/>
              </a:solidFill>
            </a:ln>
          </a:insideV>
        </a:tcBdr>
        <a:fill>
          <a:noFill/>
        </a:fill>
      </a:tcStyle>
    </a:wholeTbl>
    <a:band1H>
      <a:tcStyle>
        <a:tcBdr/>
        <a:fill>
          <a:solidFill>
            <a:srgbClr val="EAE5DF"/>
          </a:solidFill>
        </a:fill>
      </a:tcStyle>
    </a:band1H>
    <a:band2H>
      <a:tcStyle>
        <a:tcBdr/>
        <a:fill>
          <a:solidFill>
            <a:srgbClr val="EAE5DF"/>
          </a:solidFill>
        </a:fill>
      </a:tcStyle>
    </a:band2H>
    <a:band1V>
      <a:tcStyle>
        <a:tcBdr/>
      </a:tcStyle>
    </a:band1V>
    <a:band2V>
      <a:tcStyle>
        <a:tcBdr/>
      </a:tcStyle>
    </a:band2V>
    <a:lastCol>
      <a:tcStyle>
        <a:tcBdr/>
      </a:tcStyle>
    </a:lastCol>
    <a:firstCol>
      <a:tcTxStyle b="on">
        <a:fontRef idx="minor">
          <a:prstClr val="black"/>
        </a:fontRef>
        <a:schemeClr val="dk1"/>
      </a:tcTxStyle>
      <a:tcStyle>
        <a:tcBdr/>
      </a:tcStyle>
    </a:firstCol>
    <a:lastRow>
      <a:tcStyle>
        <a:tcBdr/>
      </a:tcStyle>
    </a:lastRow>
    <a:seCell>
      <a:tcStyle>
        <a:tcBdr/>
      </a:tcStyle>
    </a:seCell>
    <a:swCell>
      <a:tcStyle>
        <a:tcBdr/>
      </a:tcStyle>
    </a:swCell>
    <a:firstRow>
      <a:tcTxStyle b="on">
        <a:fontRef idx="minor">
          <a:prstClr val="white"/>
        </a:fontRef>
        <a:schemeClr val="bg1"/>
      </a:tcTxStyle>
      <a:tcStyle>
        <a:tcBdr/>
        <a:fill>
          <a:solidFill>
            <a:schemeClr val="tx2"/>
          </a:solidFill>
        </a:fill>
      </a:tcStyle>
    </a:firstRow>
    <a:neCell>
      <a:tcStyle>
        <a:tcBdr/>
      </a:tcStyle>
    </a:neCell>
    <a:nwCell>
      <a:tcStyle>
        <a:tcBdr/>
      </a:tcStyle>
    </a:nwCell>
  </a:tblStyle>
  <a:tblStyle styleId="{613C4D0A-429A-40B9-85B9-7F5FD54E15C4}" styleName="The Hartford Table Style 2">
    <a:wholeTbl>
      <a:tcTxStyle>
        <a:fontRef idx="minor">
          <a:scrgbClr r="0" g="0" b="0"/>
        </a:fontRef>
        <a:schemeClr val="tx1"/>
      </a:tcTxStyle>
      <a:tcStyle>
        <a:tcBdr>
          <a:left>
            <a:ln w="12700" cmpd="sng">
              <a:solidFill>
                <a:schemeClr val="bg1"/>
              </a:solidFill>
            </a:ln>
          </a:left>
          <a:right>
            <a:ln w="12700" cmpd="sng">
              <a:solidFill>
                <a:schemeClr val="bg1"/>
              </a:solidFill>
            </a:ln>
          </a:right>
          <a:top>
            <a:ln w="12700" cmpd="sng">
              <a:solidFill>
                <a:schemeClr val="bg1"/>
              </a:solidFill>
            </a:ln>
          </a:top>
          <a:bottom>
            <a:ln w="12700" cmpd="sng">
              <a:solidFill>
                <a:schemeClr val="bg1"/>
              </a:solidFill>
            </a:ln>
          </a:bottom>
          <a:insideH>
            <a:ln w="12700" cmpd="sng">
              <a:solidFill>
                <a:schemeClr val="bg1"/>
              </a:solidFill>
            </a:ln>
          </a:insideH>
          <a:insideV>
            <a:ln w="12700" cmpd="sng">
              <a:solidFill>
                <a:schemeClr val="bg1"/>
              </a:solidFill>
            </a:ln>
          </a:insideV>
        </a:tcBdr>
        <a:fill>
          <a:noFill/>
        </a:fill>
      </a:tcStyle>
    </a:wholeTbl>
    <a:band1H>
      <a:tcStyle>
        <a:tcBdr/>
        <a:fill>
          <a:solidFill>
            <a:srgbClr val="EAE5DF"/>
          </a:solidFill>
        </a:fill>
      </a:tcStyle>
    </a:band1H>
    <a:band2H>
      <a:tcStyle>
        <a:tcBdr/>
        <a:fill>
          <a:solidFill>
            <a:srgbClr val="EAE5DF"/>
          </a:solidFill>
        </a:fill>
      </a:tcStyle>
    </a:band2H>
    <a:band1V>
      <a:tcStyle>
        <a:tcBdr/>
      </a:tcStyle>
    </a:band1V>
    <a:band2V>
      <a:tcStyle>
        <a:tcBdr/>
      </a:tcStyle>
    </a:band2V>
    <a:lastCol>
      <a:tcStyle>
        <a:tcBdr/>
      </a:tcStyle>
    </a:lastCol>
    <a:firstCol>
      <a:tcTxStyle b="on">
        <a:fontRef idx="minor">
          <a:prstClr val="black"/>
        </a:fontRef>
        <a:schemeClr val="dk1"/>
      </a:tcTxStyle>
      <a:tcStyle>
        <a:tcBdr/>
      </a:tcStyle>
    </a:firstCol>
    <a:lastRow>
      <a:tcStyle>
        <a:tcBdr/>
      </a:tcStyle>
    </a:lastRow>
    <a:seCell>
      <a:tcStyle>
        <a:tcBdr/>
      </a:tcStyle>
    </a:seCell>
    <a:swCell>
      <a:tcStyle>
        <a:tcBdr/>
      </a:tcStyle>
    </a:swCell>
    <a:firstRow>
      <a:tcTxStyle b="on">
        <a:fontRef idx="minor">
          <a:prstClr val="white"/>
        </a:fontRef>
        <a:schemeClr val="bg1"/>
      </a:tcTxStyle>
      <a:tcStyle>
        <a:tcBdr/>
        <a:fill>
          <a:solidFill>
            <a:schemeClr val="bg2"/>
          </a:solidFill>
        </a:fill>
      </a:tcStyle>
    </a:firstRow>
    <a:neCell>
      <a:tcStyle>
        <a:tcBdr/>
      </a:tcStyle>
    </a:neCell>
    <a:nwCell>
      <a:tcStyle>
        <a:tcBdr/>
      </a:tcStyle>
    </a:nwCell>
  </a:tblStyle>
  <a:tblStyle styleId="{F9F6A034-655A-47D2-A762-C7606B091322}" styleName="The Hartford Table Style 3">
    <a:wholeTbl>
      <a:tcTxStyle>
        <a:fontRef idx="minor">
          <a:scrgbClr r="0" g="0" b="0"/>
        </a:fontRef>
        <a:schemeClr val="tx1"/>
      </a:tcTxStyle>
      <a:tcStyle>
        <a:tcBdr>
          <a:left>
            <a:ln w="12700" cmpd="sng">
              <a:solidFill>
                <a:schemeClr val="bg1"/>
              </a:solidFill>
            </a:ln>
          </a:left>
          <a:right>
            <a:ln w="12700" cmpd="sng">
              <a:solidFill>
                <a:schemeClr val="bg1"/>
              </a:solidFill>
            </a:ln>
          </a:right>
          <a:top>
            <a:ln w="12700" cmpd="sng">
              <a:solidFill>
                <a:schemeClr val="bg1"/>
              </a:solidFill>
            </a:ln>
          </a:top>
          <a:bottom>
            <a:ln w="12700" cmpd="sng">
              <a:solidFill>
                <a:schemeClr val="bg1"/>
              </a:solidFill>
            </a:ln>
          </a:bottom>
          <a:insideH>
            <a:ln w="12700" cmpd="sng">
              <a:solidFill>
                <a:schemeClr val="bg1"/>
              </a:solidFill>
            </a:ln>
          </a:insideH>
          <a:insideV>
            <a:ln w="12700" cmpd="sng">
              <a:solidFill>
                <a:schemeClr val="bg1"/>
              </a:solidFill>
            </a:ln>
          </a:insideV>
        </a:tcBdr>
        <a:fill>
          <a:noFill/>
        </a:fill>
      </a:tcStyle>
    </a:wholeTbl>
    <a:band1H>
      <a:tcStyle>
        <a:tcBdr/>
        <a:fill>
          <a:solidFill>
            <a:srgbClr val="EAE5DF"/>
          </a:solidFill>
        </a:fill>
      </a:tcStyle>
    </a:band1H>
    <a:band2H>
      <a:tcStyle>
        <a:tcBdr/>
        <a:fill>
          <a:solidFill>
            <a:srgbClr val="EAE5DF"/>
          </a:solidFill>
        </a:fill>
      </a:tcStyle>
    </a:band2H>
    <a:band1V>
      <a:tcStyle>
        <a:tcBdr/>
      </a:tcStyle>
    </a:band1V>
    <a:band2V>
      <a:tcStyle>
        <a:tcBdr/>
      </a:tcStyle>
    </a:band2V>
    <a:lastCol>
      <a:tcStyle>
        <a:tcBdr/>
      </a:tcStyle>
    </a:lastCol>
    <a:firstCol>
      <a:tcTxStyle b="on">
        <a:fontRef idx="minor">
          <a:prstClr val="black"/>
        </a:fontRef>
        <a:schemeClr val="dk1"/>
      </a:tcTxStyle>
      <a:tcStyle>
        <a:tcBdr/>
      </a:tcStyle>
    </a:firstCol>
    <a:lastRow>
      <a:tcStyle>
        <a:tcBdr/>
      </a:tcStyle>
    </a:lastRow>
    <a:seCell>
      <a:tcStyle>
        <a:tcBdr/>
      </a:tcStyle>
    </a:seCell>
    <a:swCell>
      <a:tcStyle>
        <a:tcBdr/>
      </a:tcStyle>
    </a:swCell>
    <a:firstRow>
      <a:tcTxStyle b="on">
        <a:fontRef idx="minor">
          <a:prstClr val="white"/>
        </a:fontRef>
        <a:schemeClr val="bg1"/>
      </a:tcTxStyle>
      <a:tcStyle>
        <a:tcBdr/>
        <a:fill>
          <a:solidFill>
            <a:schemeClr val="dk1"/>
          </a:solidFill>
        </a:fill>
      </a:tcStyle>
    </a:firstRow>
    <a:neCell>
      <a:tcStyle>
        <a:tcBdr/>
      </a:tcStyle>
    </a:neCell>
    <a:nwCell>
      <a:tcStyle>
        <a:tcBdr/>
      </a:tcStyle>
    </a:nw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notesMaster" Target="notesMasters/notes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 Id="rId33" Type="http://schemas.openxmlformats.org/officeDocument/2006/relationships/font" Target="fonts/font7.fntdata"/><Relationship Id="rId34" Type="http://schemas.openxmlformats.org/officeDocument/2006/relationships/font" Target="fonts/font8.fntdata"/><Relationship Id="rId35" Type="http://schemas.openxmlformats.org/officeDocument/2006/relationships/font" Target="fonts/font9.fntdata"/><Relationship Id="rId36" Type="http://schemas.openxmlformats.org/officeDocument/2006/relationships/font" Target="fonts/font10.fntdata"/><Relationship Id="rId37" Type="http://schemas.openxmlformats.org/officeDocument/2006/relationships/font" Target="fonts/font11.fntdata"/><Relationship Id="rId38" Type="http://schemas.openxmlformats.org/officeDocument/2006/relationships/font" Target="fonts/font12.fntdata"/><Relationship Id="rId39" Type="http://schemas.openxmlformats.org/officeDocument/2006/relationships/font" Target="fonts/font13.fntdata"/><Relationship Id="rId40" Type="http://schemas.openxmlformats.org/officeDocument/2006/relationships/font" Target="fonts/font14.fntdata"/><Relationship Id="rId41" Type="http://schemas.openxmlformats.org/officeDocument/2006/relationships/font" Target="fonts/font15.fntdata"/><Relationship Id="rId42" Type="http://schemas.openxmlformats.org/officeDocument/2006/relationships/font" Target="fonts/font16.fntdata"/><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 Id="rId47" Type="http://schemas.microsoft.com/office/2015/10/relationships/revisionInfo" Target="revisionInfo.xml"/><Relationship Id="rId48" Type="http://schemas.microsoft.com/office/2018/10/relationships/authors" Target="authors.xml"/></Relationships>
</file>

<file path=ppt/comments/modernComment_10A_0.xml><?xml version="1.0" encoding="utf-8"?>
<p188:cmLst xmlns:a="http://schemas.openxmlformats.org/drawingml/2006/main" xmlns:r="http://schemas.openxmlformats.org/officeDocument/2006/relationships" xmlns:p188="http://schemas.microsoft.com/office/powerpoint/2018/8/main">
  <p188:cm id="{A0A562FC-D5AC-456D-91FE-2DD1C7B1046E}" authorId="{4FB9D2F5-E275-8295-0520-7EF5F7DC6A9A}" created="2026-08-13T15:17:18.004">
    <ac:txMkLst xmlns:ac="http://schemas.microsoft.com/office/drawing/2013/main/command">
      <pc:docMk xmlns:pc="http://schemas.microsoft.com/office/powerpoint/2013/main/command"/>
      <pc:sldMk xmlns:pc="http://schemas.microsoft.com/office/powerpoint/2013/main/command" cId="0" sldId="266"/>
      <ac:spMk id="2" creationId="{00000000-0000-0000-0000-000000000000}"/>
      <ac:txMk cp="20" len="1">
        <ac:context len="22" hash="1731778114"/>
      </ac:txMk>
    </ac:txMkLst>
    <p188:pos x="7341219" y="278780"/>
    <p188:txBody>
      <a:bodyPr/>
      <a:lstStyle/>
      <a:p>
        <a:r>
          <a:rPr lang="en-US"/>
          <a:t>speaker notes</a:t>
        </a:r>
      </a:p>
    </p188:txBody>
  </p188:cm>
</p188:cmLst>
</file>

<file path=ppt/comments/modernComment_106_0.xml><?xml version="1.0" encoding="utf-8"?>
<p188:cmLst xmlns:a="http://schemas.openxmlformats.org/drawingml/2006/main" xmlns:r="http://schemas.openxmlformats.org/officeDocument/2006/relationships" xmlns:p188="http://schemas.microsoft.com/office/powerpoint/2018/8/main">
  <p188:cm id="{764ACCF1-B4E5-4CBF-8B5A-D438CA0144DD}" authorId="{4FB9D2F5-E275-8295-0520-7EF5F7DC6A9A}" created="2026-08-12T20:24:21.438">
    <ac:txMkLst xmlns:ac="http://schemas.microsoft.com/office/drawing/2013/main/command">
      <pc:docMk xmlns:pc="http://schemas.microsoft.com/office/powerpoint/2013/main/command"/>
      <pc:sldMk xmlns:pc="http://schemas.microsoft.com/office/powerpoint/2013/main/command" cId="0" sldId="262"/>
      <ac:spMk id="2" creationId="{00000000-0000-0000-0000-000000000000}"/>
      <ac:txMk cp="7" len="1">
        <ac:context len="9" hash="3791145224"/>
      </ac:txMk>
    </ac:txMkLst>
    <p188:pos x="1338146" y="139390"/>
    <p188:txBody>
      <a:bodyPr/>
      <a:lstStyle/>
      <a:p>
        <a:r>
          <a:rPr lang="en-US"/>
          <a:t>Speaker comments done</a:t>
        </a:r>
      </a:p>
    </p188:txBody>
  </p188:cm>
</p188:cmLst>
</file>

<file path=ppt/comments/modernComment_107_0.xml><?xml version="1.0" encoding="utf-8"?>
<p188:cmLst xmlns:a="http://schemas.openxmlformats.org/drawingml/2006/main" xmlns:r="http://schemas.openxmlformats.org/officeDocument/2006/relationships" xmlns:p188="http://schemas.microsoft.com/office/powerpoint/2018/8/main">
  <p188:cm id="{32111B77-7527-4474-838D-8DCB14D30AAE}" authorId="{4FB9D2F5-E275-8295-0520-7EF5F7DC6A9A}" created="2026-08-13T12:56:42.719">
    <ac:txMkLst xmlns:ac="http://schemas.microsoft.com/office/drawing/2013/main/command">
      <pc:docMk xmlns:pc="http://schemas.microsoft.com/office/powerpoint/2013/main/command"/>
      <pc:sldMk xmlns:pc="http://schemas.microsoft.com/office/powerpoint/2013/main/command" cId="0" sldId="263"/>
      <ac:spMk id="2" creationId="{00000000-0000-0000-0000-000000000000}"/>
      <ac:txMk cp="19" len="2">
        <ac:context len="22" hash="937120422"/>
      </ac:txMk>
    </ac:txMkLst>
    <p188:pos x="5073804" y="250902"/>
    <p188:txBody>
      <a:bodyPr/>
      <a:lstStyle/>
      <a:p>
        <a:r>
          <a:rPr lang="en-US"/>
          <a:t>speaker notes done</a:t>
        </a:r>
      </a:p>
    </p188:txBody>
  </p188:cm>
</p188:cmLst>
</file>

<file path=ppt/comments/modernComment_108_0.xml><?xml version="1.0" encoding="utf-8"?>
<p188:cmLst xmlns:a="http://schemas.openxmlformats.org/drawingml/2006/main" xmlns:r="http://schemas.openxmlformats.org/officeDocument/2006/relationships" xmlns:p188="http://schemas.microsoft.com/office/powerpoint/2018/8/main">
  <p188:cm id="{1DF42F45-8190-48AC-B6DE-AED9D0894DFF}" authorId="{4FB9D2F5-E275-8295-0520-7EF5F7DC6A9A}" created="2026-08-13T12:43:09.234">
    <ac:txMkLst xmlns:ac="http://schemas.microsoft.com/office/drawing/2013/main/command">
      <pc:docMk xmlns:pc="http://schemas.microsoft.com/office/powerpoint/2013/main/command"/>
      <pc:sldMk xmlns:pc="http://schemas.microsoft.com/office/powerpoint/2013/main/command" cId="0" sldId="264"/>
      <ac:spMk id="2" creationId="{00000000-0000-0000-0000-000000000000}"/>
      <ac:txMk cp="37" len="1">
        <ac:context len="39" hash="1341196071"/>
      </ac:txMk>
    </ac:txMkLst>
    <p188:pos x="5956609" y="167268"/>
    <p188:txBody>
      <a:bodyPr/>
      <a:lstStyle/>
      <a:p>
        <a:r>
          <a:rPr lang="en-US"/>
          <a:t>speaker notes done</a:t>
        </a:r>
      </a:p>
    </p188:txBody>
  </p188:cm>
</p188:cmLst>
</file>

<file path=ppt/comments/modernComment_118_0.xml><?xml version="1.0" encoding="utf-8"?>
<p188:cmLst xmlns:a="http://schemas.openxmlformats.org/drawingml/2006/main" xmlns:r="http://schemas.openxmlformats.org/officeDocument/2006/relationships" xmlns:p188="http://schemas.microsoft.com/office/powerpoint/2018/8/main">
  <p188:cm id="{4FEB0A86-9A76-498F-9545-55B209DAD8AF}" authorId="{4FB9D2F5-E275-8295-0520-7EF5F7DC6A9A}" created="2026-08-12T21:09:19.150">
    <ac:txMkLst xmlns:ac="http://schemas.microsoft.com/office/drawing/2013/main/command">
      <pc:docMk xmlns:pc="http://schemas.microsoft.com/office/powerpoint/2013/main/command"/>
      <pc:sldMk xmlns:pc="http://schemas.microsoft.com/office/powerpoint/2013/main/command" cId="0" sldId="280"/>
      <ac:spMk id="2" creationId="{00000000-0000-0000-0000-000000000000}"/>
      <ac:txMk cp="27" len="1">
        <ac:context len="29" hash="1009581349"/>
      </ac:txMk>
    </ac:txMkLst>
    <p188:pos x="3910641" y="316301"/>
    <p188:txBody>
      <a:bodyPr/>
      <a:lstStyle/>
      <a:p>
        <a:r>
          <a:rPr lang="en-US"/>
          <a:t>Speaker notes done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95900D-F12B-44FC-9687-D94AAC847878}" type="datetimeFigureOut">
              <a:rPr lang="en-US" smtClean="0"/>
              <a:t>8/17/2026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766933-377C-4AC7-AB6F-0438E161DC72}" type="slidenum">
              <a:rPr lang="en-US" smtClean="0"/>
              <a:t>‹#›</a:t>
            </a:fld>
            <a:endParaRPr lang="en-US"/>
          </a:p>
        </p:txBody>
      </p:sp>
    </p:spTree>
    <p:extLst>
      <p:ext uri="{BB962C8B-B14F-4D97-AF65-F5344CB8AC3E}">
        <p14:creationId xmlns:p14="http://schemas.microsoft.com/office/powerpoint/2010/main" val="39301470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ORLANDO: Good morning, everyone, thank you for being here. I'm Orlando, joined by Ariana and Maryam, and we're going to answer the question: how does adverse weather affect taxi demand across New York City, and have those patterns changed over time?</a:t>
            </a:r>
          </a:p>
          <a:p>
            <a:endParaRPr lang="en-US"/>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ORLANDO: I'll open with a breakdown of our business question and our key findings. Ariana and Maryam will walk through the data and pipeline architecture, as well as additional paths that we explored. We'll share the YoY analysis that supports our findings, and then we'll close by sharing a few things we'd implement with more time. We look forward to answering your questions afterward.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ORLANDO: Let's start with what we set out to answer, and our key findings.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ORLANDO: The business question that we set out to answer is "how does adverse weather (which includes rain and snow) impact taxi demand, and has that relationship changed year over year?" We scoped this to January through May in both 2025 and 2026 to ensure a fair YoY comparison. We combined over 39 million trip records with about 7,250 hours of </a:t>
            </a:r>
            <a:r>
              <a:rPr lang="en-US" err="1"/>
              <a:t>weathe</a:t>
            </a:r>
            <a:r>
              <a:rPr lang="en-US"/>
              <a:t>r data, so every trip is paired with the exact </a:t>
            </a:r>
            <a:r>
              <a:rPr lang="en-US" err="1"/>
              <a:t>weathe</a:t>
            </a:r>
            <a:r>
              <a:rPr lang="en-US"/>
              <a:t>r conditions at the time of pickup. This matters for operations, business decisions, and city planning.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rgbClr val="555555"/>
                </a:solidFill>
              </a:rPr>
              <a:t>ORLANDO: We'll start with the main insight from our analysis. In 2025, bad weather actually helped taxi operators. In 2026, that relationship reversed, particularly during snow events that were far more severe than the year before. Most importantly is when the storm hits. A single storm-hour during rush hour in Manhattan now represents over $43K per hour in lost revenue compared to a clear-weather hour. For taxi operators, the takeaway is that it's crucial to plan around when adverse weather is coming and have drivers on the road during those high impact windows like rush hour.</a:t>
            </a:r>
            <a:endParaRPr lang="en-US">
              <a:solidFill>
                <a:srgbClr val="000000"/>
              </a:solidFill>
            </a:endParaRPr>
          </a:p>
          <a:p>
            <a:pPr algn="ctr"/>
            <a:endParaRPr lang="en-US" i="1">
              <a:solidFill>
                <a:srgbClr val="555555"/>
              </a:solidFill>
              <a:ea typeface="Calibri"/>
              <a:cs typeface="Calibri"/>
            </a:endParaRPr>
          </a:p>
        </p:txBody>
      </p:sp>
      <p:sp>
        <p:nvSpPr>
          <p:cNvPr id="4" name="Slide Number Placeholder 3"/>
          <p:cNvSpPr>
            <a:spLocks noGrp="1"/>
          </p:cNvSpPr>
          <p:nvPr>
            <p:ph type="sldNum" sz="quarter" idx="5"/>
          </p:nvPr>
        </p:nvSpPr>
        <p:spPr/>
        <p:txBody>
          <a:bodyPr/>
          <a:lstStyle/>
          <a:p>
            <a:fld id="{F6766933-377C-4AC7-AB6F-0438E161DC72}" type="slidenum">
              <a:rPr lang="en-US" smtClean="0"/>
              <a:t>5</a:t>
            </a:fld>
            <a:endParaRPr lang="en-US"/>
          </a:p>
        </p:txBody>
      </p:sp>
    </p:spTree>
    <p:extLst>
      <p:ext uri="{BB962C8B-B14F-4D97-AF65-F5344CB8AC3E}">
        <p14:creationId xmlns:p14="http://schemas.microsoft.com/office/powerpoint/2010/main" val="39325135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ORLANDO: With that context in mind, I'll pass it to Maryam and Ariana, and they'll walk through the data and our pipeline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a:t>MARYAM: Before we get into the platform we built, I want to briefly go through and explain the data.</a:t>
            </a:r>
          </a:p>
          <a:p>
            <a:endParaRPr lang="en-US" b="1"/>
          </a:p>
          <a:p>
            <a:r>
              <a:rPr lang="en-US"/>
              <a:t>Our primary dataset consists of New York City taxi trips, where each record represents a single ride from pickup to dropoff. </a:t>
            </a:r>
          </a:p>
          <a:p>
            <a:endParaRPr lang="en-US"/>
          </a:p>
          <a:p>
            <a:r>
              <a:rPr lang="en-US"/>
              <a:t>We worked with both </a:t>
            </a:r>
            <a:r>
              <a:rPr lang="en-US" b="1"/>
              <a:t>Yellow Taxi</a:t>
            </a:r>
            <a:r>
              <a:rPr lang="en-US"/>
              <a:t> and </a:t>
            </a:r>
            <a:r>
              <a:rPr lang="en-US" b="1"/>
              <a:t>Green Taxi</a:t>
            </a:r>
            <a:r>
              <a:rPr lang="en-US"/>
              <a:t> data. </a:t>
            </a:r>
          </a:p>
          <a:p>
            <a:endParaRPr lang="en-US"/>
          </a:p>
          <a:p>
            <a:r>
              <a:rPr lang="en-US"/>
              <a:t>Yellow taxis operate throughout the city and make up the vast majority of the dataset, while Green taxis primarily serve areas outside of Manhattan's central business districts.</a:t>
            </a:r>
          </a:p>
          <a:p>
            <a:endParaRPr lang="en-US"/>
          </a:p>
          <a:p>
            <a:r>
              <a:rPr lang="en-US"/>
              <a:t>In total, the raw data included approximately </a:t>
            </a:r>
            <a:r>
              <a:rPr lang="en-US" b="1"/>
              <a:t>38.8 million Yellow Taxi trips</a:t>
            </a:r>
            <a:r>
              <a:rPr lang="en-US"/>
              <a:t> and </a:t>
            </a:r>
            <a:r>
              <a:rPr lang="en-US" b="1"/>
              <a:t>465,000 Green Taxi trips</a:t>
            </a:r>
            <a:r>
              <a:rPr lang="en-US"/>
              <a:t> spanning </a:t>
            </a:r>
            <a:r>
              <a:rPr lang="en-US" b="1"/>
              <a:t>January through May of 2025 and 2026</a:t>
            </a:r>
            <a:r>
              <a:rPr lang="en-US"/>
              <a:t>.</a:t>
            </a:r>
          </a:p>
          <a:p>
            <a:endParaRPr lang="en-US"/>
          </a:p>
          <a:p>
            <a:r>
              <a:rPr lang="en-US"/>
              <a:t>We mapped </a:t>
            </a:r>
            <a:r>
              <a:rPr lang="en-US" b="1"/>
              <a:t>265 taxi zones</a:t>
            </a:r>
            <a:r>
              <a:rPr lang="en-US"/>
              <a:t> across the city.</a:t>
            </a:r>
          </a:p>
          <a:p>
            <a:endParaRPr lang="en-US"/>
          </a:p>
          <a:p>
            <a:r>
              <a:rPr lang="en-US"/>
              <a:t>As an external data source, we incorporated hourly weather data. This allowed us to connect weather patterns directly to taxi activity.</a:t>
            </a:r>
          </a:p>
          <a:p>
            <a:endParaRPr lang="en-US"/>
          </a:p>
          <a:p>
            <a:r>
              <a:rPr lang="en-US"/>
              <a:t>There were some schema challenges with the data, we will go more into detail on that later on. </a:t>
            </a:r>
          </a:p>
          <a:p>
            <a:endParaRPr lang="en-US"/>
          </a:p>
          <a:p>
            <a:r>
              <a:rPr lang="en-US"/>
              <a:t>After combining everything, our final dataset included </a:t>
            </a:r>
            <a:r>
              <a:rPr lang="en-US" b="1"/>
              <a:t>more than 39 million taxi trips</a:t>
            </a:r>
            <a:r>
              <a:rPr lang="en-US"/>
              <a:t>, </a:t>
            </a:r>
            <a:r>
              <a:rPr lang="en-US" b="1"/>
              <a:t>7,200+ hourly weather records</a:t>
            </a:r>
            <a:r>
              <a:rPr lang="en-US"/>
              <a:t>, and </a:t>
            </a:r>
            <a:r>
              <a:rPr lang="en-US" b="1"/>
              <a:t>all 265 taxi zones</a:t>
            </a:r>
            <a:r>
              <a:rPr lang="en-US"/>
              <a:t>, giving us a strong foundation for analysis. </a:t>
            </a:r>
          </a:p>
          <a:p>
            <a:endParaRPr lang="en-US"/>
          </a:p>
          <a:p>
            <a:endParaRPr lang="en-US"/>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MARYAM: Before we could trust any insights, we needed to trust the data itself. </a:t>
            </a:r>
          </a:p>
          <a:p>
            <a:endParaRPr lang="en-US"/>
          </a:p>
          <a:p>
            <a:r>
              <a:rPr lang="en-US"/>
              <a:t>Although all 39.2 million records loaded successfully, we found several quality issues that affected about 3% of trips. </a:t>
            </a:r>
          </a:p>
          <a:p>
            <a:endParaRPr lang="en-US"/>
          </a:p>
          <a:p>
            <a:r>
              <a:rPr lang="en-US"/>
              <a:t>Rather than deleting those records, we adopted a </a:t>
            </a:r>
            <a:r>
              <a:rPr lang="en-US" b="1"/>
              <a:t>"flag, don't delete"</a:t>
            </a:r>
            <a:r>
              <a:rPr lang="en-US"/>
              <a:t> approach.</a:t>
            </a:r>
          </a:p>
          <a:p>
            <a:endParaRPr lang="en-US"/>
          </a:p>
          <a:p>
            <a:r>
              <a:rPr lang="en-US"/>
              <a:t>We flagged each record with data quality indicators and preserved the original data.</a:t>
            </a:r>
          </a:p>
          <a:p>
            <a:endParaRPr lang="en-US"/>
          </a:p>
          <a:p>
            <a:r>
              <a:rPr lang="en-US"/>
              <a:t> This gave us reliable reporting based on validated trips without losing the underlying records.</a:t>
            </a:r>
          </a:p>
          <a:p>
            <a:endParaRPr lang="en-US"/>
          </a:p>
          <a:p>
            <a:r>
              <a:rPr lang="en-US"/>
              <a:t>We also identified that the dataset only records tips paid by credit card, and cash tips appear as zero.</a:t>
            </a:r>
          </a:p>
          <a:p>
            <a:endParaRPr lang="en-US"/>
          </a:p>
          <a:p>
            <a:r>
              <a:rPr lang="en-US"/>
              <a:t> To avoid misleading results, we excluded cash tips from all tip and total revenue calculations.</a:t>
            </a:r>
          </a:p>
          <a:p>
            <a:endParaRPr lang="en-US"/>
          </a:p>
          <a:p>
            <a:r>
              <a:rPr lang="en-US"/>
              <a:t>After our findings, we were left with 38 million records to do analysis on.</a:t>
            </a:r>
          </a:p>
          <a:p>
            <a:endParaRPr lang="en-US"/>
          </a:p>
          <a:p>
            <a:r>
              <a:rPr lang="en-US"/>
              <a:t>I'm going to pass it on to Ariana to go over our architecture.</a:t>
            </a:r>
          </a:p>
          <a:p>
            <a:endParaRPr lang="en-US"/>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diagram shows how data moves through our platform, moving from left to right, with raw taxi and weather sources on the left and our end user platforms on the right.</a:t>
            </a:r>
          </a:p>
          <a:p>
            <a:endParaRPr lang="en-US"/>
          </a:p>
          <a:p>
            <a:r>
              <a:rPr lang="en-US"/>
              <a:t>Starting on the left with our source datasets. This data includes Yellow Taxi trips, Green Taxi trips, taxi zone information, and historical weather data. These datasets are loaded into Snowflake, which serves as the central platform for storage and transformation.</a:t>
            </a:r>
          </a:p>
          <a:p>
            <a:endParaRPr lang="en-US"/>
          </a:p>
          <a:p>
            <a:r>
              <a:rPr lang="en-US"/>
              <a:t>We organize the data using a Medallion Architecture with Bronze, Silver, and Gold layers.</a:t>
            </a:r>
          </a:p>
          <a:p>
            <a:endParaRPr lang="en-US"/>
          </a:p>
          <a:p>
            <a:r>
              <a:rPr lang="en-US"/>
              <a:t>The </a:t>
            </a:r>
            <a:r>
              <a:rPr lang="en-US" b="1"/>
              <a:t>Bronze layer</a:t>
            </a:r>
            <a:r>
              <a:rPr lang="en-US"/>
              <a:t> stores the raw source data exactly as received, providing a complete audit trail and preserving the original records.</a:t>
            </a:r>
          </a:p>
          <a:p>
            <a:endParaRPr lang="en-US"/>
          </a:p>
          <a:p>
            <a:r>
              <a:rPr lang="en-US"/>
              <a:t>The </a:t>
            </a:r>
            <a:r>
              <a:rPr lang="en-US" b="1"/>
              <a:t>Silver layer</a:t>
            </a:r>
            <a:r>
              <a:rPr lang="en-US"/>
              <a:t> is where data is standardized, combined, and enriched. Here we merge the taxi datasets, add weather and time-based attributes, and perform data quality checks. Instead of immediately deleting invalid records, we flag them so data quality can be monitored and investigated over time.</a:t>
            </a:r>
          </a:p>
          <a:p>
            <a:endParaRPr lang="en-US"/>
          </a:p>
          <a:p>
            <a:r>
              <a:rPr lang="en-US"/>
              <a:t>The </a:t>
            </a:r>
            <a:r>
              <a:rPr lang="en-US" b="1"/>
              <a:t>Gold layer</a:t>
            </a:r>
            <a:r>
              <a:rPr lang="en-US"/>
              <a:t> contains trusted, business-ready datasets. Only validated records are present here, ensuring that reporting and analysis are based on reliable information.</a:t>
            </a:r>
          </a:p>
          <a:p>
            <a:endParaRPr lang="en-US"/>
          </a:p>
          <a:p>
            <a:r>
              <a:rPr lang="en-US"/>
              <a:t>All transformations between the Bronze, Silver, and Gold layers are managed through </a:t>
            </a:r>
            <a:r>
              <a:rPr lang="en-US" b="1" err="1"/>
              <a:t>dbt</a:t>
            </a:r>
            <a:r>
              <a:rPr lang="en-US"/>
              <a:t>, which applies business rules consistently and makes the pipeline repeatable and maintainable.</a:t>
            </a:r>
          </a:p>
          <a:p>
            <a:endParaRPr lang="en-US"/>
          </a:p>
          <a:p>
            <a:r>
              <a:rPr lang="en-US"/>
              <a:t>Finally, tools such as </a:t>
            </a:r>
            <a:r>
              <a:rPr lang="en-US" b="1"/>
              <a:t>Tableau, </a:t>
            </a:r>
            <a:r>
              <a:rPr lang="en-US" b="1" err="1"/>
              <a:t>Streamlit</a:t>
            </a:r>
            <a:r>
              <a:rPr lang="en-US" b="1"/>
              <a:t>, and </a:t>
            </a:r>
            <a:r>
              <a:rPr lang="en-US" b="1" err="1"/>
              <a:t>BigQuery</a:t>
            </a:r>
            <a:r>
              <a:rPr lang="en-US"/>
              <a:t> connect to the Gold layer, allowing users to explore trends, answer business questions, and make data-driven decisions.</a:t>
            </a:r>
          </a:p>
          <a:p>
            <a:endParaRPr lang="en-US"/>
          </a:p>
          <a:p>
            <a:r>
              <a:rPr lang="en-US"/>
              <a:t>This architecture is also designed to scale as data volumes grow. Instead of loading data in large scheduled batches, further fimplementation of </a:t>
            </a:r>
            <a:r>
              <a:rPr lang="en-US" b="1" err="1"/>
              <a:t>Snowpipe</a:t>
            </a:r>
            <a:r>
              <a:rPr lang="en-US" b="1"/>
              <a:t> </a:t>
            </a:r>
            <a:r>
              <a:rPr lang="en-US"/>
              <a:t>would automatically load new data as it arrives, reducing delays and keeping information more up to date. </a:t>
            </a:r>
          </a:p>
          <a:p>
            <a:endParaRPr lang="en-US"/>
          </a:p>
          <a:p>
            <a:r>
              <a:rPr lang="en-US"/>
              <a:t>Combined with incremental </a:t>
            </a:r>
            <a:r>
              <a:rPr lang="en-US" err="1"/>
              <a:t>dbt</a:t>
            </a:r>
            <a:r>
              <a:rPr lang="en-US"/>
              <a:t> processing and Snowflake's ability to add computing power on demand, the platform can support significantly larger volumes of data without requiring a full redesign further in the future.</a:t>
            </a:r>
          </a:p>
          <a:p>
            <a:endParaRPr lang="en-US"/>
          </a:p>
          <a:p>
            <a:endParaRPr lang="en-US"/>
          </a:p>
          <a:p>
            <a:endParaRPr lang="en-US"/>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We designed our solution around three priorities: speed, trust, and simplicity. </a:t>
            </a:r>
          </a:p>
          <a:p>
            <a:endParaRPr lang="en-US"/>
          </a:p>
          <a:p>
            <a:r>
              <a:rPr lang="en-US"/>
              <a:t>Using Snowflake and </a:t>
            </a:r>
            <a:r>
              <a:rPr lang="en-US" err="1"/>
              <a:t>dbt</a:t>
            </a:r>
            <a:r>
              <a:rPr lang="en-US"/>
              <a:t>, we built a scalable pipeline capable of processing nearly 39 million taxi trips. </a:t>
            </a:r>
          </a:p>
          <a:p>
            <a:endParaRPr lang="en-US"/>
          </a:p>
          <a:p>
            <a:r>
              <a:rPr lang="en-US"/>
              <a:t>We improved performance by storing transformed data in tables, and built-in quality checks flag invalid records and keep them out of reporting. </a:t>
            </a:r>
          </a:p>
          <a:p>
            <a:endParaRPr lang="en-US"/>
          </a:p>
          <a:p>
            <a:r>
              <a:rPr lang="en-US"/>
              <a:t>We also integrated hourly weather data to support our analysis and automated the entire workflow through a single process. </a:t>
            </a:r>
          </a:p>
          <a:p>
            <a:endParaRPr lang="en-US"/>
          </a:p>
          <a:p>
            <a:r>
              <a:rPr lang="en-US"/>
              <a:t>Our result here is a reliable, scalable platform that delivers fast and trusted insights.</a:t>
            </a:r>
          </a:p>
          <a:p>
            <a:endParaRPr lang="en-US"/>
          </a:p>
          <a:p>
            <a:endParaRPr lang="en-US"/>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a:t>One thing we wanted to highlight is that this project was not a straight line from start to finish. </a:t>
            </a:r>
            <a:endParaRPr lang="en-US"/>
          </a:p>
          <a:p>
            <a:endParaRPr lang="en-US" b="1"/>
          </a:p>
          <a:p>
            <a:r>
              <a:rPr lang="en-US" b="1"/>
              <a:t>Like most real-world projects, some of our biggest lessons came from approaches that didn't make it into the final solution.</a:t>
            </a:r>
            <a:endParaRPr lang="en-US"/>
          </a:p>
          <a:p>
            <a:endParaRPr lang="en-US" b="1"/>
          </a:p>
          <a:p>
            <a:r>
              <a:rPr lang="en-US"/>
              <a:t>First, we explored adding New York City  permit data. While the idea was interesting, our taxi data only showed pickup and dropoff locations, not the actual route taken by each taxi. </a:t>
            </a:r>
          </a:p>
          <a:p>
            <a:endParaRPr lang="en-US"/>
          </a:p>
          <a:p>
            <a:r>
              <a:rPr lang="en-US"/>
              <a:t>Because of that, we couldn't reliably determine whether a trip was impacted by construction, so we decided not to incorporate permit data.</a:t>
            </a:r>
          </a:p>
          <a:p>
            <a:endParaRPr lang="en-US"/>
          </a:p>
          <a:p>
            <a:r>
              <a:rPr lang="en-US"/>
              <a:t>We also experimented with AWS Glue and </a:t>
            </a:r>
            <a:r>
              <a:rPr lang="en-US" err="1"/>
              <a:t>PySpark</a:t>
            </a:r>
            <a:r>
              <a:rPr lang="en-US"/>
              <a:t> as part of our pipeline. While the solution worked, AWS Glue made debugging very difficult, as identifying errors required digging through CloudWatch logs and troubleshooting multiple services. </a:t>
            </a:r>
          </a:p>
          <a:p>
            <a:endParaRPr lang="en-US"/>
          </a:p>
          <a:p>
            <a:r>
              <a:rPr lang="en-US"/>
              <a:t>Because of the additional complexity and time required, we chose a simpler architecture that let us focus on data analysis and business insights.</a:t>
            </a:r>
          </a:p>
          <a:p>
            <a:endParaRPr lang="en-US"/>
          </a:p>
          <a:p>
            <a:r>
              <a:rPr lang="en-US" b="1"/>
              <a:t>In the end, these experiences helped us make better decisions. They reinforced the importance of working within the limits of the data and choosing tools that work well for our end goal.</a:t>
            </a:r>
            <a:endParaRPr lang="en-US"/>
          </a:p>
          <a:p>
            <a:pPr>
              <a:buFont typeface="Arial"/>
              <a:buChar char="•"/>
            </a:pPr>
            <a:endParaRPr lang="en-US"/>
          </a:p>
          <a:p>
            <a:pPr marL="171450" indent="-171450">
              <a:buFont typeface="Arial"/>
              <a:buChar char="•"/>
            </a:pPr>
            <a:endParaRPr lang="en-US"/>
          </a:p>
          <a:p>
            <a:endParaRPr lang="en-US"/>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Now, moving onto our findings.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BBD42-A8C9-9452-D720-F939BDFE65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C5DF73-866E-5C4C-6923-76600A57344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4A1D145-8EAA-D0DD-AD72-8F6656397751}"/>
              </a:ext>
            </a:extLst>
          </p:cNvPr>
          <p:cNvSpPr>
            <a:spLocks noGrp="1"/>
          </p:cNvSpPr>
          <p:nvPr>
            <p:ph type="body" sz="quarter" idx="3"/>
          </p:nvPr>
        </p:nvSpPr>
        <p:spPr/>
        <p:txBody>
          <a:bodyPr/>
          <a:lstStyle/>
          <a:p>
            <a:r>
              <a:rPr lang="en-US"/>
              <a:t>Here, we wanted to take a step back and see if different taxi zones naturally shared similar characteristics.</a:t>
            </a:r>
          </a:p>
          <a:p>
            <a:endParaRPr lang="en-US"/>
          </a:p>
          <a:p>
            <a:r>
              <a:rPr lang="en-US"/>
              <a:t>Using </a:t>
            </a:r>
            <a:r>
              <a:rPr lang="en-US" err="1"/>
              <a:t>BigQuery</a:t>
            </a:r>
            <a:r>
              <a:rPr lang="en-US"/>
              <a:t> ML clustering, we grouped pickup zones with similar patterns based on factors such as trip volume, fare amounts, trip distances, trip timing, and weather exposure.</a:t>
            </a:r>
          </a:p>
          <a:p>
            <a:endParaRPr lang="en-US"/>
          </a:p>
          <a:p>
            <a:r>
              <a:rPr lang="en-US"/>
              <a:t>We then brought those results into Tableau to better understand what made each cluster unique and uncover patterns that would be difficult to see through traditional analysis alone.</a:t>
            </a:r>
          </a:p>
          <a:p>
            <a:endParaRPr lang="en-US"/>
          </a:p>
          <a:p>
            <a:r>
              <a:rPr lang="en-US" b="1"/>
              <a:t>The goal here wasn't to predict anything. It was to identify a small number of meaningful groups with similar behavior within the data.</a:t>
            </a:r>
          </a:p>
          <a:p>
            <a:endParaRPr lang="en-US" b="1"/>
          </a:p>
          <a:p>
            <a:endParaRPr lang="en-US"/>
          </a:p>
        </p:txBody>
      </p:sp>
      <p:sp>
        <p:nvSpPr>
          <p:cNvPr id="4" name="Slide Number Placeholder 3">
            <a:extLst>
              <a:ext uri="{FF2B5EF4-FFF2-40B4-BE49-F238E27FC236}">
                <a16:creationId xmlns:a16="http://schemas.microsoft.com/office/drawing/2014/main" id="{C59A5B14-A3D5-7C09-916E-2A25EE20CCEA}"/>
              </a:ext>
            </a:extLst>
          </p:cNvPr>
          <p:cNvSpPr>
            <a:spLocks noGrp="1"/>
          </p:cNvSpPr>
          <p:nvPr>
            <p:ph type="sldNum" sz="quarter" idx="5"/>
          </p:nvPr>
        </p:nvSpPr>
        <p:spPr/>
      </p:sp>
    </p:spTree>
    <p:extLst>
      <p:ext uri="{BB962C8B-B14F-4D97-AF65-F5344CB8AC3E}">
        <p14:creationId xmlns:p14="http://schemas.microsoft.com/office/powerpoint/2010/main" val="19507364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BC54E-445D-E429-C2D0-3ECE35C36E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F840F5-5387-E9C8-F81F-A9AC4BD4123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F25B29B-7216-750D-9A0E-817E5082F67F}"/>
              </a:ext>
            </a:extLst>
          </p:cNvPr>
          <p:cNvSpPr>
            <a:spLocks noGrp="1"/>
          </p:cNvSpPr>
          <p:nvPr>
            <p:ph type="body" sz="quarter" idx="3"/>
          </p:nvPr>
        </p:nvSpPr>
        <p:spPr/>
        <p:txBody>
          <a:bodyPr/>
          <a:lstStyle/>
          <a:p>
            <a:r>
              <a:rPr lang="en-US"/>
              <a:t>This dashboard helps us understand what each cluster represents from a business perspective.</a:t>
            </a:r>
          </a:p>
          <a:p>
            <a:endParaRPr lang="en-US"/>
          </a:p>
          <a:p>
            <a:r>
              <a:rPr lang="en-US"/>
              <a:t>Cluster 3 immediately stands out, accounting for nearly </a:t>
            </a:r>
            <a:r>
              <a:rPr lang="en-US" b="1"/>
              <a:t>29 million trips</a:t>
            </a:r>
            <a:r>
              <a:rPr lang="en-US"/>
              <a:t> and serving as the primary demand center in our dataset. It also shows higher average fares and longer trip distances, highlighting its outsized impact on overall taxi demand and revenue.</a:t>
            </a:r>
          </a:p>
          <a:p>
            <a:endParaRPr lang="en-US"/>
          </a:p>
          <a:p>
            <a:r>
              <a:rPr lang="en-US"/>
              <a:t>Looking at trip timing, Clusters 1 and 2 show more nighttime and weekend activity, suggesting leisure-focused travel, while Cluster 4 has the strongest rush-hour patterns, indicating commuter behavior.</a:t>
            </a:r>
          </a:p>
          <a:p>
            <a:endParaRPr lang="en-US"/>
          </a:p>
          <a:p>
            <a:r>
              <a:rPr lang="en-US"/>
              <a:t>Together, these findings show that trip volume, fare levels, distance, and trip timing were the main drivers of cluster formation.</a:t>
            </a:r>
          </a:p>
          <a:p>
            <a:endParaRPr lang="en-US"/>
          </a:p>
          <a:p>
            <a:r>
              <a:rPr lang="en-US" b="1"/>
              <a:t>Weather did influence taxi demand and rider behavior at a more detailed level, which Maryam and Orlando will explore in the upcoming slides.</a:t>
            </a:r>
          </a:p>
          <a:p>
            <a:endParaRPr lang="en-US"/>
          </a:p>
          <a:p>
            <a:endParaRPr lang="en-US" b="1"/>
          </a:p>
          <a:p>
            <a:endParaRPr lang="en-US"/>
          </a:p>
          <a:p>
            <a:endParaRPr lang="en-US"/>
          </a:p>
          <a:p>
            <a:endParaRPr lang="en-US"/>
          </a:p>
        </p:txBody>
      </p:sp>
      <p:sp>
        <p:nvSpPr>
          <p:cNvPr id="4" name="Slide Number Placeholder 3">
            <a:extLst>
              <a:ext uri="{FF2B5EF4-FFF2-40B4-BE49-F238E27FC236}">
                <a16:creationId xmlns:a16="http://schemas.microsoft.com/office/drawing/2014/main" id="{5E364960-DAA3-F505-DD25-F743930BBB57}"/>
              </a:ext>
            </a:extLst>
          </p:cNvPr>
          <p:cNvSpPr>
            <a:spLocks noGrp="1"/>
          </p:cNvSpPr>
          <p:nvPr>
            <p:ph type="sldNum" sz="quarter" idx="5"/>
          </p:nvPr>
        </p:nvSpPr>
        <p:spPr/>
      </p:sp>
    </p:spTree>
    <p:extLst>
      <p:ext uri="{BB962C8B-B14F-4D97-AF65-F5344CB8AC3E}">
        <p14:creationId xmlns:p14="http://schemas.microsoft.com/office/powerpoint/2010/main" val="23159798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983C3-8271-2641-E323-3F28FEC1DC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1FC6DF-A546-64A0-459A-C5EF58EC336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545E6B5-7052-4D10-E8C4-5539DF6F349D}"/>
              </a:ext>
            </a:extLst>
          </p:cNvPr>
          <p:cNvSpPr>
            <a:spLocks noGrp="1"/>
          </p:cNvSpPr>
          <p:nvPr>
            <p:ph type="body" sz="quarter" idx="3"/>
          </p:nvPr>
        </p:nvSpPr>
        <p:spPr/>
        <p:txBody>
          <a:bodyPr/>
          <a:lstStyle/>
          <a:p>
            <a:endParaRPr lang="en-US"/>
          </a:p>
          <a:p>
            <a:r>
              <a:rPr lang="en-US"/>
              <a:t>MARYAM: This Tableau dashboard gives us a high-level view of how adverse weather (rain and snow) affects taxi behavior across NYC's five boroughs.</a:t>
            </a:r>
          </a:p>
          <a:p>
            <a:endParaRPr lang="en-US"/>
          </a:p>
          <a:p>
            <a:r>
              <a:rPr lang="en-US"/>
              <a:t>[Top left chart – Trips per Hour] In the top left chart, we can see that most boroughs experience fewer trips per hour during adverse weather. Queens drops from 475 to 432 trips per hour, and The Bronx drops from 45 to 41. Manhattan, which dominates overall volume at over 4,500 trips per hour, still dips by about 100 trips per hour during bad weather.</a:t>
            </a:r>
          </a:p>
          <a:p>
            <a:endParaRPr lang="en-US"/>
          </a:p>
          <a:p>
            <a:r>
              <a:rPr lang="en-US"/>
              <a:t>[Top right chart – Distance] In the chart on the top right, we see that when people do take a taxi in bad weather, they're going shorter distances. This suggests that riders are using taxis for quicker, nearby trips rather than longer commutes.</a:t>
            </a:r>
          </a:p>
          <a:p>
            <a:endParaRPr lang="en-US"/>
          </a:p>
          <a:p>
            <a:r>
              <a:rPr lang="en-US"/>
              <a:t>[Bottom – Fare] The key insight from this dashboard is that despite fewer trips and shorter distances during adverse weather, the average fare per trip barely changes when compared to clear weather. For example, Manhattan averages $22.41 in clear weather versus $22.63 in adverse weather, which is nearly identical. This pattern holds across every borough.</a:t>
            </a:r>
          </a:p>
          <a:p>
            <a:endParaRPr lang="en-US"/>
          </a:p>
          <a:p>
            <a:r>
              <a:rPr lang="en-US" dirty="0"/>
              <a:t>So weather's impact is about volume, not price. To build on this, Orlando will walk through our </a:t>
            </a:r>
            <a:r>
              <a:rPr lang="en-US" err="1"/>
              <a:t>Streamlit</a:t>
            </a:r>
            <a:r>
              <a:rPr lang="en-US"/>
              <a:t> dashboard, which layers in the year-over-year comparison between 2025 and 2026, time of day, and specific weather types like rain versus snow to see what's driving</a:t>
            </a:r>
            <a:r>
              <a:rPr lang="en-US" dirty="0"/>
              <a:t> these patterns.</a:t>
            </a:r>
          </a:p>
          <a:p>
            <a:endParaRPr lang="en-US"/>
          </a:p>
          <a:p>
            <a:endParaRPr lang="en-US"/>
          </a:p>
        </p:txBody>
      </p:sp>
      <p:sp>
        <p:nvSpPr>
          <p:cNvPr id="4" name="Slide Number Placeholder 3">
            <a:extLst>
              <a:ext uri="{FF2B5EF4-FFF2-40B4-BE49-F238E27FC236}">
                <a16:creationId xmlns:a16="http://schemas.microsoft.com/office/drawing/2014/main" id="{B5A57711-E3D1-B838-DB1D-86DAB30D0D44}"/>
              </a:ext>
            </a:extLst>
          </p:cNvPr>
          <p:cNvSpPr>
            <a:spLocks noGrp="1"/>
          </p:cNvSpPr>
          <p:nvPr>
            <p:ph type="sldNum" sz="quarter" idx="5"/>
          </p:nvPr>
        </p:nvSpPr>
        <p:spPr/>
      </p:sp>
    </p:spTree>
    <p:extLst>
      <p:ext uri="{BB962C8B-B14F-4D97-AF65-F5344CB8AC3E}">
        <p14:creationId xmlns:p14="http://schemas.microsoft.com/office/powerpoint/2010/main" val="11679375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Tableau Speaker Notes</a:t>
            </a:r>
          </a:p>
          <a:p>
            <a:r>
              <a:rPr lang="en-US"/>
              <a:t>Transition into Tableau</a:t>
            </a:r>
          </a:p>
          <a:p>
            <a:r>
              <a:rPr lang="en-US"/>
              <a:t>For the Tableau portion, we focused on </a:t>
            </a:r>
            <a:r>
              <a:rPr lang="en-US" b="1"/>
              <a:t>how taxi activity was distributed across the five boroughs plus EWR, how that distribution differed during adverse weather, and how those patterns changed from 2025 to 2026.</a:t>
            </a:r>
            <a:endParaRPr lang="en-US"/>
          </a:p>
          <a:p>
            <a:endParaRPr lang="en-US"/>
          </a:p>
          <a:p>
            <a:r>
              <a:rPr lang="en-US"/>
              <a:t>The Tableau views will be showing </a:t>
            </a:r>
            <a:r>
              <a:rPr lang="en-US" b="1"/>
              <a:t>relative geographic shifts in trip activity, so we'll basically be looking at performance comparisons between the pickup areas.</a:t>
            </a:r>
          </a:p>
          <a:p>
            <a:pPr algn="ctr"/>
            <a:endParaRPr lang="en-US">
              <a:cs typeface="+mn-lt"/>
            </a:endParaRPr>
          </a:p>
          <a:p>
            <a:r>
              <a:rPr lang="en-US"/>
              <a:t>1. Overall Taxi Volume by Pickup Area and Year</a:t>
            </a:r>
          </a:p>
          <a:p>
            <a:r>
              <a:rPr lang="en-US" b="1"/>
              <a:t>Main takeaway: Overall taxi volume was nearly flat year over year, but growth differed substantially by pickup area.</a:t>
            </a:r>
            <a:endParaRPr lang="en-US"/>
          </a:p>
          <a:p>
            <a:r>
              <a:rPr lang="en-US"/>
              <a:t>Across January through May, total trips increased only about </a:t>
            </a:r>
            <a:r>
              <a:rPr lang="en-US" b="1"/>
              <a:t>0.8%</a:t>
            </a:r>
            <a:r>
              <a:rPr lang="en-US"/>
              <a:t>, from approximately </a:t>
            </a:r>
            <a:r>
              <a:rPr lang="en-US" b="1"/>
              <a:t>18.92 million in 2025 to 19.06 million in 2026</a:t>
            </a:r>
            <a:r>
              <a:rPr lang="en-US"/>
              <a:t>.</a:t>
            </a:r>
          </a:p>
          <a:p>
            <a:r>
              <a:rPr lang="en-US"/>
              <a:t>However, that annual stability, some key  area-level differences would be hidden. </a:t>
            </a:r>
            <a:r>
              <a:rPr lang="en-US" b="1"/>
              <a:t>Brooklyn grew about 40%, from 571,000 to 797,000 trips, and the Bronx grew about 41%, from 134,000 to 188,000.</a:t>
            </a:r>
            <a:r>
              <a:rPr lang="en-US"/>
              <a:t> Meanwhile, Manhattan remained by far the largest market but actually declined slightly, from </a:t>
            </a:r>
            <a:r>
              <a:rPr lang="en-US" b="1"/>
              <a:t>16.49 million to 16.36 million trips</a:t>
            </a:r>
            <a:r>
              <a:rPr lang="en-US"/>
              <a:t>.</a:t>
            </a:r>
          </a:p>
          <a:p>
            <a:r>
              <a:rPr lang="en-US"/>
              <a:t>This gives us a baseline to keep in mind: the overall market was stable, but the geographic mix was already changing.</a:t>
            </a:r>
          </a:p>
          <a:p>
            <a:r>
              <a:rPr lang="en-US" b="1"/>
              <a:t>Transition:</a:t>
            </a:r>
            <a:r>
              <a:rPr lang="en-US"/>
              <a:t> From there, we wanted to see whether that geographic mix also looked different during adverse weather.</a:t>
            </a:r>
          </a:p>
          <a:p>
            <a:pPr algn="ctr"/>
            <a:r>
              <a:rPr lang="en-US">
                <a:cs typeface="+mn-lt"/>
              </a:rPr>
              <a:t>And that brings us to our next visualization</a:t>
            </a:r>
            <a:br>
              <a:rPr lang="en-US">
                <a:cs typeface="+mn-lt"/>
              </a:rPr>
            </a:br>
            <a:endParaRPr lang="en-US"/>
          </a:p>
          <a:p>
            <a:r>
              <a:rPr lang="en-US"/>
              <a:t>2. Pickup Area Distribution of Trips by Weather</a:t>
            </a:r>
          </a:p>
          <a:p>
            <a:r>
              <a:rPr lang="en-US" b="1"/>
              <a:t>Main takeaway: Manhattan dominates taxi activity in every weather condition, but the geographic mix shifts slightly between adverse and non-adverse weather. Adverse weather here means rain and snow. </a:t>
            </a:r>
            <a:endParaRPr lang="en-US"/>
          </a:p>
          <a:p>
            <a:r>
              <a:rPr lang="en-US"/>
              <a:t>Each bar represents </a:t>
            </a:r>
            <a:r>
              <a:rPr lang="en-US" b="1"/>
              <a:t>100% of trips within that year and weather condition</a:t>
            </a:r>
            <a:r>
              <a:rPr lang="en-US"/>
              <a:t>, and the colors show how those trips were distributed across pickup areas.</a:t>
            </a:r>
          </a:p>
          <a:p>
            <a:r>
              <a:rPr lang="en-US"/>
              <a:t>So, for example, if an area represents 1% of an adverse-weather bar as in the Bronx in 2026, that means 1</a:t>
            </a:r>
            <a:r>
              <a:rPr lang="en-US" b="1"/>
              <a:t>% of all trips observed during that condition, of adverse weather, came from that area</a:t>
            </a:r>
            <a:r>
              <a:rPr lang="en-US"/>
              <a:t>.</a:t>
            </a:r>
          </a:p>
          <a:p>
            <a:r>
              <a:rPr lang="en-US"/>
              <a:t>We kept this chart mainly as context because Manhattan's volume is so dominant that the smaller changes are difficult to see precisely here.</a:t>
            </a:r>
          </a:p>
          <a:p>
            <a:r>
              <a:rPr lang="en-US" b="1"/>
              <a:t>Transition:</a:t>
            </a:r>
            <a:r>
              <a:rPr lang="en-US"/>
              <a:t> The next chart calculates those differences directly, so we can see which areas actually gained or lost relative share.</a:t>
            </a:r>
          </a:p>
          <a:p>
            <a:pPr algn="ctr"/>
            <a:r>
              <a:rPr lang="en-US">
                <a:cs typeface="+mn-lt"/>
              </a:rPr>
              <a:t>It shows</a:t>
            </a:r>
            <a:br>
              <a:rPr lang="en-US">
                <a:cs typeface="+mn-lt"/>
              </a:rPr>
            </a:br>
            <a:endParaRPr lang="en-US"/>
          </a:p>
          <a:p>
            <a:r>
              <a:rPr lang="en-US"/>
              <a:t>3. Pickup Area Share Shift During Adverse Weather</a:t>
            </a:r>
          </a:p>
          <a:p>
            <a:r>
              <a:rPr lang="en-US" b="1"/>
              <a:t>Main takeaway: The adverse-weather pattern changed noticeably from 2025 to 2026, particularly for Brooklyn and Manhattan.</a:t>
            </a:r>
            <a:endParaRPr lang="en-US"/>
          </a:p>
          <a:p>
            <a:r>
              <a:rPr lang="en-US"/>
              <a:t>This chart subtracts each pickup area's </a:t>
            </a:r>
            <a:r>
              <a:rPr lang="en-US" b="1"/>
              <a:t>non-adverse share of trips from its adverse-weather share, leaving us with percentage point changes as our response variable to analyze.</a:t>
            </a:r>
            <a:endParaRPr lang="en-US"/>
          </a:p>
          <a:p>
            <a:r>
              <a:rPr lang="en-US"/>
              <a:t>Positive values on the right side of the zero axis mean the area represented a </a:t>
            </a:r>
            <a:r>
              <a:rPr lang="en-US" b="1"/>
              <a:t>larger share of taxi activity during adverse weather</a:t>
            </a:r>
            <a:r>
              <a:rPr lang="en-US"/>
              <a:t>; negative values mean a smaller share. </a:t>
            </a:r>
          </a:p>
          <a:p>
            <a:endParaRPr lang="en-US"/>
          </a:p>
          <a:p>
            <a:r>
              <a:rPr lang="en-US"/>
              <a:t>Looking at the left plot, we see that in </a:t>
            </a:r>
            <a:r>
              <a:rPr lang="en-US" b="1"/>
              <a:t>2025</a:t>
            </a:r>
            <a:r>
              <a:rPr lang="en-US"/>
              <a:t>, Manhattan gained about </a:t>
            </a:r>
            <a:r>
              <a:rPr lang="en-US" b="1"/>
              <a:t>+0.7 percentage points</a:t>
            </a:r>
            <a:r>
              <a:rPr lang="en-US"/>
              <a:t> during adverse weather, while Queens declined about </a:t>
            </a:r>
            <a:r>
              <a:rPr lang="en-US" b="1"/>
              <a:t>−0.8 points</a:t>
            </a:r>
            <a:r>
              <a:rPr lang="en-US"/>
              <a:t>.</a:t>
            </a:r>
          </a:p>
          <a:p>
            <a:r>
              <a:rPr lang="en-US"/>
              <a:t>In </a:t>
            </a:r>
            <a:r>
              <a:rPr lang="en-US" b="1"/>
              <a:t>2026</a:t>
            </a:r>
            <a:r>
              <a:rPr lang="en-US"/>
              <a:t>, that pattern shifted: </a:t>
            </a:r>
            <a:r>
              <a:rPr lang="en-US" b="1"/>
              <a:t>Brooklyn increased from +0.2 to +0.8 points</a:t>
            </a:r>
            <a:r>
              <a:rPr lang="en-US"/>
              <a:t>, while </a:t>
            </a:r>
            <a:r>
              <a:rPr lang="en-US" b="1"/>
              <a:t>Manhattan flipped from +0.7 to −0.5 points</a:t>
            </a:r>
            <a:r>
              <a:rPr lang="en-US"/>
              <a:t>. Queens remained negative but became somewhat less negative, moving from </a:t>
            </a:r>
            <a:r>
              <a:rPr lang="en-US" b="1"/>
              <a:t>−0.8 to −0.4 points</a:t>
            </a:r>
            <a:r>
              <a:rPr lang="en-US"/>
              <a:t>.</a:t>
            </a:r>
          </a:p>
          <a:p>
            <a:r>
              <a:rPr lang="en-US"/>
              <a:t>So the major year-over-year story is that </a:t>
            </a:r>
            <a:r>
              <a:rPr lang="en-US" b="1"/>
              <a:t>adverse-weather activity became relatively more concentrated in Brooklyn and less concentrated in Manhattan in 2026.</a:t>
            </a:r>
            <a:endParaRPr lang="en-US"/>
          </a:p>
          <a:p>
            <a:r>
              <a:rPr lang="en-US" b="1"/>
              <a:t>Transition:</a:t>
            </a:r>
            <a:r>
              <a:rPr lang="en-US"/>
              <a:t> Here we are seeing that the annual values summarize the overall pattern, but the monthly views we're looking at next show that these effects were not consistent throughout the year.</a:t>
            </a:r>
          </a:p>
          <a:p>
            <a:pPr algn="ctr"/>
            <a:br>
              <a:rPr lang="en-US">
                <a:cs typeface="+mn-lt"/>
              </a:rPr>
            </a:br>
            <a:r>
              <a:rPr lang="en-US"/>
              <a:t>This visualization is showing</a:t>
            </a:r>
          </a:p>
          <a:p>
            <a:r>
              <a:rPr lang="en-US"/>
              <a:t>4. Monthly Weather Share Shift</a:t>
            </a:r>
          </a:p>
          <a:p>
            <a:r>
              <a:rPr lang="en-US" b="1"/>
              <a:t>Main takeaway: The weather-related geographic shift varied significantly month to month, with some of the strongest changes occurring in 2026.</a:t>
            </a:r>
            <a:endParaRPr lang="en-US"/>
          </a:p>
          <a:p>
            <a:r>
              <a:rPr lang="en-US"/>
              <a:t>This heatmap uses the same share-shift calculation, but calculates it separately for each month.</a:t>
            </a:r>
          </a:p>
          <a:p>
            <a:r>
              <a:rPr lang="en-US"/>
              <a:t>A few examples show why the monthly detail matters.</a:t>
            </a:r>
          </a:p>
          <a:p>
            <a:r>
              <a:rPr lang="en-US"/>
              <a:t>In early </a:t>
            </a:r>
            <a:r>
              <a:rPr lang="en-US" b="1"/>
              <a:t>2026</a:t>
            </a:r>
            <a:r>
              <a:rPr lang="en-US"/>
              <a:t>, Brooklyn consistently gained share during adverse weather — approximately </a:t>
            </a:r>
            <a:r>
              <a:rPr lang="en-US" b="1"/>
              <a:t>+1.1 points in January and +1.7 in February</a:t>
            </a:r>
            <a:r>
              <a:rPr lang="en-US"/>
              <a:t>.</a:t>
            </a:r>
          </a:p>
          <a:p>
            <a:r>
              <a:rPr lang="en-US"/>
              <a:t>At the same time, Manhattan moved in the opposite direction, falling about </a:t>
            </a:r>
            <a:r>
              <a:rPr lang="en-US" b="1"/>
              <a:t>−1.2 points in January and −3.0 points in February</a:t>
            </a:r>
            <a:r>
              <a:rPr lang="en-US"/>
              <a:t>.</a:t>
            </a:r>
          </a:p>
          <a:p>
            <a:r>
              <a:rPr lang="en-US"/>
              <a:t>But the pattern later reversed: Manhattan gained about </a:t>
            </a:r>
            <a:r>
              <a:rPr lang="en-US" b="1"/>
              <a:t>+1.8 points in April and +1.5 in May</a:t>
            </a:r>
            <a:r>
              <a:rPr lang="en-US"/>
              <a:t>, while Queens fell approximately </a:t>
            </a:r>
            <a:r>
              <a:rPr lang="en-US" b="1"/>
              <a:t>−2.2 and −1.4 points</a:t>
            </a:r>
            <a:r>
              <a:rPr lang="en-US"/>
              <a:t> in those same months.</a:t>
            </a:r>
          </a:p>
          <a:p>
            <a:r>
              <a:rPr lang="en-US"/>
              <a:t>So the impact of adverse weather was </a:t>
            </a:r>
            <a:r>
              <a:rPr lang="en-US" b="1"/>
              <a:t>not uniform across either location or time</a:t>
            </a:r>
            <a:r>
              <a:rPr lang="en-US"/>
              <a:t>. The annual results are really the combination of several different monthly patterns.</a:t>
            </a:r>
          </a:p>
          <a:p>
            <a:pPr algn="ctr"/>
            <a:br>
              <a:rPr lang="en-US">
                <a:cs typeface="+mn-lt"/>
              </a:rPr>
            </a:br>
            <a:endParaRPr lang="en-US"/>
          </a:p>
          <a:p>
            <a:r>
              <a:rPr lang="en-US"/>
              <a:t>Tableau Story / Conclusion</a:t>
            </a:r>
          </a:p>
          <a:p>
            <a:r>
              <a:rPr lang="en-US"/>
              <a:t>The monthly view shows that these shifts weren’t consistent throughout the year, but the broader pattern is still clear: </a:t>
            </a:r>
            <a:r>
              <a:rPr lang="en-US" b="1"/>
              <a:t>overall taxi volume stayed relatively stable, while adverse weather was associated with changes in where that activity was concentrated.</a:t>
            </a:r>
            <a:endParaRPr lang="en-US"/>
          </a:p>
          <a:p>
            <a:r>
              <a:rPr lang="en-US"/>
              <a:t>The biggest year-over-year change was between </a:t>
            </a:r>
            <a:r>
              <a:rPr lang="en-US" b="1"/>
              <a:t>Brooklyn and Manhattan</a:t>
            </a:r>
            <a:r>
              <a:rPr lang="en-US"/>
              <a:t>. Brooklyn became more prominent during adverse weather in 2026, while Manhattan shifted from gaining share in 2025 to losing share in 2026.</a:t>
            </a:r>
          </a:p>
          <a:p>
            <a:r>
              <a:rPr lang="en-US"/>
              <a:t>Overall, the takeaway is that </a:t>
            </a:r>
            <a:r>
              <a:rPr lang="en-US" b="1"/>
              <a:t>adverse weather does not affect every pickup area the same way, and those geographic patterns changed meaningfully between 2025 and 2026.</a:t>
            </a:r>
            <a:endParaRPr lang="en-US"/>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F6766933-377C-4AC7-AB6F-0438E161DC72}" type="slidenum">
              <a:rPr lang="en-US" smtClean="0"/>
              <a:t>16</a:t>
            </a:fld>
            <a:endParaRPr lang="en-US"/>
          </a:p>
        </p:txBody>
      </p:sp>
    </p:spTree>
    <p:extLst>
      <p:ext uri="{BB962C8B-B14F-4D97-AF65-F5344CB8AC3E}">
        <p14:creationId xmlns:p14="http://schemas.microsoft.com/office/powerpoint/2010/main" val="2942849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3FF8C-FA08-5BFF-0FD8-6CBBB1860D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782C31-AD01-3ED4-78A7-1E02B0FBAF5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C72542D-F225-8FF7-C81D-B7C770A528E9}"/>
              </a:ext>
            </a:extLst>
          </p:cNvPr>
          <p:cNvSpPr>
            <a:spLocks noGrp="1"/>
          </p:cNvSpPr>
          <p:nvPr>
            <p:ph type="body" sz="quarter" idx="3"/>
          </p:nvPr>
        </p:nvSpPr>
        <p:spPr/>
        <p:txBody>
          <a:bodyPr/>
          <a:lstStyle/>
          <a:p>
            <a:r>
              <a:t>ORLANDO: To bring it all together: our analysis showed four clear findings. First, weather impacts trip volume but not pricing. Fares stay essentially flat regardless of conditions. Second, the relationship between weather and demand is not static. In 2025, bad weather actually boosted taxi usage, but in 2026, it suppressed it. Third, that reversal is explained by snow severity. 2026 had dramatically worse winter storms that crossed a threshold from inconvenient to impassable. And fourth, the revenue impact is not spread evenly. It concentrates heavily during rush hour, where a single storm-hour in Manhattan costs over $43,000 in lost revenue. Our recommendation is to implement weather-triggered fleet deployment: pre-position vehicles before storms, prioritize rush-hour coverage, and use driver incentives during severe snow. The key insight is that it's not about whether weather hurts demand. It's about protecting the highest-value hours.</a:t>
            </a:r>
          </a:p>
        </p:txBody>
      </p:sp>
      <p:sp>
        <p:nvSpPr>
          <p:cNvPr id="4" name="Slide Number Placeholder 3">
            <a:extLst>
              <a:ext uri="{FF2B5EF4-FFF2-40B4-BE49-F238E27FC236}">
                <a16:creationId xmlns:a16="http://schemas.microsoft.com/office/drawing/2014/main" id="{A162080E-B3CB-21D5-2B68-CAF42499FACE}"/>
              </a:ext>
            </a:extLst>
          </p:cNvPr>
          <p:cNvSpPr>
            <a:spLocks noGrp="1"/>
          </p:cNvSpPr>
          <p:nvPr>
            <p:ph type="sldNum" sz="quarter" idx="5"/>
          </p:nvPr>
        </p:nvSpPr>
        <p:spPr/>
      </p:sp>
    </p:spTree>
    <p:extLst>
      <p:ext uri="{BB962C8B-B14F-4D97-AF65-F5344CB8AC3E}">
        <p14:creationId xmlns:p14="http://schemas.microsoft.com/office/powerpoint/2010/main" val="10008888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Now, our future state proposal</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We identified three potential next steps to build on this solution.</a:t>
            </a:r>
          </a:p>
          <a:p>
            <a:endParaRPr lang="en-US"/>
          </a:p>
          <a:p>
            <a:r>
              <a:rPr lang="en-US"/>
              <a:t>First, </a:t>
            </a:r>
            <a:r>
              <a:rPr lang="en-US" b="1"/>
              <a:t>real-time ingestion</a:t>
            </a:r>
            <a:r>
              <a:rPr lang="en-US"/>
              <a:t> would allow trip and weather data to flow continuously, giving operators a more up-to-date view of demand during storms.</a:t>
            </a:r>
          </a:p>
          <a:p>
            <a:endParaRPr lang="en-US"/>
          </a:p>
          <a:p>
            <a:r>
              <a:rPr lang="en-US"/>
              <a:t>Second, </a:t>
            </a:r>
            <a:r>
              <a:rPr lang="en-US" b="1"/>
              <a:t>machine learning forecasting</a:t>
            </a:r>
            <a:r>
              <a:rPr lang="en-US"/>
              <a:t> could help predict demand changes before weather events occur, enabling more proactive planning.</a:t>
            </a:r>
          </a:p>
          <a:p>
            <a:endParaRPr lang="en-US"/>
          </a:p>
          <a:p>
            <a:r>
              <a:rPr lang="en-US"/>
              <a:t>Third, as our current solution is </a:t>
            </a:r>
            <a:r>
              <a:rPr lang="en-US" b="1"/>
              <a:t>scalable, it </a:t>
            </a:r>
            <a:r>
              <a:rPr lang="en-US"/>
              <a:t>could be expanded to other cities with similar taxi and weather data.</a:t>
            </a:r>
          </a:p>
          <a:p>
            <a:endParaRPr lang="en-US"/>
          </a:p>
          <a:p>
            <a:r>
              <a:rPr lang="en-US" b="1"/>
              <a:t>Our top recommendation is real-time ingestion because it offers the greatest business value with the lowest implementation effort.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Thank you for your time and attention today. </a:t>
            </a:r>
          </a:p>
          <a:p>
            <a:endParaRPr lang="en-US"/>
          </a:p>
          <a:p>
            <a:r>
              <a:rPr lang="en-US"/>
              <a:t>We appreciate the opportunity to share our findings and would be happy to answer any questions.</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Rectangle 1">
            <a:extLst>
              <a:ext uri="{FF2B5EF4-FFF2-40B4-BE49-F238E27FC236}">
                <a16:creationId xmlns:a16="http://schemas.microsoft.com/office/drawing/2014/main" id="{CF625AB5-078E-84D7-9A5B-1CF2CBF82760}"/>
              </a:ext>
            </a:extLst>
          </p:cNvPr>
          <p:cNvSpPr/>
          <p:nvPr/>
        </p:nvSpPr>
        <p:spPr>
          <a:xfrm>
            <a:off x="-9144" y="1014984"/>
            <a:ext cx="12207240" cy="5852160"/>
          </a:xfrm>
          <a:prstGeom prst="rect">
            <a:avLst/>
          </a:prstGeom>
          <a:solidFill>
            <a:schemeClr val="tx2"/>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2" name="Title 2">
            <a:extLst>
              <a:ext uri="{FF2B5EF4-FFF2-40B4-BE49-F238E27FC236}">
                <a16:creationId xmlns:a16="http://schemas.microsoft.com/office/drawing/2014/main" id="{952A2DE5-96D0-4A4F-B73B-1FB010E91E35}"/>
              </a:ext>
            </a:extLst>
          </p:cNvPr>
          <p:cNvSpPr>
            <a:spLocks noGrp="1"/>
          </p:cNvSpPr>
          <p:nvPr>
            <p:ph type="ctrTitle"/>
          </p:nvPr>
        </p:nvSpPr>
        <p:spPr>
          <a:xfrm>
            <a:off x="574675" y="1328600"/>
            <a:ext cx="6858000" cy="2338332"/>
          </a:xfrm>
        </p:spPr>
        <p:txBody>
          <a:bodyPr anchor="t" anchorCtr="0">
            <a:spAutoFit/>
          </a:bodyPr>
          <a:lstStyle>
            <a:lvl1pPr algn="l">
              <a:lnSpc>
                <a:spcPct val="83000"/>
              </a:lnSpc>
              <a:defRPr sz="6000" spc="-10" baseline="0">
                <a:solidFill>
                  <a:schemeClr val="bg1"/>
                </a:solidFill>
                <a:latin typeface="Trust Hartford Serif XLight" pitchFamily="50" charset="0"/>
              </a:defRPr>
            </a:lvl1pPr>
          </a:lstStyle>
          <a:p>
            <a:r>
              <a:rPr lang="en-US"/>
              <a:t>Click to edit Master title style</a:t>
            </a:r>
            <a:endParaRPr lang="en-CA"/>
          </a:p>
        </p:txBody>
      </p:sp>
      <p:sp>
        <p:nvSpPr>
          <p:cNvPr id="3" name="Subtitle 3">
            <a:extLst>
              <a:ext uri="{FF2B5EF4-FFF2-40B4-BE49-F238E27FC236}">
                <a16:creationId xmlns:a16="http://schemas.microsoft.com/office/drawing/2014/main" id="{D4718C5F-E009-48BF-9E7D-1C9D59D01771}"/>
              </a:ext>
            </a:extLst>
          </p:cNvPr>
          <p:cNvSpPr>
            <a:spLocks noGrp="1"/>
          </p:cNvSpPr>
          <p:nvPr>
            <p:ph type="subTitle" idx="1"/>
          </p:nvPr>
        </p:nvSpPr>
        <p:spPr>
          <a:xfrm>
            <a:off x="574674" y="5668463"/>
            <a:ext cx="4572000" cy="279757"/>
          </a:xfrm>
        </p:spPr>
        <p:txBody>
          <a:bodyPr anchor="b" anchorCtr="0">
            <a:spAutoFit/>
          </a:bodyPr>
          <a:lstStyle>
            <a:lvl1pPr>
              <a:defRPr sz="1800">
                <a:solidFill>
                  <a:srgbClr val="FE3082"/>
                </a:solidFill>
              </a:defRPr>
            </a:lvl1pPr>
          </a:lstStyle>
          <a:p>
            <a:r>
              <a:rPr lang="en-US"/>
              <a:t>Click to edit Master subtitle style</a:t>
            </a:r>
            <a:endParaRPr lang="en-CA"/>
          </a:p>
        </p:txBody>
      </p:sp>
      <p:sp>
        <p:nvSpPr>
          <p:cNvPr id="5" name="Footer Placeholder 5" hidden="1">
            <a:extLst>
              <a:ext uri="{FF2B5EF4-FFF2-40B4-BE49-F238E27FC236}">
                <a16:creationId xmlns:a16="http://schemas.microsoft.com/office/drawing/2014/main" id="{8A820423-7534-4A26-9335-0AE0D83805D8}"/>
              </a:ext>
            </a:extLst>
          </p:cNvPr>
          <p:cNvSpPr>
            <a:spLocks noGrp="1"/>
          </p:cNvSpPr>
          <p:nvPr>
            <p:ph type="ftr" sz="quarter" idx="11"/>
          </p:nvPr>
        </p:nvSpPr>
        <p:spPr>
          <a:xfrm>
            <a:off x="-18288" y="6876288"/>
            <a:ext cx="9144" cy="9144"/>
          </a:xfrm>
          <a:prstGeom prst="rect">
            <a:avLst/>
          </a:prstGeom>
        </p:spPr>
        <p:txBody>
          <a:bodyPr/>
          <a:lstStyle>
            <a:lvl1pPr>
              <a:defRPr sz="100">
                <a:solidFill>
                  <a:schemeClr val="bg1">
                    <a:lumMod val="95000"/>
                  </a:schemeClr>
                </a:solidFill>
              </a:defRPr>
            </a:lvl1pPr>
          </a:lstStyle>
          <a:p>
            <a:r>
              <a:rPr lang="en-US"/>
              <a:t>© 2025 The Hartford. Confidential. No part of this document may be reproduced, published or posted without the permission of The Hartford.</a:t>
            </a:r>
            <a:endParaRPr lang="en-CA"/>
          </a:p>
        </p:txBody>
      </p:sp>
      <p:sp>
        <p:nvSpPr>
          <p:cNvPr id="6" name="Slide Number Placeholder 6" hidden="1">
            <a:extLst>
              <a:ext uri="{FF2B5EF4-FFF2-40B4-BE49-F238E27FC236}">
                <a16:creationId xmlns:a16="http://schemas.microsoft.com/office/drawing/2014/main" id="{DB5852C0-F1AF-4C19-9089-80744E475712}"/>
              </a:ext>
            </a:extLst>
          </p:cNvPr>
          <p:cNvSpPr>
            <a:spLocks noGrp="1"/>
          </p:cNvSpPr>
          <p:nvPr>
            <p:ph type="sldNum" sz="quarter" idx="12"/>
          </p:nvPr>
        </p:nvSpPr>
        <p:spPr>
          <a:xfrm>
            <a:off x="12207240" y="6876288"/>
            <a:ext cx="9144" cy="9144"/>
          </a:xfrm>
        </p:spPr>
        <p:txBody>
          <a:bodyPr/>
          <a:lstStyle>
            <a:lvl1pPr>
              <a:defRPr sz="100">
                <a:solidFill>
                  <a:schemeClr val="bg1">
                    <a:lumMod val="95000"/>
                  </a:schemeClr>
                </a:solidFill>
              </a:defRPr>
            </a:lvl1pPr>
          </a:lstStyle>
          <a:p>
            <a:fld id="{0B1B59A6-B74A-41AA-9EF6-238F4BE8BA53}" type="slidenum">
              <a:rPr lang="en-CA" smtClean="0"/>
              <a:pPr/>
              <a:t>‹#›</a:t>
            </a:fld>
            <a:endParaRPr lang="en-CA"/>
          </a:p>
        </p:txBody>
      </p:sp>
      <p:pic>
        <p:nvPicPr>
          <p:cNvPr id="10" name="Picture 7">
            <a:extLst>
              <a:ext uri="{FF2B5EF4-FFF2-40B4-BE49-F238E27FC236}">
                <a16:creationId xmlns:a16="http://schemas.microsoft.com/office/drawing/2014/main" id="{5D3FCD0E-D48F-4AB1-87CA-EC160DAF7E2A}"/>
              </a:ext>
            </a:extLst>
          </p:cNvPr>
          <p:cNvPicPr>
            <a:picLocks noChangeAspect="1"/>
          </p:cNvPicPr>
          <p:nvPr/>
        </p:nvPicPr>
        <p:blipFill>
          <a:blip r:embed="rId2"/>
          <a:stretch>
            <a:fillRect/>
          </a:stretch>
        </p:blipFill>
        <p:spPr>
          <a:xfrm>
            <a:off x="8492679" y="195696"/>
            <a:ext cx="3132582" cy="612648"/>
          </a:xfrm>
          <a:prstGeom prst="rect">
            <a:avLst/>
          </a:prstGeom>
        </p:spPr>
      </p:pic>
      <p:sp>
        <p:nvSpPr>
          <p:cNvPr id="4" name="Footer Placeholder 5">
            <a:extLst>
              <a:ext uri="{FF2B5EF4-FFF2-40B4-BE49-F238E27FC236}">
                <a16:creationId xmlns:a16="http://schemas.microsoft.com/office/drawing/2014/main" id="{331CF39C-A66D-C7F1-A529-D4B354335236}"/>
              </a:ext>
            </a:extLst>
          </p:cNvPr>
          <p:cNvSpPr txBox="1">
            <a:spLocks/>
          </p:cNvSpPr>
          <p:nvPr userDrawn="1"/>
        </p:nvSpPr>
        <p:spPr>
          <a:xfrm>
            <a:off x="10890250" y="6665595"/>
            <a:ext cx="827086" cy="182880"/>
          </a:xfrm>
          <a:prstGeom prst="rect">
            <a:avLst/>
          </a:prstGeom>
        </p:spPr>
        <p:txBody>
          <a:bodyPr/>
          <a:lstStyle>
            <a:defPPr>
              <a:defRPr lang="en-US"/>
            </a:defPPr>
            <a:lvl1pPr marL="0" algn="l" defTabSz="914400" rtl="0" eaLnBrk="1" fontAlgn="ctr" latinLnBrk="0" hangingPunct="1">
              <a:defRPr sz="1800" kern="1200">
                <a:solidFill>
                  <a:schemeClr val="tx1"/>
                </a:solidFill>
                <a:latin typeface="+mn-lt"/>
                <a:ea typeface="+mn-ea"/>
                <a:cs typeface="+mn-cs"/>
              </a:defRPr>
            </a:lvl1pPr>
            <a:lvl2pPr marL="457200" algn="l" defTabSz="914400" rtl="0" eaLnBrk="1" fontAlgn="ctr" latinLnBrk="0" hangingPunct="1">
              <a:defRPr sz="1800" kern="1200">
                <a:solidFill>
                  <a:schemeClr val="tx1"/>
                </a:solidFill>
                <a:latin typeface="+mn-lt"/>
                <a:ea typeface="+mn-ea"/>
                <a:cs typeface="+mn-cs"/>
              </a:defRPr>
            </a:lvl2pPr>
            <a:lvl3pPr marL="914400" algn="l" defTabSz="914400" rtl="0" eaLnBrk="1" fontAlgn="ctr" latinLnBrk="0" hangingPunct="1">
              <a:defRPr sz="1800" kern="1200">
                <a:solidFill>
                  <a:schemeClr val="tx1"/>
                </a:solidFill>
                <a:latin typeface="+mn-lt"/>
                <a:ea typeface="+mn-ea"/>
                <a:cs typeface="+mn-cs"/>
              </a:defRPr>
            </a:lvl3pPr>
            <a:lvl4pPr marL="1371600" algn="l" defTabSz="914400" rtl="0" eaLnBrk="1" fontAlgn="ctr" latinLnBrk="0" hangingPunct="1">
              <a:defRPr sz="1800" kern="1200">
                <a:solidFill>
                  <a:schemeClr val="tx1"/>
                </a:solidFill>
                <a:latin typeface="+mn-lt"/>
                <a:ea typeface="+mn-ea"/>
                <a:cs typeface="+mn-cs"/>
              </a:defRPr>
            </a:lvl4pPr>
            <a:lvl5pPr marL="1828800" algn="l" defTabSz="914400" rtl="0" eaLnBrk="1" fontAlgn="ctr" latinLnBrk="0" hangingPunct="1">
              <a:defRPr sz="1800" kern="1200">
                <a:solidFill>
                  <a:schemeClr val="tx1"/>
                </a:solidFill>
                <a:latin typeface="+mn-lt"/>
                <a:ea typeface="+mn-ea"/>
                <a:cs typeface="+mn-cs"/>
              </a:defRPr>
            </a:lvl5pPr>
            <a:lvl6pPr marL="2286000" algn="l" defTabSz="914400" rtl="0" eaLnBrk="1" fontAlgn="ctr" latinLnBrk="0" hangingPunct="1">
              <a:defRPr sz="1800" kern="1200">
                <a:solidFill>
                  <a:schemeClr val="tx1"/>
                </a:solidFill>
                <a:latin typeface="+mn-lt"/>
                <a:ea typeface="+mn-ea"/>
                <a:cs typeface="+mn-cs"/>
              </a:defRPr>
            </a:lvl6pPr>
            <a:lvl7pPr marL="2743200" algn="l" defTabSz="914400" rtl="0" eaLnBrk="1" fontAlgn="ctr" latinLnBrk="0" hangingPunct="1">
              <a:defRPr sz="1800" kern="1200">
                <a:solidFill>
                  <a:schemeClr val="tx1"/>
                </a:solidFill>
                <a:latin typeface="+mn-lt"/>
                <a:ea typeface="+mn-ea"/>
                <a:cs typeface="+mn-cs"/>
              </a:defRPr>
            </a:lvl7pPr>
            <a:lvl8pPr marL="3200400" algn="l" defTabSz="914400" rtl="0" eaLnBrk="1" fontAlgn="ctr" latinLnBrk="0" hangingPunct="1">
              <a:defRPr sz="1800" kern="1200">
                <a:solidFill>
                  <a:schemeClr val="tx1"/>
                </a:solidFill>
                <a:latin typeface="+mn-lt"/>
                <a:ea typeface="+mn-ea"/>
                <a:cs typeface="+mn-cs"/>
              </a:defRPr>
            </a:lvl8pPr>
            <a:lvl9pPr marL="3657600" algn="l" defTabSz="914400" rtl="0" eaLnBrk="1" fontAlgn="ctr" latinLnBrk="0" hangingPunct="1">
              <a:defRPr sz="1800" kern="1200">
                <a:solidFill>
                  <a:schemeClr val="tx1"/>
                </a:solidFill>
                <a:latin typeface="+mn-lt"/>
                <a:ea typeface="+mn-ea"/>
                <a:cs typeface="+mn-cs"/>
              </a:defRPr>
            </a:lvl9pPr>
          </a:lstStyle>
          <a:p>
            <a:pPr algn="r"/>
            <a:r>
              <a:rPr lang="en-US" sz="550">
                <a:solidFill>
                  <a:schemeClr val="bg1"/>
                </a:solidFill>
              </a:rPr>
              <a:t>© 2026 The Hartford</a:t>
            </a:r>
            <a:endParaRPr lang="en-CA" sz="550">
              <a:solidFill>
                <a:schemeClr val="bg1"/>
              </a:solidFill>
            </a:endParaRPr>
          </a:p>
        </p:txBody>
      </p:sp>
    </p:spTree>
    <p:extLst>
      <p:ext uri="{BB962C8B-B14F-4D97-AF65-F5344CB8AC3E}">
        <p14:creationId xmlns:p14="http://schemas.microsoft.com/office/powerpoint/2010/main" val="3169118464"/>
      </p:ext>
    </p:extLst>
  </p:cSld>
  <p:clrMapOvr>
    <a:masterClrMapping/>
  </p:clrMapOvr>
  <p:hf sldNum="0" hdr="0" ftr="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for Print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A2DE5-96D0-4A4F-B73B-1FB010E91E35}"/>
              </a:ext>
            </a:extLst>
          </p:cNvPr>
          <p:cNvSpPr>
            <a:spLocks noGrp="1"/>
          </p:cNvSpPr>
          <p:nvPr>
            <p:ph type="ctrTitle"/>
          </p:nvPr>
        </p:nvSpPr>
        <p:spPr>
          <a:xfrm>
            <a:off x="574675" y="1328600"/>
            <a:ext cx="6858000" cy="3813048"/>
          </a:xfrm>
        </p:spPr>
        <p:txBody>
          <a:bodyPr anchor="t" anchorCtr="0"/>
          <a:lstStyle>
            <a:lvl1pPr algn="l">
              <a:lnSpc>
                <a:spcPct val="83000"/>
              </a:lnSpc>
              <a:defRPr sz="6000" spc="-10" baseline="0">
                <a:solidFill>
                  <a:schemeClr val="tx2"/>
                </a:solidFill>
                <a:latin typeface="Trust Hartford Serif XLight" pitchFamily="50" charset="0"/>
              </a:defRPr>
            </a:lvl1pPr>
          </a:lstStyle>
          <a:p>
            <a:r>
              <a:rPr lang="en-US"/>
              <a:t>Click to edit Master title style</a:t>
            </a:r>
            <a:endParaRPr lang="en-CA"/>
          </a:p>
        </p:txBody>
      </p:sp>
      <p:sp>
        <p:nvSpPr>
          <p:cNvPr id="3" name="Subtitle 2">
            <a:extLst>
              <a:ext uri="{FF2B5EF4-FFF2-40B4-BE49-F238E27FC236}">
                <a16:creationId xmlns:a16="http://schemas.microsoft.com/office/drawing/2014/main" id="{D4718C5F-E009-48BF-9E7D-1C9D59D01771}"/>
              </a:ext>
            </a:extLst>
          </p:cNvPr>
          <p:cNvSpPr>
            <a:spLocks noGrp="1"/>
          </p:cNvSpPr>
          <p:nvPr>
            <p:ph type="subTitle" idx="1"/>
          </p:nvPr>
        </p:nvSpPr>
        <p:spPr>
          <a:xfrm>
            <a:off x="574674" y="5668463"/>
            <a:ext cx="4572000" cy="279757"/>
          </a:xfrm>
        </p:spPr>
        <p:txBody>
          <a:bodyPr anchor="b" anchorCtr="0">
            <a:spAutoFit/>
          </a:bodyPr>
          <a:lstStyle>
            <a:lvl1pPr>
              <a:defRPr sz="1800">
                <a:solidFill>
                  <a:srgbClr val="FE3082"/>
                </a:solidFill>
              </a:defRPr>
            </a:lvl1pPr>
          </a:lstStyle>
          <a:p>
            <a:r>
              <a:rPr lang="en-US"/>
              <a:t>Click to edit Master subtitle style</a:t>
            </a:r>
            <a:endParaRPr lang="en-CA"/>
          </a:p>
        </p:txBody>
      </p:sp>
      <p:sp>
        <p:nvSpPr>
          <p:cNvPr id="5" name="Footer Placeholder 4" hidden="1">
            <a:extLst>
              <a:ext uri="{FF2B5EF4-FFF2-40B4-BE49-F238E27FC236}">
                <a16:creationId xmlns:a16="http://schemas.microsoft.com/office/drawing/2014/main" id="{8A820423-7534-4A26-9335-0AE0D83805D8}"/>
              </a:ext>
            </a:extLst>
          </p:cNvPr>
          <p:cNvSpPr>
            <a:spLocks noGrp="1"/>
          </p:cNvSpPr>
          <p:nvPr>
            <p:ph type="ftr" sz="quarter" idx="11"/>
          </p:nvPr>
        </p:nvSpPr>
        <p:spPr>
          <a:xfrm>
            <a:off x="-18288" y="6876288"/>
            <a:ext cx="9144" cy="9144"/>
          </a:xfrm>
          <a:prstGeom prst="rect">
            <a:avLst/>
          </a:prstGeom>
        </p:spPr>
        <p:txBody>
          <a:bodyPr/>
          <a:lstStyle>
            <a:lvl1pPr>
              <a:defRPr sz="100">
                <a:solidFill>
                  <a:schemeClr val="bg1">
                    <a:lumMod val="95000"/>
                  </a:schemeClr>
                </a:solidFill>
              </a:defRPr>
            </a:lvl1pPr>
          </a:lstStyle>
          <a:p>
            <a:r>
              <a:rPr lang="en-US"/>
              <a:t>© 2025 The Hartford. Confidential. No part of this document may be reproduced, published or posted without the permission of The Hartford.</a:t>
            </a:r>
            <a:endParaRPr lang="en-CA"/>
          </a:p>
        </p:txBody>
      </p:sp>
      <p:sp>
        <p:nvSpPr>
          <p:cNvPr id="6" name="Slide Number Placeholder 5" hidden="1">
            <a:extLst>
              <a:ext uri="{FF2B5EF4-FFF2-40B4-BE49-F238E27FC236}">
                <a16:creationId xmlns:a16="http://schemas.microsoft.com/office/drawing/2014/main" id="{DB5852C0-F1AF-4C19-9089-80744E475712}"/>
              </a:ext>
            </a:extLst>
          </p:cNvPr>
          <p:cNvSpPr>
            <a:spLocks noGrp="1"/>
          </p:cNvSpPr>
          <p:nvPr>
            <p:ph type="sldNum" sz="quarter" idx="12"/>
          </p:nvPr>
        </p:nvSpPr>
        <p:spPr>
          <a:xfrm>
            <a:off x="12207240" y="6876288"/>
            <a:ext cx="9144" cy="9144"/>
          </a:xfrm>
        </p:spPr>
        <p:txBody>
          <a:bodyPr/>
          <a:lstStyle>
            <a:lvl1pPr>
              <a:defRPr sz="100">
                <a:solidFill>
                  <a:schemeClr val="bg1">
                    <a:lumMod val="95000"/>
                  </a:schemeClr>
                </a:solidFill>
              </a:defRPr>
            </a:lvl1pPr>
          </a:lstStyle>
          <a:p>
            <a:fld id="{0B1B59A6-B74A-41AA-9EF6-238F4BE8BA53}" type="slidenum">
              <a:rPr lang="en-CA" smtClean="0"/>
              <a:pPr/>
              <a:t>‹#›</a:t>
            </a:fld>
            <a:endParaRPr lang="en-CA"/>
          </a:p>
        </p:txBody>
      </p:sp>
      <p:pic>
        <p:nvPicPr>
          <p:cNvPr id="10" name="Picture 6">
            <a:extLst>
              <a:ext uri="{FF2B5EF4-FFF2-40B4-BE49-F238E27FC236}">
                <a16:creationId xmlns:a16="http://schemas.microsoft.com/office/drawing/2014/main" id="{5D3FCD0E-D48F-4AB1-87CA-EC160DAF7E2A}"/>
              </a:ext>
            </a:extLst>
          </p:cNvPr>
          <p:cNvPicPr>
            <a:picLocks noChangeAspect="1"/>
          </p:cNvPicPr>
          <p:nvPr/>
        </p:nvPicPr>
        <p:blipFill>
          <a:blip r:embed="rId2"/>
          <a:stretch>
            <a:fillRect/>
          </a:stretch>
        </p:blipFill>
        <p:spPr>
          <a:xfrm>
            <a:off x="8492679" y="195696"/>
            <a:ext cx="3132582" cy="612648"/>
          </a:xfrm>
          <a:prstGeom prst="rect">
            <a:avLst/>
          </a:prstGeom>
        </p:spPr>
      </p:pic>
    </p:spTree>
    <p:extLst>
      <p:ext uri="{BB962C8B-B14F-4D97-AF65-F5344CB8AC3E}">
        <p14:creationId xmlns:p14="http://schemas.microsoft.com/office/powerpoint/2010/main" val="2665097956"/>
      </p:ext>
    </p:extLst>
  </p:cSld>
  <p:clrMapOvr>
    <a:masterClrMapping/>
  </p:clrMapOvr>
  <p:hf sldNum="0" hdr="0" ftr="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F1C735B7-8481-62FC-BF08-EDE946399CF8}"/>
              </a:ext>
            </a:extLst>
          </p:cNvPr>
          <p:cNvSpPr/>
          <p:nvPr userDrawn="1"/>
        </p:nvSpPr>
        <p:spPr>
          <a:xfrm>
            <a:off x="7809491" y="-9144"/>
            <a:ext cx="4382510" cy="6876288"/>
          </a:xfrm>
          <a:prstGeom prst="rect">
            <a:avLst/>
          </a:prstGeom>
          <a:solidFill>
            <a:schemeClr val="bg1"/>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11" name="Rectangle 1">
            <a:extLst>
              <a:ext uri="{FF2B5EF4-FFF2-40B4-BE49-F238E27FC236}">
                <a16:creationId xmlns:a16="http://schemas.microsoft.com/office/drawing/2014/main" id="{CF625AB5-078E-84D7-9A5B-1CF2CBF82760}"/>
              </a:ext>
            </a:extLst>
          </p:cNvPr>
          <p:cNvSpPr/>
          <p:nvPr/>
        </p:nvSpPr>
        <p:spPr>
          <a:xfrm>
            <a:off x="0" y="0"/>
            <a:ext cx="7817301" cy="6876288"/>
          </a:xfrm>
          <a:prstGeom prst="rect">
            <a:avLst/>
          </a:prstGeom>
          <a:solidFill>
            <a:schemeClr val="tx2"/>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2" name="Title 2">
            <a:extLst>
              <a:ext uri="{FF2B5EF4-FFF2-40B4-BE49-F238E27FC236}">
                <a16:creationId xmlns:a16="http://schemas.microsoft.com/office/drawing/2014/main" id="{952A2DE5-96D0-4A4F-B73B-1FB010E91E35}"/>
              </a:ext>
            </a:extLst>
          </p:cNvPr>
          <p:cNvSpPr>
            <a:spLocks noGrp="1"/>
          </p:cNvSpPr>
          <p:nvPr>
            <p:ph type="ctrTitle"/>
          </p:nvPr>
        </p:nvSpPr>
        <p:spPr>
          <a:xfrm>
            <a:off x="574675" y="1328600"/>
            <a:ext cx="4544568" cy="3813048"/>
          </a:xfrm>
        </p:spPr>
        <p:txBody>
          <a:bodyPr anchor="t" anchorCtr="0"/>
          <a:lstStyle>
            <a:lvl1pPr algn="l">
              <a:lnSpc>
                <a:spcPct val="83000"/>
              </a:lnSpc>
              <a:defRPr sz="6000" spc="-10" baseline="0">
                <a:solidFill>
                  <a:schemeClr val="bg1"/>
                </a:solidFill>
                <a:latin typeface="Trust Hartford Serif XLight" pitchFamily="50" charset="0"/>
              </a:defRPr>
            </a:lvl1pPr>
          </a:lstStyle>
          <a:p>
            <a:r>
              <a:rPr lang="en-US"/>
              <a:t>Click to edit Master title style</a:t>
            </a:r>
            <a:endParaRPr lang="en-CA"/>
          </a:p>
        </p:txBody>
      </p:sp>
      <p:sp>
        <p:nvSpPr>
          <p:cNvPr id="3" name="Subtitle 3">
            <a:extLst>
              <a:ext uri="{FF2B5EF4-FFF2-40B4-BE49-F238E27FC236}">
                <a16:creationId xmlns:a16="http://schemas.microsoft.com/office/drawing/2014/main" id="{D4718C5F-E009-48BF-9E7D-1C9D59D01771}"/>
              </a:ext>
            </a:extLst>
          </p:cNvPr>
          <p:cNvSpPr>
            <a:spLocks noGrp="1"/>
          </p:cNvSpPr>
          <p:nvPr>
            <p:ph type="subTitle" idx="1"/>
          </p:nvPr>
        </p:nvSpPr>
        <p:spPr>
          <a:xfrm>
            <a:off x="574674" y="5668463"/>
            <a:ext cx="4572000" cy="279757"/>
          </a:xfrm>
        </p:spPr>
        <p:txBody>
          <a:bodyPr anchor="b" anchorCtr="0">
            <a:spAutoFit/>
          </a:bodyPr>
          <a:lstStyle>
            <a:lvl1pPr>
              <a:defRPr sz="1800">
                <a:solidFill>
                  <a:srgbClr val="FE3082"/>
                </a:solidFill>
              </a:defRPr>
            </a:lvl1pPr>
          </a:lstStyle>
          <a:p>
            <a:r>
              <a:rPr lang="en-US"/>
              <a:t>Click to edit Master subtitle style</a:t>
            </a:r>
            <a:endParaRPr lang="en-CA"/>
          </a:p>
        </p:txBody>
      </p:sp>
      <p:sp>
        <p:nvSpPr>
          <p:cNvPr id="5" name="Footer Placeholder 5" hidden="1">
            <a:extLst>
              <a:ext uri="{FF2B5EF4-FFF2-40B4-BE49-F238E27FC236}">
                <a16:creationId xmlns:a16="http://schemas.microsoft.com/office/drawing/2014/main" id="{8A820423-7534-4A26-9335-0AE0D83805D8}"/>
              </a:ext>
            </a:extLst>
          </p:cNvPr>
          <p:cNvSpPr>
            <a:spLocks noGrp="1"/>
          </p:cNvSpPr>
          <p:nvPr>
            <p:ph type="ftr" sz="quarter" idx="11"/>
          </p:nvPr>
        </p:nvSpPr>
        <p:spPr>
          <a:xfrm>
            <a:off x="-18288" y="6876288"/>
            <a:ext cx="9144" cy="9144"/>
          </a:xfrm>
          <a:prstGeom prst="rect">
            <a:avLst/>
          </a:prstGeom>
        </p:spPr>
        <p:txBody>
          <a:bodyPr/>
          <a:lstStyle>
            <a:lvl1pPr>
              <a:defRPr sz="100">
                <a:solidFill>
                  <a:schemeClr val="bg1">
                    <a:lumMod val="95000"/>
                  </a:schemeClr>
                </a:solidFill>
              </a:defRPr>
            </a:lvl1pPr>
          </a:lstStyle>
          <a:p>
            <a:r>
              <a:rPr lang="en-US"/>
              <a:t>© 2025 The Hartford. Confidential. No part of this document may be reproduced, published or posted without the permission of The Hartford.</a:t>
            </a:r>
            <a:endParaRPr lang="en-CA"/>
          </a:p>
        </p:txBody>
      </p:sp>
      <p:sp>
        <p:nvSpPr>
          <p:cNvPr id="6" name="Slide Number Placeholder 6" hidden="1">
            <a:extLst>
              <a:ext uri="{FF2B5EF4-FFF2-40B4-BE49-F238E27FC236}">
                <a16:creationId xmlns:a16="http://schemas.microsoft.com/office/drawing/2014/main" id="{DB5852C0-F1AF-4C19-9089-80744E475712}"/>
              </a:ext>
            </a:extLst>
          </p:cNvPr>
          <p:cNvSpPr>
            <a:spLocks noGrp="1"/>
          </p:cNvSpPr>
          <p:nvPr>
            <p:ph type="sldNum" sz="quarter" idx="12"/>
          </p:nvPr>
        </p:nvSpPr>
        <p:spPr>
          <a:xfrm>
            <a:off x="12207240" y="6876288"/>
            <a:ext cx="9144" cy="9144"/>
          </a:xfrm>
        </p:spPr>
        <p:txBody>
          <a:bodyPr/>
          <a:lstStyle>
            <a:lvl1pPr>
              <a:defRPr sz="100">
                <a:solidFill>
                  <a:schemeClr val="bg1">
                    <a:lumMod val="95000"/>
                  </a:schemeClr>
                </a:solidFill>
              </a:defRPr>
            </a:lvl1pPr>
          </a:lstStyle>
          <a:p>
            <a:fld id="{0B1B59A6-B74A-41AA-9EF6-238F4BE8BA53}" type="slidenum">
              <a:rPr lang="en-CA" smtClean="0"/>
              <a:pPr/>
              <a:t>‹#›</a:t>
            </a:fld>
            <a:endParaRPr lang="en-CA"/>
          </a:p>
        </p:txBody>
      </p:sp>
      <p:sp>
        <p:nvSpPr>
          <p:cNvPr id="12" name="Picture Placeholder 7">
            <a:extLst>
              <a:ext uri="{FF2B5EF4-FFF2-40B4-BE49-F238E27FC236}">
                <a16:creationId xmlns:a16="http://schemas.microsoft.com/office/drawing/2014/main" id="{63D65320-DE59-204A-D895-8D8CAAFA0CE4}"/>
              </a:ext>
            </a:extLst>
          </p:cNvPr>
          <p:cNvSpPr>
            <a:spLocks noGrp="1"/>
          </p:cNvSpPr>
          <p:nvPr>
            <p:ph type="pic" sz="quarter" idx="13"/>
          </p:nvPr>
        </p:nvSpPr>
        <p:spPr>
          <a:xfrm>
            <a:off x="5332413" y="1266825"/>
            <a:ext cx="6291072" cy="4315968"/>
          </a:xfrm>
          <a:solidFill>
            <a:schemeClr val="bg1">
              <a:lumMod val="95000"/>
            </a:schemeClr>
          </a:solidFill>
        </p:spPr>
        <p:txBody>
          <a:bodyPr/>
          <a:lstStyle/>
          <a:p>
            <a:r>
              <a:rPr lang="en-US"/>
              <a:t>Click icon to add picture</a:t>
            </a:r>
          </a:p>
        </p:txBody>
      </p:sp>
      <p:pic>
        <p:nvPicPr>
          <p:cNvPr id="10" name="Picture 8">
            <a:extLst>
              <a:ext uri="{FF2B5EF4-FFF2-40B4-BE49-F238E27FC236}">
                <a16:creationId xmlns:a16="http://schemas.microsoft.com/office/drawing/2014/main" id="{5D3FCD0E-D48F-4AB1-87CA-EC160DAF7E2A}"/>
              </a:ext>
            </a:extLst>
          </p:cNvPr>
          <p:cNvPicPr>
            <a:picLocks noChangeAspect="1"/>
          </p:cNvPicPr>
          <p:nvPr/>
        </p:nvPicPr>
        <p:blipFill>
          <a:blip r:embed="rId2"/>
          <a:stretch>
            <a:fillRect/>
          </a:stretch>
        </p:blipFill>
        <p:spPr>
          <a:xfrm>
            <a:off x="8492679" y="195696"/>
            <a:ext cx="3132582" cy="612648"/>
          </a:xfrm>
          <a:prstGeom prst="rect">
            <a:avLst/>
          </a:prstGeom>
        </p:spPr>
      </p:pic>
      <p:sp>
        <p:nvSpPr>
          <p:cNvPr id="4" name="Footer Placeholder 5">
            <a:extLst>
              <a:ext uri="{FF2B5EF4-FFF2-40B4-BE49-F238E27FC236}">
                <a16:creationId xmlns:a16="http://schemas.microsoft.com/office/drawing/2014/main" id="{B3ABB18D-F104-EA7B-8FDA-7044647E2369}"/>
              </a:ext>
            </a:extLst>
          </p:cNvPr>
          <p:cNvSpPr txBox="1">
            <a:spLocks/>
          </p:cNvSpPr>
          <p:nvPr userDrawn="1"/>
        </p:nvSpPr>
        <p:spPr>
          <a:xfrm>
            <a:off x="10890250" y="6665595"/>
            <a:ext cx="827086" cy="182880"/>
          </a:xfrm>
          <a:prstGeom prst="rect">
            <a:avLst/>
          </a:prstGeom>
        </p:spPr>
        <p:txBody>
          <a:bodyPr/>
          <a:lstStyle>
            <a:defPPr>
              <a:defRPr lang="en-US"/>
            </a:defPPr>
            <a:lvl1pPr marL="0" algn="l" defTabSz="914400" rtl="0" eaLnBrk="1" fontAlgn="ctr" latinLnBrk="0" hangingPunct="1">
              <a:defRPr sz="1800" kern="1200">
                <a:solidFill>
                  <a:schemeClr val="tx1"/>
                </a:solidFill>
                <a:latin typeface="+mn-lt"/>
                <a:ea typeface="+mn-ea"/>
                <a:cs typeface="+mn-cs"/>
              </a:defRPr>
            </a:lvl1pPr>
            <a:lvl2pPr marL="457200" algn="l" defTabSz="914400" rtl="0" eaLnBrk="1" fontAlgn="ctr" latinLnBrk="0" hangingPunct="1">
              <a:defRPr sz="1800" kern="1200">
                <a:solidFill>
                  <a:schemeClr val="tx1"/>
                </a:solidFill>
                <a:latin typeface="+mn-lt"/>
                <a:ea typeface="+mn-ea"/>
                <a:cs typeface="+mn-cs"/>
              </a:defRPr>
            </a:lvl2pPr>
            <a:lvl3pPr marL="914400" algn="l" defTabSz="914400" rtl="0" eaLnBrk="1" fontAlgn="ctr" latinLnBrk="0" hangingPunct="1">
              <a:defRPr sz="1800" kern="1200">
                <a:solidFill>
                  <a:schemeClr val="tx1"/>
                </a:solidFill>
                <a:latin typeface="+mn-lt"/>
                <a:ea typeface="+mn-ea"/>
                <a:cs typeface="+mn-cs"/>
              </a:defRPr>
            </a:lvl3pPr>
            <a:lvl4pPr marL="1371600" algn="l" defTabSz="914400" rtl="0" eaLnBrk="1" fontAlgn="ctr" latinLnBrk="0" hangingPunct="1">
              <a:defRPr sz="1800" kern="1200">
                <a:solidFill>
                  <a:schemeClr val="tx1"/>
                </a:solidFill>
                <a:latin typeface="+mn-lt"/>
                <a:ea typeface="+mn-ea"/>
                <a:cs typeface="+mn-cs"/>
              </a:defRPr>
            </a:lvl4pPr>
            <a:lvl5pPr marL="1828800" algn="l" defTabSz="914400" rtl="0" eaLnBrk="1" fontAlgn="ctr" latinLnBrk="0" hangingPunct="1">
              <a:defRPr sz="1800" kern="1200">
                <a:solidFill>
                  <a:schemeClr val="tx1"/>
                </a:solidFill>
                <a:latin typeface="+mn-lt"/>
                <a:ea typeface="+mn-ea"/>
                <a:cs typeface="+mn-cs"/>
              </a:defRPr>
            </a:lvl5pPr>
            <a:lvl6pPr marL="2286000" algn="l" defTabSz="914400" rtl="0" eaLnBrk="1" fontAlgn="ctr" latinLnBrk="0" hangingPunct="1">
              <a:defRPr sz="1800" kern="1200">
                <a:solidFill>
                  <a:schemeClr val="tx1"/>
                </a:solidFill>
                <a:latin typeface="+mn-lt"/>
                <a:ea typeface="+mn-ea"/>
                <a:cs typeface="+mn-cs"/>
              </a:defRPr>
            </a:lvl6pPr>
            <a:lvl7pPr marL="2743200" algn="l" defTabSz="914400" rtl="0" eaLnBrk="1" fontAlgn="ctr" latinLnBrk="0" hangingPunct="1">
              <a:defRPr sz="1800" kern="1200">
                <a:solidFill>
                  <a:schemeClr val="tx1"/>
                </a:solidFill>
                <a:latin typeface="+mn-lt"/>
                <a:ea typeface="+mn-ea"/>
                <a:cs typeface="+mn-cs"/>
              </a:defRPr>
            </a:lvl7pPr>
            <a:lvl8pPr marL="3200400" algn="l" defTabSz="914400" rtl="0" eaLnBrk="1" fontAlgn="ctr" latinLnBrk="0" hangingPunct="1">
              <a:defRPr sz="1800" kern="1200">
                <a:solidFill>
                  <a:schemeClr val="tx1"/>
                </a:solidFill>
                <a:latin typeface="+mn-lt"/>
                <a:ea typeface="+mn-ea"/>
                <a:cs typeface="+mn-cs"/>
              </a:defRPr>
            </a:lvl8pPr>
            <a:lvl9pPr marL="3657600" algn="l" defTabSz="914400" rtl="0" eaLnBrk="1" fontAlgn="ctr" latinLnBrk="0" hangingPunct="1">
              <a:defRPr sz="1800" kern="1200">
                <a:solidFill>
                  <a:schemeClr val="tx1"/>
                </a:solidFill>
                <a:latin typeface="+mn-lt"/>
                <a:ea typeface="+mn-ea"/>
                <a:cs typeface="+mn-cs"/>
              </a:defRPr>
            </a:lvl9pPr>
          </a:lstStyle>
          <a:p>
            <a:pPr algn="r"/>
            <a:r>
              <a:rPr lang="en-US" sz="550">
                <a:solidFill>
                  <a:schemeClr val="tx1"/>
                </a:solidFill>
              </a:rPr>
              <a:t>© 2026 The Hartford</a:t>
            </a:r>
            <a:endParaRPr lang="en-CA" sz="550">
              <a:solidFill>
                <a:schemeClr val="tx1"/>
              </a:solidFill>
            </a:endParaRPr>
          </a:p>
        </p:txBody>
      </p:sp>
    </p:spTree>
    <p:extLst>
      <p:ext uri="{BB962C8B-B14F-4D97-AF65-F5344CB8AC3E}">
        <p14:creationId xmlns:p14="http://schemas.microsoft.com/office/powerpoint/2010/main" val="4105787679"/>
      </p:ext>
    </p:extLst>
  </p:cSld>
  <p:clrMapOvr>
    <a:masterClrMapping/>
  </p:clrMapOvr>
  <p:hf sldNum="0" hdr="0" ftr="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Large Picture">
    <p:spTree>
      <p:nvGrpSpPr>
        <p:cNvPr id="1" name=""/>
        <p:cNvGrpSpPr/>
        <p:nvPr/>
      </p:nvGrpSpPr>
      <p:grpSpPr>
        <a:xfrm>
          <a:off x="0" y="0"/>
          <a:ext cx="0" cy="0"/>
          <a:chOff x="0" y="0"/>
          <a:chExt cx="0" cy="0"/>
        </a:xfrm>
      </p:grpSpPr>
      <p:sp>
        <p:nvSpPr>
          <p:cNvPr id="12" name="Picture Placeholder 1">
            <a:extLst>
              <a:ext uri="{FF2B5EF4-FFF2-40B4-BE49-F238E27FC236}">
                <a16:creationId xmlns:a16="http://schemas.microsoft.com/office/drawing/2014/main" id="{63D65320-DE59-204A-D895-8D8CAAFA0CE4}"/>
              </a:ext>
            </a:extLst>
          </p:cNvPr>
          <p:cNvSpPr>
            <a:spLocks noGrp="1"/>
          </p:cNvSpPr>
          <p:nvPr>
            <p:ph type="pic" sz="quarter" idx="13"/>
          </p:nvPr>
        </p:nvSpPr>
        <p:spPr>
          <a:xfrm>
            <a:off x="-9144" y="1014984"/>
            <a:ext cx="12207240" cy="5852160"/>
          </a:xfrm>
          <a:solidFill>
            <a:schemeClr val="bg1">
              <a:lumMod val="95000"/>
            </a:schemeClr>
          </a:solidFill>
        </p:spPr>
        <p:txBody>
          <a:bodyPr/>
          <a:lstStyle/>
          <a:p>
            <a:r>
              <a:rPr lang="en-US"/>
              <a:t>Click icon to add picture</a:t>
            </a:r>
          </a:p>
        </p:txBody>
      </p:sp>
      <p:sp>
        <p:nvSpPr>
          <p:cNvPr id="2" name="Title 2">
            <a:extLst>
              <a:ext uri="{FF2B5EF4-FFF2-40B4-BE49-F238E27FC236}">
                <a16:creationId xmlns:a16="http://schemas.microsoft.com/office/drawing/2014/main" id="{952A2DE5-96D0-4A4F-B73B-1FB010E91E35}"/>
              </a:ext>
            </a:extLst>
          </p:cNvPr>
          <p:cNvSpPr>
            <a:spLocks noGrp="1"/>
          </p:cNvSpPr>
          <p:nvPr>
            <p:ph type="ctrTitle"/>
          </p:nvPr>
        </p:nvSpPr>
        <p:spPr>
          <a:xfrm>
            <a:off x="574675" y="4060209"/>
            <a:ext cx="8193024" cy="1605321"/>
          </a:xfrm>
        </p:spPr>
        <p:txBody>
          <a:bodyPr anchor="b" anchorCtr="0"/>
          <a:lstStyle>
            <a:lvl1pPr algn="l">
              <a:lnSpc>
                <a:spcPct val="83000"/>
              </a:lnSpc>
              <a:defRPr sz="6000" spc="-10" baseline="0">
                <a:solidFill>
                  <a:schemeClr val="bg1"/>
                </a:solidFill>
                <a:effectLst>
                  <a:outerShdw blurRad="38100" dist="38100" dir="2700000" algn="tl">
                    <a:srgbClr val="000000">
                      <a:alpha val="43137"/>
                    </a:srgbClr>
                  </a:outerShdw>
                </a:effectLst>
                <a:latin typeface="Trust Hartford Serif XLight" pitchFamily="50" charset="0"/>
              </a:defRPr>
            </a:lvl1pPr>
          </a:lstStyle>
          <a:p>
            <a:r>
              <a:rPr lang="en-US"/>
              <a:t>Click to edit Master title style</a:t>
            </a:r>
            <a:endParaRPr lang="en-CA"/>
          </a:p>
        </p:txBody>
      </p:sp>
      <p:sp>
        <p:nvSpPr>
          <p:cNvPr id="3" name="Subtitle 3">
            <a:extLst>
              <a:ext uri="{FF2B5EF4-FFF2-40B4-BE49-F238E27FC236}">
                <a16:creationId xmlns:a16="http://schemas.microsoft.com/office/drawing/2014/main" id="{D4718C5F-E009-48BF-9E7D-1C9D59D01771}"/>
              </a:ext>
            </a:extLst>
          </p:cNvPr>
          <p:cNvSpPr>
            <a:spLocks noGrp="1"/>
          </p:cNvSpPr>
          <p:nvPr>
            <p:ph type="subTitle" idx="1"/>
          </p:nvPr>
        </p:nvSpPr>
        <p:spPr>
          <a:xfrm>
            <a:off x="574674" y="5665530"/>
            <a:ext cx="4379976" cy="282690"/>
          </a:xfrm>
        </p:spPr>
        <p:txBody>
          <a:bodyPr anchor="b" anchorCtr="0">
            <a:spAutoFit/>
          </a:bodyPr>
          <a:lstStyle>
            <a:lvl1pPr>
              <a:defRPr sz="1800">
                <a:solidFill>
                  <a:srgbClr val="FE3082"/>
                </a:solidFill>
              </a:defRPr>
            </a:lvl1pPr>
          </a:lstStyle>
          <a:p>
            <a:r>
              <a:rPr lang="en-US"/>
              <a:t>Click to edit Master subtitle style</a:t>
            </a:r>
            <a:endParaRPr lang="en-CA"/>
          </a:p>
        </p:txBody>
      </p:sp>
      <p:sp>
        <p:nvSpPr>
          <p:cNvPr id="5" name="Footer Placeholder 5" hidden="1">
            <a:extLst>
              <a:ext uri="{FF2B5EF4-FFF2-40B4-BE49-F238E27FC236}">
                <a16:creationId xmlns:a16="http://schemas.microsoft.com/office/drawing/2014/main" id="{8A820423-7534-4A26-9335-0AE0D83805D8}"/>
              </a:ext>
            </a:extLst>
          </p:cNvPr>
          <p:cNvSpPr>
            <a:spLocks noGrp="1"/>
          </p:cNvSpPr>
          <p:nvPr>
            <p:ph type="ftr" sz="quarter" idx="11"/>
          </p:nvPr>
        </p:nvSpPr>
        <p:spPr>
          <a:xfrm>
            <a:off x="-18288" y="6876288"/>
            <a:ext cx="9144" cy="9144"/>
          </a:xfrm>
          <a:prstGeom prst="rect">
            <a:avLst/>
          </a:prstGeom>
        </p:spPr>
        <p:txBody>
          <a:bodyPr/>
          <a:lstStyle>
            <a:lvl1pPr>
              <a:defRPr sz="100">
                <a:solidFill>
                  <a:schemeClr val="bg1">
                    <a:lumMod val="95000"/>
                  </a:schemeClr>
                </a:solidFill>
              </a:defRPr>
            </a:lvl1pPr>
          </a:lstStyle>
          <a:p>
            <a:r>
              <a:rPr lang="en-US"/>
              <a:t>© 2025 The Hartford. Confidential. No part of this document may be reproduced, published or posted without the permission of The Hartford.</a:t>
            </a:r>
            <a:endParaRPr lang="en-CA"/>
          </a:p>
        </p:txBody>
      </p:sp>
      <p:sp>
        <p:nvSpPr>
          <p:cNvPr id="6" name="Slide Number Placeholder 6" hidden="1">
            <a:extLst>
              <a:ext uri="{FF2B5EF4-FFF2-40B4-BE49-F238E27FC236}">
                <a16:creationId xmlns:a16="http://schemas.microsoft.com/office/drawing/2014/main" id="{DB5852C0-F1AF-4C19-9089-80744E475712}"/>
              </a:ext>
            </a:extLst>
          </p:cNvPr>
          <p:cNvSpPr>
            <a:spLocks noGrp="1"/>
          </p:cNvSpPr>
          <p:nvPr>
            <p:ph type="sldNum" sz="quarter" idx="12"/>
          </p:nvPr>
        </p:nvSpPr>
        <p:spPr>
          <a:xfrm>
            <a:off x="12207240" y="6876288"/>
            <a:ext cx="9144" cy="9144"/>
          </a:xfrm>
        </p:spPr>
        <p:txBody>
          <a:bodyPr/>
          <a:lstStyle>
            <a:lvl1pPr>
              <a:defRPr sz="100">
                <a:solidFill>
                  <a:schemeClr val="bg1">
                    <a:lumMod val="95000"/>
                  </a:schemeClr>
                </a:solidFill>
              </a:defRPr>
            </a:lvl1pPr>
          </a:lstStyle>
          <a:p>
            <a:fld id="{0B1B59A6-B74A-41AA-9EF6-238F4BE8BA53}" type="slidenum">
              <a:rPr lang="en-CA" smtClean="0"/>
              <a:pPr/>
              <a:t>‹#›</a:t>
            </a:fld>
            <a:endParaRPr lang="en-CA"/>
          </a:p>
        </p:txBody>
      </p:sp>
      <p:pic>
        <p:nvPicPr>
          <p:cNvPr id="10" name="Picture 7">
            <a:extLst>
              <a:ext uri="{FF2B5EF4-FFF2-40B4-BE49-F238E27FC236}">
                <a16:creationId xmlns:a16="http://schemas.microsoft.com/office/drawing/2014/main" id="{5D3FCD0E-D48F-4AB1-87CA-EC160DAF7E2A}"/>
              </a:ext>
            </a:extLst>
          </p:cNvPr>
          <p:cNvPicPr>
            <a:picLocks noChangeAspect="1"/>
          </p:cNvPicPr>
          <p:nvPr/>
        </p:nvPicPr>
        <p:blipFill>
          <a:blip r:embed="rId2"/>
          <a:stretch>
            <a:fillRect/>
          </a:stretch>
        </p:blipFill>
        <p:spPr>
          <a:xfrm>
            <a:off x="8492679" y="195696"/>
            <a:ext cx="3132582" cy="612648"/>
          </a:xfrm>
          <a:prstGeom prst="rect">
            <a:avLst/>
          </a:prstGeom>
        </p:spPr>
      </p:pic>
      <p:sp>
        <p:nvSpPr>
          <p:cNvPr id="4" name="Footer Placeholder 5">
            <a:extLst>
              <a:ext uri="{FF2B5EF4-FFF2-40B4-BE49-F238E27FC236}">
                <a16:creationId xmlns:a16="http://schemas.microsoft.com/office/drawing/2014/main" id="{6D4A4A16-65BF-C7C6-0906-0A3A83C0ABDF}"/>
              </a:ext>
            </a:extLst>
          </p:cNvPr>
          <p:cNvSpPr txBox="1">
            <a:spLocks/>
          </p:cNvSpPr>
          <p:nvPr userDrawn="1"/>
        </p:nvSpPr>
        <p:spPr>
          <a:xfrm>
            <a:off x="10890250" y="6665595"/>
            <a:ext cx="827086" cy="182880"/>
          </a:xfrm>
          <a:prstGeom prst="rect">
            <a:avLst/>
          </a:prstGeom>
        </p:spPr>
        <p:txBody>
          <a:bodyPr/>
          <a:lstStyle>
            <a:defPPr>
              <a:defRPr lang="en-US"/>
            </a:defPPr>
            <a:lvl1pPr marL="0" algn="l" defTabSz="914400" rtl="0" eaLnBrk="1" fontAlgn="ctr" latinLnBrk="0" hangingPunct="1">
              <a:defRPr sz="1800" kern="1200">
                <a:solidFill>
                  <a:schemeClr val="tx1"/>
                </a:solidFill>
                <a:latin typeface="+mn-lt"/>
                <a:ea typeface="+mn-ea"/>
                <a:cs typeface="+mn-cs"/>
              </a:defRPr>
            </a:lvl1pPr>
            <a:lvl2pPr marL="457200" algn="l" defTabSz="914400" rtl="0" eaLnBrk="1" fontAlgn="ctr" latinLnBrk="0" hangingPunct="1">
              <a:defRPr sz="1800" kern="1200">
                <a:solidFill>
                  <a:schemeClr val="tx1"/>
                </a:solidFill>
                <a:latin typeface="+mn-lt"/>
                <a:ea typeface="+mn-ea"/>
                <a:cs typeface="+mn-cs"/>
              </a:defRPr>
            </a:lvl2pPr>
            <a:lvl3pPr marL="914400" algn="l" defTabSz="914400" rtl="0" eaLnBrk="1" fontAlgn="ctr" latinLnBrk="0" hangingPunct="1">
              <a:defRPr sz="1800" kern="1200">
                <a:solidFill>
                  <a:schemeClr val="tx1"/>
                </a:solidFill>
                <a:latin typeface="+mn-lt"/>
                <a:ea typeface="+mn-ea"/>
                <a:cs typeface="+mn-cs"/>
              </a:defRPr>
            </a:lvl3pPr>
            <a:lvl4pPr marL="1371600" algn="l" defTabSz="914400" rtl="0" eaLnBrk="1" fontAlgn="ctr" latinLnBrk="0" hangingPunct="1">
              <a:defRPr sz="1800" kern="1200">
                <a:solidFill>
                  <a:schemeClr val="tx1"/>
                </a:solidFill>
                <a:latin typeface="+mn-lt"/>
                <a:ea typeface="+mn-ea"/>
                <a:cs typeface="+mn-cs"/>
              </a:defRPr>
            </a:lvl4pPr>
            <a:lvl5pPr marL="1828800" algn="l" defTabSz="914400" rtl="0" eaLnBrk="1" fontAlgn="ctr" latinLnBrk="0" hangingPunct="1">
              <a:defRPr sz="1800" kern="1200">
                <a:solidFill>
                  <a:schemeClr val="tx1"/>
                </a:solidFill>
                <a:latin typeface="+mn-lt"/>
                <a:ea typeface="+mn-ea"/>
                <a:cs typeface="+mn-cs"/>
              </a:defRPr>
            </a:lvl5pPr>
            <a:lvl6pPr marL="2286000" algn="l" defTabSz="914400" rtl="0" eaLnBrk="1" fontAlgn="ctr" latinLnBrk="0" hangingPunct="1">
              <a:defRPr sz="1800" kern="1200">
                <a:solidFill>
                  <a:schemeClr val="tx1"/>
                </a:solidFill>
                <a:latin typeface="+mn-lt"/>
                <a:ea typeface="+mn-ea"/>
                <a:cs typeface="+mn-cs"/>
              </a:defRPr>
            </a:lvl6pPr>
            <a:lvl7pPr marL="2743200" algn="l" defTabSz="914400" rtl="0" eaLnBrk="1" fontAlgn="ctr" latinLnBrk="0" hangingPunct="1">
              <a:defRPr sz="1800" kern="1200">
                <a:solidFill>
                  <a:schemeClr val="tx1"/>
                </a:solidFill>
                <a:latin typeface="+mn-lt"/>
                <a:ea typeface="+mn-ea"/>
                <a:cs typeface="+mn-cs"/>
              </a:defRPr>
            </a:lvl7pPr>
            <a:lvl8pPr marL="3200400" algn="l" defTabSz="914400" rtl="0" eaLnBrk="1" fontAlgn="ctr" latinLnBrk="0" hangingPunct="1">
              <a:defRPr sz="1800" kern="1200">
                <a:solidFill>
                  <a:schemeClr val="tx1"/>
                </a:solidFill>
                <a:latin typeface="+mn-lt"/>
                <a:ea typeface="+mn-ea"/>
                <a:cs typeface="+mn-cs"/>
              </a:defRPr>
            </a:lvl8pPr>
            <a:lvl9pPr marL="3657600" algn="l" defTabSz="914400" rtl="0" eaLnBrk="1" fontAlgn="ctr" latinLnBrk="0" hangingPunct="1">
              <a:defRPr sz="1800" kern="1200">
                <a:solidFill>
                  <a:schemeClr val="tx1"/>
                </a:solidFill>
                <a:latin typeface="+mn-lt"/>
                <a:ea typeface="+mn-ea"/>
                <a:cs typeface="+mn-cs"/>
              </a:defRPr>
            </a:lvl9pPr>
          </a:lstStyle>
          <a:p>
            <a:pPr algn="r"/>
            <a:r>
              <a:rPr lang="en-US" sz="550">
                <a:solidFill>
                  <a:schemeClr val="tx1"/>
                </a:solidFill>
              </a:rPr>
              <a:t>© 2026 The Hartford</a:t>
            </a:r>
            <a:endParaRPr lang="en-CA" sz="550">
              <a:solidFill>
                <a:schemeClr val="tx1"/>
              </a:solidFill>
            </a:endParaRPr>
          </a:p>
        </p:txBody>
      </p:sp>
    </p:spTree>
    <p:extLst>
      <p:ext uri="{BB962C8B-B14F-4D97-AF65-F5344CB8AC3E}">
        <p14:creationId xmlns:p14="http://schemas.microsoft.com/office/powerpoint/2010/main" val="3801389557"/>
      </p:ext>
    </p:extLst>
  </p:cSld>
  <p:clrMapOvr>
    <a:masterClrMapping/>
  </p:clrMapOvr>
  <p:hf sldNum="0" hdr="0" ftr="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A861FFE4-4E43-4713-813A-0DAF9AE24455}"/>
              </a:ext>
            </a:extLst>
          </p:cNvPr>
          <p:cNvSpPr>
            <a:spLocks noGrp="1"/>
          </p:cNvSpPr>
          <p:nvPr>
            <p:ph type="sldNum" sz="quarter" idx="12"/>
          </p:nvPr>
        </p:nvSpPr>
        <p:spPr/>
        <p:txBody>
          <a:bodyPr/>
          <a:lstStyle/>
          <a:p>
            <a:fld id="{0B1B59A6-B74A-41AA-9EF6-238F4BE8BA53}" type="slidenum">
              <a:rPr lang="en-CA" smtClean="0"/>
              <a:t>‹#›</a:t>
            </a:fld>
            <a:endParaRPr lang="en-CA"/>
          </a:p>
        </p:txBody>
      </p:sp>
    </p:spTree>
    <p:extLst>
      <p:ext uri="{BB962C8B-B14F-4D97-AF65-F5344CB8AC3E}">
        <p14:creationId xmlns:p14="http://schemas.microsoft.com/office/powerpoint/2010/main" val="17023000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Slide 1">
    <p:spTree>
      <p:nvGrpSpPr>
        <p:cNvPr id="1" name=""/>
        <p:cNvGrpSpPr/>
        <p:nvPr/>
      </p:nvGrpSpPr>
      <p:grpSpPr>
        <a:xfrm>
          <a:off x="0" y="0"/>
          <a:ext cx="0" cy="0"/>
          <a:chOff x="0" y="0"/>
          <a:chExt cx="0" cy="0"/>
        </a:xfrm>
      </p:grpSpPr>
      <p:sp>
        <p:nvSpPr>
          <p:cNvPr id="10" name="Rectangle 1">
            <a:extLst>
              <a:ext uri="{FF2B5EF4-FFF2-40B4-BE49-F238E27FC236}">
                <a16:creationId xmlns:a16="http://schemas.microsoft.com/office/drawing/2014/main" id="{FD406D62-F299-1872-4AE3-14E1BFF9D604}"/>
              </a:ext>
            </a:extLst>
          </p:cNvPr>
          <p:cNvSpPr/>
          <p:nvPr userDrawn="1"/>
        </p:nvSpPr>
        <p:spPr>
          <a:xfrm>
            <a:off x="-9144" y="1015253"/>
            <a:ext cx="12207240" cy="5852160"/>
          </a:xfrm>
          <a:prstGeom prst="rect">
            <a:avLst/>
          </a:prstGeom>
          <a:solidFill>
            <a:srgbClr val="000000"/>
          </a:solidFill>
        </p:spPr>
        <p:style>
          <a:lnRef idx="3">
            <a:schemeClr val="lt1"/>
          </a:lnRef>
          <a:fillRef idx="1">
            <a:schemeClr val="dk1"/>
          </a:fillRef>
          <a:effectRef idx="1">
            <a:schemeClr val="dk1"/>
          </a:effectRef>
          <a:fontRef idx="minor">
            <a:schemeClr val="lt1"/>
          </a:fontRef>
        </p:style>
        <p:txBody>
          <a:bodyPr rtlCol="0" anchor="ctr"/>
          <a:lstStyle/>
          <a:p>
            <a:pPr algn="ctr"/>
            <a:endParaRPr lang="en-US"/>
          </a:p>
        </p:txBody>
      </p:sp>
      <p:sp>
        <p:nvSpPr>
          <p:cNvPr id="8" name="Text Placeholder 2">
            <a:extLst>
              <a:ext uri="{FF2B5EF4-FFF2-40B4-BE49-F238E27FC236}">
                <a16:creationId xmlns:a16="http://schemas.microsoft.com/office/drawing/2014/main" id="{8F0BA69F-D87F-8D85-070C-BB932B2FD7CD}"/>
              </a:ext>
            </a:extLst>
          </p:cNvPr>
          <p:cNvSpPr>
            <a:spLocks noGrp="1"/>
          </p:cNvSpPr>
          <p:nvPr>
            <p:ph type="body" sz="quarter" idx="13" hasCustomPrompt="1"/>
          </p:nvPr>
        </p:nvSpPr>
        <p:spPr>
          <a:xfrm>
            <a:off x="574674" y="338329"/>
            <a:ext cx="8229600" cy="435184"/>
          </a:xfrm>
        </p:spPr>
        <p:txBody>
          <a:bodyPr>
            <a:spAutoFit/>
          </a:bodyPr>
          <a:lstStyle>
            <a:lvl1pPr>
              <a:defRPr sz="2800" b="0">
                <a:solidFill>
                  <a:srgbClr val="000000"/>
                </a:solidFill>
                <a:latin typeface="+mj-lt"/>
              </a:defRPr>
            </a:lvl1pPr>
          </a:lstStyle>
          <a:p>
            <a:pPr lvl="0"/>
            <a:r>
              <a:rPr lang="en-US"/>
              <a:t>Chapter or Section Name</a:t>
            </a:r>
          </a:p>
        </p:txBody>
      </p:sp>
      <p:sp>
        <p:nvSpPr>
          <p:cNvPr id="2" name="Title 3">
            <a:extLst>
              <a:ext uri="{FF2B5EF4-FFF2-40B4-BE49-F238E27FC236}">
                <a16:creationId xmlns:a16="http://schemas.microsoft.com/office/drawing/2014/main" id="{A7248638-2A09-4E41-9F6A-2878A8C1D57B}"/>
              </a:ext>
            </a:extLst>
          </p:cNvPr>
          <p:cNvSpPr>
            <a:spLocks noGrp="1"/>
          </p:cNvSpPr>
          <p:nvPr>
            <p:ph type="title" hasCustomPrompt="1"/>
          </p:nvPr>
        </p:nvSpPr>
        <p:spPr>
          <a:xfrm>
            <a:off x="566928" y="1481328"/>
            <a:ext cx="5323205" cy="3960700"/>
          </a:xfrm>
        </p:spPr>
        <p:txBody>
          <a:bodyPr anchor="t" anchorCtr="0">
            <a:spAutoFit/>
          </a:bodyPr>
          <a:lstStyle>
            <a:lvl1pPr>
              <a:lnSpc>
                <a:spcPct val="85000"/>
              </a:lnSpc>
              <a:defRPr sz="29000" b="0">
                <a:solidFill>
                  <a:schemeClr val="bg1"/>
                </a:solidFill>
                <a:latin typeface="Trust Hartford Serif XLight" pitchFamily="50" charset="0"/>
              </a:defRPr>
            </a:lvl1pPr>
          </a:lstStyle>
          <a:p>
            <a:r>
              <a:rPr lang="en-CA"/>
              <a:t>#</a:t>
            </a:r>
          </a:p>
        </p:txBody>
      </p:sp>
      <p:sp>
        <p:nvSpPr>
          <p:cNvPr id="3" name="Subtitle 4">
            <a:extLst>
              <a:ext uri="{FF2B5EF4-FFF2-40B4-BE49-F238E27FC236}">
                <a16:creationId xmlns:a16="http://schemas.microsoft.com/office/drawing/2014/main" id="{E83D32E6-2865-49FB-B6C0-5018A69B26FC}"/>
              </a:ext>
            </a:extLst>
          </p:cNvPr>
          <p:cNvSpPr>
            <a:spLocks noGrp="1"/>
          </p:cNvSpPr>
          <p:nvPr>
            <p:ph type="subTitle" idx="1"/>
          </p:nvPr>
        </p:nvSpPr>
        <p:spPr>
          <a:xfrm>
            <a:off x="574675" y="5883644"/>
            <a:ext cx="5323205" cy="276999"/>
          </a:xfrm>
        </p:spPr>
        <p:txBody>
          <a:bodyPr anchor="b" anchorCtr="0"/>
          <a:lstStyle>
            <a:lvl1pPr>
              <a:defRPr>
                <a:solidFill>
                  <a:srgbClr val="FE3082"/>
                </a:solidFill>
              </a:defRPr>
            </a:lvl1pPr>
          </a:lstStyle>
          <a:p>
            <a:pPr lvl="0"/>
            <a:r>
              <a:rPr lang="en-US"/>
              <a:t>Click to edit Master subtitle style</a:t>
            </a:r>
          </a:p>
        </p:txBody>
      </p:sp>
      <p:sp>
        <p:nvSpPr>
          <p:cNvPr id="11" name="Slide Number Placeholder 50" hidden="1">
            <a:extLst>
              <a:ext uri="{FF2B5EF4-FFF2-40B4-BE49-F238E27FC236}">
                <a16:creationId xmlns:a16="http://schemas.microsoft.com/office/drawing/2014/main" id="{08E74E92-0105-2629-2700-A469D18B0653}"/>
              </a:ext>
            </a:extLst>
          </p:cNvPr>
          <p:cNvSpPr>
            <a:spLocks noGrp="1"/>
          </p:cNvSpPr>
          <p:nvPr>
            <p:ph type="sldNum" sz="quarter" idx="16"/>
          </p:nvPr>
        </p:nvSpPr>
        <p:spPr/>
        <p:txBody>
          <a:bodyPr/>
          <a:lstStyle/>
          <a:p>
            <a:fld id="{0B1B59A6-B74A-41AA-9EF6-238F4BE8BA53}" type="slidenum">
              <a:rPr lang="en-CA" smtClean="0"/>
              <a:pPr/>
              <a:t>‹#›</a:t>
            </a:fld>
            <a:endParaRPr lang="en-CA"/>
          </a:p>
        </p:txBody>
      </p:sp>
      <p:sp>
        <p:nvSpPr>
          <p:cNvPr id="9" name="Footer Placeholder 6" hidden="1">
            <a:extLst>
              <a:ext uri="{FF2B5EF4-FFF2-40B4-BE49-F238E27FC236}">
                <a16:creationId xmlns:a16="http://schemas.microsoft.com/office/drawing/2014/main" id="{51342C42-3386-CF2B-F48F-64BF5C03BD69}"/>
              </a:ext>
            </a:extLst>
          </p:cNvPr>
          <p:cNvSpPr>
            <a:spLocks noGrp="1"/>
          </p:cNvSpPr>
          <p:nvPr>
            <p:ph type="ftr" sz="quarter" idx="15"/>
          </p:nvPr>
        </p:nvSpPr>
        <p:spPr>
          <a:xfrm>
            <a:off x="1140614" y="6475278"/>
            <a:ext cx="8665372" cy="182880"/>
          </a:xfrm>
          <a:prstGeom prst="rect">
            <a:avLst/>
          </a:prstGeom>
        </p:spPr>
        <p:txBody>
          <a:bodyPr/>
          <a:lstStyle/>
          <a:p>
            <a:r>
              <a:rPr lang="en-US"/>
              <a:t>© 2025 The Hartford. Confidential. No part of this document may be reproduced, published or posted without the permission of The Hartford.</a:t>
            </a:r>
            <a:endParaRPr lang="en-CA"/>
          </a:p>
        </p:txBody>
      </p:sp>
      <p:sp>
        <p:nvSpPr>
          <p:cNvPr id="7" name="Date Placeholder 7" hidden="1">
            <a:extLst>
              <a:ext uri="{FF2B5EF4-FFF2-40B4-BE49-F238E27FC236}">
                <a16:creationId xmlns:a16="http://schemas.microsoft.com/office/drawing/2014/main" id="{3A182900-B29A-8975-E83F-9A4CB6BE0A15}"/>
              </a:ext>
            </a:extLst>
          </p:cNvPr>
          <p:cNvSpPr>
            <a:spLocks noGrp="1"/>
          </p:cNvSpPr>
          <p:nvPr>
            <p:ph type="dt" sz="half" idx="14"/>
          </p:nvPr>
        </p:nvSpPr>
        <p:spPr>
          <a:xfrm>
            <a:off x="9805986" y="6491950"/>
            <a:ext cx="1809562" cy="182880"/>
          </a:xfrm>
          <a:prstGeom prst="rect">
            <a:avLst/>
          </a:prstGeom>
        </p:spPr>
        <p:txBody>
          <a:bodyPr/>
          <a:lstStyle/>
          <a:p>
            <a:fld id="{EE7E93DF-E629-4F24-B358-5ECA3F0CD87D}" type="datetime4">
              <a:rPr lang="en-US" smtClean="0"/>
              <a:pPr/>
              <a:t>August 17, 2026</a:t>
            </a:fld>
            <a:endParaRPr lang="en-CA"/>
          </a:p>
        </p:txBody>
      </p:sp>
    </p:spTree>
    <p:extLst>
      <p:ext uri="{BB962C8B-B14F-4D97-AF65-F5344CB8AC3E}">
        <p14:creationId xmlns:p14="http://schemas.microsoft.com/office/powerpoint/2010/main" val="221821525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ivider Slide 2">
    <p:spTree>
      <p:nvGrpSpPr>
        <p:cNvPr id="1" name=""/>
        <p:cNvGrpSpPr/>
        <p:nvPr/>
      </p:nvGrpSpPr>
      <p:grpSpPr>
        <a:xfrm>
          <a:off x="0" y="0"/>
          <a:ext cx="0" cy="0"/>
          <a:chOff x="0" y="0"/>
          <a:chExt cx="0" cy="0"/>
        </a:xfrm>
      </p:grpSpPr>
      <p:sp>
        <p:nvSpPr>
          <p:cNvPr id="10" name="Rectangle 1">
            <a:extLst>
              <a:ext uri="{FF2B5EF4-FFF2-40B4-BE49-F238E27FC236}">
                <a16:creationId xmlns:a16="http://schemas.microsoft.com/office/drawing/2014/main" id="{FD406D62-F299-1872-4AE3-14E1BFF9D604}"/>
              </a:ext>
            </a:extLst>
          </p:cNvPr>
          <p:cNvSpPr/>
          <p:nvPr/>
        </p:nvSpPr>
        <p:spPr>
          <a:xfrm>
            <a:off x="-9144" y="1015253"/>
            <a:ext cx="12207240" cy="5852160"/>
          </a:xfrm>
          <a:prstGeom prst="rect">
            <a:avLst/>
          </a:prstGeom>
          <a:solidFill>
            <a:schemeClr val="tx2"/>
          </a:solidFill>
        </p:spPr>
        <p:style>
          <a:lnRef idx="3">
            <a:schemeClr val="lt1"/>
          </a:lnRef>
          <a:fillRef idx="1">
            <a:schemeClr val="dk1"/>
          </a:fillRef>
          <a:effectRef idx="1">
            <a:schemeClr val="dk1"/>
          </a:effectRef>
          <a:fontRef idx="minor">
            <a:schemeClr val="lt1"/>
          </a:fontRef>
        </p:style>
        <p:txBody>
          <a:bodyPr rtlCol="0" anchor="ctr"/>
          <a:lstStyle/>
          <a:p>
            <a:pPr algn="ctr"/>
            <a:endParaRPr lang="en-US"/>
          </a:p>
        </p:txBody>
      </p:sp>
      <p:sp>
        <p:nvSpPr>
          <p:cNvPr id="8" name="Text Placeholder 2">
            <a:extLst>
              <a:ext uri="{FF2B5EF4-FFF2-40B4-BE49-F238E27FC236}">
                <a16:creationId xmlns:a16="http://schemas.microsoft.com/office/drawing/2014/main" id="{8F0BA69F-D87F-8D85-070C-BB932B2FD7CD}"/>
              </a:ext>
            </a:extLst>
          </p:cNvPr>
          <p:cNvSpPr>
            <a:spLocks noGrp="1"/>
          </p:cNvSpPr>
          <p:nvPr>
            <p:ph type="body" sz="quarter" idx="13" hasCustomPrompt="1"/>
          </p:nvPr>
        </p:nvSpPr>
        <p:spPr>
          <a:xfrm>
            <a:off x="574674" y="338329"/>
            <a:ext cx="8229600" cy="435184"/>
          </a:xfrm>
        </p:spPr>
        <p:txBody>
          <a:bodyPr>
            <a:spAutoFit/>
          </a:bodyPr>
          <a:lstStyle>
            <a:lvl1pPr>
              <a:defRPr sz="2800" b="0">
                <a:solidFill>
                  <a:srgbClr val="000000"/>
                </a:solidFill>
                <a:latin typeface="+mj-lt"/>
              </a:defRPr>
            </a:lvl1pPr>
          </a:lstStyle>
          <a:p>
            <a:pPr lvl="0"/>
            <a:r>
              <a:rPr lang="en-US"/>
              <a:t>Chapter or Section Name</a:t>
            </a:r>
          </a:p>
        </p:txBody>
      </p:sp>
      <p:sp>
        <p:nvSpPr>
          <p:cNvPr id="2" name="Title 3">
            <a:extLst>
              <a:ext uri="{FF2B5EF4-FFF2-40B4-BE49-F238E27FC236}">
                <a16:creationId xmlns:a16="http://schemas.microsoft.com/office/drawing/2014/main" id="{A7248638-2A09-4E41-9F6A-2878A8C1D57B}"/>
              </a:ext>
            </a:extLst>
          </p:cNvPr>
          <p:cNvSpPr>
            <a:spLocks noGrp="1"/>
          </p:cNvSpPr>
          <p:nvPr>
            <p:ph type="title" hasCustomPrompt="1"/>
          </p:nvPr>
        </p:nvSpPr>
        <p:spPr>
          <a:xfrm>
            <a:off x="566928" y="1481328"/>
            <a:ext cx="5323206" cy="3960700"/>
          </a:xfrm>
        </p:spPr>
        <p:txBody>
          <a:bodyPr anchor="t" anchorCtr="0">
            <a:spAutoFit/>
          </a:bodyPr>
          <a:lstStyle>
            <a:lvl1pPr>
              <a:lnSpc>
                <a:spcPct val="85000"/>
              </a:lnSpc>
              <a:defRPr sz="29000" b="0">
                <a:solidFill>
                  <a:schemeClr val="bg1"/>
                </a:solidFill>
                <a:latin typeface="Trust Hartford Serif XLight" pitchFamily="50" charset="0"/>
              </a:defRPr>
            </a:lvl1pPr>
          </a:lstStyle>
          <a:p>
            <a:r>
              <a:rPr lang="en-CA"/>
              <a:t>#</a:t>
            </a:r>
          </a:p>
        </p:txBody>
      </p:sp>
      <p:sp>
        <p:nvSpPr>
          <p:cNvPr id="3" name="Subtitle 4">
            <a:extLst>
              <a:ext uri="{FF2B5EF4-FFF2-40B4-BE49-F238E27FC236}">
                <a16:creationId xmlns:a16="http://schemas.microsoft.com/office/drawing/2014/main" id="{E83D32E6-2865-49FB-B6C0-5018A69B26FC}"/>
              </a:ext>
            </a:extLst>
          </p:cNvPr>
          <p:cNvSpPr>
            <a:spLocks noGrp="1"/>
          </p:cNvSpPr>
          <p:nvPr>
            <p:ph type="subTitle" idx="1"/>
          </p:nvPr>
        </p:nvSpPr>
        <p:spPr>
          <a:xfrm>
            <a:off x="574675" y="5883644"/>
            <a:ext cx="5323205" cy="276999"/>
          </a:xfrm>
        </p:spPr>
        <p:txBody>
          <a:bodyPr anchor="b" anchorCtr="0"/>
          <a:lstStyle>
            <a:lvl1pPr>
              <a:defRPr>
                <a:solidFill>
                  <a:srgbClr val="FE3082"/>
                </a:solidFill>
              </a:defRPr>
            </a:lvl1pPr>
          </a:lstStyle>
          <a:p>
            <a:pPr lvl="0"/>
            <a:r>
              <a:rPr lang="en-US"/>
              <a:t>Click to edit Master subtitle style</a:t>
            </a:r>
          </a:p>
        </p:txBody>
      </p:sp>
      <p:sp>
        <p:nvSpPr>
          <p:cNvPr id="11" name="Slide Number Placeholder 50" hidden="1">
            <a:extLst>
              <a:ext uri="{FF2B5EF4-FFF2-40B4-BE49-F238E27FC236}">
                <a16:creationId xmlns:a16="http://schemas.microsoft.com/office/drawing/2014/main" id="{68226E32-7671-2EEA-4968-484959299148}"/>
              </a:ext>
            </a:extLst>
          </p:cNvPr>
          <p:cNvSpPr>
            <a:spLocks noGrp="1"/>
          </p:cNvSpPr>
          <p:nvPr>
            <p:ph type="sldNum" sz="quarter" idx="16"/>
          </p:nvPr>
        </p:nvSpPr>
        <p:spPr/>
        <p:txBody>
          <a:bodyPr/>
          <a:lstStyle/>
          <a:p>
            <a:fld id="{0B1B59A6-B74A-41AA-9EF6-238F4BE8BA53}" type="slidenum">
              <a:rPr lang="en-CA" smtClean="0"/>
              <a:pPr/>
              <a:t>‹#›</a:t>
            </a:fld>
            <a:endParaRPr lang="en-CA"/>
          </a:p>
        </p:txBody>
      </p:sp>
      <p:sp>
        <p:nvSpPr>
          <p:cNvPr id="9" name="Footer Placeholder 6" hidden="1">
            <a:extLst>
              <a:ext uri="{FF2B5EF4-FFF2-40B4-BE49-F238E27FC236}">
                <a16:creationId xmlns:a16="http://schemas.microsoft.com/office/drawing/2014/main" id="{969EC5CE-87AC-AED2-33E0-01D0E152E074}"/>
              </a:ext>
            </a:extLst>
          </p:cNvPr>
          <p:cNvSpPr>
            <a:spLocks noGrp="1"/>
          </p:cNvSpPr>
          <p:nvPr>
            <p:ph type="ftr" sz="quarter" idx="15"/>
          </p:nvPr>
        </p:nvSpPr>
        <p:spPr>
          <a:xfrm>
            <a:off x="1140614" y="6475278"/>
            <a:ext cx="8665372" cy="182880"/>
          </a:xfrm>
          <a:prstGeom prst="rect">
            <a:avLst/>
          </a:prstGeom>
        </p:spPr>
        <p:txBody>
          <a:bodyPr/>
          <a:lstStyle/>
          <a:p>
            <a:r>
              <a:rPr lang="en-US"/>
              <a:t>© 2025 The Hartford. Confidential. No part of this document may be reproduced, published or posted without the permission of The Hartford.</a:t>
            </a:r>
            <a:endParaRPr lang="en-CA"/>
          </a:p>
        </p:txBody>
      </p:sp>
      <p:sp>
        <p:nvSpPr>
          <p:cNvPr id="7" name="Date Placeholder 7" hidden="1">
            <a:extLst>
              <a:ext uri="{FF2B5EF4-FFF2-40B4-BE49-F238E27FC236}">
                <a16:creationId xmlns:a16="http://schemas.microsoft.com/office/drawing/2014/main" id="{73C08BC6-C335-5F49-53AE-5A301BBC125F}"/>
              </a:ext>
            </a:extLst>
          </p:cNvPr>
          <p:cNvSpPr>
            <a:spLocks noGrp="1"/>
          </p:cNvSpPr>
          <p:nvPr>
            <p:ph type="dt" sz="half" idx="14"/>
          </p:nvPr>
        </p:nvSpPr>
        <p:spPr>
          <a:xfrm>
            <a:off x="9805986" y="6491950"/>
            <a:ext cx="1809562" cy="182880"/>
          </a:xfrm>
          <a:prstGeom prst="rect">
            <a:avLst/>
          </a:prstGeom>
        </p:spPr>
        <p:txBody>
          <a:bodyPr/>
          <a:lstStyle/>
          <a:p>
            <a:fld id="{EE7E93DF-E629-4F24-B358-5ECA3F0CD87D}" type="datetime4">
              <a:rPr lang="en-US" smtClean="0"/>
              <a:pPr/>
              <a:t>August 17, 2026</a:t>
            </a:fld>
            <a:endParaRPr lang="en-CA"/>
          </a:p>
        </p:txBody>
      </p:sp>
    </p:spTree>
    <p:extLst>
      <p:ext uri="{BB962C8B-B14F-4D97-AF65-F5344CB8AC3E}">
        <p14:creationId xmlns:p14="http://schemas.microsoft.com/office/powerpoint/2010/main" val="402497182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Slide 3">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30FAF86B-4E49-B75F-62EE-93D1CAC4D4DA}"/>
              </a:ext>
            </a:extLst>
          </p:cNvPr>
          <p:cNvSpPr/>
          <p:nvPr userDrawn="1"/>
        </p:nvSpPr>
        <p:spPr>
          <a:xfrm>
            <a:off x="-9144" y="1015253"/>
            <a:ext cx="12207240" cy="5852160"/>
          </a:xfrm>
          <a:prstGeom prst="rect">
            <a:avLst/>
          </a:prstGeom>
          <a:solidFill>
            <a:srgbClr val="FE3082"/>
          </a:solidFill>
        </p:spPr>
        <p:style>
          <a:lnRef idx="3">
            <a:schemeClr val="lt1"/>
          </a:lnRef>
          <a:fillRef idx="1">
            <a:schemeClr val="dk1"/>
          </a:fillRef>
          <a:effectRef idx="1">
            <a:schemeClr val="dk1"/>
          </a:effectRef>
          <a:fontRef idx="minor">
            <a:schemeClr val="lt1"/>
          </a:fontRef>
        </p:style>
        <p:txBody>
          <a:bodyPr rtlCol="0" anchor="ctr"/>
          <a:lstStyle/>
          <a:p>
            <a:pPr algn="ctr"/>
            <a:endParaRPr lang="en-US"/>
          </a:p>
        </p:txBody>
      </p:sp>
      <p:sp>
        <p:nvSpPr>
          <p:cNvPr id="8" name="Text Placeholder 2">
            <a:extLst>
              <a:ext uri="{FF2B5EF4-FFF2-40B4-BE49-F238E27FC236}">
                <a16:creationId xmlns:a16="http://schemas.microsoft.com/office/drawing/2014/main" id="{8F0BA69F-D87F-8D85-070C-BB932B2FD7CD}"/>
              </a:ext>
            </a:extLst>
          </p:cNvPr>
          <p:cNvSpPr>
            <a:spLocks noGrp="1"/>
          </p:cNvSpPr>
          <p:nvPr>
            <p:ph type="body" sz="quarter" idx="13" hasCustomPrompt="1"/>
          </p:nvPr>
        </p:nvSpPr>
        <p:spPr>
          <a:xfrm>
            <a:off x="574674" y="338329"/>
            <a:ext cx="8229600" cy="435184"/>
          </a:xfrm>
        </p:spPr>
        <p:txBody>
          <a:bodyPr>
            <a:spAutoFit/>
          </a:bodyPr>
          <a:lstStyle>
            <a:lvl1pPr>
              <a:defRPr sz="2800" b="0">
                <a:solidFill>
                  <a:srgbClr val="000000"/>
                </a:solidFill>
                <a:latin typeface="+mj-lt"/>
              </a:defRPr>
            </a:lvl1pPr>
          </a:lstStyle>
          <a:p>
            <a:pPr lvl="0"/>
            <a:r>
              <a:rPr lang="en-US"/>
              <a:t>Chapter or Section Name</a:t>
            </a:r>
          </a:p>
        </p:txBody>
      </p:sp>
      <p:sp>
        <p:nvSpPr>
          <p:cNvPr id="2" name="Title 3">
            <a:extLst>
              <a:ext uri="{FF2B5EF4-FFF2-40B4-BE49-F238E27FC236}">
                <a16:creationId xmlns:a16="http://schemas.microsoft.com/office/drawing/2014/main" id="{A7248638-2A09-4E41-9F6A-2878A8C1D57B}"/>
              </a:ext>
            </a:extLst>
          </p:cNvPr>
          <p:cNvSpPr>
            <a:spLocks noGrp="1"/>
          </p:cNvSpPr>
          <p:nvPr>
            <p:ph type="title" hasCustomPrompt="1"/>
          </p:nvPr>
        </p:nvSpPr>
        <p:spPr>
          <a:xfrm>
            <a:off x="566928" y="1481328"/>
            <a:ext cx="5326380" cy="3960700"/>
          </a:xfrm>
        </p:spPr>
        <p:txBody>
          <a:bodyPr anchor="t" anchorCtr="0">
            <a:spAutoFit/>
          </a:bodyPr>
          <a:lstStyle>
            <a:lvl1pPr>
              <a:lnSpc>
                <a:spcPct val="85000"/>
              </a:lnSpc>
              <a:defRPr sz="29000" b="0">
                <a:solidFill>
                  <a:schemeClr val="bg1"/>
                </a:solidFill>
                <a:latin typeface="Trust Hartford Serif XLight" pitchFamily="50" charset="0"/>
              </a:defRPr>
            </a:lvl1pPr>
          </a:lstStyle>
          <a:p>
            <a:r>
              <a:rPr lang="en-CA"/>
              <a:t>#</a:t>
            </a:r>
          </a:p>
        </p:txBody>
      </p:sp>
      <p:sp>
        <p:nvSpPr>
          <p:cNvPr id="3" name="Subtitle 4">
            <a:extLst>
              <a:ext uri="{FF2B5EF4-FFF2-40B4-BE49-F238E27FC236}">
                <a16:creationId xmlns:a16="http://schemas.microsoft.com/office/drawing/2014/main" id="{E83D32E6-2865-49FB-B6C0-5018A69B26FC}"/>
              </a:ext>
            </a:extLst>
          </p:cNvPr>
          <p:cNvSpPr>
            <a:spLocks noGrp="1"/>
          </p:cNvSpPr>
          <p:nvPr>
            <p:ph type="subTitle" idx="1"/>
          </p:nvPr>
        </p:nvSpPr>
        <p:spPr>
          <a:xfrm>
            <a:off x="574675" y="5883644"/>
            <a:ext cx="5323205" cy="276999"/>
          </a:xfrm>
        </p:spPr>
        <p:txBody>
          <a:bodyPr anchor="b" anchorCtr="0"/>
          <a:lstStyle>
            <a:lvl1pPr>
              <a:defRPr>
                <a:solidFill>
                  <a:schemeClr val="tx1"/>
                </a:solidFill>
              </a:defRPr>
            </a:lvl1pPr>
          </a:lstStyle>
          <a:p>
            <a:pPr lvl="0"/>
            <a:r>
              <a:rPr lang="en-US"/>
              <a:t>Click to edit Master subtitle style</a:t>
            </a:r>
          </a:p>
        </p:txBody>
      </p:sp>
      <p:sp>
        <p:nvSpPr>
          <p:cNvPr id="11" name="Slide Number Placeholder 50" hidden="1">
            <a:extLst>
              <a:ext uri="{FF2B5EF4-FFF2-40B4-BE49-F238E27FC236}">
                <a16:creationId xmlns:a16="http://schemas.microsoft.com/office/drawing/2014/main" id="{3E1843C9-8396-98D1-936A-19CA1CF6EA2B}"/>
              </a:ext>
            </a:extLst>
          </p:cNvPr>
          <p:cNvSpPr>
            <a:spLocks noGrp="1"/>
          </p:cNvSpPr>
          <p:nvPr>
            <p:ph type="sldNum" sz="quarter" idx="16"/>
          </p:nvPr>
        </p:nvSpPr>
        <p:spPr/>
        <p:txBody>
          <a:bodyPr/>
          <a:lstStyle/>
          <a:p>
            <a:fld id="{0B1B59A6-B74A-41AA-9EF6-238F4BE8BA53}" type="slidenum">
              <a:rPr lang="en-CA" smtClean="0"/>
              <a:pPr/>
              <a:t>‹#›</a:t>
            </a:fld>
            <a:endParaRPr lang="en-CA"/>
          </a:p>
        </p:txBody>
      </p:sp>
      <p:sp>
        <p:nvSpPr>
          <p:cNvPr id="9" name="Footer Placeholder 6" hidden="1">
            <a:extLst>
              <a:ext uri="{FF2B5EF4-FFF2-40B4-BE49-F238E27FC236}">
                <a16:creationId xmlns:a16="http://schemas.microsoft.com/office/drawing/2014/main" id="{57682E16-7F7C-0AC6-E655-F664800CCC4A}"/>
              </a:ext>
            </a:extLst>
          </p:cNvPr>
          <p:cNvSpPr>
            <a:spLocks noGrp="1"/>
          </p:cNvSpPr>
          <p:nvPr>
            <p:ph type="ftr" sz="quarter" idx="15"/>
          </p:nvPr>
        </p:nvSpPr>
        <p:spPr>
          <a:xfrm>
            <a:off x="1140614" y="6475278"/>
            <a:ext cx="8665372" cy="182880"/>
          </a:xfrm>
          <a:prstGeom prst="rect">
            <a:avLst/>
          </a:prstGeom>
        </p:spPr>
        <p:txBody>
          <a:bodyPr/>
          <a:lstStyle/>
          <a:p>
            <a:r>
              <a:rPr lang="en-US"/>
              <a:t>© 2025 The Hartford. Confidential. No part of this document may be reproduced, published or posted without the permission of The Hartford.</a:t>
            </a:r>
            <a:endParaRPr lang="en-CA"/>
          </a:p>
        </p:txBody>
      </p:sp>
      <p:sp>
        <p:nvSpPr>
          <p:cNvPr id="7" name="Date Placeholder 7" hidden="1">
            <a:extLst>
              <a:ext uri="{FF2B5EF4-FFF2-40B4-BE49-F238E27FC236}">
                <a16:creationId xmlns:a16="http://schemas.microsoft.com/office/drawing/2014/main" id="{C374B29D-12BF-4A64-844B-94423BFBBD31}"/>
              </a:ext>
            </a:extLst>
          </p:cNvPr>
          <p:cNvSpPr>
            <a:spLocks noGrp="1"/>
          </p:cNvSpPr>
          <p:nvPr>
            <p:ph type="dt" sz="half" idx="14"/>
          </p:nvPr>
        </p:nvSpPr>
        <p:spPr>
          <a:xfrm>
            <a:off x="9805986" y="6491950"/>
            <a:ext cx="1809562" cy="182880"/>
          </a:xfrm>
          <a:prstGeom prst="rect">
            <a:avLst/>
          </a:prstGeom>
        </p:spPr>
        <p:txBody>
          <a:bodyPr/>
          <a:lstStyle/>
          <a:p>
            <a:fld id="{EE7E93DF-E629-4F24-B358-5ECA3F0CD87D}" type="datetime4">
              <a:rPr lang="en-US" smtClean="0"/>
              <a:pPr/>
              <a:t>August 17, 2026</a:t>
            </a:fld>
            <a:endParaRPr lang="en-CA"/>
          </a:p>
        </p:txBody>
      </p:sp>
    </p:spTree>
    <p:extLst>
      <p:ext uri="{BB962C8B-B14F-4D97-AF65-F5344CB8AC3E}">
        <p14:creationId xmlns:p14="http://schemas.microsoft.com/office/powerpoint/2010/main" val="239112944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Slide 4">
    <p:spTree>
      <p:nvGrpSpPr>
        <p:cNvPr id="1" name=""/>
        <p:cNvGrpSpPr/>
        <p:nvPr/>
      </p:nvGrpSpPr>
      <p:grpSpPr>
        <a:xfrm>
          <a:off x="0" y="0"/>
          <a:ext cx="0" cy="0"/>
          <a:chOff x="0" y="0"/>
          <a:chExt cx="0" cy="0"/>
        </a:xfrm>
      </p:grpSpPr>
      <p:sp>
        <p:nvSpPr>
          <p:cNvPr id="10" name="Rectangle 1">
            <a:extLst>
              <a:ext uri="{FF2B5EF4-FFF2-40B4-BE49-F238E27FC236}">
                <a16:creationId xmlns:a16="http://schemas.microsoft.com/office/drawing/2014/main" id="{FD406D62-F299-1872-4AE3-14E1BFF9D604}"/>
              </a:ext>
            </a:extLst>
          </p:cNvPr>
          <p:cNvSpPr/>
          <p:nvPr userDrawn="1"/>
        </p:nvSpPr>
        <p:spPr>
          <a:xfrm>
            <a:off x="0" y="1005840"/>
            <a:ext cx="12207240" cy="5852160"/>
          </a:xfrm>
          <a:prstGeom prst="rect">
            <a:avLst/>
          </a:prstGeom>
          <a:solidFill>
            <a:srgbClr val="EAE5DF"/>
          </a:solidFill>
        </p:spPr>
        <p:style>
          <a:lnRef idx="3">
            <a:schemeClr val="lt1"/>
          </a:lnRef>
          <a:fillRef idx="1">
            <a:schemeClr val="dk1"/>
          </a:fillRef>
          <a:effectRef idx="1">
            <a:schemeClr val="dk1"/>
          </a:effectRef>
          <a:fontRef idx="minor">
            <a:schemeClr val="lt1"/>
          </a:fontRef>
        </p:style>
        <p:txBody>
          <a:bodyPr rtlCol="0" anchor="ctr"/>
          <a:lstStyle/>
          <a:p>
            <a:pPr algn="ctr"/>
            <a:endParaRPr lang="en-US"/>
          </a:p>
        </p:txBody>
      </p:sp>
      <p:sp>
        <p:nvSpPr>
          <p:cNvPr id="8" name="Text Placeholder 2">
            <a:extLst>
              <a:ext uri="{FF2B5EF4-FFF2-40B4-BE49-F238E27FC236}">
                <a16:creationId xmlns:a16="http://schemas.microsoft.com/office/drawing/2014/main" id="{8F0BA69F-D87F-8D85-070C-BB932B2FD7CD}"/>
              </a:ext>
            </a:extLst>
          </p:cNvPr>
          <p:cNvSpPr>
            <a:spLocks noGrp="1"/>
          </p:cNvSpPr>
          <p:nvPr>
            <p:ph type="body" sz="quarter" idx="13" hasCustomPrompt="1"/>
          </p:nvPr>
        </p:nvSpPr>
        <p:spPr>
          <a:xfrm>
            <a:off x="574674" y="338329"/>
            <a:ext cx="8229600" cy="435184"/>
          </a:xfrm>
        </p:spPr>
        <p:txBody>
          <a:bodyPr>
            <a:spAutoFit/>
          </a:bodyPr>
          <a:lstStyle>
            <a:lvl1pPr>
              <a:defRPr sz="2800" b="0">
                <a:solidFill>
                  <a:srgbClr val="000000"/>
                </a:solidFill>
                <a:latin typeface="+mj-lt"/>
              </a:defRPr>
            </a:lvl1pPr>
          </a:lstStyle>
          <a:p>
            <a:pPr lvl="0"/>
            <a:r>
              <a:rPr lang="en-US"/>
              <a:t>Chapter or Section Name</a:t>
            </a:r>
          </a:p>
        </p:txBody>
      </p:sp>
      <p:sp>
        <p:nvSpPr>
          <p:cNvPr id="2" name="Title 3">
            <a:extLst>
              <a:ext uri="{FF2B5EF4-FFF2-40B4-BE49-F238E27FC236}">
                <a16:creationId xmlns:a16="http://schemas.microsoft.com/office/drawing/2014/main" id="{A7248638-2A09-4E41-9F6A-2878A8C1D57B}"/>
              </a:ext>
            </a:extLst>
          </p:cNvPr>
          <p:cNvSpPr>
            <a:spLocks noGrp="1"/>
          </p:cNvSpPr>
          <p:nvPr>
            <p:ph type="title" hasCustomPrompt="1"/>
          </p:nvPr>
        </p:nvSpPr>
        <p:spPr>
          <a:xfrm>
            <a:off x="566928" y="1481328"/>
            <a:ext cx="5323205" cy="3960700"/>
          </a:xfrm>
        </p:spPr>
        <p:txBody>
          <a:bodyPr anchor="t" anchorCtr="0">
            <a:spAutoFit/>
          </a:bodyPr>
          <a:lstStyle>
            <a:lvl1pPr>
              <a:lnSpc>
                <a:spcPct val="85000"/>
              </a:lnSpc>
              <a:defRPr sz="29000" b="0">
                <a:solidFill>
                  <a:srgbClr val="000000"/>
                </a:solidFill>
                <a:latin typeface="Trust Hartford Serif XLight" pitchFamily="50" charset="0"/>
              </a:defRPr>
            </a:lvl1pPr>
          </a:lstStyle>
          <a:p>
            <a:r>
              <a:rPr lang="en-CA"/>
              <a:t>#</a:t>
            </a:r>
          </a:p>
        </p:txBody>
      </p:sp>
      <p:sp>
        <p:nvSpPr>
          <p:cNvPr id="3" name="Subtitle 4">
            <a:extLst>
              <a:ext uri="{FF2B5EF4-FFF2-40B4-BE49-F238E27FC236}">
                <a16:creationId xmlns:a16="http://schemas.microsoft.com/office/drawing/2014/main" id="{E83D32E6-2865-49FB-B6C0-5018A69B26FC}"/>
              </a:ext>
            </a:extLst>
          </p:cNvPr>
          <p:cNvSpPr>
            <a:spLocks noGrp="1"/>
          </p:cNvSpPr>
          <p:nvPr>
            <p:ph type="subTitle" idx="1"/>
          </p:nvPr>
        </p:nvSpPr>
        <p:spPr>
          <a:xfrm>
            <a:off x="574675" y="5883644"/>
            <a:ext cx="5323205" cy="276999"/>
          </a:xfrm>
        </p:spPr>
        <p:txBody>
          <a:bodyPr anchor="b" anchorCtr="0"/>
          <a:lstStyle>
            <a:lvl1pPr>
              <a:defRPr>
                <a:solidFill>
                  <a:srgbClr val="FE3082"/>
                </a:solidFill>
              </a:defRPr>
            </a:lvl1pPr>
          </a:lstStyle>
          <a:p>
            <a:pPr lvl="0"/>
            <a:r>
              <a:rPr lang="en-US"/>
              <a:t>Click to edit Master subtitle style</a:t>
            </a:r>
          </a:p>
        </p:txBody>
      </p:sp>
      <p:sp>
        <p:nvSpPr>
          <p:cNvPr id="11" name="Slide Number Placeholder 50" hidden="1">
            <a:extLst>
              <a:ext uri="{FF2B5EF4-FFF2-40B4-BE49-F238E27FC236}">
                <a16:creationId xmlns:a16="http://schemas.microsoft.com/office/drawing/2014/main" id="{D06E3603-D17B-BB78-0AAD-1CE1E49BB5E8}"/>
              </a:ext>
            </a:extLst>
          </p:cNvPr>
          <p:cNvSpPr>
            <a:spLocks noGrp="1"/>
          </p:cNvSpPr>
          <p:nvPr>
            <p:ph type="sldNum" sz="quarter" idx="16"/>
          </p:nvPr>
        </p:nvSpPr>
        <p:spPr/>
        <p:txBody>
          <a:bodyPr/>
          <a:lstStyle/>
          <a:p>
            <a:fld id="{0B1B59A6-B74A-41AA-9EF6-238F4BE8BA53}" type="slidenum">
              <a:rPr lang="en-CA" smtClean="0"/>
              <a:pPr/>
              <a:t>‹#›</a:t>
            </a:fld>
            <a:endParaRPr lang="en-CA"/>
          </a:p>
        </p:txBody>
      </p:sp>
      <p:sp>
        <p:nvSpPr>
          <p:cNvPr id="9" name="Footer Placeholder 6" hidden="1">
            <a:extLst>
              <a:ext uri="{FF2B5EF4-FFF2-40B4-BE49-F238E27FC236}">
                <a16:creationId xmlns:a16="http://schemas.microsoft.com/office/drawing/2014/main" id="{D291AD73-4314-3218-8409-1F65EF63A5F4}"/>
              </a:ext>
            </a:extLst>
          </p:cNvPr>
          <p:cNvSpPr>
            <a:spLocks noGrp="1"/>
          </p:cNvSpPr>
          <p:nvPr>
            <p:ph type="ftr" sz="quarter" idx="15"/>
          </p:nvPr>
        </p:nvSpPr>
        <p:spPr>
          <a:xfrm>
            <a:off x="1140614" y="6475278"/>
            <a:ext cx="8665372" cy="182880"/>
          </a:xfrm>
          <a:prstGeom prst="rect">
            <a:avLst/>
          </a:prstGeom>
        </p:spPr>
        <p:txBody>
          <a:bodyPr/>
          <a:lstStyle/>
          <a:p>
            <a:r>
              <a:rPr lang="en-US"/>
              <a:t>© 2025 The Hartford. Confidential. No part of this document may be reproduced, published or posted without the permission of The Hartford.</a:t>
            </a:r>
            <a:endParaRPr lang="en-CA"/>
          </a:p>
        </p:txBody>
      </p:sp>
      <p:sp>
        <p:nvSpPr>
          <p:cNvPr id="7" name="Date Placeholder 7" hidden="1">
            <a:extLst>
              <a:ext uri="{FF2B5EF4-FFF2-40B4-BE49-F238E27FC236}">
                <a16:creationId xmlns:a16="http://schemas.microsoft.com/office/drawing/2014/main" id="{A767656C-D477-09DA-30A3-B5ECF3E71BB4}"/>
              </a:ext>
            </a:extLst>
          </p:cNvPr>
          <p:cNvSpPr>
            <a:spLocks noGrp="1"/>
          </p:cNvSpPr>
          <p:nvPr>
            <p:ph type="dt" sz="half" idx="14"/>
          </p:nvPr>
        </p:nvSpPr>
        <p:spPr>
          <a:xfrm>
            <a:off x="9805986" y="6491950"/>
            <a:ext cx="1809562" cy="182880"/>
          </a:xfrm>
          <a:prstGeom prst="rect">
            <a:avLst/>
          </a:prstGeom>
        </p:spPr>
        <p:txBody>
          <a:bodyPr/>
          <a:lstStyle/>
          <a:p>
            <a:fld id="{EE7E93DF-E629-4F24-B358-5ECA3F0CD87D}" type="datetime4">
              <a:rPr lang="en-US" smtClean="0"/>
              <a:pPr/>
              <a:t>August 17, 2026</a:t>
            </a:fld>
            <a:endParaRPr lang="en-CA"/>
          </a:p>
        </p:txBody>
      </p:sp>
    </p:spTree>
    <p:extLst>
      <p:ext uri="{BB962C8B-B14F-4D97-AF65-F5344CB8AC3E}">
        <p14:creationId xmlns:p14="http://schemas.microsoft.com/office/powerpoint/2010/main" val="403937439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Slide for Printing">
    <p:spTree>
      <p:nvGrpSpPr>
        <p:cNvPr id="1" name=""/>
        <p:cNvGrpSpPr/>
        <p:nvPr/>
      </p:nvGrpSpPr>
      <p:grpSpPr>
        <a:xfrm>
          <a:off x="0" y="0"/>
          <a:ext cx="0" cy="0"/>
          <a:chOff x="0" y="0"/>
          <a:chExt cx="0" cy="0"/>
        </a:xfrm>
      </p:grpSpPr>
      <p:sp>
        <p:nvSpPr>
          <p:cNvPr id="8" name="Text Placeholder 1">
            <a:extLst>
              <a:ext uri="{FF2B5EF4-FFF2-40B4-BE49-F238E27FC236}">
                <a16:creationId xmlns:a16="http://schemas.microsoft.com/office/drawing/2014/main" id="{8F0BA69F-D87F-8D85-070C-BB932B2FD7CD}"/>
              </a:ext>
            </a:extLst>
          </p:cNvPr>
          <p:cNvSpPr>
            <a:spLocks noGrp="1"/>
          </p:cNvSpPr>
          <p:nvPr>
            <p:ph type="body" sz="quarter" idx="13" hasCustomPrompt="1"/>
          </p:nvPr>
        </p:nvSpPr>
        <p:spPr>
          <a:xfrm>
            <a:off x="574675" y="338329"/>
            <a:ext cx="8229600" cy="435184"/>
          </a:xfrm>
        </p:spPr>
        <p:txBody>
          <a:bodyPr>
            <a:spAutoFit/>
          </a:bodyPr>
          <a:lstStyle>
            <a:lvl1pPr>
              <a:defRPr sz="2800" b="0">
                <a:solidFill>
                  <a:srgbClr val="000000"/>
                </a:solidFill>
                <a:latin typeface="+mj-lt"/>
              </a:defRPr>
            </a:lvl1pPr>
          </a:lstStyle>
          <a:p>
            <a:pPr lvl="0"/>
            <a:r>
              <a:rPr lang="en-US"/>
              <a:t>Chapter or Section Name</a:t>
            </a:r>
          </a:p>
        </p:txBody>
      </p:sp>
      <p:sp>
        <p:nvSpPr>
          <p:cNvPr id="2" name="Title 2">
            <a:extLst>
              <a:ext uri="{FF2B5EF4-FFF2-40B4-BE49-F238E27FC236}">
                <a16:creationId xmlns:a16="http://schemas.microsoft.com/office/drawing/2014/main" id="{A7248638-2A09-4E41-9F6A-2878A8C1D57B}"/>
              </a:ext>
            </a:extLst>
          </p:cNvPr>
          <p:cNvSpPr>
            <a:spLocks noGrp="1"/>
          </p:cNvSpPr>
          <p:nvPr>
            <p:ph type="title" hasCustomPrompt="1"/>
          </p:nvPr>
        </p:nvSpPr>
        <p:spPr>
          <a:xfrm>
            <a:off x="566928" y="1481328"/>
            <a:ext cx="5323205" cy="3960700"/>
          </a:xfrm>
        </p:spPr>
        <p:txBody>
          <a:bodyPr anchor="t" anchorCtr="0">
            <a:spAutoFit/>
          </a:bodyPr>
          <a:lstStyle>
            <a:lvl1pPr>
              <a:lnSpc>
                <a:spcPct val="85000"/>
              </a:lnSpc>
              <a:defRPr sz="29000" b="0">
                <a:solidFill>
                  <a:srgbClr val="000000"/>
                </a:solidFill>
                <a:latin typeface="Trust Hartford Serif XLight" pitchFamily="50" charset="0"/>
              </a:defRPr>
            </a:lvl1pPr>
          </a:lstStyle>
          <a:p>
            <a:r>
              <a:rPr lang="en-CA"/>
              <a:t>#</a:t>
            </a:r>
          </a:p>
        </p:txBody>
      </p:sp>
      <p:sp>
        <p:nvSpPr>
          <p:cNvPr id="3" name="Subtitle 3">
            <a:extLst>
              <a:ext uri="{FF2B5EF4-FFF2-40B4-BE49-F238E27FC236}">
                <a16:creationId xmlns:a16="http://schemas.microsoft.com/office/drawing/2014/main" id="{E83D32E6-2865-49FB-B6C0-5018A69B26FC}"/>
              </a:ext>
            </a:extLst>
          </p:cNvPr>
          <p:cNvSpPr>
            <a:spLocks noGrp="1"/>
          </p:cNvSpPr>
          <p:nvPr>
            <p:ph type="subTitle" idx="1"/>
          </p:nvPr>
        </p:nvSpPr>
        <p:spPr>
          <a:xfrm>
            <a:off x="574675" y="5883644"/>
            <a:ext cx="5323204" cy="276999"/>
          </a:xfrm>
        </p:spPr>
        <p:txBody>
          <a:bodyPr anchor="b" anchorCtr="0"/>
          <a:lstStyle>
            <a:lvl1pPr>
              <a:defRPr>
                <a:solidFill>
                  <a:srgbClr val="FE3082"/>
                </a:solidFill>
              </a:defRPr>
            </a:lvl1pPr>
          </a:lstStyle>
          <a:p>
            <a:pPr lvl="0"/>
            <a:r>
              <a:rPr lang="en-US"/>
              <a:t>Click to edit Master subtitle style</a:t>
            </a:r>
          </a:p>
        </p:txBody>
      </p:sp>
      <p:sp>
        <p:nvSpPr>
          <p:cNvPr id="10" name="Slide Number Placeholder 4" hidden="1">
            <a:extLst>
              <a:ext uri="{FF2B5EF4-FFF2-40B4-BE49-F238E27FC236}">
                <a16:creationId xmlns:a16="http://schemas.microsoft.com/office/drawing/2014/main" id="{AA23FF5A-06A2-055F-DA6D-D2D17589DFBF}"/>
              </a:ext>
            </a:extLst>
          </p:cNvPr>
          <p:cNvSpPr>
            <a:spLocks noGrp="1"/>
          </p:cNvSpPr>
          <p:nvPr>
            <p:ph type="sldNum" sz="quarter" idx="16"/>
          </p:nvPr>
        </p:nvSpPr>
        <p:spPr/>
        <p:txBody>
          <a:bodyPr/>
          <a:lstStyle/>
          <a:p>
            <a:fld id="{0B1B59A6-B74A-41AA-9EF6-238F4BE8BA53}" type="slidenum">
              <a:rPr lang="en-CA" smtClean="0"/>
              <a:pPr/>
              <a:t>‹#›</a:t>
            </a:fld>
            <a:endParaRPr lang="en-CA"/>
          </a:p>
        </p:txBody>
      </p:sp>
      <p:sp>
        <p:nvSpPr>
          <p:cNvPr id="9" name="Footer Placeholder 5" hidden="1">
            <a:extLst>
              <a:ext uri="{FF2B5EF4-FFF2-40B4-BE49-F238E27FC236}">
                <a16:creationId xmlns:a16="http://schemas.microsoft.com/office/drawing/2014/main" id="{0D307FFC-4500-17A0-46BF-FE089E05E789}"/>
              </a:ext>
            </a:extLst>
          </p:cNvPr>
          <p:cNvSpPr>
            <a:spLocks noGrp="1"/>
          </p:cNvSpPr>
          <p:nvPr>
            <p:ph type="ftr" sz="quarter" idx="15"/>
          </p:nvPr>
        </p:nvSpPr>
        <p:spPr>
          <a:xfrm>
            <a:off x="1140614" y="6475278"/>
            <a:ext cx="8665372" cy="182880"/>
          </a:xfrm>
          <a:prstGeom prst="rect">
            <a:avLst/>
          </a:prstGeom>
        </p:spPr>
        <p:txBody>
          <a:bodyPr/>
          <a:lstStyle/>
          <a:p>
            <a:r>
              <a:rPr lang="en-US"/>
              <a:t>© 2025 The Hartford. Confidential. No part of this document may be reproduced, published or posted without the permission of The Hartford.</a:t>
            </a:r>
            <a:endParaRPr lang="en-CA"/>
          </a:p>
        </p:txBody>
      </p:sp>
      <p:sp>
        <p:nvSpPr>
          <p:cNvPr id="7" name="Date Placeholder 6" hidden="1">
            <a:extLst>
              <a:ext uri="{FF2B5EF4-FFF2-40B4-BE49-F238E27FC236}">
                <a16:creationId xmlns:a16="http://schemas.microsoft.com/office/drawing/2014/main" id="{97454CBC-B355-69E9-CBEA-612E308DF85D}"/>
              </a:ext>
            </a:extLst>
          </p:cNvPr>
          <p:cNvSpPr>
            <a:spLocks noGrp="1"/>
          </p:cNvSpPr>
          <p:nvPr>
            <p:ph type="dt" sz="half" idx="14"/>
          </p:nvPr>
        </p:nvSpPr>
        <p:spPr>
          <a:xfrm>
            <a:off x="9805986" y="6491950"/>
            <a:ext cx="1809562" cy="182880"/>
          </a:xfrm>
          <a:prstGeom prst="rect">
            <a:avLst/>
          </a:prstGeom>
        </p:spPr>
        <p:txBody>
          <a:bodyPr/>
          <a:lstStyle/>
          <a:p>
            <a:fld id="{EE7E93DF-E629-4F24-B358-5ECA3F0CD87D}" type="datetime4">
              <a:rPr lang="en-US" smtClean="0"/>
              <a:pPr/>
              <a:t>August 17, 2026</a:t>
            </a:fld>
            <a:endParaRPr lang="en-CA"/>
          </a:p>
        </p:txBody>
      </p:sp>
    </p:spTree>
    <p:extLst>
      <p:ext uri="{BB962C8B-B14F-4D97-AF65-F5344CB8AC3E}">
        <p14:creationId xmlns:p14="http://schemas.microsoft.com/office/powerpoint/2010/main" val="356962900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One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46D83-BB70-49AB-BC44-801646DE8B6A}"/>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1201C58F-8883-4B64-915B-599721E644EE}"/>
              </a:ext>
            </a:extLst>
          </p:cNvPr>
          <p:cNvSpPr>
            <a:spLocks noGrp="1"/>
          </p:cNvSpPr>
          <p:nvPr>
            <p:ph idx="1"/>
          </p:nvPr>
        </p:nvSpPr>
        <p:spPr>
          <a:xfrm>
            <a:off x="574365" y="1243584"/>
            <a:ext cx="8193024" cy="1246495"/>
          </a:xfrm>
        </p:spPr>
        <p:txBody>
          <a:bodyPr/>
          <a:lstStyle>
            <a:lvl1pPr>
              <a:spcAft>
                <a:spcPts val="600"/>
              </a:spcAft>
              <a:defRPr sz="1800"/>
            </a:lvl1pPr>
            <a:lvl2pPr>
              <a:spcAft>
                <a:spcPts val="600"/>
              </a:spcAft>
              <a:defRPr>
                <a:solidFill>
                  <a:srgbClr val="000000"/>
                </a:solidFill>
              </a:defRPr>
            </a:lvl2pPr>
            <a:lvl3pPr marL="514350" indent="-173038">
              <a:spcAft>
                <a:spcPts val="600"/>
              </a:spcAft>
              <a:buFont typeface="Trust Hartford Sans" pitchFamily="50" charset="0"/>
              <a:buChar char="»"/>
              <a:defRPr sz="1600">
                <a:solidFill>
                  <a:srgbClr val="000000"/>
                </a:solidFill>
              </a:defRPr>
            </a:lvl3pPr>
            <a:lvl4pPr marL="800100" indent="-227013">
              <a:spcAft>
                <a:spcPts val="600"/>
              </a:spcAft>
              <a:buFont typeface="Trust Hartford Sans" pitchFamily="50" charset="0"/>
              <a:buChar char="—"/>
              <a:defRPr sz="1400">
                <a:solidFill>
                  <a:srgbClr val="000000"/>
                </a:solidFill>
              </a:defRPr>
            </a:lvl4pPr>
            <a:lvl5pPr marL="800100" indent="0">
              <a:buNone/>
              <a:defRPr/>
            </a:lvl5pPr>
            <a:lvl6pPr marL="1141413" indent="0">
              <a:defRPr/>
            </a:lvl6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Placeholder 3">
            <a:extLst>
              <a:ext uri="{FF2B5EF4-FFF2-40B4-BE49-F238E27FC236}">
                <a16:creationId xmlns:a16="http://schemas.microsoft.com/office/drawing/2014/main" id="{1E14BD53-CB03-4E8A-BD70-E6FB80F54A7E}"/>
              </a:ext>
            </a:extLst>
          </p:cNvPr>
          <p:cNvSpPr>
            <a:spLocks noGrp="1"/>
          </p:cNvSpPr>
          <p:nvPr>
            <p:ph type="sldNum" sz="quarter" idx="12"/>
          </p:nvPr>
        </p:nvSpPr>
        <p:spPr/>
        <p:txBody>
          <a:bodyPr/>
          <a:lstStyle/>
          <a:p>
            <a:fld id="{0B1B59A6-B74A-41AA-9EF6-238F4BE8BA53}" type="slidenum">
              <a:rPr lang="en-CA" smtClean="0"/>
              <a:t>‹#›</a:t>
            </a:fld>
            <a:endParaRPr lang="en-CA"/>
          </a:p>
        </p:txBody>
      </p:sp>
    </p:spTree>
    <p:extLst>
      <p:ext uri="{BB962C8B-B14F-4D97-AF65-F5344CB8AC3E}">
        <p14:creationId xmlns:p14="http://schemas.microsoft.com/office/powerpoint/2010/main" val="2563800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18DA2-AAE8-4B6F-B4D9-2F1E68B87E4B}"/>
              </a:ext>
            </a:extLst>
          </p:cNvPr>
          <p:cNvSpPr>
            <a:spLocks noGrp="1"/>
          </p:cNvSpPr>
          <p:nvPr>
            <p:ph type="title"/>
          </p:nvPr>
        </p:nvSpPr>
        <p:spPr>
          <a:xfrm>
            <a:off x="574364" y="360233"/>
            <a:ext cx="8229600" cy="424412"/>
          </a:xfrm>
        </p:spPr>
        <p:txBody>
          <a:bodyPr/>
          <a:lstStyle/>
          <a:p>
            <a:r>
              <a:rPr lang="en-US"/>
              <a:t>Click to edit Master title style</a:t>
            </a:r>
            <a:endParaRPr lang="en-CA"/>
          </a:p>
        </p:txBody>
      </p:sp>
      <p:sp>
        <p:nvSpPr>
          <p:cNvPr id="7" name="Slide Number Placeholder 4">
            <a:extLst>
              <a:ext uri="{FF2B5EF4-FFF2-40B4-BE49-F238E27FC236}">
                <a16:creationId xmlns:a16="http://schemas.microsoft.com/office/drawing/2014/main" id="{5D500DE7-045D-4A18-8256-BE411146E636}"/>
              </a:ext>
            </a:extLst>
          </p:cNvPr>
          <p:cNvSpPr>
            <a:spLocks noGrp="1"/>
          </p:cNvSpPr>
          <p:nvPr>
            <p:ph type="sldNum" sz="quarter" idx="12"/>
          </p:nvPr>
        </p:nvSpPr>
        <p:spPr/>
        <p:txBody>
          <a:bodyPr/>
          <a:lstStyle/>
          <a:p>
            <a:fld id="{0B1B59A6-B74A-41AA-9EF6-238F4BE8BA53}" type="slidenum">
              <a:rPr lang="en-CA" smtClean="0"/>
              <a:t>‹#›</a:t>
            </a:fld>
            <a:endParaRPr lang="en-CA"/>
          </a:p>
        </p:txBody>
      </p:sp>
      <p:sp>
        <p:nvSpPr>
          <p:cNvPr id="3" name="Content Placeholder 2">
            <a:extLst>
              <a:ext uri="{FF2B5EF4-FFF2-40B4-BE49-F238E27FC236}">
                <a16:creationId xmlns:a16="http://schemas.microsoft.com/office/drawing/2014/main" id="{420DBB1C-A9EF-DAE0-11AE-653661648FF8}"/>
              </a:ext>
            </a:extLst>
          </p:cNvPr>
          <p:cNvSpPr>
            <a:spLocks noGrp="1"/>
          </p:cNvSpPr>
          <p:nvPr>
            <p:ph idx="1"/>
          </p:nvPr>
        </p:nvSpPr>
        <p:spPr>
          <a:xfrm>
            <a:off x="574365" y="1243584"/>
            <a:ext cx="5330952" cy="1246495"/>
          </a:xfrm>
        </p:spPr>
        <p:txBody>
          <a:bodyPr/>
          <a:lstStyle>
            <a:lvl1pPr>
              <a:spcAft>
                <a:spcPts val="600"/>
              </a:spcAft>
              <a:defRPr sz="1800"/>
            </a:lvl1pPr>
            <a:lvl2pPr>
              <a:spcAft>
                <a:spcPts val="600"/>
              </a:spcAft>
              <a:defRPr>
                <a:solidFill>
                  <a:srgbClr val="000000"/>
                </a:solidFill>
              </a:defRPr>
            </a:lvl2pPr>
            <a:lvl3pPr marL="514350" indent="-173038">
              <a:spcAft>
                <a:spcPts val="600"/>
              </a:spcAft>
              <a:buFont typeface="Trust Hartford Sans" pitchFamily="50" charset="0"/>
              <a:buChar char="»"/>
              <a:defRPr sz="1600">
                <a:solidFill>
                  <a:srgbClr val="000000"/>
                </a:solidFill>
              </a:defRPr>
            </a:lvl3pPr>
            <a:lvl4pPr marL="800100" indent="-227013">
              <a:spcAft>
                <a:spcPts val="600"/>
              </a:spcAft>
              <a:buFont typeface="Trust Hartford Sans" pitchFamily="50" charset="0"/>
              <a:buChar char="—"/>
              <a:defRPr sz="1400">
                <a:solidFill>
                  <a:srgbClr val="000000"/>
                </a:solidFill>
              </a:defRPr>
            </a:lvl4pPr>
            <a:lvl5pPr marL="800100" indent="0">
              <a:buNone/>
              <a:defRPr/>
            </a:lvl5pPr>
            <a:lvl6pPr marL="1141413" indent="0">
              <a:defRPr/>
            </a:lvl6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37B173D2-691F-C1A6-428C-0D01945A09EA}"/>
              </a:ext>
            </a:extLst>
          </p:cNvPr>
          <p:cNvSpPr>
            <a:spLocks noGrp="1"/>
          </p:cNvSpPr>
          <p:nvPr>
            <p:ph idx="13"/>
          </p:nvPr>
        </p:nvSpPr>
        <p:spPr>
          <a:xfrm>
            <a:off x="6291072" y="1243584"/>
            <a:ext cx="5330952" cy="1246495"/>
          </a:xfrm>
        </p:spPr>
        <p:txBody>
          <a:bodyPr/>
          <a:lstStyle>
            <a:lvl1pPr>
              <a:spcAft>
                <a:spcPts val="600"/>
              </a:spcAft>
              <a:defRPr sz="1800"/>
            </a:lvl1pPr>
            <a:lvl2pPr>
              <a:spcAft>
                <a:spcPts val="600"/>
              </a:spcAft>
              <a:defRPr>
                <a:solidFill>
                  <a:srgbClr val="000000"/>
                </a:solidFill>
              </a:defRPr>
            </a:lvl2pPr>
            <a:lvl3pPr marL="514350" indent="-173038">
              <a:spcAft>
                <a:spcPts val="600"/>
              </a:spcAft>
              <a:buFont typeface="Trust Hartford Sans" pitchFamily="50" charset="0"/>
              <a:buChar char="»"/>
              <a:defRPr sz="1600">
                <a:solidFill>
                  <a:srgbClr val="000000"/>
                </a:solidFill>
              </a:defRPr>
            </a:lvl3pPr>
            <a:lvl4pPr marL="800100" indent="-227013">
              <a:spcAft>
                <a:spcPts val="600"/>
              </a:spcAft>
              <a:buFont typeface="Trust Hartford Sans" pitchFamily="50" charset="0"/>
              <a:buChar char="—"/>
              <a:defRPr sz="1400">
                <a:solidFill>
                  <a:srgbClr val="000000"/>
                </a:solidFill>
              </a:defRPr>
            </a:lvl4pPr>
            <a:lvl5pPr marL="800100" indent="0">
              <a:buNone/>
              <a:defRPr/>
            </a:lvl5pPr>
            <a:lvl6pPr marL="1141413" indent="0">
              <a:defRPr/>
            </a:lvl6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6981527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18DA2-AAE8-4B6F-B4D9-2F1E68B87E4B}"/>
              </a:ext>
            </a:extLst>
          </p:cNvPr>
          <p:cNvSpPr>
            <a:spLocks noGrp="1"/>
          </p:cNvSpPr>
          <p:nvPr>
            <p:ph type="title"/>
          </p:nvPr>
        </p:nvSpPr>
        <p:spPr>
          <a:xfrm>
            <a:off x="574364" y="360233"/>
            <a:ext cx="8229600" cy="424412"/>
          </a:xfrm>
        </p:spPr>
        <p:txBody>
          <a:bodyPr/>
          <a:lstStyle/>
          <a:p>
            <a:r>
              <a:rPr lang="en-US"/>
              <a:t>Click to edit Master title style</a:t>
            </a:r>
            <a:endParaRPr lang="en-CA"/>
          </a:p>
        </p:txBody>
      </p:sp>
      <p:sp>
        <p:nvSpPr>
          <p:cNvPr id="7" name="Slide Number Placeholder 4">
            <a:extLst>
              <a:ext uri="{FF2B5EF4-FFF2-40B4-BE49-F238E27FC236}">
                <a16:creationId xmlns:a16="http://schemas.microsoft.com/office/drawing/2014/main" id="{5D500DE7-045D-4A18-8256-BE411146E636}"/>
              </a:ext>
            </a:extLst>
          </p:cNvPr>
          <p:cNvSpPr>
            <a:spLocks noGrp="1"/>
          </p:cNvSpPr>
          <p:nvPr>
            <p:ph type="sldNum" sz="quarter" idx="12"/>
          </p:nvPr>
        </p:nvSpPr>
        <p:spPr/>
        <p:txBody>
          <a:bodyPr/>
          <a:lstStyle/>
          <a:p>
            <a:fld id="{0B1B59A6-B74A-41AA-9EF6-238F4BE8BA53}" type="slidenum">
              <a:rPr lang="en-CA" smtClean="0"/>
              <a:t>‹#›</a:t>
            </a:fld>
            <a:endParaRPr lang="en-CA"/>
          </a:p>
        </p:txBody>
      </p:sp>
      <p:sp>
        <p:nvSpPr>
          <p:cNvPr id="5" name="Text Placeholder 2">
            <a:extLst>
              <a:ext uri="{FF2B5EF4-FFF2-40B4-BE49-F238E27FC236}">
                <a16:creationId xmlns:a16="http://schemas.microsoft.com/office/drawing/2014/main" id="{B8492F97-92F8-20F8-00BB-E9BD6972F89D}"/>
              </a:ext>
            </a:extLst>
          </p:cNvPr>
          <p:cNvSpPr>
            <a:spLocks noGrp="1"/>
          </p:cNvSpPr>
          <p:nvPr>
            <p:ph idx="13" hasCustomPrompt="1"/>
          </p:nvPr>
        </p:nvSpPr>
        <p:spPr>
          <a:xfrm>
            <a:off x="566928" y="1261872"/>
            <a:ext cx="5321808" cy="1553952"/>
          </a:xfrm>
          <a:prstGeom prst="rect">
            <a:avLst/>
          </a:prstGeom>
          <a:ln w="19050">
            <a:solidFill>
              <a:srgbClr val="FE3082"/>
            </a:solidFill>
          </a:ln>
        </p:spPr>
        <p:txBody>
          <a:bodyPr vert="horz" wrap="square" lIns="237744" tIns="219456" rIns="219456" bIns="219456" rtlCol="0">
            <a:spAutoFit/>
          </a:bodyPr>
          <a:lstStyle>
            <a:lvl5pPr marL="573087" indent="0">
              <a:buNone/>
              <a:defRPr/>
            </a:lvl5p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E73D2F27-D700-CBBA-59A7-E59114C4F622}"/>
              </a:ext>
            </a:extLst>
          </p:cNvPr>
          <p:cNvSpPr>
            <a:spLocks noGrp="1"/>
          </p:cNvSpPr>
          <p:nvPr>
            <p:ph idx="14" hasCustomPrompt="1"/>
          </p:nvPr>
        </p:nvSpPr>
        <p:spPr>
          <a:xfrm>
            <a:off x="6291867" y="1261872"/>
            <a:ext cx="5321808" cy="1553952"/>
          </a:xfrm>
          <a:prstGeom prst="rect">
            <a:avLst/>
          </a:prstGeom>
          <a:ln w="19050">
            <a:solidFill>
              <a:srgbClr val="FE3082"/>
            </a:solidFill>
          </a:ln>
        </p:spPr>
        <p:txBody>
          <a:bodyPr vert="horz" wrap="square" lIns="237744" tIns="219456" rIns="219456" bIns="219456" rtlCol="0">
            <a:spAutoFit/>
          </a:bodyPr>
          <a:lstStyle>
            <a:lvl5pPr marL="573087"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420116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hree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18DA2-AAE8-4B6F-B4D9-2F1E68B87E4B}"/>
              </a:ext>
            </a:extLst>
          </p:cNvPr>
          <p:cNvSpPr>
            <a:spLocks noGrp="1"/>
          </p:cNvSpPr>
          <p:nvPr>
            <p:ph type="title"/>
          </p:nvPr>
        </p:nvSpPr>
        <p:spPr>
          <a:xfrm>
            <a:off x="574363" y="360233"/>
            <a:ext cx="8229600" cy="424412"/>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1BC7FDE2-4874-4984-957C-A70C053DC5B3}"/>
              </a:ext>
            </a:extLst>
          </p:cNvPr>
          <p:cNvSpPr>
            <a:spLocks noGrp="1"/>
          </p:cNvSpPr>
          <p:nvPr>
            <p:ph type="body" sz="half" idx="1"/>
          </p:nvPr>
        </p:nvSpPr>
        <p:spPr>
          <a:xfrm>
            <a:off x="566928" y="1261872"/>
            <a:ext cx="3438144" cy="1079655"/>
          </a:xfrm>
          <a:noFill/>
          <a:ln w="19050">
            <a:solidFill>
              <a:srgbClr val="FE3082"/>
            </a:solidFill>
            <a:miter lim="800000"/>
          </a:ln>
        </p:spPr>
        <p:style>
          <a:lnRef idx="2">
            <a:schemeClr val="accent2"/>
          </a:lnRef>
          <a:fillRef idx="1">
            <a:schemeClr val="lt1"/>
          </a:fillRef>
          <a:effectRef idx="0">
            <a:schemeClr val="accent2"/>
          </a:effectRef>
          <a:fontRef idx="minor">
            <a:schemeClr val="dk1"/>
          </a:fontRef>
        </p:style>
        <p:txBody>
          <a:bodyPr lIns="237744" tIns="219456" rIns="219456" bIns="219456"/>
          <a:lstStyle>
            <a:lvl1pPr>
              <a:spcAft>
                <a:spcPts val="600"/>
              </a:spcAft>
              <a:defRPr>
                <a:solidFill>
                  <a:srgbClr val="000000"/>
                </a:solidFill>
              </a:defRPr>
            </a:lvl1pPr>
            <a:lvl2pPr>
              <a:lnSpc>
                <a:spcPct val="100000"/>
              </a:lnSpc>
              <a:spcAft>
                <a:spcPts val="600"/>
              </a:spcAft>
              <a:defRPr>
                <a:solidFill>
                  <a:srgbClr val="000000"/>
                </a:solidFill>
                <a:latin typeface="Trust Hartford Sans Light" pitchFamily="50" charset="0"/>
              </a:defRPr>
            </a:lvl2pPr>
            <a:lvl3pPr marL="0" indent="0">
              <a:lnSpc>
                <a:spcPct val="104000"/>
              </a:lnSpc>
              <a:spcAft>
                <a:spcPts val="1200"/>
              </a:spcAft>
              <a:buFontTx/>
              <a:buNone/>
              <a:defRPr sz="1200">
                <a:solidFill>
                  <a:srgbClr val="000000"/>
                </a:solidFill>
              </a:defRPr>
            </a:lvl3pPr>
          </a:lstStyle>
          <a:p>
            <a:pPr lvl="0"/>
            <a:r>
              <a:rPr lang="en-US"/>
              <a:t>Click to edit Master text styles</a:t>
            </a:r>
          </a:p>
          <a:p>
            <a:pPr lvl="1"/>
            <a:r>
              <a:rPr lang="en-US"/>
              <a:t>Second level</a:t>
            </a:r>
          </a:p>
        </p:txBody>
      </p:sp>
      <p:sp>
        <p:nvSpPr>
          <p:cNvPr id="4" name="Text Placeholder 3">
            <a:extLst>
              <a:ext uri="{FF2B5EF4-FFF2-40B4-BE49-F238E27FC236}">
                <a16:creationId xmlns:a16="http://schemas.microsoft.com/office/drawing/2014/main" id="{EEF69BCF-89CC-495E-BB4D-B7C17F10C804}"/>
              </a:ext>
            </a:extLst>
          </p:cNvPr>
          <p:cNvSpPr>
            <a:spLocks noGrp="1"/>
          </p:cNvSpPr>
          <p:nvPr>
            <p:ph type="body" sz="half" idx="2"/>
          </p:nvPr>
        </p:nvSpPr>
        <p:spPr>
          <a:xfrm>
            <a:off x="4374327" y="1261872"/>
            <a:ext cx="3438144" cy="1079655"/>
          </a:xfrm>
          <a:noFill/>
          <a:ln w="19050">
            <a:solidFill>
              <a:srgbClr val="FE3082"/>
            </a:solidFill>
            <a:miter lim="800000"/>
          </a:ln>
        </p:spPr>
        <p:style>
          <a:lnRef idx="2">
            <a:schemeClr val="accent2"/>
          </a:lnRef>
          <a:fillRef idx="1">
            <a:schemeClr val="lt1"/>
          </a:fillRef>
          <a:effectRef idx="0">
            <a:schemeClr val="accent2"/>
          </a:effectRef>
          <a:fontRef idx="minor">
            <a:schemeClr val="dk1"/>
          </a:fontRef>
        </p:style>
        <p:txBody>
          <a:bodyPr lIns="237744" tIns="219456" rIns="219456" bIns="219456"/>
          <a:lstStyle>
            <a:lvl1pPr>
              <a:spcAft>
                <a:spcPts val="600"/>
              </a:spcAft>
              <a:defRPr>
                <a:solidFill>
                  <a:srgbClr val="000000"/>
                </a:solidFill>
              </a:defRPr>
            </a:lvl1pPr>
            <a:lvl2pPr>
              <a:lnSpc>
                <a:spcPct val="100000"/>
              </a:lnSpc>
              <a:spcAft>
                <a:spcPts val="600"/>
              </a:spcAft>
              <a:defRPr>
                <a:solidFill>
                  <a:srgbClr val="000000"/>
                </a:solidFill>
                <a:latin typeface="Trust Hartford Sans Light" pitchFamily="50" charset="0"/>
              </a:defRPr>
            </a:lvl2pPr>
            <a:lvl3pPr marL="0" indent="0">
              <a:lnSpc>
                <a:spcPct val="104000"/>
              </a:lnSpc>
              <a:spcAft>
                <a:spcPts val="1200"/>
              </a:spcAft>
              <a:buFontTx/>
              <a:buNone/>
              <a:defRPr sz="1200">
                <a:solidFill>
                  <a:srgbClr val="000000"/>
                </a:solidFill>
              </a:defRPr>
            </a:lvl3pPr>
          </a:lstStyle>
          <a:p>
            <a:pPr lvl="0"/>
            <a:r>
              <a:rPr lang="en-US"/>
              <a:t>Click to edit Master text styles</a:t>
            </a:r>
          </a:p>
          <a:p>
            <a:pPr lvl="1"/>
            <a:r>
              <a:rPr lang="en-US"/>
              <a:t>Second level</a:t>
            </a:r>
          </a:p>
        </p:txBody>
      </p:sp>
      <p:sp>
        <p:nvSpPr>
          <p:cNvPr id="8" name="Text Placeholder 4">
            <a:extLst>
              <a:ext uri="{FF2B5EF4-FFF2-40B4-BE49-F238E27FC236}">
                <a16:creationId xmlns:a16="http://schemas.microsoft.com/office/drawing/2014/main" id="{34249539-7309-53CA-83C2-E24EC1C7717E}"/>
              </a:ext>
            </a:extLst>
          </p:cNvPr>
          <p:cNvSpPr>
            <a:spLocks noGrp="1"/>
          </p:cNvSpPr>
          <p:nvPr>
            <p:ph type="body" sz="half" idx="13"/>
          </p:nvPr>
        </p:nvSpPr>
        <p:spPr>
          <a:xfrm>
            <a:off x="8181726" y="1261872"/>
            <a:ext cx="3438144" cy="1079655"/>
          </a:xfrm>
          <a:noFill/>
          <a:ln w="19050">
            <a:solidFill>
              <a:srgbClr val="FE3082"/>
            </a:solidFill>
            <a:miter lim="800000"/>
          </a:ln>
        </p:spPr>
        <p:style>
          <a:lnRef idx="2">
            <a:schemeClr val="accent2"/>
          </a:lnRef>
          <a:fillRef idx="1">
            <a:schemeClr val="lt1"/>
          </a:fillRef>
          <a:effectRef idx="0">
            <a:schemeClr val="accent2"/>
          </a:effectRef>
          <a:fontRef idx="minor">
            <a:schemeClr val="dk1"/>
          </a:fontRef>
        </p:style>
        <p:txBody>
          <a:bodyPr lIns="237744" tIns="219456" rIns="219456" bIns="219456"/>
          <a:lstStyle>
            <a:lvl1pPr>
              <a:spcAft>
                <a:spcPts val="600"/>
              </a:spcAft>
              <a:defRPr>
                <a:solidFill>
                  <a:srgbClr val="000000"/>
                </a:solidFill>
              </a:defRPr>
            </a:lvl1pPr>
            <a:lvl2pPr>
              <a:lnSpc>
                <a:spcPct val="100000"/>
              </a:lnSpc>
              <a:spcAft>
                <a:spcPts val="600"/>
              </a:spcAft>
              <a:defRPr>
                <a:solidFill>
                  <a:srgbClr val="000000"/>
                </a:solidFill>
                <a:latin typeface="Trust Hartford Sans Light" pitchFamily="50" charset="0"/>
              </a:defRPr>
            </a:lvl2pPr>
            <a:lvl3pPr marL="0" indent="0">
              <a:lnSpc>
                <a:spcPct val="104000"/>
              </a:lnSpc>
              <a:spcAft>
                <a:spcPts val="1200"/>
              </a:spcAft>
              <a:buFontTx/>
              <a:buNone/>
              <a:defRPr sz="1200">
                <a:solidFill>
                  <a:srgbClr val="000000"/>
                </a:solidFill>
              </a:defRPr>
            </a:lvl3pPr>
          </a:lstStyle>
          <a:p>
            <a:pPr lvl="0"/>
            <a:r>
              <a:rPr lang="en-US"/>
              <a:t>Click to edit Master text styles</a:t>
            </a:r>
          </a:p>
          <a:p>
            <a:pPr lvl="1"/>
            <a:r>
              <a:rPr lang="en-US"/>
              <a:t>Second level</a:t>
            </a:r>
          </a:p>
        </p:txBody>
      </p:sp>
      <p:sp>
        <p:nvSpPr>
          <p:cNvPr id="7" name="Slide Number Placeholder 5">
            <a:extLst>
              <a:ext uri="{FF2B5EF4-FFF2-40B4-BE49-F238E27FC236}">
                <a16:creationId xmlns:a16="http://schemas.microsoft.com/office/drawing/2014/main" id="{5D500DE7-045D-4A18-8256-BE411146E636}"/>
              </a:ext>
            </a:extLst>
          </p:cNvPr>
          <p:cNvSpPr>
            <a:spLocks noGrp="1"/>
          </p:cNvSpPr>
          <p:nvPr>
            <p:ph type="sldNum" sz="quarter" idx="12"/>
          </p:nvPr>
        </p:nvSpPr>
        <p:spPr/>
        <p:txBody>
          <a:bodyPr/>
          <a:lstStyle/>
          <a:p>
            <a:fld id="{0B1B59A6-B74A-41AA-9EF6-238F4BE8BA53}" type="slidenum">
              <a:rPr lang="en-CA" smtClean="0"/>
              <a:t>‹#›</a:t>
            </a:fld>
            <a:endParaRPr lang="en-CA"/>
          </a:p>
        </p:txBody>
      </p:sp>
    </p:spTree>
    <p:extLst>
      <p:ext uri="{BB962C8B-B14F-4D97-AF65-F5344CB8AC3E}">
        <p14:creationId xmlns:p14="http://schemas.microsoft.com/office/powerpoint/2010/main" val="23193096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ree Text Stack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18DA2-AAE8-4B6F-B4D9-2F1E68B87E4B}"/>
              </a:ext>
            </a:extLst>
          </p:cNvPr>
          <p:cNvSpPr>
            <a:spLocks noGrp="1"/>
          </p:cNvSpPr>
          <p:nvPr>
            <p:ph type="title"/>
          </p:nvPr>
        </p:nvSpPr>
        <p:spPr/>
        <p:txBody>
          <a:bodyPr/>
          <a:lstStyle/>
          <a:p>
            <a:r>
              <a:rPr lang="en-US"/>
              <a:t>Click to edit Master title style</a:t>
            </a:r>
            <a:endParaRPr lang="en-CA"/>
          </a:p>
        </p:txBody>
      </p:sp>
      <p:sp>
        <p:nvSpPr>
          <p:cNvPr id="7" name="Slide Number Placeholder 5">
            <a:extLst>
              <a:ext uri="{FF2B5EF4-FFF2-40B4-BE49-F238E27FC236}">
                <a16:creationId xmlns:a16="http://schemas.microsoft.com/office/drawing/2014/main" id="{5D500DE7-045D-4A18-8256-BE411146E636}"/>
              </a:ext>
            </a:extLst>
          </p:cNvPr>
          <p:cNvSpPr>
            <a:spLocks noGrp="1"/>
          </p:cNvSpPr>
          <p:nvPr>
            <p:ph type="sldNum" sz="quarter" idx="12"/>
          </p:nvPr>
        </p:nvSpPr>
        <p:spPr/>
        <p:txBody>
          <a:bodyPr/>
          <a:lstStyle/>
          <a:p>
            <a:fld id="{0B1B59A6-B74A-41AA-9EF6-238F4BE8BA53}" type="slidenum">
              <a:rPr lang="en-CA" smtClean="0"/>
              <a:t>‹#›</a:t>
            </a:fld>
            <a:endParaRPr lang="en-CA"/>
          </a:p>
        </p:txBody>
      </p:sp>
      <p:sp>
        <p:nvSpPr>
          <p:cNvPr id="5" name="Text Placeholder 2">
            <a:extLst>
              <a:ext uri="{FF2B5EF4-FFF2-40B4-BE49-F238E27FC236}">
                <a16:creationId xmlns:a16="http://schemas.microsoft.com/office/drawing/2014/main" id="{BC7A69BD-4F3D-CA03-42E4-8A8EDC5D4F75}"/>
              </a:ext>
            </a:extLst>
          </p:cNvPr>
          <p:cNvSpPr>
            <a:spLocks noGrp="1"/>
          </p:cNvSpPr>
          <p:nvPr>
            <p:ph type="body" sz="half" idx="14"/>
          </p:nvPr>
        </p:nvSpPr>
        <p:spPr>
          <a:xfrm>
            <a:off x="566928" y="1261872"/>
            <a:ext cx="11055096" cy="1079655"/>
          </a:xfrm>
          <a:noFill/>
          <a:ln w="19050">
            <a:solidFill>
              <a:srgbClr val="FE3082"/>
            </a:solidFill>
            <a:miter lim="800000"/>
          </a:ln>
        </p:spPr>
        <p:style>
          <a:lnRef idx="2">
            <a:schemeClr val="accent2"/>
          </a:lnRef>
          <a:fillRef idx="1">
            <a:schemeClr val="lt1"/>
          </a:fillRef>
          <a:effectRef idx="0">
            <a:schemeClr val="accent2"/>
          </a:effectRef>
          <a:fontRef idx="minor">
            <a:schemeClr val="dk1"/>
          </a:fontRef>
        </p:style>
        <p:txBody>
          <a:bodyPr lIns="237744" tIns="219456" rIns="219456" bIns="219456"/>
          <a:lstStyle>
            <a:lvl1pPr>
              <a:spcAft>
                <a:spcPts val="600"/>
              </a:spcAft>
              <a:defRPr>
                <a:solidFill>
                  <a:srgbClr val="000000"/>
                </a:solidFill>
              </a:defRPr>
            </a:lvl1pPr>
            <a:lvl2pPr>
              <a:lnSpc>
                <a:spcPct val="100000"/>
              </a:lnSpc>
              <a:spcAft>
                <a:spcPts val="600"/>
              </a:spcAft>
              <a:defRPr>
                <a:solidFill>
                  <a:srgbClr val="000000"/>
                </a:solidFill>
                <a:latin typeface="Trust Hartford Sans Light" pitchFamily="50" charset="0"/>
              </a:defRPr>
            </a:lvl2pPr>
            <a:lvl3pPr marL="0" indent="0">
              <a:lnSpc>
                <a:spcPct val="104000"/>
              </a:lnSpc>
              <a:spcAft>
                <a:spcPts val="1200"/>
              </a:spcAft>
              <a:buFontTx/>
              <a:buNone/>
              <a:defRPr sz="1200">
                <a:solidFill>
                  <a:srgbClr val="000000"/>
                </a:solidFill>
              </a:defRPr>
            </a:lvl3pPr>
          </a:lstStyle>
          <a:p>
            <a:pPr lvl="0"/>
            <a:r>
              <a:rPr lang="en-US"/>
              <a:t>Click to edit Master text styles</a:t>
            </a:r>
          </a:p>
          <a:p>
            <a:pPr lvl="1"/>
            <a:r>
              <a:rPr lang="en-US"/>
              <a:t>Second level</a:t>
            </a:r>
          </a:p>
        </p:txBody>
      </p:sp>
      <p:sp>
        <p:nvSpPr>
          <p:cNvPr id="6" name="Text Placeholder 2">
            <a:extLst>
              <a:ext uri="{FF2B5EF4-FFF2-40B4-BE49-F238E27FC236}">
                <a16:creationId xmlns:a16="http://schemas.microsoft.com/office/drawing/2014/main" id="{2CB44951-A185-95B8-0E3F-26D343020BC1}"/>
              </a:ext>
            </a:extLst>
          </p:cNvPr>
          <p:cNvSpPr>
            <a:spLocks noGrp="1"/>
          </p:cNvSpPr>
          <p:nvPr>
            <p:ph type="body" sz="half" idx="15"/>
          </p:nvPr>
        </p:nvSpPr>
        <p:spPr>
          <a:xfrm>
            <a:off x="566928" y="3004045"/>
            <a:ext cx="11055096" cy="1079655"/>
          </a:xfrm>
          <a:noFill/>
          <a:ln w="19050">
            <a:solidFill>
              <a:srgbClr val="FE3082"/>
            </a:solidFill>
            <a:miter lim="800000"/>
          </a:ln>
        </p:spPr>
        <p:style>
          <a:lnRef idx="2">
            <a:schemeClr val="accent2"/>
          </a:lnRef>
          <a:fillRef idx="1">
            <a:schemeClr val="lt1"/>
          </a:fillRef>
          <a:effectRef idx="0">
            <a:schemeClr val="accent2"/>
          </a:effectRef>
          <a:fontRef idx="minor">
            <a:schemeClr val="dk1"/>
          </a:fontRef>
        </p:style>
        <p:txBody>
          <a:bodyPr lIns="237744" tIns="219456" rIns="219456" bIns="219456"/>
          <a:lstStyle>
            <a:lvl1pPr>
              <a:spcAft>
                <a:spcPts val="600"/>
              </a:spcAft>
              <a:defRPr>
                <a:solidFill>
                  <a:srgbClr val="000000"/>
                </a:solidFill>
              </a:defRPr>
            </a:lvl1pPr>
            <a:lvl2pPr>
              <a:lnSpc>
                <a:spcPct val="100000"/>
              </a:lnSpc>
              <a:spcAft>
                <a:spcPts val="600"/>
              </a:spcAft>
              <a:defRPr>
                <a:solidFill>
                  <a:srgbClr val="000000"/>
                </a:solidFill>
                <a:latin typeface="Trust Hartford Sans Light" pitchFamily="50" charset="0"/>
              </a:defRPr>
            </a:lvl2pPr>
            <a:lvl3pPr marL="0" indent="0">
              <a:lnSpc>
                <a:spcPct val="104000"/>
              </a:lnSpc>
              <a:spcAft>
                <a:spcPts val="1200"/>
              </a:spcAft>
              <a:buFontTx/>
              <a:buNone/>
              <a:defRPr sz="1200">
                <a:solidFill>
                  <a:srgbClr val="000000"/>
                </a:solidFill>
              </a:defRPr>
            </a:lvl3pPr>
          </a:lstStyle>
          <a:p>
            <a:pPr lvl="0"/>
            <a:r>
              <a:rPr lang="en-US"/>
              <a:t>Click to edit Master text styles</a:t>
            </a:r>
          </a:p>
          <a:p>
            <a:pPr lvl="1"/>
            <a:r>
              <a:rPr lang="en-US"/>
              <a:t>Second level</a:t>
            </a:r>
          </a:p>
        </p:txBody>
      </p:sp>
      <p:sp>
        <p:nvSpPr>
          <p:cNvPr id="9" name="Text Placeholder 2">
            <a:extLst>
              <a:ext uri="{FF2B5EF4-FFF2-40B4-BE49-F238E27FC236}">
                <a16:creationId xmlns:a16="http://schemas.microsoft.com/office/drawing/2014/main" id="{9AEA9B09-0448-7261-D8A5-C1EB7AF72AF7}"/>
              </a:ext>
            </a:extLst>
          </p:cNvPr>
          <p:cNvSpPr>
            <a:spLocks noGrp="1"/>
          </p:cNvSpPr>
          <p:nvPr>
            <p:ph type="body" sz="half" idx="16"/>
          </p:nvPr>
        </p:nvSpPr>
        <p:spPr>
          <a:xfrm>
            <a:off x="566928" y="4736592"/>
            <a:ext cx="11055096" cy="1079655"/>
          </a:xfrm>
          <a:noFill/>
          <a:ln w="19050">
            <a:solidFill>
              <a:srgbClr val="FE3082"/>
            </a:solidFill>
            <a:miter lim="800000"/>
          </a:ln>
        </p:spPr>
        <p:style>
          <a:lnRef idx="2">
            <a:schemeClr val="accent2"/>
          </a:lnRef>
          <a:fillRef idx="1">
            <a:schemeClr val="lt1"/>
          </a:fillRef>
          <a:effectRef idx="0">
            <a:schemeClr val="accent2"/>
          </a:effectRef>
          <a:fontRef idx="minor">
            <a:schemeClr val="dk1"/>
          </a:fontRef>
        </p:style>
        <p:txBody>
          <a:bodyPr lIns="237744" tIns="219456" rIns="219456" bIns="219456"/>
          <a:lstStyle>
            <a:lvl1pPr>
              <a:spcAft>
                <a:spcPts val="600"/>
              </a:spcAft>
              <a:defRPr>
                <a:solidFill>
                  <a:srgbClr val="000000"/>
                </a:solidFill>
              </a:defRPr>
            </a:lvl1pPr>
            <a:lvl2pPr>
              <a:lnSpc>
                <a:spcPct val="100000"/>
              </a:lnSpc>
              <a:spcAft>
                <a:spcPts val="600"/>
              </a:spcAft>
              <a:defRPr>
                <a:solidFill>
                  <a:srgbClr val="000000"/>
                </a:solidFill>
                <a:latin typeface="Trust Hartford Sans Light" pitchFamily="50" charset="0"/>
              </a:defRPr>
            </a:lvl2pPr>
            <a:lvl3pPr marL="0" indent="0">
              <a:lnSpc>
                <a:spcPct val="104000"/>
              </a:lnSpc>
              <a:spcAft>
                <a:spcPts val="1200"/>
              </a:spcAft>
              <a:buFontTx/>
              <a:buNone/>
              <a:defRPr sz="1200">
                <a:solidFill>
                  <a:srgbClr val="000000"/>
                </a:solidFill>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188701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6CDEC52-F600-0269-4368-DD9444773D88}"/>
              </a:ext>
            </a:extLst>
          </p:cNvPr>
          <p:cNvSpPr>
            <a:spLocks noGrp="1"/>
          </p:cNvSpPr>
          <p:nvPr>
            <p:ph type="title" hasCustomPrompt="1"/>
          </p:nvPr>
        </p:nvSpPr>
        <p:spPr>
          <a:xfrm>
            <a:off x="446060" y="365126"/>
            <a:ext cx="5459439" cy="424412"/>
          </a:xfrm>
        </p:spPr>
        <p:txBody>
          <a:bodyPr/>
          <a:lstStyle>
            <a:lvl1pPr marL="118872" indent="-118872">
              <a:defRPr>
                <a:solidFill>
                  <a:srgbClr val="000000"/>
                </a:solidFill>
              </a:defRPr>
            </a:lvl1pPr>
          </a:lstStyle>
          <a:p>
            <a:r>
              <a:rPr lang="en-CA"/>
              <a:t>“</a:t>
            </a:r>
            <a:r>
              <a:rPr lang="en-US"/>
              <a:t>Quotation”</a:t>
            </a:r>
          </a:p>
        </p:txBody>
      </p:sp>
      <p:sp>
        <p:nvSpPr>
          <p:cNvPr id="4" name="Text Placeholder 2">
            <a:extLst>
              <a:ext uri="{FF2B5EF4-FFF2-40B4-BE49-F238E27FC236}">
                <a16:creationId xmlns:a16="http://schemas.microsoft.com/office/drawing/2014/main" id="{C993DBCC-185E-416E-B7BD-18744CEB0507}"/>
              </a:ext>
            </a:extLst>
          </p:cNvPr>
          <p:cNvSpPr>
            <a:spLocks noGrp="1"/>
          </p:cNvSpPr>
          <p:nvPr>
            <p:ph type="body" sz="half" idx="2" hasCustomPrompt="1"/>
          </p:nvPr>
        </p:nvSpPr>
        <p:spPr>
          <a:xfrm>
            <a:off x="574646" y="2854018"/>
            <a:ext cx="5340381" cy="186526"/>
          </a:xfrm>
        </p:spPr>
        <p:txBody>
          <a:bodyPr>
            <a:spAutoFit/>
          </a:bodyPr>
          <a:lstStyle>
            <a:lvl1pPr marL="0" indent="0">
              <a:spcAft>
                <a:spcPts val="0"/>
              </a:spcAft>
              <a:buNone/>
              <a:defRPr sz="12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 Attribution</a:t>
            </a:r>
          </a:p>
        </p:txBody>
      </p:sp>
      <p:sp>
        <p:nvSpPr>
          <p:cNvPr id="3" name="Picture Placeholder 3">
            <a:extLst>
              <a:ext uri="{FF2B5EF4-FFF2-40B4-BE49-F238E27FC236}">
                <a16:creationId xmlns:a16="http://schemas.microsoft.com/office/drawing/2014/main" id="{9E747D10-7BBB-4A01-8B0C-E01972CC50A4}"/>
              </a:ext>
            </a:extLst>
          </p:cNvPr>
          <p:cNvSpPr>
            <a:spLocks noGrp="1"/>
          </p:cNvSpPr>
          <p:nvPr>
            <p:ph type="pic" idx="1"/>
          </p:nvPr>
        </p:nvSpPr>
        <p:spPr>
          <a:xfrm>
            <a:off x="6286503" y="-9144"/>
            <a:ext cx="5916912" cy="6876288"/>
          </a:xfrm>
          <a:solidFill>
            <a:schemeClr val="bg1">
              <a:lumMod val="95000"/>
            </a:schemeClr>
          </a:solidFill>
        </p:spPr>
        <p:txBody>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CA"/>
          </a:p>
        </p:txBody>
      </p:sp>
      <p:sp>
        <p:nvSpPr>
          <p:cNvPr id="7" name="Slide Number Placeholder 4">
            <a:extLst>
              <a:ext uri="{FF2B5EF4-FFF2-40B4-BE49-F238E27FC236}">
                <a16:creationId xmlns:a16="http://schemas.microsoft.com/office/drawing/2014/main" id="{216E81AB-9F50-4889-B893-55C34359097E}"/>
              </a:ext>
            </a:extLst>
          </p:cNvPr>
          <p:cNvSpPr>
            <a:spLocks noGrp="1"/>
          </p:cNvSpPr>
          <p:nvPr>
            <p:ph type="sldNum" sz="quarter" idx="12"/>
          </p:nvPr>
        </p:nvSpPr>
        <p:spPr/>
        <p:txBody>
          <a:bodyPr/>
          <a:lstStyle/>
          <a:p>
            <a:fld id="{0B1B59A6-B74A-41AA-9EF6-238F4BE8BA53}" type="slidenum">
              <a:rPr lang="en-CA" smtClean="0"/>
              <a:t>‹#›</a:t>
            </a:fld>
            <a:endParaRPr lang="en-CA"/>
          </a:p>
        </p:txBody>
      </p:sp>
      <p:sp>
        <p:nvSpPr>
          <p:cNvPr id="5" name="Date Placeholder 6" hidden="1">
            <a:extLst>
              <a:ext uri="{FF2B5EF4-FFF2-40B4-BE49-F238E27FC236}">
                <a16:creationId xmlns:a16="http://schemas.microsoft.com/office/drawing/2014/main" id="{804C3198-7A9B-44D5-BEDF-235235F88953}"/>
              </a:ext>
            </a:extLst>
          </p:cNvPr>
          <p:cNvSpPr>
            <a:spLocks noGrp="1"/>
          </p:cNvSpPr>
          <p:nvPr>
            <p:ph type="dt" sz="half" idx="10"/>
          </p:nvPr>
        </p:nvSpPr>
        <p:spPr>
          <a:xfrm>
            <a:off x="9805986" y="6491950"/>
            <a:ext cx="1809562" cy="182880"/>
          </a:xfrm>
          <a:prstGeom prst="rect">
            <a:avLst/>
          </a:prstGeom>
        </p:spPr>
        <p:txBody>
          <a:bodyPr/>
          <a:lstStyle/>
          <a:p>
            <a:fld id="{A6DBBAA9-92F7-4B04-B157-6831738AC82A}" type="datetime4">
              <a:rPr lang="en-US" smtClean="0"/>
              <a:t>August 17, 2026</a:t>
            </a:fld>
            <a:endParaRPr lang="en-CA"/>
          </a:p>
        </p:txBody>
      </p:sp>
    </p:spTree>
    <p:extLst>
      <p:ext uri="{BB962C8B-B14F-4D97-AF65-F5344CB8AC3E}">
        <p14:creationId xmlns:p14="http://schemas.microsoft.com/office/powerpoint/2010/main" val="23705632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18DA2-AAE8-4B6F-B4D9-2F1E68B87E4B}"/>
              </a:ext>
            </a:extLst>
          </p:cNvPr>
          <p:cNvSpPr>
            <a:spLocks noGrp="1"/>
          </p:cNvSpPr>
          <p:nvPr>
            <p:ph type="title"/>
          </p:nvPr>
        </p:nvSpPr>
        <p:spPr>
          <a:xfrm>
            <a:off x="574364" y="360233"/>
            <a:ext cx="5329427" cy="424412"/>
          </a:xfrm>
        </p:spPr>
        <p:txBody>
          <a:bodyPr/>
          <a:lstStyle/>
          <a:p>
            <a:r>
              <a:rPr lang="en-US"/>
              <a:t>Click to edit Master title style</a:t>
            </a:r>
            <a:endParaRPr lang="en-CA"/>
          </a:p>
        </p:txBody>
      </p:sp>
      <p:sp>
        <p:nvSpPr>
          <p:cNvPr id="10" name="Picture Placeholder 3">
            <a:extLst>
              <a:ext uri="{FF2B5EF4-FFF2-40B4-BE49-F238E27FC236}">
                <a16:creationId xmlns:a16="http://schemas.microsoft.com/office/drawing/2014/main" id="{C1D4DCB7-987B-31A3-0F8D-41041DF92F5A}"/>
              </a:ext>
            </a:extLst>
          </p:cNvPr>
          <p:cNvSpPr>
            <a:spLocks noGrp="1"/>
          </p:cNvSpPr>
          <p:nvPr>
            <p:ph type="pic" idx="13"/>
          </p:nvPr>
        </p:nvSpPr>
        <p:spPr>
          <a:xfrm>
            <a:off x="6286500" y="-9144"/>
            <a:ext cx="5916915" cy="6876288"/>
          </a:xfrm>
          <a:solidFill>
            <a:schemeClr val="bg1">
              <a:lumMod val="95000"/>
            </a:schemeClr>
          </a:solidFill>
        </p:spPr>
        <p:txBody>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CA"/>
          </a:p>
        </p:txBody>
      </p:sp>
      <p:sp>
        <p:nvSpPr>
          <p:cNvPr id="7" name="Slide Number Placeholder 4">
            <a:extLst>
              <a:ext uri="{FF2B5EF4-FFF2-40B4-BE49-F238E27FC236}">
                <a16:creationId xmlns:a16="http://schemas.microsoft.com/office/drawing/2014/main" id="{5D500DE7-045D-4A18-8256-BE411146E636}"/>
              </a:ext>
            </a:extLst>
          </p:cNvPr>
          <p:cNvSpPr>
            <a:spLocks noGrp="1"/>
          </p:cNvSpPr>
          <p:nvPr>
            <p:ph type="sldNum" sz="quarter" idx="12"/>
          </p:nvPr>
        </p:nvSpPr>
        <p:spPr/>
        <p:txBody>
          <a:bodyPr/>
          <a:lstStyle/>
          <a:p>
            <a:fld id="{0B1B59A6-B74A-41AA-9EF6-238F4BE8BA53}" type="slidenum">
              <a:rPr lang="en-CA" smtClean="0"/>
              <a:t>‹#›</a:t>
            </a:fld>
            <a:endParaRPr lang="en-CA"/>
          </a:p>
        </p:txBody>
      </p:sp>
      <p:sp>
        <p:nvSpPr>
          <p:cNvPr id="5" name="Date Placeholder 6" hidden="1">
            <a:extLst>
              <a:ext uri="{FF2B5EF4-FFF2-40B4-BE49-F238E27FC236}">
                <a16:creationId xmlns:a16="http://schemas.microsoft.com/office/drawing/2014/main" id="{7C1CF5EF-6CDE-4837-9334-DEC1BCC59990}"/>
              </a:ext>
            </a:extLst>
          </p:cNvPr>
          <p:cNvSpPr>
            <a:spLocks noGrp="1"/>
          </p:cNvSpPr>
          <p:nvPr>
            <p:ph type="dt" sz="half" idx="10"/>
          </p:nvPr>
        </p:nvSpPr>
        <p:spPr>
          <a:xfrm>
            <a:off x="9805986" y="6491950"/>
            <a:ext cx="1809562" cy="182880"/>
          </a:xfrm>
          <a:prstGeom prst="rect">
            <a:avLst/>
          </a:prstGeom>
        </p:spPr>
        <p:txBody>
          <a:bodyPr/>
          <a:lstStyle/>
          <a:p>
            <a:fld id="{2C55AB44-A465-440F-B1AF-326DFCED3A38}" type="datetime4">
              <a:rPr lang="en-US" smtClean="0"/>
              <a:t>August 17, 2026</a:t>
            </a:fld>
            <a:endParaRPr lang="en-CA"/>
          </a:p>
        </p:txBody>
      </p:sp>
      <p:sp>
        <p:nvSpPr>
          <p:cNvPr id="6" name="Content Placeholder 2">
            <a:extLst>
              <a:ext uri="{FF2B5EF4-FFF2-40B4-BE49-F238E27FC236}">
                <a16:creationId xmlns:a16="http://schemas.microsoft.com/office/drawing/2014/main" id="{AD231B04-DB95-5111-5DBD-92A3D6728554}"/>
              </a:ext>
            </a:extLst>
          </p:cNvPr>
          <p:cNvSpPr>
            <a:spLocks noGrp="1"/>
          </p:cNvSpPr>
          <p:nvPr>
            <p:ph idx="1"/>
          </p:nvPr>
        </p:nvSpPr>
        <p:spPr>
          <a:xfrm>
            <a:off x="574365" y="1243584"/>
            <a:ext cx="5329426" cy="954107"/>
          </a:xfrm>
        </p:spPr>
        <p:txBody>
          <a:bodyPr/>
          <a:lstStyle>
            <a:lvl1pPr>
              <a:defRPr sz="1800"/>
            </a:lvl1pPr>
            <a:lvl2pPr>
              <a:spcAft>
                <a:spcPts val="600"/>
              </a:spcAft>
              <a:defRPr>
                <a:solidFill>
                  <a:srgbClr val="000000"/>
                </a:solidFill>
              </a:defRPr>
            </a:lvl2pPr>
            <a:lvl3pPr marL="514350" indent="-173038">
              <a:buFont typeface="Trust Hartford Sans" pitchFamily="50" charset="0"/>
              <a:buChar char="»"/>
              <a:defRPr sz="1600">
                <a:solidFill>
                  <a:srgbClr val="000000"/>
                </a:solidFill>
              </a:defRPr>
            </a:lvl3pPr>
            <a:lvl4pPr marL="800100" indent="-227013">
              <a:buFont typeface="Trust Hartford Sans" pitchFamily="50" charset="0"/>
              <a:buChar char="—"/>
              <a:defRPr sz="1400">
                <a:solidFill>
                  <a:srgbClr val="000000"/>
                </a:solidFill>
              </a:defRPr>
            </a:lvl4pPr>
            <a:lvl5pPr marL="800100" indent="0">
              <a:buNone/>
              <a:defRPr/>
            </a:lvl5pPr>
            <a:lvl6pPr marL="1141413" indent="0">
              <a:defRPr/>
            </a:lvl6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7886695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and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18DA2-AAE8-4B6F-B4D9-2F1E68B87E4B}"/>
              </a:ext>
            </a:extLst>
          </p:cNvPr>
          <p:cNvSpPr>
            <a:spLocks noGrp="1"/>
          </p:cNvSpPr>
          <p:nvPr>
            <p:ph type="title"/>
          </p:nvPr>
        </p:nvSpPr>
        <p:spPr>
          <a:xfrm>
            <a:off x="574365" y="360233"/>
            <a:ext cx="5330952" cy="424412"/>
          </a:xfrm>
        </p:spPr>
        <p:txBody>
          <a:bodyPr/>
          <a:lstStyle/>
          <a:p>
            <a:r>
              <a:rPr lang="en-US"/>
              <a:t>Click to edit Master title style</a:t>
            </a:r>
            <a:endParaRPr lang="en-CA"/>
          </a:p>
        </p:txBody>
      </p:sp>
      <p:sp>
        <p:nvSpPr>
          <p:cNvPr id="10" name="Picture Placeholder 4">
            <a:extLst>
              <a:ext uri="{FF2B5EF4-FFF2-40B4-BE49-F238E27FC236}">
                <a16:creationId xmlns:a16="http://schemas.microsoft.com/office/drawing/2014/main" id="{C1D4DCB7-987B-31A3-0F8D-41041DF92F5A}"/>
              </a:ext>
            </a:extLst>
          </p:cNvPr>
          <p:cNvSpPr>
            <a:spLocks noGrp="1"/>
          </p:cNvSpPr>
          <p:nvPr>
            <p:ph type="pic" idx="13"/>
          </p:nvPr>
        </p:nvSpPr>
        <p:spPr>
          <a:xfrm>
            <a:off x="6286502" y="-9144"/>
            <a:ext cx="5916913" cy="6876288"/>
          </a:xfrm>
          <a:solidFill>
            <a:schemeClr val="bg1">
              <a:lumMod val="95000"/>
            </a:schemeClr>
          </a:solidFill>
        </p:spPr>
        <p:txBody>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CA"/>
          </a:p>
        </p:txBody>
      </p:sp>
      <p:sp>
        <p:nvSpPr>
          <p:cNvPr id="7" name="Slide Number Placeholder 5">
            <a:extLst>
              <a:ext uri="{FF2B5EF4-FFF2-40B4-BE49-F238E27FC236}">
                <a16:creationId xmlns:a16="http://schemas.microsoft.com/office/drawing/2014/main" id="{5D500DE7-045D-4A18-8256-BE411146E636}"/>
              </a:ext>
            </a:extLst>
          </p:cNvPr>
          <p:cNvSpPr>
            <a:spLocks noGrp="1"/>
          </p:cNvSpPr>
          <p:nvPr>
            <p:ph type="sldNum" sz="quarter" idx="12"/>
          </p:nvPr>
        </p:nvSpPr>
        <p:spPr/>
        <p:txBody>
          <a:bodyPr/>
          <a:lstStyle/>
          <a:p>
            <a:fld id="{0B1B59A6-B74A-41AA-9EF6-238F4BE8BA53}" type="slidenum">
              <a:rPr lang="en-CA" smtClean="0"/>
              <a:t>‹#›</a:t>
            </a:fld>
            <a:endParaRPr lang="en-CA"/>
          </a:p>
        </p:txBody>
      </p:sp>
      <p:sp>
        <p:nvSpPr>
          <p:cNvPr id="5" name="Date Placeholder 7" hidden="1">
            <a:extLst>
              <a:ext uri="{FF2B5EF4-FFF2-40B4-BE49-F238E27FC236}">
                <a16:creationId xmlns:a16="http://schemas.microsoft.com/office/drawing/2014/main" id="{7C1CF5EF-6CDE-4837-9334-DEC1BCC59990}"/>
              </a:ext>
            </a:extLst>
          </p:cNvPr>
          <p:cNvSpPr>
            <a:spLocks noGrp="1"/>
          </p:cNvSpPr>
          <p:nvPr>
            <p:ph type="dt" sz="half" idx="10"/>
          </p:nvPr>
        </p:nvSpPr>
        <p:spPr>
          <a:xfrm>
            <a:off x="9805986" y="6491950"/>
            <a:ext cx="1809562" cy="182880"/>
          </a:xfrm>
          <a:prstGeom prst="rect">
            <a:avLst/>
          </a:prstGeom>
        </p:spPr>
        <p:txBody>
          <a:bodyPr/>
          <a:lstStyle/>
          <a:p>
            <a:fld id="{2C55AB44-A465-440F-B1AF-326DFCED3A38}" type="datetime4">
              <a:rPr lang="en-US" smtClean="0"/>
              <a:t>August 17, 2026</a:t>
            </a:fld>
            <a:endParaRPr lang="en-CA"/>
          </a:p>
        </p:txBody>
      </p:sp>
      <p:sp>
        <p:nvSpPr>
          <p:cNvPr id="6" name="Content Placeholder 2">
            <a:extLst>
              <a:ext uri="{FF2B5EF4-FFF2-40B4-BE49-F238E27FC236}">
                <a16:creationId xmlns:a16="http://schemas.microsoft.com/office/drawing/2014/main" id="{D6F9773E-9A42-DC45-0E44-5A2A136F206B}"/>
              </a:ext>
            </a:extLst>
          </p:cNvPr>
          <p:cNvSpPr>
            <a:spLocks noGrp="1"/>
          </p:cNvSpPr>
          <p:nvPr>
            <p:ph idx="15"/>
          </p:nvPr>
        </p:nvSpPr>
        <p:spPr>
          <a:xfrm>
            <a:off x="574365" y="1243584"/>
            <a:ext cx="2478024" cy="1231106"/>
          </a:xfrm>
        </p:spPr>
        <p:txBody>
          <a:bodyPr/>
          <a:lstStyle>
            <a:lvl1pPr>
              <a:defRPr sz="1800"/>
            </a:lvl1pPr>
            <a:lvl2pPr>
              <a:spcAft>
                <a:spcPts val="600"/>
              </a:spcAft>
              <a:defRPr>
                <a:solidFill>
                  <a:srgbClr val="000000"/>
                </a:solidFill>
              </a:defRPr>
            </a:lvl2pPr>
            <a:lvl3pPr marL="514350" indent="-173038">
              <a:buFont typeface="Trust Hartford Sans" pitchFamily="50" charset="0"/>
              <a:buChar char="»"/>
              <a:defRPr sz="1600">
                <a:solidFill>
                  <a:srgbClr val="000000"/>
                </a:solidFill>
              </a:defRPr>
            </a:lvl3pPr>
            <a:lvl4pPr marL="800100" indent="-227013">
              <a:buFont typeface="Trust Hartford Sans" pitchFamily="50" charset="0"/>
              <a:buChar char="—"/>
              <a:defRPr sz="1400">
                <a:solidFill>
                  <a:srgbClr val="000000"/>
                </a:solidFill>
              </a:defRPr>
            </a:lvl4pPr>
            <a:lvl5pPr marL="800100" indent="0">
              <a:buNone/>
              <a:defRPr/>
            </a:lvl5pPr>
            <a:lvl6pPr marL="1141413" indent="0">
              <a:defRPr/>
            </a:lvl6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166508C5-76DF-5EFA-3933-CD90B1B9D7F0}"/>
              </a:ext>
            </a:extLst>
          </p:cNvPr>
          <p:cNvSpPr>
            <a:spLocks noGrp="1"/>
          </p:cNvSpPr>
          <p:nvPr>
            <p:ph idx="16"/>
          </p:nvPr>
        </p:nvSpPr>
        <p:spPr>
          <a:xfrm>
            <a:off x="3427293" y="1243584"/>
            <a:ext cx="2478024" cy="1231106"/>
          </a:xfrm>
        </p:spPr>
        <p:txBody>
          <a:bodyPr/>
          <a:lstStyle>
            <a:lvl1pPr>
              <a:defRPr sz="1800"/>
            </a:lvl1pPr>
            <a:lvl2pPr>
              <a:spcAft>
                <a:spcPts val="600"/>
              </a:spcAft>
              <a:defRPr>
                <a:solidFill>
                  <a:srgbClr val="000000"/>
                </a:solidFill>
              </a:defRPr>
            </a:lvl2pPr>
            <a:lvl3pPr marL="514350" indent="-173038">
              <a:buFont typeface="Trust Hartford Sans" pitchFamily="50" charset="0"/>
              <a:buChar char="»"/>
              <a:defRPr sz="1600">
                <a:solidFill>
                  <a:srgbClr val="000000"/>
                </a:solidFill>
              </a:defRPr>
            </a:lvl3pPr>
            <a:lvl4pPr marL="800100" indent="-227013">
              <a:buFont typeface="Trust Hartford Sans" pitchFamily="50" charset="0"/>
              <a:buChar char="—"/>
              <a:defRPr sz="1400">
                <a:solidFill>
                  <a:srgbClr val="000000"/>
                </a:solidFill>
              </a:defRPr>
            </a:lvl4pPr>
            <a:lvl5pPr marL="800100" indent="0">
              <a:buNone/>
              <a:defRPr/>
            </a:lvl5pPr>
            <a:lvl6pPr marL="1141413" indent="0">
              <a:defRPr/>
            </a:lvl6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6603976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our Numbered Points and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18DA2-AAE8-4B6F-B4D9-2F1E68B87E4B}"/>
              </a:ext>
            </a:extLst>
          </p:cNvPr>
          <p:cNvSpPr>
            <a:spLocks noGrp="1"/>
          </p:cNvSpPr>
          <p:nvPr>
            <p:ph type="title"/>
          </p:nvPr>
        </p:nvSpPr>
        <p:spPr>
          <a:xfrm>
            <a:off x="574365" y="360233"/>
            <a:ext cx="5330952" cy="424412"/>
          </a:xfrm>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1BC7FDE2-4874-4984-957C-A70C053DC5B3}"/>
              </a:ext>
            </a:extLst>
          </p:cNvPr>
          <p:cNvSpPr>
            <a:spLocks noGrp="1"/>
          </p:cNvSpPr>
          <p:nvPr>
            <p:ph sz="half" idx="1" hasCustomPrompt="1"/>
          </p:nvPr>
        </p:nvSpPr>
        <p:spPr>
          <a:xfrm>
            <a:off x="576072" y="1243584"/>
            <a:ext cx="2478024" cy="1454565"/>
          </a:xfrm>
        </p:spPr>
        <p:txBody>
          <a:bodyPr/>
          <a:lstStyle>
            <a:lvl1pPr>
              <a:lnSpc>
                <a:spcPct val="91000"/>
              </a:lnSpc>
              <a:spcAft>
                <a:spcPts val="0"/>
              </a:spcAft>
              <a:defRPr sz="7200" b="0">
                <a:solidFill>
                  <a:srgbClr val="FE3082"/>
                </a:solidFill>
                <a:latin typeface="Trust Hartford Serif XLight" pitchFamily="50" charset="0"/>
              </a:defRPr>
            </a:lvl1pPr>
            <a:lvl2pPr marL="9525" indent="0">
              <a:lnSpc>
                <a:spcPct val="100000"/>
              </a:lnSpc>
              <a:spcAft>
                <a:spcPts val="600"/>
              </a:spcAft>
              <a:buFont typeface="Arial" panose="020B0604020202020204" pitchFamily="34" charset="0"/>
              <a:buNone/>
              <a:tabLst/>
              <a:defRPr sz="1200" b="1" spc="-10" baseline="0">
                <a:solidFill>
                  <a:srgbClr val="000000"/>
                </a:solidFill>
                <a:latin typeface="+mn-lt"/>
              </a:defRPr>
            </a:lvl2pPr>
            <a:lvl3pPr marL="9525" indent="0">
              <a:lnSpc>
                <a:spcPct val="100000"/>
              </a:lnSpc>
              <a:spcAft>
                <a:spcPts val="600"/>
              </a:spcAft>
              <a:buFont typeface="Arial" panose="020B0604020202020204" pitchFamily="34" charset="0"/>
              <a:buNone/>
              <a:tabLst/>
              <a:defRPr sz="1200">
                <a:solidFill>
                  <a:srgbClr val="000000"/>
                </a:solidFill>
                <a:latin typeface="+mn-lt"/>
              </a:defRPr>
            </a:lvl3pPr>
          </a:lstStyle>
          <a:p>
            <a:pPr lvl="0"/>
            <a:r>
              <a:rPr lang="en-US"/>
              <a:t>#</a:t>
            </a:r>
          </a:p>
          <a:p>
            <a:pPr lvl="1"/>
            <a:r>
              <a:rPr lang="en-US"/>
              <a:t>Second level</a:t>
            </a:r>
          </a:p>
          <a:p>
            <a:pPr lvl="2"/>
            <a:r>
              <a:rPr lang="en-US"/>
              <a:t>Third level</a:t>
            </a:r>
          </a:p>
        </p:txBody>
      </p:sp>
      <p:sp>
        <p:nvSpPr>
          <p:cNvPr id="10" name="Picture Placeholder 4">
            <a:extLst>
              <a:ext uri="{FF2B5EF4-FFF2-40B4-BE49-F238E27FC236}">
                <a16:creationId xmlns:a16="http://schemas.microsoft.com/office/drawing/2014/main" id="{C1D4DCB7-987B-31A3-0F8D-41041DF92F5A}"/>
              </a:ext>
            </a:extLst>
          </p:cNvPr>
          <p:cNvSpPr>
            <a:spLocks noGrp="1"/>
          </p:cNvSpPr>
          <p:nvPr>
            <p:ph type="pic" idx="13"/>
          </p:nvPr>
        </p:nvSpPr>
        <p:spPr>
          <a:xfrm>
            <a:off x="6286502" y="-9144"/>
            <a:ext cx="5916913" cy="6876288"/>
          </a:xfrm>
          <a:solidFill>
            <a:schemeClr val="bg1">
              <a:lumMod val="95000"/>
            </a:schemeClr>
          </a:solidFill>
        </p:spPr>
        <p:txBody>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CA"/>
          </a:p>
        </p:txBody>
      </p:sp>
      <p:sp>
        <p:nvSpPr>
          <p:cNvPr id="7" name="Slide Number Placeholder 5">
            <a:extLst>
              <a:ext uri="{FF2B5EF4-FFF2-40B4-BE49-F238E27FC236}">
                <a16:creationId xmlns:a16="http://schemas.microsoft.com/office/drawing/2014/main" id="{5D500DE7-045D-4A18-8256-BE411146E636}"/>
              </a:ext>
            </a:extLst>
          </p:cNvPr>
          <p:cNvSpPr>
            <a:spLocks noGrp="1"/>
          </p:cNvSpPr>
          <p:nvPr>
            <p:ph type="sldNum" sz="quarter" idx="12"/>
          </p:nvPr>
        </p:nvSpPr>
        <p:spPr/>
        <p:txBody>
          <a:bodyPr/>
          <a:lstStyle/>
          <a:p>
            <a:fld id="{0B1B59A6-B74A-41AA-9EF6-238F4BE8BA53}" type="slidenum">
              <a:rPr lang="en-CA" smtClean="0"/>
              <a:t>‹#›</a:t>
            </a:fld>
            <a:endParaRPr lang="en-CA"/>
          </a:p>
        </p:txBody>
      </p:sp>
      <p:sp>
        <p:nvSpPr>
          <p:cNvPr id="5" name="Date Placeholder 7" hidden="1">
            <a:extLst>
              <a:ext uri="{FF2B5EF4-FFF2-40B4-BE49-F238E27FC236}">
                <a16:creationId xmlns:a16="http://schemas.microsoft.com/office/drawing/2014/main" id="{7C1CF5EF-6CDE-4837-9334-DEC1BCC59990}"/>
              </a:ext>
            </a:extLst>
          </p:cNvPr>
          <p:cNvSpPr>
            <a:spLocks noGrp="1"/>
          </p:cNvSpPr>
          <p:nvPr>
            <p:ph type="dt" sz="half" idx="10"/>
          </p:nvPr>
        </p:nvSpPr>
        <p:spPr>
          <a:xfrm>
            <a:off x="9805986" y="6491950"/>
            <a:ext cx="1809562" cy="182880"/>
          </a:xfrm>
          <a:prstGeom prst="rect">
            <a:avLst/>
          </a:prstGeom>
        </p:spPr>
        <p:txBody>
          <a:bodyPr/>
          <a:lstStyle/>
          <a:p>
            <a:fld id="{2C55AB44-A465-440F-B1AF-326DFCED3A38}" type="datetime4">
              <a:rPr lang="en-US" smtClean="0"/>
              <a:t>August 17, 2026</a:t>
            </a:fld>
            <a:endParaRPr lang="en-CA"/>
          </a:p>
        </p:txBody>
      </p:sp>
      <p:sp>
        <p:nvSpPr>
          <p:cNvPr id="6" name="Content Placeholder 2">
            <a:extLst>
              <a:ext uri="{FF2B5EF4-FFF2-40B4-BE49-F238E27FC236}">
                <a16:creationId xmlns:a16="http://schemas.microsoft.com/office/drawing/2014/main" id="{EAF5EA95-00CC-B3FD-3442-8121D31164BB}"/>
              </a:ext>
            </a:extLst>
          </p:cNvPr>
          <p:cNvSpPr>
            <a:spLocks noGrp="1"/>
          </p:cNvSpPr>
          <p:nvPr>
            <p:ph sz="half" idx="17" hasCustomPrompt="1"/>
          </p:nvPr>
        </p:nvSpPr>
        <p:spPr>
          <a:xfrm>
            <a:off x="3425150" y="1243584"/>
            <a:ext cx="2478024" cy="1454565"/>
          </a:xfrm>
        </p:spPr>
        <p:txBody>
          <a:bodyPr/>
          <a:lstStyle>
            <a:lvl1pPr>
              <a:lnSpc>
                <a:spcPct val="91000"/>
              </a:lnSpc>
              <a:spcAft>
                <a:spcPts val="0"/>
              </a:spcAft>
              <a:defRPr sz="7200" b="0">
                <a:solidFill>
                  <a:srgbClr val="FE3082"/>
                </a:solidFill>
                <a:latin typeface="Trust Hartford Serif XLight" pitchFamily="50" charset="0"/>
              </a:defRPr>
            </a:lvl1pPr>
            <a:lvl2pPr marL="9525" indent="0">
              <a:lnSpc>
                <a:spcPct val="100000"/>
              </a:lnSpc>
              <a:spcAft>
                <a:spcPts val="600"/>
              </a:spcAft>
              <a:buFont typeface="Arial" panose="020B0604020202020204" pitchFamily="34" charset="0"/>
              <a:buNone/>
              <a:tabLst/>
              <a:defRPr sz="1200" b="1" spc="-10" baseline="0">
                <a:solidFill>
                  <a:srgbClr val="000000"/>
                </a:solidFill>
                <a:latin typeface="+mn-lt"/>
              </a:defRPr>
            </a:lvl2pPr>
            <a:lvl3pPr marL="9525" indent="0">
              <a:lnSpc>
                <a:spcPct val="100000"/>
              </a:lnSpc>
              <a:spcAft>
                <a:spcPts val="600"/>
              </a:spcAft>
              <a:buFont typeface="Arial" panose="020B0604020202020204" pitchFamily="34" charset="0"/>
              <a:buNone/>
              <a:tabLst/>
              <a:defRPr sz="1200">
                <a:solidFill>
                  <a:srgbClr val="000000"/>
                </a:solidFill>
                <a:latin typeface="+mn-lt"/>
              </a:defRPr>
            </a:lvl3pPr>
          </a:lstStyle>
          <a:p>
            <a:pPr lvl="0"/>
            <a:r>
              <a:rPr lang="en-US"/>
              <a:t>#</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2BD1469E-14AA-D9D8-06F2-FE414A59E73D}"/>
              </a:ext>
            </a:extLst>
          </p:cNvPr>
          <p:cNvSpPr>
            <a:spLocks noGrp="1"/>
          </p:cNvSpPr>
          <p:nvPr>
            <p:ph sz="half" idx="18" hasCustomPrompt="1"/>
          </p:nvPr>
        </p:nvSpPr>
        <p:spPr>
          <a:xfrm>
            <a:off x="576072" y="3890531"/>
            <a:ext cx="2478024" cy="1454565"/>
          </a:xfrm>
        </p:spPr>
        <p:txBody>
          <a:bodyPr/>
          <a:lstStyle>
            <a:lvl1pPr>
              <a:lnSpc>
                <a:spcPct val="91000"/>
              </a:lnSpc>
              <a:spcAft>
                <a:spcPts val="0"/>
              </a:spcAft>
              <a:defRPr sz="7200" b="0">
                <a:solidFill>
                  <a:srgbClr val="FE3082"/>
                </a:solidFill>
                <a:latin typeface="Trust Hartford Serif XLight" pitchFamily="50" charset="0"/>
              </a:defRPr>
            </a:lvl1pPr>
            <a:lvl2pPr marL="9525" indent="0">
              <a:lnSpc>
                <a:spcPct val="96000"/>
              </a:lnSpc>
              <a:spcAft>
                <a:spcPts val="600"/>
              </a:spcAft>
              <a:buFont typeface="Arial" panose="020B0604020202020204" pitchFamily="34" charset="0"/>
              <a:buNone/>
              <a:tabLst/>
              <a:defRPr sz="1200" b="1" spc="-10" baseline="0">
                <a:solidFill>
                  <a:srgbClr val="000000"/>
                </a:solidFill>
                <a:latin typeface="+mn-lt"/>
              </a:defRPr>
            </a:lvl2pPr>
            <a:lvl3pPr marL="9525" indent="0">
              <a:lnSpc>
                <a:spcPct val="104000"/>
              </a:lnSpc>
              <a:spcAft>
                <a:spcPts val="600"/>
              </a:spcAft>
              <a:buFont typeface="Arial" panose="020B0604020202020204" pitchFamily="34" charset="0"/>
              <a:buNone/>
              <a:tabLst/>
              <a:defRPr sz="1200">
                <a:solidFill>
                  <a:srgbClr val="000000"/>
                </a:solidFill>
                <a:latin typeface="+mn-lt"/>
              </a:defRPr>
            </a:lvl3pPr>
          </a:lstStyle>
          <a:p>
            <a:pPr lvl="0"/>
            <a:r>
              <a:rPr lang="en-US"/>
              <a:t>#</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E76C5B92-C1FA-7596-79D8-7E05E4D9BA53}"/>
              </a:ext>
            </a:extLst>
          </p:cNvPr>
          <p:cNvSpPr>
            <a:spLocks noGrp="1"/>
          </p:cNvSpPr>
          <p:nvPr>
            <p:ph sz="half" idx="19" hasCustomPrompt="1"/>
          </p:nvPr>
        </p:nvSpPr>
        <p:spPr>
          <a:xfrm>
            <a:off x="3425150" y="3890531"/>
            <a:ext cx="2478024" cy="1454565"/>
          </a:xfrm>
        </p:spPr>
        <p:txBody>
          <a:bodyPr/>
          <a:lstStyle>
            <a:lvl1pPr>
              <a:lnSpc>
                <a:spcPct val="91000"/>
              </a:lnSpc>
              <a:spcAft>
                <a:spcPts val="0"/>
              </a:spcAft>
              <a:defRPr sz="7200" b="0">
                <a:solidFill>
                  <a:srgbClr val="FE3082"/>
                </a:solidFill>
                <a:latin typeface="Trust Hartford Serif XLight" pitchFamily="50" charset="0"/>
              </a:defRPr>
            </a:lvl1pPr>
            <a:lvl2pPr marL="9525" indent="0">
              <a:lnSpc>
                <a:spcPct val="96000"/>
              </a:lnSpc>
              <a:spcAft>
                <a:spcPts val="600"/>
              </a:spcAft>
              <a:buFont typeface="Arial" panose="020B0604020202020204" pitchFamily="34" charset="0"/>
              <a:buNone/>
              <a:tabLst/>
              <a:defRPr sz="1200" b="1" spc="-10" baseline="0">
                <a:solidFill>
                  <a:srgbClr val="000000"/>
                </a:solidFill>
                <a:latin typeface="+mn-lt"/>
              </a:defRPr>
            </a:lvl2pPr>
            <a:lvl3pPr marL="9525" indent="0">
              <a:lnSpc>
                <a:spcPct val="104000"/>
              </a:lnSpc>
              <a:spcAft>
                <a:spcPts val="600"/>
              </a:spcAft>
              <a:buFont typeface="Arial" panose="020B0604020202020204" pitchFamily="34" charset="0"/>
              <a:buNone/>
              <a:tabLst/>
              <a:defRPr sz="1200">
                <a:solidFill>
                  <a:srgbClr val="000000"/>
                </a:solidFill>
                <a:latin typeface="+mn-lt"/>
              </a:defRPr>
            </a:lvl3pPr>
          </a:lstStyle>
          <a:p>
            <a:pPr lvl="0"/>
            <a:r>
              <a:rPr lang="en-US"/>
              <a:t>#</a:t>
            </a:r>
          </a:p>
          <a:p>
            <a:pPr lvl="1"/>
            <a:r>
              <a:rPr lang="en-US"/>
              <a:t>Second level</a:t>
            </a:r>
          </a:p>
          <a:p>
            <a:pPr lvl="2"/>
            <a:r>
              <a:rPr lang="en-US"/>
              <a:t>Third level</a:t>
            </a:r>
          </a:p>
        </p:txBody>
      </p:sp>
    </p:spTree>
    <p:extLst>
      <p:ext uri="{BB962C8B-B14F-4D97-AF65-F5344CB8AC3E}">
        <p14:creationId xmlns:p14="http://schemas.microsoft.com/office/powerpoint/2010/main" val="27403844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D3A6E-7CF8-4BC2-A0EB-FA90FCA21BE5}"/>
              </a:ext>
            </a:extLst>
          </p:cNvPr>
          <p:cNvSpPr>
            <a:spLocks noGrp="1"/>
          </p:cNvSpPr>
          <p:nvPr>
            <p:ph type="title"/>
          </p:nvPr>
        </p:nvSpPr>
        <p:spPr>
          <a:xfrm>
            <a:off x="574365" y="360232"/>
            <a:ext cx="8229600" cy="424412"/>
          </a:xfrm>
        </p:spPr>
        <p:txBody>
          <a:bodyPr/>
          <a:lstStyle/>
          <a:p>
            <a:r>
              <a:rPr lang="en-US"/>
              <a:t>Click to edit Master title style</a:t>
            </a:r>
            <a:endParaRPr lang="en-CA"/>
          </a:p>
        </p:txBody>
      </p:sp>
      <p:sp>
        <p:nvSpPr>
          <p:cNvPr id="3" name="Table Placeholder 2">
            <a:extLst>
              <a:ext uri="{FF2B5EF4-FFF2-40B4-BE49-F238E27FC236}">
                <a16:creationId xmlns:a16="http://schemas.microsoft.com/office/drawing/2014/main" id="{08E4A003-1EAA-47A9-9AAC-94B864F536D1}"/>
              </a:ext>
            </a:extLst>
          </p:cNvPr>
          <p:cNvSpPr>
            <a:spLocks noGrp="1"/>
          </p:cNvSpPr>
          <p:nvPr>
            <p:ph type="tbl" idx="1"/>
          </p:nvPr>
        </p:nvSpPr>
        <p:spPr>
          <a:xfrm>
            <a:off x="576072" y="1600200"/>
            <a:ext cx="11044428" cy="3529584"/>
          </a:xfrm>
        </p:spPr>
        <p:txBody>
          <a:bodyPr/>
          <a:lstStyle/>
          <a:p>
            <a:r>
              <a:rPr lang="en-US"/>
              <a:t>Click icon to add table</a:t>
            </a:r>
            <a:endParaRPr lang="en-CA"/>
          </a:p>
        </p:txBody>
      </p:sp>
      <p:sp>
        <p:nvSpPr>
          <p:cNvPr id="6" name="Slide Number Placeholder 3">
            <a:extLst>
              <a:ext uri="{FF2B5EF4-FFF2-40B4-BE49-F238E27FC236}">
                <a16:creationId xmlns:a16="http://schemas.microsoft.com/office/drawing/2014/main" id="{32DD8E0E-D906-4051-A76A-02442FC1BE0A}"/>
              </a:ext>
            </a:extLst>
          </p:cNvPr>
          <p:cNvSpPr>
            <a:spLocks noGrp="1"/>
          </p:cNvSpPr>
          <p:nvPr>
            <p:ph type="sldNum" sz="quarter" idx="12"/>
          </p:nvPr>
        </p:nvSpPr>
        <p:spPr/>
        <p:txBody>
          <a:bodyPr/>
          <a:lstStyle/>
          <a:p>
            <a:fld id="{0B1B59A6-B74A-41AA-9EF6-238F4BE8BA53}" type="slidenum">
              <a:rPr lang="en-CA" smtClean="0"/>
              <a:t>‹#›</a:t>
            </a:fld>
            <a:endParaRPr lang="en-CA"/>
          </a:p>
        </p:txBody>
      </p:sp>
    </p:spTree>
    <p:extLst>
      <p:ext uri="{BB962C8B-B14F-4D97-AF65-F5344CB8AC3E}">
        <p14:creationId xmlns:p14="http://schemas.microsoft.com/office/powerpoint/2010/main" val="24737356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D5638-9DCB-4A4B-A17A-9B653075388E}"/>
              </a:ext>
            </a:extLst>
          </p:cNvPr>
          <p:cNvSpPr>
            <a:spLocks noGrp="1"/>
          </p:cNvSpPr>
          <p:nvPr>
            <p:ph type="title"/>
          </p:nvPr>
        </p:nvSpPr>
        <p:spPr>
          <a:xfrm>
            <a:off x="574365" y="360232"/>
            <a:ext cx="8229600" cy="424412"/>
          </a:xfrm>
        </p:spPr>
        <p:txBody>
          <a:bodyPr/>
          <a:lstStyle/>
          <a:p>
            <a:r>
              <a:rPr lang="en-US"/>
              <a:t>Click to edit Master title style</a:t>
            </a:r>
            <a:endParaRPr lang="en-CA"/>
          </a:p>
        </p:txBody>
      </p:sp>
      <p:sp>
        <p:nvSpPr>
          <p:cNvPr id="3" name="Chart Placeholder 2">
            <a:extLst>
              <a:ext uri="{FF2B5EF4-FFF2-40B4-BE49-F238E27FC236}">
                <a16:creationId xmlns:a16="http://schemas.microsoft.com/office/drawing/2014/main" id="{D4523EDA-C4FA-4F10-8196-8DE4BF36E8D0}"/>
              </a:ext>
            </a:extLst>
          </p:cNvPr>
          <p:cNvSpPr>
            <a:spLocks noGrp="1"/>
          </p:cNvSpPr>
          <p:nvPr>
            <p:ph type="chart" idx="1"/>
          </p:nvPr>
        </p:nvSpPr>
        <p:spPr>
          <a:xfrm>
            <a:off x="574365" y="1600200"/>
            <a:ext cx="11040880" cy="4320443"/>
          </a:xfrm>
        </p:spPr>
        <p:txBody>
          <a:bodyPr/>
          <a:lstStyle/>
          <a:p>
            <a:r>
              <a:rPr lang="en-US"/>
              <a:t>Click icon to add chart</a:t>
            </a:r>
            <a:endParaRPr lang="en-CA"/>
          </a:p>
        </p:txBody>
      </p:sp>
      <p:sp>
        <p:nvSpPr>
          <p:cNvPr id="6" name="Slide Number Placeholder 3">
            <a:extLst>
              <a:ext uri="{FF2B5EF4-FFF2-40B4-BE49-F238E27FC236}">
                <a16:creationId xmlns:a16="http://schemas.microsoft.com/office/drawing/2014/main" id="{1CF895C5-5776-4C7F-AE1B-8503F6652A56}"/>
              </a:ext>
            </a:extLst>
          </p:cNvPr>
          <p:cNvSpPr>
            <a:spLocks noGrp="1"/>
          </p:cNvSpPr>
          <p:nvPr>
            <p:ph type="sldNum" sz="quarter" idx="12"/>
          </p:nvPr>
        </p:nvSpPr>
        <p:spPr/>
        <p:txBody>
          <a:bodyPr/>
          <a:lstStyle/>
          <a:p>
            <a:fld id="{0B1B59A6-B74A-41AA-9EF6-238F4BE8BA53}" type="slidenum">
              <a:rPr lang="en-CA" smtClean="0"/>
              <a:t>‹#›</a:t>
            </a:fld>
            <a:endParaRPr lang="en-CA"/>
          </a:p>
        </p:txBody>
      </p:sp>
    </p:spTree>
    <p:extLst>
      <p:ext uri="{BB962C8B-B14F-4D97-AF65-F5344CB8AC3E}">
        <p14:creationId xmlns:p14="http://schemas.microsoft.com/office/powerpoint/2010/main" val="4426921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Two Char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D5638-9DCB-4A4B-A17A-9B653075388E}"/>
              </a:ext>
            </a:extLst>
          </p:cNvPr>
          <p:cNvSpPr>
            <a:spLocks noGrp="1"/>
          </p:cNvSpPr>
          <p:nvPr>
            <p:ph type="title"/>
          </p:nvPr>
        </p:nvSpPr>
        <p:spPr>
          <a:xfrm>
            <a:off x="574365" y="360232"/>
            <a:ext cx="8229600" cy="424412"/>
          </a:xfrm>
        </p:spPr>
        <p:txBody>
          <a:bodyPr/>
          <a:lstStyle/>
          <a:p>
            <a:r>
              <a:rPr lang="en-US"/>
              <a:t>Click to edit Master title style</a:t>
            </a:r>
            <a:endParaRPr lang="en-CA"/>
          </a:p>
        </p:txBody>
      </p:sp>
      <p:sp>
        <p:nvSpPr>
          <p:cNvPr id="3" name="Chart Placeholder 2">
            <a:extLst>
              <a:ext uri="{FF2B5EF4-FFF2-40B4-BE49-F238E27FC236}">
                <a16:creationId xmlns:a16="http://schemas.microsoft.com/office/drawing/2014/main" id="{D4523EDA-C4FA-4F10-8196-8DE4BF36E8D0}"/>
              </a:ext>
            </a:extLst>
          </p:cNvPr>
          <p:cNvSpPr>
            <a:spLocks noGrp="1"/>
          </p:cNvSpPr>
          <p:nvPr>
            <p:ph type="chart" idx="1"/>
          </p:nvPr>
        </p:nvSpPr>
        <p:spPr>
          <a:xfrm>
            <a:off x="574364" y="1600200"/>
            <a:ext cx="5460675" cy="4320443"/>
          </a:xfrm>
        </p:spPr>
        <p:txBody>
          <a:bodyPr/>
          <a:lstStyle/>
          <a:p>
            <a:r>
              <a:rPr lang="en-US"/>
              <a:t>Click icon to add chart</a:t>
            </a:r>
            <a:endParaRPr lang="en-CA"/>
          </a:p>
        </p:txBody>
      </p:sp>
      <p:sp>
        <p:nvSpPr>
          <p:cNvPr id="8" name="Chart Placeholder 3">
            <a:extLst>
              <a:ext uri="{FF2B5EF4-FFF2-40B4-BE49-F238E27FC236}">
                <a16:creationId xmlns:a16="http://schemas.microsoft.com/office/drawing/2014/main" id="{0EE9AC9D-70EA-AA85-CBE6-23C5257EB501}"/>
              </a:ext>
            </a:extLst>
          </p:cNvPr>
          <p:cNvSpPr>
            <a:spLocks noGrp="1"/>
          </p:cNvSpPr>
          <p:nvPr>
            <p:ph type="chart" idx="13"/>
          </p:nvPr>
        </p:nvSpPr>
        <p:spPr>
          <a:xfrm>
            <a:off x="6153810" y="1600200"/>
            <a:ext cx="5460675" cy="4320443"/>
          </a:xfrm>
        </p:spPr>
        <p:txBody>
          <a:bodyPr/>
          <a:lstStyle/>
          <a:p>
            <a:r>
              <a:rPr lang="en-US"/>
              <a:t>Click icon to add chart</a:t>
            </a:r>
            <a:endParaRPr lang="en-CA"/>
          </a:p>
        </p:txBody>
      </p:sp>
      <p:sp>
        <p:nvSpPr>
          <p:cNvPr id="6" name="Slide Number Placeholder 4">
            <a:extLst>
              <a:ext uri="{FF2B5EF4-FFF2-40B4-BE49-F238E27FC236}">
                <a16:creationId xmlns:a16="http://schemas.microsoft.com/office/drawing/2014/main" id="{1CF895C5-5776-4C7F-AE1B-8503F6652A56}"/>
              </a:ext>
            </a:extLst>
          </p:cNvPr>
          <p:cNvSpPr>
            <a:spLocks noGrp="1"/>
          </p:cNvSpPr>
          <p:nvPr>
            <p:ph type="sldNum" sz="quarter" idx="12"/>
          </p:nvPr>
        </p:nvSpPr>
        <p:spPr/>
        <p:txBody>
          <a:bodyPr/>
          <a:lstStyle/>
          <a:p>
            <a:fld id="{0B1B59A6-B74A-41AA-9EF6-238F4BE8BA53}" type="slidenum">
              <a:rPr lang="en-CA" smtClean="0"/>
              <a:t>‹#›</a:t>
            </a:fld>
            <a:endParaRPr lang="en-CA"/>
          </a:p>
        </p:txBody>
      </p:sp>
    </p:spTree>
    <p:extLst>
      <p:ext uri="{BB962C8B-B14F-4D97-AF65-F5344CB8AC3E}">
        <p14:creationId xmlns:p14="http://schemas.microsoft.com/office/powerpoint/2010/main" val="28374745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94764-B876-42DD-B472-BDC2CC61EBD1}"/>
              </a:ext>
            </a:extLst>
          </p:cNvPr>
          <p:cNvSpPr>
            <a:spLocks noGrp="1"/>
          </p:cNvSpPr>
          <p:nvPr>
            <p:ph type="title"/>
          </p:nvPr>
        </p:nvSpPr>
        <p:spPr>
          <a:xfrm>
            <a:off x="574363" y="360233"/>
            <a:ext cx="8229600" cy="424412"/>
          </a:xfrm>
        </p:spPr>
        <p:txBody>
          <a:bodyPr/>
          <a:lstStyle/>
          <a:p>
            <a:r>
              <a:rPr lang="en-US"/>
              <a:t>Click to edit Master title style</a:t>
            </a:r>
            <a:endParaRPr lang="en-CA"/>
          </a:p>
        </p:txBody>
      </p:sp>
      <p:sp>
        <p:nvSpPr>
          <p:cNvPr id="5" name="Slide Number Placeholder 2">
            <a:extLst>
              <a:ext uri="{FF2B5EF4-FFF2-40B4-BE49-F238E27FC236}">
                <a16:creationId xmlns:a16="http://schemas.microsoft.com/office/drawing/2014/main" id="{49D22D01-6D3C-4EFB-B1F4-AED8B951CB86}"/>
              </a:ext>
            </a:extLst>
          </p:cNvPr>
          <p:cNvSpPr>
            <a:spLocks noGrp="1"/>
          </p:cNvSpPr>
          <p:nvPr>
            <p:ph type="sldNum" sz="quarter" idx="12"/>
          </p:nvPr>
        </p:nvSpPr>
        <p:spPr/>
        <p:txBody>
          <a:bodyPr/>
          <a:lstStyle/>
          <a:p>
            <a:fld id="{0B1B59A6-B74A-41AA-9EF6-238F4BE8BA53}" type="slidenum">
              <a:rPr lang="en-CA" smtClean="0"/>
              <a:t>‹#›</a:t>
            </a:fld>
            <a:endParaRPr lang="en-CA"/>
          </a:p>
        </p:txBody>
      </p:sp>
    </p:spTree>
    <p:extLst>
      <p:ext uri="{BB962C8B-B14F-4D97-AF65-F5344CB8AC3E}">
        <p14:creationId xmlns:p14="http://schemas.microsoft.com/office/powerpoint/2010/main" val="274080979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4BB9D9-8ECA-4A10-B219-3433124D18AA}"/>
              </a:ext>
            </a:extLst>
          </p:cNvPr>
          <p:cNvSpPr>
            <a:spLocks noGrp="1"/>
          </p:cNvSpPr>
          <p:nvPr>
            <p:ph type="title"/>
          </p:nvPr>
        </p:nvSpPr>
        <p:spPr>
          <a:xfrm>
            <a:off x="574363" y="360233"/>
            <a:ext cx="8229600" cy="424412"/>
          </a:xfrm>
          <a:prstGeom prst="rect">
            <a:avLst/>
          </a:prstGeom>
        </p:spPr>
        <p:txBody>
          <a:bodyPr vert="horz" lIns="0" tIns="0" rIns="0" bIns="0" rtlCol="0" anchor="t" anchorCtr="0">
            <a:sp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2104456C-1FCF-4CED-BB81-08069A400A53}"/>
              </a:ext>
            </a:extLst>
          </p:cNvPr>
          <p:cNvSpPr>
            <a:spLocks noGrp="1"/>
          </p:cNvSpPr>
          <p:nvPr>
            <p:ph type="body" idx="1"/>
          </p:nvPr>
        </p:nvSpPr>
        <p:spPr>
          <a:xfrm>
            <a:off x="574365" y="1243584"/>
            <a:ext cx="8193024" cy="1249253"/>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4"/>
            <a:r>
              <a:rPr lang="en-US"/>
              <a:t>Fourth</a:t>
            </a:r>
          </a:p>
        </p:txBody>
      </p:sp>
      <p:sp>
        <p:nvSpPr>
          <p:cNvPr id="6" name="Slide Number Placeholder 3">
            <a:extLst>
              <a:ext uri="{FF2B5EF4-FFF2-40B4-BE49-F238E27FC236}">
                <a16:creationId xmlns:a16="http://schemas.microsoft.com/office/drawing/2014/main" id="{405F7A51-81ED-4EE1-B1B5-D78F6FA1BC73}"/>
              </a:ext>
            </a:extLst>
          </p:cNvPr>
          <p:cNvSpPr>
            <a:spLocks noGrp="1"/>
          </p:cNvSpPr>
          <p:nvPr>
            <p:ph type="sldNum" sz="quarter" idx="4"/>
          </p:nvPr>
        </p:nvSpPr>
        <p:spPr>
          <a:xfrm>
            <a:off x="11615244" y="6491950"/>
            <a:ext cx="437707" cy="182880"/>
          </a:xfrm>
          <a:prstGeom prst="rect">
            <a:avLst/>
          </a:prstGeom>
        </p:spPr>
        <p:txBody>
          <a:bodyPr vert="horz" lIns="0" tIns="0" rIns="0" bIns="0" rtlCol="0" anchor="b" anchorCtr="0"/>
          <a:lstStyle>
            <a:lvl1pPr algn="l">
              <a:defRPr sz="1000" b="1">
                <a:solidFill>
                  <a:srgbClr val="FE3082"/>
                </a:solidFill>
              </a:defRPr>
            </a:lvl1pPr>
          </a:lstStyle>
          <a:p>
            <a:fld id="{0B1B59A6-B74A-41AA-9EF6-238F4BE8BA53}" type="slidenum">
              <a:rPr lang="en-CA" smtClean="0"/>
              <a:pPr/>
              <a:t>‹#›</a:t>
            </a:fld>
            <a:endParaRPr lang="en-CA"/>
          </a:p>
        </p:txBody>
      </p:sp>
      <p:sp>
        <p:nvSpPr>
          <p:cNvPr id="5" name="TextBox 4">
            <a:extLst>
              <a:ext uri="{FF2B5EF4-FFF2-40B4-BE49-F238E27FC236}">
                <a16:creationId xmlns:a16="http://schemas.microsoft.com/office/drawing/2014/main" id="{C338CBA7-4B79-B1CD-65D4-67FA9B0D9D97}"/>
              </a:ext>
            </a:extLst>
          </p:cNvPr>
          <p:cNvSpPr txBox="1"/>
          <p:nvPr>
            <p:extLst>
              <p:ext uri="{1162E1C5-73C7-4A58-AE30-91384D911F3F}">
                <p184:classification xmlns:p184="http://schemas.microsoft.com/office/powerpoint/2018/4/main" val="ftr"/>
              </p:ext>
            </p:extLst>
          </p:nvPr>
        </p:nvSpPr>
        <p:spPr>
          <a:xfrm>
            <a:off x="3494088" y="6703060"/>
            <a:ext cx="5219700" cy="91440"/>
          </a:xfrm>
          <a:prstGeom prst="rect">
            <a:avLst/>
          </a:prstGeom>
        </p:spPr>
        <p:txBody>
          <a:bodyPr horzOverflow="overflow" lIns="0" tIns="0" rIns="0" bIns="0">
            <a:spAutoFit/>
          </a:bodyPr>
          <a:lstStyle/>
          <a:p>
            <a:pPr algn="l"/>
            <a:r>
              <a:rPr lang="en-US" sz="600">
                <a:solidFill>
                  <a:srgbClr val="000000">
                    <a:alpha val="50000"/>
                  </a:srgbClr>
                </a:solidFill>
                <a:latin typeface="Aptos" panose="020B0004020202020204" pitchFamily="34" charset="0"/>
              </a:rPr>
              <a:t>© 2026 The Hartford. Classification: Non-Confidential. No part of this document may be reproduced, published, or used without the permission of The Hartford.</a:t>
            </a:r>
          </a:p>
        </p:txBody>
      </p:sp>
    </p:spTree>
    <p:extLst>
      <p:ext uri="{BB962C8B-B14F-4D97-AF65-F5344CB8AC3E}">
        <p14:creationId xmlns:p14="http://schemas.microsoft.com/office/powerpoint/2010/main" val="2771823229"/>
      </p:ext>
    </p:extLst>
  </p:cSld>
  <p:clrMap bg1="lt1" tx1="dk1" bg2="lt2" tx2="dk2" accent1="accent1" accent2="accent2" accent3="accent3" accent4="accent4" accent5="accent5" accent6="accent6" hlink="hlink" folHlink="folHlink"/>
  <p:sldLayoutIdLst>
    <p:sldLayoutId id="2147483674" r:id="rId1"/>
    <p:sldLayoutId id="2147483698" r:id="rId2"/>
    <p:sldLayoutId id="2147483700" r:id="rId3"/>
    <p:sldLayoutId id="2147483699" r:id="rId4"/>
    <p:sldLayoutId id="2147483680" r:id="rId5"/>
    <p:sldLayoutId id="2147483676" r:id="rId6"/>
    <p:sldLayoutId id="2147483701" r:id="rId7"/>
    <p:sldLayoutId id="2147483702" r:id="rId8"/>
    <p:sldLayoutId id="2147483703" r:id="rId9"/>
    <p:sldLayoutId id="2147483704" r:id="rId10"/>
    <p:sldLayoutId id="2147483675" r:id="rId11"/>
    <p:sldLayoutId id="2147483677" r:id="rId12"/>
    <p:sldLayoutId id="2147483705" r:id="rId13"/>
    <p:sldLayoutId id="2147483706" r:id="rId14"/>
    <p:sldLayoutId id="2147483707" r:id="rId15"/>
    <p:sldLayoutId id="2147483682" r:id="rId16"/>
    <p:sldLayoutId id="2147483710" r:id="rId17"/>
    <p:sldLayoutId id="2147483711" r:id="rId18"/>
    <p:sldLayoutId id="2147483712" r:id="rId19"/>
    <p:sldLayoutId id="2147483696" r:id="rId20"/>
    <p:sldLayoutId id="2147483708" r:id="rId21"/>
    <p:sldLayoutId id="2147483709" r:id="rId22"/>
    <p:sldLayoutId id="2147483679" r:id="rId23"/>
  </p:sldLayoutIdLst>
  <p:hf hdr="0" dt="0"/>
  <p:txStyles>
    <p:titleStyle>
      <a:lvl1pPr algn="l" defTabSz="914400" rtl="0" eaLnBrk="1" latinLnBrk="0" hangingPunct="1">
        <a:lnSpc>
          <a:spcPct val="98000"/>
        </a:lnSpc>
        <a:spcBef>
          <a:spcPct val="0"/>
        </a:spcBef>
        <a:buNone/>
        <a:defRPr sz="2800" kern="1200">
          <a:solidFill>
            <a:srgbClr val="000000"/>
          </a:solidFill>
          <a:latin typeface="+mj-lt"/>
          <a:ea typeface="+mj-ea"/>
          <a:cs typeface="+mj-cs"/>
        </a:defRPr>
      </a:lvl1pPr>
    </p:titleStyle>
    <p:bodyStyle>
      <a:lvl1pPr marL="0" indent="0" algn="l" defTabSz="914400" rtl="0" eaLnBrk="1" fontAlgn="ctr" latinLnBrk="0" hangingPunct="1">
        <a:lnSpc>
          <a:spcPct val="100000"/>
        </a:lnSpc>
        <a:spcBef>
          <a:spcPts val="0"/>
        </a:spcBef>
        <a:spcAft>
          <a:spcPts val="600"/>
        </a:spcAft>
        <a:buFontTx/>
        <a:buNone/>
        <a:defRPr sz="1800" b="0" kern="1200">
          <a:solidFill>
            <a:srgbClr val="000000"/>
          </a:solidFill>
          <a:latin typeface="+mn-lt"/>
          <a:ea typeface="+mn-ea"/>
          <a:cs typeface="+mn-cs"/>
        </a:defRPr>
      </a:lvl1pPr>
      <a:lvl2pPr marL="341313" indent="-173038" algn="l" defTabSz="914400" rtl="0" eaLnBrk="1" fontAlgn="ctr" latinLnBrk="0" hangingPunct="1">
        <a:lnSpc>
          <a:spcPct val="100000"/>
        </a:lnSpc>
        <a:spcBef>
          <a:spcPts val="0"/>
        </a:spcBef>
        <a:spcAft>
          <a:spcPts val="600"/>
        </a:spcAft>
        <a:buFont typeface="Arial" panose="020B0604020202020204" pitchFamily="34" charset="0"/>
        <a:buChar char="•"/>
        <a:defRPr sz="1800" kern="1200">
          <a:solidFill>
            <a:srgbClr val="000000"/>
          </a:solidFill>
          <a:latin typeface="+mn-lt"/>
          <a:ea typeface="+mn-ea"/>
          <a:cs typeface="+mn-cs"/>
        </a:defRPr>
      </a:lvl2pPr>
      <a:lvl3pPr marL="514350" indent="-173038" algn="l" defTabSz="914400" rtl="0" eaLnBrk="1" fontAlgn="ctr" latinLnBrk="0" hangingPunct="1">
        <a:lnSpc>
          <a:spcPct val="100000"/>
        </a:lnSpc>
        <a:spcBef>
          <a:spcPts val="0"/>
        </a:spcBef>
        <a:spcAft>
          <a:spcPts val="600"/>
        </a:spcAft>
        <a:buFont typeface="Trust Hartford Sans" pitchFamily="50" charset="0"/>
        <a:buChar char="»"/>
        <a:defRPr sz="1600" kern="1200">
          <a:solidFill>
            <a:srgbClr val="000000"/>
          </a:solidFill>
          <a:latin typeface="+mn-lt"/>
          <a:ea typeface="+mn-ea"/>
          <a:cs typeface="+mn-cs"/>
        </a:defRPr>
      </a:lvl3pPr>
      <a:lvl4pPr marL="514350" indent="-173038" algn="l" defTabSz="914400" rtl="0" eaLnBrk="1" fontAlgn="ctr" latinLnBrk="0" hangingPunct="1">
        <a:lnSpc>
          <a:spcPct val="100000"/>
        </a:lnSpc>
        <a:spcBef>
          <a:spcPts val="0"/>
        </a:spcBef>
        <a:spcAft>
          <a:spcPts val="1200"/>
        </a:spcAft>
        <a:buFont typeface="Trust Hartford Sans Light" pitchFamily="50" charset="0"/>
        <a:buChar char="»"/>
        <a:defRPr sz="1800" kern="1200">
          <a:solidFill>
            <a:srgbClr val="000000"/>
          </a:solidFill>
          <a:latin typeface="+mn-lt"/>
          <a:ea typeface="+mn-ea"/>
          <a:cs typeface="+mn-cs"/>
        </a:defRPr>
      </a:lvl4pPr>
      <a:lvl5pPr marL="800100" indent="-227013" algn="l" defTabSz="914400" rtl="0" eaLnBrk="1" fontAlgn="ctr" latinLnBrk="0" hangingPunct="1">
        <a:lnSpc>
          <a:spcPct val="100000"/>
        </a:lnSpc>
        <a:spcBef>
          <a:spcPts val="0"/>
        </a:spcBef>
        <a:spcAft>
          <a:spcPts val="600"/>
        </a:spcAft>
        <a:buFont typeface="Trust Hartford Sans" pitchFamily="50" charset="0"/>
        <a:buChar char="—"/>
        <a:defRPr sz="1400" kern="1200">
          <a:solidFill>
            <a:srgbClr val="000000"/>
          </a:solidFill>
          <a:latin typeface="+mn-lt"/>
          <a:ea typeface="+mn-ea"/>
          <a:cs typeface="+mn-cs"/>
        </a:defRPr>
      </a:lvl5pPr>
      <a:lvl6pPr marL="566928" indent="0" algn="l" defTabSz="914400" rtl="0" eaLnBrk="1" fontAlgn="ctr" latinLnBrk="0" hangingPunct="1">
        <a:lnSpc>
          <a:spcPct val="101000"/>
        </a:lnSpc>
        <a:spcBef>
          <a:spcPts val="0"/>
        </a:spcBef>
        <a:spcAft>
          <a:spcPts val="1200"/>
        </a:spcAft>
        <a:buFont typeface="Trust Hartford Sans" pitchFamily="50" charset="0"/>
        <a:buNone/>
        <a:defRPr sz="1200" kern="1200">
          <a:solidFill>
            <a:srgbClr val="000000"/>
          </a:solidFill>
          <a:latin typeface="+mn-lt"/>
          <a:ea typeface="+mn-ea"/>
          <a:cs typeface="+mn-cs"/>
        </a:defRPr>
      </a:lvl6pPr>
      <a:lvl7pPr marL="786384" indent="0" algn="l" defTabSz="914400" rtl="0" eaLnBrk="1" fontAlgn="ctr" latinLnBrk="0" hangingPunct="1">
        <a:lnSpc>
          <a:spcPct val="101000"/>
        </a:lnSpc>
        <a:spcBef>
          <a:spcPts val="0"/>
        </a:spcBef>
        <a:spcAft>
          <a:spcPts val="1200"/>
        </a:spcAft>
        <a:buFont typeface="Arial" panose="020B0604020202020204" pitchFamily="34" charset="0"/>
        <a:buNone/>
        <a:defRPr sz="1200" kern="1200">
          <a:solidFill>
            <a:srgbClr val="000000"/>
          </a:solidFill>
          <a:latin typeface="+mn-lt"/>
          <a:ea typeface="+mn-ea"/>
          <a:cs typeface="+mn-cs"/>
        </a:defRPr>
      </a:lvl7pPr>
      <a:lvl8pPr marL="969264" indent="0" algn="l" defTabSz="914400" rtl="0" eaLnBrk="1" fontAlgn="ctr" latinLnBrk="0" hangingPunct="1">
        <a:lnSpc>
          <a:spcPct val="101000"/>
        </a:lnSpc>
        <a:spcBef>
          <a:spcPts val="0"/>
        </a:spcBef>
        <a:spcAft>
          <a:spcPts val="1600"/>
        </a:spcAft>
        <a:buFont typeface="Trust Hartford Sans" pitchFamily="50" charset="0"/>
        <a:buNone/>
        <a:defRPr sz="1200" kern="1200">
          <a:solidFill>
            <a:srgbClr val="000000"/>
          </a:solidFill>
          <a:latin typeface="+mn-lt"/>
          <a:ea typeface="+mn-ea"/>
          <a:cs typeface="+mn-cs"/>
        </a:defRPr>
      </a:lvl8pPr>
      <a:lvl9pPr marL="1188720" indent="0" algn="l" defTabSz="914400" rtl="0" eaLnBrk="1" fontAlgn="ctr" latinLnBrk="0" hangingPunct="1">
        <a:lnSpc>
          <a:spcPct val="101000"/>
        </a:lnSpc>
        <a:spcBef>
          <a:spcPts val="0"/>
        </a:spcBef>
        <a:spcAft>
          <a:spcPts val="1600"/>
        </a:spcAft>
        <a:buFont typeface="Arial" panose="020B0604020202020204" pitchFamily="34" charset="0"/>
        <a:buNone/>
        <a:defRPr sz="1200" kern="1200">
          <a:solidFill>
            <a:srgbClr val="000000"/>
          </a:solidFill>
          <a:latin typeface="+mn-lt"/>
          <a:ea typeface="+mn-ea"/>
          <a:cs typeface="+mn-cs"/>
        </a:defRPr>
      </a:lvl9pPr>
    </p:bodyStyle>
    <p:otherStyle>
      <a:defPPr>
        <a:defRPr lang="en-US"/>
      </a:defPPr>
      <a:lvl1pPr marL="0" algn="l" defTabSz="914400" rtl="0" eaLnBrk="1" fontAlgn="ctr" latinLnBrk="0" hangingPunct="1">
        <a:defRPr sz="1200" kern="1200">
          <a:solidFill>
            <a:schemeClr val="tx1"/>
          </a:solidFill>
          <a:latin typeface="+mn-lt"/>
          <a:ea typeface="+mn-ea"/>
          <a:cs typeface="+mn-cs"/>
        </a:defRPr>
      </a:lvl1pPr>
      <a:lvl2pPr marL="0" algn="l" defTabSz="914400" rtl="0" eaLnBrk="1" fontAlgn="ctr" latinLnBrk="0" hangingPunct="1">
        <a:defRPr sz="1200" kern="1200">
          <a:solidFill>
            <a:schemeClr val="tx1"/>
          </a:solidFill>
          <a:latin typeface="+mn-lt"/>
          <a:ea typeface="+mn-ea"/>
          <a:cs typeface="+mn-cs"/>
        </a:defRPr>
      </a:lvl2pPr>
      <a:lvl3pPr marL="0" algn="l" defTabSz="914400" rtl="0" eaLnBrk="1" fontAlgn="ctr" latinLnBrk="0" hangingPunct="1">
        <a:defRPr sz="1200" kern="1200">
          <a:solidFill>
            <a:schemeClr val="tx1"/>
          </a:solidFill>
          <a:latin typeface="+mn-lt"/>
          <a:ea typeface="+mn-ea"/>
          <a:cs typeface="+mn-cs"/>
        </a:defRPr>
      </a:lvl3pPr>
      <a:lvl4pPr marL="0" algn="l" defTabSz="914400" rtl="0" eaLnBrk="1" fontAlgn="ctr" latinLnBrk="0" hangingPunct="1">
        <a:defRPr sz="1200" kern="1200">
          <a:solidFill>
            <a:schemeClr val="tx1"/>
          </a:solidFill>
          <a:latin typeface="+mn-lt"/>
          <a:ea typeface="+mn-ea"/>
          <a:cs typeface="+mn-cs"/>
        </a:defRPr>
      </a:lvl4pPr>
      <a:lvl5pPr marL="0" algn="l" defTabSz="914400" rtl="0" eaLnBrk="1" fontAlgn="ctr" latinLnBrk="0" hangingPunct="1">
        <a:defRPr sz="1200" kern="1200">
          <a:solidFill>
            <a:schemeClr val="tx1"/>
          </a:solidFill>
          <a:latin typeface="+mn-lt"/>
          <a:ea typeface="+mn-ea"/>
          <a:cs typeface="+mn-cs"/>
        </a:defRPr>
      </a:lvl5pPr>
      <a:lvl6pPr marL="0" algn="l" defTabSz="914400" rtl="0" eaLnBrk="1" fontAlgn="ctr" latinLnBrk="0" hangingPunct="1">
        <a:defRPr sz="1200" kern="1200">
          <a:solidFill>
            <a:schemeClr val="tx1"/>
          </a:solidFill>
          <a:latin typeface="+mn-lt"/>
          <a:ea typeface="+mn-ea"/>
          <a:cs typeface="+mn-cs"/>
        </a:defRPr>
      </a:lvl6pPr>
      <a:lvl7pPr marL="0" algn="l" defTabSz="914400" rtl="0" eaLnBrk="1" fontAlgn="ctr" latinLnBrk="0" hangingPunct="1">
        <a:defRPr sz="1200" kern="1200">
          <a:solidFill>
            <a:schemeClr val="tx1"/>
          </a:solidFill>
          <a:latin typeface="+mn-lt"/>
          <a:ea typeface="+mn-ea"/>
          <a:cs typeface="+mn-cs"/>
        </a:defRPr>
      </a:lvl7pPr>
      <a:lvl8pPr marL="0" algn="l" defTabSz="914400" rtl="0" eaLnBrk="1" fontAlgn="ctr" latinLnBrk="0" hangingPunct="1">
        <a:defRPr sz="1200" kern="1200">
          <a:solidFill>
            <a:schemeClr val="tx1"/>
          </a:solidFill>
          <a:latin typeface="+mn-lt"/>
          <a:ea typeface="+mn-ea"/>
          <a:cs typeface="+mn-cs"/>
        </a:defRPr>
      </a:lvl8pPr>
      <a:lvl9pPr marL="0" algn="l" defTabSz="914400" rtl="0" eaLnBrk="1" fontAlgn="ctr"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60">
          <p15:clr>
            <a:srgbClr val="F26B43"/>
          </p15:clr>
        </p15:guide>
        <p15:guide id="3" pos="3720">
          <p15:clr>
            <a:srgbClr val="F26B43"/>
          </p15:clr>
        </p15:guide>
        <p15:guide id="4" pos="7320">
          <p15:clr>
            <a:srgbClr val="F26B43"/>
          </p15:clr>
        </p15:guide>
        <p15:guide id="5" orient="horz" pos="3840">
          <p15:clr>
            <a:srgbClr val="F26B43"/>
          </p15:clr>
        </p15:guide>
        <p15:guide id="6" orient="horz" pos="798">
          <p15:clr>
            <a:srgbClr val="F26B43"/>
          </p15:clr>
        </p15:guide>
        <p15:guide id="7" pos="39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microsoft.com/office/2018/10/relationships/comments" Target="../comments/modernComment_106_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microsoft.com/office/2018/10/relationships/comments" Target="../comments/modernComment_10A_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microsoft.com/office/2018/10/relationships/comments" Target="../comments/modernComment_107_0.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microsoft.com/office/2018/10/relationships/comments" Target="../comments/modernComment_108_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microsoft.com/office/2018/10/relationships/comments" Target="../comments/modernComment_118_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hyperlink" Target="https://public.tableau.com/app/profile/ariana.lopez8837/viz/clusteringcapstone/Dashboard1" TargetMode="External"/><Relationship Id="rId4" Type="http://schemas.openxmlformats.org/officeDocument/2006/relationships/hyperlink" Target="https://nyc-taxi-capstone.streamlit.app/" TargetMode="External"/><Relationship Id="rId5" Type="http://schemas.openxmlformats.org/officeDocument/2006/relationships/image" Target="../media/image5.png"/><Relationship Id="rId6"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74675" y="1328600"/>
            <a:ext cx="10816682" cy="1008033"/>
          </a:xfrm>
        </p:spPr>
        <p:txBody>
          <a:bodyPr/>
          <a:lstStyle/>
          <a:p>
            <a:r>
              <a:rPr>
                <a:latin typeface="Trust Hartford Serif XLight"/>
              </a:rPr>
              <a:t>NYC Taxi Data Platform</a:t>
            </a:r>
          </a:p>
          <a:p>
            <a:r>
              <a:rPr sz="1800" i="1">
                <a:latin typeface="Trust Hartford Serif XLight"/>
              </a:rPr>
              <a:t>How does adverse weather affect taxi demand across </a:t>
            </a:r>
            <a:r>
              <a:rPr lang="en-US" sz="1800" i="1">
                <a:latin typeface="Trust Hartford Serif XLight"/>
              </a:rPr>
              <a:t>New York City, and how have those patterns changed over time?</a:t>
            </a:r>
            <a:endParaRPr lang="en-US" sz="1800" i="1"/>
          </a:p>
        </p:txBody>
      </p:sp>
      <p:sp>
        <p:nvSpPr>
          <p:cNvPr id="3" name="Subtitle 2"/>
          <p:cNvSpPr>
            <a:spLocks noGrp="1"/>
          </p:cNvSpPr>
          <p:nvPr>
            <p:ph type="subTitle" idx="1"/>
          </p:nvPr>
        </p:nvSpPr>
        <p:spPr>
          <a:xfrm>
            <a:off x="574674" y="5366344"/>
            <a:ext cx="8140390" cy="581876"/>
          </a:xfrm>
        </p:spPr>
        <p:txBody>
          <a:bodyPr/>
          <a:lstStyle/>
          <a:p>
            <a:r>
              <a:t>Team AMO: </a:t>
            </a:r>
            <a:r>
              <a:rPr lang="en-US"/>
              <a:t>Ariana Lopez, Maryam Choudhury, Orlando</a:t>
            </a:r>
            <a:r>
              <a:t> Marin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Topics of Discussion</a:t>
            </a:r>
          </a:p>
        </p:txBody>
      </p:sp>
      <p:sp>
        <p:nvSpPr>
          <p:cNvPr id="4" name="TextBox 3"/>
          <p:cNvSpPr txBox="1"/>
          <p:nvPr/>
        </p:nvSpPr>
        <p:spPr>
          <a:xfrm>
            <a:off x="1010207" y="1620414"/>
            <a:ext cx="600000" cy="700000"/>
          </a:xfrm>
          <a:prstGeom prst="rect">
            <a:avLst/>
          </a:prstGeom>
          <a:noFill/>
        </p:spPr>
        <p:txBody>
          <a:bodyPr wrap="none">
            <a:spAutoFit/>
          </a:bodyPr>
          <a:lstStyle/>
          <a:p>
            <a:r>
              <a:rPr sz="4800">
                <a:solidFill>
                  <a:srgbClr val="FE3082"/>
                </a:solidFill>
              </a:rPr>
              <a:t>1</a:t>
            </a:r>
          </a:p>
        </p:txBody>
      </p:sp>
      <p:sp>
        <p:nvSpPr>
          <p:cNvPr id="5" name="TextBox 4"/>
          <p:cNvSpPr txBox="1"/>
          <p:nvPr/>
        </p:nvSpPr>
        <p:spPr>
          <a:xfrm>
            <a:off x="1810207" y="1770414"/>
            <a:ext cx="4342856" cy="369332"/>
          </a:xfrm>
          <a:prstGeom prst="rect">
            <a:avLst/>
          </a:prstGeom>
          <a:noFill/>
        </p:spPr>
        <p:txBody>
          <a:bodyPr wrap="none" lIns="91440" tIns="45720" rIns="91440" bIns="45720" anchor="t">
            <a:spAutoFit/>
          </a:bodyPr>
          <a:lstStyle/>
          <a:p>
            <a:r>
              <a:rPr sz="1800" b="1">
                <a:solidFill>
                  <a:srgbClr val="2D2D2D"/>
                </a:solidFill>
              </a:rPr>
              <a:t>The </a:t>
            </a:r>
            <a:r>
              <a:rPr lang="en-US" b="1">
                <a:solidFill>
                  <a:srgbClr val="2D2D2D"/>
                </a:solidFill>
              </a:rPr>
              <a:t>Business Question and Key Finding</a:t>
            </a:r>
            <a:endParaRPr sz="1800" b="1">
              <a:solidFill>
                <a:srgbClr val="2D2D2D"/>
              </a:solidFill>
            </a:endParaRPr>
          </a:p>
        </p:txBody>
      </p:sp>
      <p:sp>
        <p:nvSpPr>
          <p:cNvPr id="6" name="TextBox 5"/>
          <p:cNvSpPr txBox="1"/>
          <p:nvPr/>
        </p:nvSpPr>
        <p:spPr>
          <a:xfrm>
            <a:off x="1010207" y="2470414"/>
            <a:ext cx="600000" cy="700000"/>
          </a:xfrm>
          <a:prstGeom prst="rect">
            <a:avLst/>
          </a:prstGeom>
          <a:noFill/>
        </p:spPr>
        <p:txBody>
          <a:bodyPr wrap="none">
            <a:spAutoFit/>
          </a:bodyPr>
          <a:lstStyle/>
          <a:p>
            <a:r>
              <a:rPr sz="4800">
                <a:solidFill>
                  <a:srgbClr val="FE3082"/>
                </a:solidFill>
              </a:rPr>
              <a:t>2</a:t>
            </a:r>
          </a:p>
        </p:txBody>
      </p:sp>
      <p:sp>
        <p:nvSpPr>
          <p:cNvPr id="7" name="TextBox 6"/>
          <p:cNvSpPr txBox="1"/>
          <p:nvPr/>
        </p:nvSpPr>
        <p:spPr>
          <a:xfrm>
            <a:off x="1810207" y="2620414"/>
            <a:ext cx="9000000" cy="500000"/>
          </a:xfrm>
          <a:prstGeom prst="rect">
            <a:avLst/>
          </a:prstGeom>
          <a:noFill/>
        </p:spPr>
        <p:txBody>
          <a:bodyPr wrap="none">
            <a:spAutoFit/>
          </a:bodyPr>
          <a:lstStyle/>
          <a:p>
            <a:r>
              <a:rPr sz="1800" b="1">
                <a:solidFill>
                  <a:srgbClr val="2D2D2D"/>
                </a:solidFill>
              </a:rPr>
              <a:t>Data and Architecture</a:t>
            </a:r>
          </a:p>
        </p:txBody>
      </p:sp>
      <p:sp>
        <p:nvSpPr>
          <p:cNvPr id="8" name="TextBox 7"/>
          <p:cNvSpPr txBox="1"/>
          <p:nvPr/>
        </p:nvSpPr>
        <p:spPr>
          <a:xfrm>
            <a:off x="1010207" y="3320414"/>
            <a:ext cx="600000" cy="700000"/>
          </a:xfrm>
          <a:prstGeom prst="rect">
            <a:avLst/>
          </a:prstGeom>
          <a:noFill/>
        </p:spPr>
        <p:txBody>
          <a:bodyPr wrap="none">
            <a:spAutoFit/>
          </a:bodyPr>
          <a:lstStyle/>
          <a:p>
            <a:r>
              <a:rPr sz="4800">
                <a:solidFill>
                  <a:srgbClr val="FE3082"/>
                </a:solidFill>
              </a:rPr>
              <a:t>3</a:t>
            </a:r>
          </a:p>
        </p:txBody>
      </p:sp>
      <p:sp>
        <p:nvSpPr>
          <p:cNvPr id="9" name="TextBox 8"/>
          <p:cNvSpPr txBox="1"/>
          <p:nvPr/>
        </p:nvSpPr>
        <p:spPr>
          <a:xfrm>
            <a:off x="1810207" y="3470414"/>
            <a:ext cx="1552028" cy="369332"/>
          </a:xfrm>
          <a:prstGeom prst="rect">
            <a:avLst/>
          </a:prstGeom>
          <a:noFill/>
        </p:spPr>
        <p:txBody>
          <a:bodyPr wrap="none" lIns="91440" tIns="45720" rIns="91440" bIns="45720" anchor="t">
            <a:spAutoFit/>
          </a:bodyPr>
          <a:lstStyle/>
          <a:p>
            <a:r>
              <a:rPr lang="en-US" b="1">
                <a:solidFill>
                  <a:srgbClr val="2D2D2D"/>
                </a:solidFill>
              </a:rPr>
              <a:t>Our Findings</a:t>
            </a:r>
            <a:endParaRPr lang="en-US"/>
          </a:p>
        </p:txBody>
      </p:sp>
      <p:sp>
        <p:nvSpPr>
          <p:cNvPr id="10" name="TextBox 9"/>
          <p:cNvSpPr txBox="1"/>
          <p:nvPr/>
        </p:nvSpPr>
        <p:spPr>
          <a:xfrm>
            <a:off x="1010207" y="4170414"/>
            <a:ext cx="600000" cy="700000"/>
          </a:xfrm>
          <a:prstGeom prst="rect">
            <a:avLst/>
          </a:prstGeom>
          <a:noFill/>
        </p:spPr>
        <p:txBody>
          <a:bodyPr wrap="none">
            <a:spAutoFit/>
          </a:bodyPr>
          <a:lstStyle/>
          <a:p>
            <a:r>
              <a:rPr sz="4800">
                <a:solidFill>
                  <a:srgbClr val="FE3082"/>
                </a:solidFill>
              </a:rPr>
              <a:t>4</a:t>
            </a:r>
          </a:p>
        </p:txBody>
      </p:sp>
      <p:sp>
        <p:nvSpPr>
          <p:cNvPr id="11" name="TextBox 10"/>
          <p:cNvSpPr txBox="1"/>
          <p:nvPr/>
        </p:nvSpPr>
        <p:spPr>
          <a:xfrm>
            <a:off x="1810207" y="4320414"/>
            <a:ext cx="1495922" cy="369332"/>
          </a:xfrm>
          <a:prstGeom prst="rect">
            <a:avLst/>
          </a:prstGeom>
          <a:noFill/>
        </p:spPr>
        <p:txBody>
          <a:bodyPr wrap="none" lIns="91440" tIns="45720" rIns="91440" bIns="45720" anchor="t">
            <a:spAutoFit/>
          </a:bodyPr>
          <a:lstStyle/>
          <a:p>
            <a:r>
              <a:rPr lang="en-US" b="1">
                <a:solidFill>
                  <a:srgbClr val="2D2D2D"/>
                </a:solidFill>
              </a:rPr>
              <a:t>Future State</a:t>
            </a:r>
            <a:endParaRPr lang="en-US" sz="1800" b="1">
              <a:solidFill>
                <a:srgbClr val="2D2D2D"/>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a:p>
        </p:txBody>
      </p:sp>
      <p:sp>
        <p:nvSpPr>
          <p:cNvPr id="3" name="Title 2"/>
          <p:cNvSpPr>
            <a:spLocks noGrp="1"/>
          </p:cNvSpPr>
          <p:nvPr>
            <p:ph type="title"/>
          </p:nvPr>
        </p:nvSpPr>
        <p:spPr/>
        <p:txBody>
          <a:bodyPr/>
          <a:lstStyle/>
          <a:p>
            <a:r>
              <a:t>1</a:t>
            </a:r>
          </a:p>
        </p:txBody>
      </p:sp>
      <p:sp>
        <p:nvSpPr>
          <p:cNvPr id="4" name="Subtitle 3"/>
          <p:cNvSpPr>
            <a:spLocks noGrp="1"/>
          </p:cNvSpPr>
          <p:nvPr>
            <p:ph type="subTitle" idx="1"/>
          </p:nvPr>
        </p:nvSpPr>
        <p:spPr/>
        <p:txBody>
          <a:bodyPr/>
          <a:lstStyle/>
          <a:p>
            <a:r>
              <a:rPr lang="en-US"/>
              <a:t>The Business Question and Key Finding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Business Question</a:t>
            </a: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016366"/>
            <a:ext cx="11400000" cy="1385853"/>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1900" b="1">
                <a:solidFill>
                  <a:srgbClr val="2F63AF"/>
                </a:solidFill>
                <a:latin typeface="Trust Hartford Serif"/>
                <a:cs typeface="Segoe UI"/>
              </a:rPr>
              <a:t>How Does Adverse Weather Influence Taxi Demand, and Have Those Patterns Changed Over Time?</a:t>
            </a:r>
          </a:p>
          <a:p>
            <a:pPr algn="ctr"/>
            <a:endParaRPr lang="en-US" b="1">
              <a:solidFill>
                <a:srgbClr val="0D47A1"/>
              </a:solidFill>
              <a:latin typeface="Trust Hartford Serif"/>
              <a:cs typeface="Segoe UI"/>
            </a:endParaRPr>
          </a:p>
          <a:p>
            <a:pPr algn="ctr"/>
            <a:r>
              <a:rPr lang="en-US" sz="1600" i="1">
                <a:solidFill>
                  <a:srgbClr val="2F63AF"/>
                </a:solidFill>
                <a:latin typeface="Trust Hartford Serif"/>
              </a:rPr>
              <a:t>Comparison of January-May 2025 and January-May 2026</a:t>
            </a:r>
          </a:p>
        </p:txBody>
      </p:sp>
      <p:sp>
        <p:nvSpPr>
          <p:cNvPr id="6" name="Rounded Rectangle 5"/>
          <p:cNvSpPr/>
          <p:nvPr/>
        </p:nvSpPr>
        <p:spPr>
          <a:xfrm>
            <a:off x="389736" y="2509015"/>
            <a:ext cx="5490985" cy="285964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lstStyle/>
          <a:p>
            <a:pPr algn="ctr"/>
            <a:r>
              <a:rPr lang="en-US" sz="1600" b="1">
                <a:solidFill>
                  <a:srgbClr val="E65100"/>
                </a:solidFill>
                <a:latin typeface="Trust Hartford Sans"/>
              </a:rPr>
              <a:t>Why This Matters</a:t>
            </a:r>
          </a:p>
          <a:p>
            <a:pPr algn="ctr"/>
            <a:endParaRPr lang="en-US" sz="1600" b="1">
              <a:solidFill>
                <a:srgbClr val="E65100"/>
              </a:solidFill>
              <a:latin typeface="Trust Hartford Sans"/>
            </a:endParaRPr>
          </a:p>
          <a:p>
            <a:r>
              <a:rPr lang="en-US" sz="1400" b="1">
                <a:solidFill>
                  <a:srgbClr val="E65100"/>
                </a:solidFill>
                <a:latin typeface="Trust Hartford Sans"/>
                <a:cs typeface="Segoe UI"/>
              </a:rPr>
              <a:t>🚕 Operations</a:t>
            </a:r>
            <a:endParaRPr lang="en-US" sz="1400" b="1">
              <a:latin typeface="Trust Hartford Sans"/>
              <a:cs typeface="Segoe UI"/>
            </a:endParaRPr>
          </a:p>
          <a:p>
            <a:pPr marL="285750" indent="-285750">
              <a:buFont typeface="Arial"/>
              <a:buChar char="•"/>
            </a:pPr>
            <a:r>
              <a:rPr lang="en-US" sz="1400">
                <a:solidFill>
                  <a:srgbClr val="E65100"/>
                </a:solidFill>
                <a:latin typeface="Trust Hartford Sans"/>
              </a:rPr>
              <a:t>Anticipate demand changes during poor weather</a:t>
            </a:r>
          </a:p>
          <a:p>
            <a:endParaRPr lang="en-US" sz="1400">
              <a:solidFill>
                <a:srgbClr val="E65100"/>
              </a:solidFill>
              <a:latin typeface="Trust Hartford Sans"/>
            </a:endParaRPr>
          </a:p>
          <a:p>
            <a:r>
              <a:rPr lang="en-US" sz="1400" b="1">
                <a:solidFill>
                  <a:srgbClr val="E65100"/>
                </a:solidFill>
                <a:latin typeface="Trust Hartford Sans"/>
                <a:cs typeface="Segoe UI"/>
              </a:rPr>
              <a:t>💰 Business Decisions</a:t>
            </a:r>
            <a:endParaRPr lang="en-US" sz="1400" b="1">
              <a:latin typeface="Trust Hartford Sans"/>
              <a:cs typeface="Segoe UI"/>
            </a:endParaRPr>
          </a:p>
          <a:p>
            <a:pPr marL="285750" indent="-285750">
              <a:buFont typeface="Arial"/>
              <a:buChar char="•"/>
            </a:pPr>
            <a:r>
              <a:rPr lang="en-US" sz="1400">
                <a:solidFill>
                  <a:srgbClr val="E65100"/>
                </a:solidFill>
                <a:latin typeface="Trust Hartford Sans"/>
              </a:rPr>
              <a:t>Understand where weather has the greatest impact</a:t>
            </a:r>
          </a:p>
          <a:p>
            <a:pPr marL="285750" indent="-285750">
              <a:buFont typeface="Arial"/>
              <a:buChar char="•"/>
            </a:pPr>
            <a:endParaRPr lang="en-US" sz="1400">
              <a:solidFill>
                <a:srgbClr val="E65100"/>
              </a:solidFill>
              <a:latin typeface="Trust Hartford Sans"/>
            </a:endParaRPr>
          </a:p>
          <a:p>
            <a:r>
              <a:rPr lang="en-US" sz="1400" b="1">
                <a:solidFill>
                  <a:srgbClr val="E65100"/>
                </a:solidFill>
                <a:latin typeface="Trust Hartford Sans"/>
                <a:cs typeface="Segoe UI"/>
              </a:rPr>
              <a:t>🏙️ City Planning</a:t>
            </a:r>
            <a:endParaRPr lang="en-US" sz="1400" b="1">
              <a:latin typeface="Trust Hartford Sans"/>
              <a:cs typeface="Segoe UI"/>
            </a:endParaRPr>
          </a:p>
          <a:p>
            <a:pPr marL="285750" indent="-285750">
              <a:buFont typeface="Arial"/>
              <a:buChar char="•"/>
            </a:pPr>
            <a:r>
              <a:rPr lang="en-US" sz="1400">
                <a:solidFill>
                  <a:srgbClr val="E65100"/>
                </a:solidFill>
                <a:latin typeface="Trust Hartford Sans"/>
              </a:rPr>
              <a:t>Support transportation planning across boroughs</a:t>
            </a:r>
          </a:p>
        </p:txBody>
      </p:sp>
      <p:sp>
        <p:nvSpPr>
          <p:cNvPr id="7" name="Rounded Rectangle 6"/>
          <p:cNvSpPr/>
          <p:nvPr/>
        </p:nvSpPr>
        <p:spPr>
          <a:xfrm>
            <a:off x="6316090" y="2509016"/>
            <a:ext cx="5483910" cy="285964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lstStyle/>
          <a:p>
            <a:pPr algn="ctr"/>
            <a:r>
              <a:rPr sz="1600" b="1">
                <a:solidFill>
                  <a:srgbClr val="2E7D32"/>
                </a:solidFill>
                <a:latin typeface="Trust Hartford Sans"/>
              </a:rPr>
              <a:t>Scope</a:t>
            </a:r>
            <a:endParaRPr lang="en-US" sz="1600" b="1">
              <a:solidFill>
                <a:srgbClr val="2E7D32"/>
              </a:solidFill>
              <a:latin typeface="Trust Hartford Sans"/>
            </a:endParaRPr>
          </a:p>
          <a:p>
            <a:pPr algn="ctr"/>
            <a:endParaRPr lang="en-US" sz="1400" b="1">
              <a:solidFill>
                <a:srgbClr val="2D805D"/>
              </a:solidFill>
              <a:latin typeface="Trust Hartford Sans"/>
            </a:endParaRPr>
          </a:p>
          <a:p>
            <a:pPr marL="285750" indent="-285750">
              <a:lnSpc>
                <a:spcPct val="150000"/>
              </a:lnSpc>
              <a:buFont typeface="Arial"/>
              <a:buChar char="•"/>
            </a:pPr>
            <a:r>
              <a:rPr lang="en-US" sz="1400">
                <a:solidFill>
                  <a:srgbClr val="2D805D"/>
                </a:solidFill>
                <a:latin typeface="Trust Hartford Sans"/>
                <a:cs typeface="Segoe UI"/>
              </a:rPr>
              <a:t>🚕 Yellow + Green taxi, Jan-May 2025 vs Jan-May 2026</a:t>
            </a:r>
          </a:p>
          <a:p>
            <a:pPr marL="285750" indent="-285750">
              <a:lnSpc>
                <a:spcPct val="150000"/>
              </a:lnSpc>
              <a:buFont typeface="Arial"/>
              <a:buChar char="•"/>
            </a:pPr>
            <a:r>
              <a:rPr lang="en-US" sz="1400">
                <a:solidFill>
                  <a:srgbClr val="2D805D"/>
                </a:solidFill>
                <a:latin typeface="Trust Hartford Sans"/>
                <a:cs typeface="Segoe UI"/>
              </a:rPr>
              <a:t>📊 39.2 million trip records</a:t>
            </a:r>
          </a:p>
          <a:p>
            <a:pPr marL="285750" indent="-285750">
              <a:lnSpc>
                <a:spcPct val="150000"/>
              </a:lnSpc>
              <a:buFont typeface="Arial"/>
              <a:buChar char="•"/>
            </a:pPr>
            <a:r>
              <a:rPr lang="en-US" sz="1400">
                <a:solidFill>
                  <a:srgbClr val="2D805D"/>
                </a:solidFill>
                <a:latin typeface="Trust Hartford Sans"/>
                <a:cs typeface="Segoe UI"/>
              </a:rPr>
              <a:t>🌦️ 7,248 hours of NYC weather conditions</a:t>
            </a:r>
          </a:p>
          <a:p>
            <a:pPr marL="285750" indent="-285750">
              <a:lnSpc>
                <a:spcPct val="150000"/>
              </a:lnSpc>
              <a:buFont typeface="Arial"/>
              <a:buChar char="•"/>
            </a:pPr>
            <a:r>
              <a:rPr lang="en-US" sz="1400">
                <a:solidFill>
                  <a:srgbClr val="2D805D"/>
                </a:solidFill>
                <a:latin typeface="Trust Hartford Sans"/>
                <a:cs typeface="Segoe UI"/>
              </a:rPr>
              <a:t>🗺️ 265 taxi zones mapped to 5 boroughs</a:t>
            </a:r>
          </a:p>
          <a:p>
            <a:pPr marL="285750" indent="-285750" algn="ctr">
              <a:lnSpc>
                <a:spcPct val="150000"/>
              </a:lnSpc>
              <a:buFont typeface="Arial"/>
              <a:buChar char="•"/>
            </a:pPr>
            <a:endParaRPr lang="en-US" sz="1400">
              <a:solidFill>
                <a:srgbClr val="2D805D"/>
              </a:solidFill>
              <a:cs typeface="Segoe UI"/>
            </a:endParaRPr>
          </a:p>
          <a:p>
            <a:pPr algn="ctr"/>
            <a:r>
              <a:rPr lang="en-US" sz="1400" b="1">
                <a:solidFill>
                  <a:srgbClr val="2D805D"/>
                </a:solidFill>
                <a:latin typeface="Trust Hartford Sans"/>
                <a:cs typeface="Segoe UI"/>
              </a:rPr>
              <a:t>🌧️ Adverse weather = rain and snow</a:t>
            </a:r>
          </a:p>
          <a:p>
            <a:pPr>
              <a:lnSpc>
                <a:spcPct val="150000"/>
              </a:lnSpc>
              <a:buFont typeface="Arial"/>
            </a:pPr>
            <a:endParaRPr lang="en-US" sz="1400">
              <a:solidFill>
                <a:srgbClr val="2D805D"/>
              </a:solidFill>
              <a:cs typeface="Segoe UI"/>
            </a:endParaRPr>
          </a:p>
          <a:p>
            <a:pPr>
              <a:spcBef>
                <a:spcPts val="600"/>
              </a:spcBef>
            </a:pPr>
            <a:endParaRPr lang="en-US" sz="1300">
              <a:solidFill>
                <a:srgbClr val="2D2D2D"/>
              </a:solidFill>
            </a:endParaRPr>
          </a:p>
        </p:txBody>
      </p:sp>
      <p:sp>
        <p:nvSpPr>
          <p:cNvPr id="8" name="Rounded Rectangle 7"/>
          <p:cNvSpPr/>
          <p:nvPr/>
        </p:nvSpPr>
        <p:spPr>
          <a:xfrm>
            <a:off x="400000" y="5475314"/>
            <a:ext cx="11400000" cy="1159223"/>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1600" b="1">
                <a:solidFill>
                  <a:srgbClr val="8B0138"/>
                </a:solidFill>
              </a:rPr>
              <a:t>How We Measured Impact</a:t>
            </a:r>
          </a:p>
          <a:p>
            <a:pPr algn="ctr"/>
            <a:endParaRPr lang="en-US" sz="1400" b="1">
              <a:solidFill>
                <a:srgbClr val="8B0138"/>
              </a:solidFill>
              <a:latin typeface="Trust Hartford Sans"/>
              <a:cs typeface="Segoe UI"/>
            </a:endParaRPr>
          </a:p>
          <a:p>
            <a:pPr algn="ctr"/>
            <a:r>
              <a:rPr lang="en-US" sz="1400">
                <a:solidFill>
                  <a:srgbClr val="8B0138"/>
                </a:solidFill>
                <a:latin typeface="Trust Hartford Sans"/>
                <a:cs typeface="Segoe UI"/>
              </a:rPr>
              <a:t>We combined hourly weather conditions with taxi activity and compared the same months across both years to ensure a fair comparison.</a:t>
            </a:r>
            <a:endParaRPr lang="en-US" sz="1400">
              <a:solidFill>
                <a:srgbClr val="8B0138"/>
              </a:solidFill>
              <a:latin typeface="Trust Hartford Sans"/>
            </a:endParaRPr>
          </a:p>
          <a:p>
            <a:pPr algn="ctr"/>
            <a:endParaRPr lang="en-US" sz="1400" b="1">
              <a:solidFill>
                <a:srgbClr val="2D2D2D"/>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79565-056E-1EB6-B0D9-FF0AF82E35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E5FBD3-F57C-9524-3185-117740FA0BDD}"/>
              </a:ext>
            </a:extLst>
          </p:cNvPr>
          <p:cNvSpPr>
            <a:spLocks noGrp="1"/>
          </p:cNvSpPr>
          <p:nvPr>
            <p:ph type="title"/>
          </p:nvPr>
        </p:nvSpPr>
        <p:spPr/>
        <p:txBody>
          <a:bodyPr/>
          <a:lstStyle/>
          <a:p>
            <a:r>
              <a:t>Headline Finding</a:t>
            </a:r>
          </a:p>
        </p:txBody>
      </p:sp>
      <p:sp>
        <p:nvSpPr>
          <p:cNvPr id="4" name="Rectangle 3">
            <a:extLst>
              <a:ext uri="{FF2B5EF4-FFF2-40B4-BE49-F238E27FC236}">
                <a16:creationId xmlns:a16="http://schemas.microsoft.com/office/drawing/2014/main" id="{68F01F42-121F-7EFD-11F9-96F22BC65B16}"/>
              </a:ext>
            </a:extLst>
          </p:cNvPr>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a:extLst>
              <a:ext uri="{FF2B5EF4-FFF2-40B4-BE49-F238E27FC236}">
                <a16:creationId xmlns:a16="http://schemas.microsoft.com/office/drawing/2014/main" id="{E831FFAF-D961-34C9-4C81-8C1B9B8B0C43}"/>
              </a:ext>
            </a:extLst>
          </p:cNvPr>
          <p:cNvSpPr/>
          <p:nvPr/>
        </p:nvSpPr>
        <p:spPr>
          <a:xfrm>
            <a:off x="400000" y="1128755"/>
            <a:ext cx="11400000" cy="14000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endParaRPr lang="en-US" sz="1600" b="1">
              <a:solidFill>
                <a:srgbClr val="2D2D2D"/>
              </a:solidFill>
            </a:endParaRPr>
          </a:p>
          <a:p>
            <a:pPr algn="ctr"/>
            <a:r>
              <a:rPr lang="en-US" sz="1900" b="1">
                <a:solidFill>
                  <a:srgbClr val="8B0138"/>
                </a:solidFill>
              </a:rPr>
              <a:t> A single storm-hour during rush hour now costs more in lost revenue than several off-peak storm-hours combined.</a:t>
            </a:r>
          </a:p>
          <a:p>
            <a:pPr algn="ctr"/>
            <a:endParaRPr lang="en-US">
              <a:solidFill>
                <a:srgbClr val="FFFFFF"/>
              </a:solidFill>
            </a:endParaRPr>
          </a:p>
        </p:txBody>
      </p:sp>
      <p:sp>
        <p:nvSpPr>
          <p:cNvPr id="6" name="Rounded Rectangle 5">
            <a:extLst>
              <a:ext uri="{FF2B5EF4-FFF2-40B4-BE49-F238E27FC236}">
                <a16:creationId xmlns:a16="http://schemas.microsoft.com/office/drawing/2014/main" id="{94BAC692-A57D-6F57-D8E9-813F7DA39B7C}"/>
              </a:ext>
            </a:extLst>
          </p:cNvPr>
          <p:cNvSpPr/>
          <p:nvPr/>
        </p:nvSpPr>
        <p:spPr>
          <a:xfrm>
            <a:off x="400000" y="2943774"/>
            <a:ext cx="3200000" cy="14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0D47A1"/>
                </a:solidFill>
              </a:rPr>
              <a:t>38M+</a:t>
            </a:r>
          </a:p>
          <a:p>
            <a:pPr algn="ctr"/>
            <a:r>
              <a:rPr sz="1200">
                <a:solidFill>
                  <a:srgbClr val="555555"/>
                </a:solidFill>
              </a:rPr>
              <a:t>Trip Records Analyzed</a:t>
            </a:r>
          </a:p>
        </p:txBody>
      </p:sp>
      <p:sp>
        <p:nvSpPr>
          <p:cNvPr id="7" name="Rounded Rectangle 6">
            <a:extLst>
              <a:ext uri="{FF2B5EF4-FFF2-40B4-BE49-F238E27FC236}">
                <a16:creationId xmlns:a16="http://schemas.microsoft.com/office/drawing/2014/main" id="{92F307B3-32E8-4798-07AA-CE89169BE790}"/>
              </a:ext>
            </a:extLst>
          </p:cNvPr>
          <p:cNvSpPr/>
          <p:nvPr/>
        </p:nvSpPr>
        <p:spPr>
          <a:xfrm>
            <a:off x="4500642" y="2943774"/>
            <a:ext cx="3200000" cy="14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0D47A1"/>
                </a:solidFill>
              </a:rPr>
              <a:t>10 months</a:t>
            </a:r>
          </a:p>
          <a:p>
            <a:pPr algn="ctr"/>
            <a:r>
              <a:rPr sz="1200">
                <a:solidFill>
                  <a:srgbClr val="555555"/>
                </a:solidFill>
              </a:rPr>
              <a:t>Jan-May 2025 vs 2026</a:t>
            </a:r>
          </a:p>
        </p:txBody>
      </p:sp>
      <p:sp>
        <p:nvSpPr>
          <p:cNvPr id="8" name="Rounded Rectangle 7">
            <a:extLst>
              <a:ext uri="{FF2B5EF4-FFF2-40B4-BE49-F238E27FC236}">
                <a16:creationId xmlns:a16="http://schemas.microsoft.com/office/drawing/2014/main" id="{53CA5D5C-F525-5CEA-D403-7EDE5D23B2FF}"/>
              </a:ext>
            </a:extLst>
          </p:cNvPr>
          <p:cNvSpPr/>
          <p:nvPr/>
        </p:nvSpPr>
        <p:spPr>
          <a:xfrm>
            <a:off x="8601283" y="2943774"/>
            <a:ext cx="3200000" cy="14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0D47A1"/>
                </a:solidFill>
              </a:rPr>
              <a:t>5 boroughs</a:t>
            </a:r>
          </a:p>
          <a:p>
            <a:pPr algn="ctr"/>
            <a:r>
              <a:rPr sz="1200">
                <a:solidFill>
                  <a:srgbClr val="555555"/>
                </a:solidFill>
              </a:rPr>
              <a:t>Weather Impact Compared</a:t>
            </a:r>
          </a:p>
        </p:txBody>
      </p:sp>
      <p:sp>
        <p:nvSpPr>
          <p:cNvPr id="9" name="Rounded Rectangle 8">
            <a:extLst>
              <a:ext uri="{FF2B5EF4-FFF2-40B4-BE49-F238E27FC236}">
                <a16:creationId xmlns:a16="http://schemas.microsoft.com/office/drawing/2014/main" id="{88EA5623-CF14-F675-B41F-9D11B723E59E}"/>
              </a:ext>
            </a:extLst>
          </p:cNvPr>
          <p:cNvSpPr/>
          <p:nvPr/>
        </p:nvSpPr>
        <p:spPr>
          <a:xfrm>
            <a:off x="400000" y="4772528"/>
            <a:ext cx="11400000" cy="1603848"/>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b="1">
                <a:solidFill>
                  <a:srgbClr val="2D805D"/>
                </a:solidFill>
              </a:rPr>
              <a:t>Business Insight</a:t>
            </a:r>
          </a:p>
          <a:p>
            <a:pPr algn="ctr"/>
            <a:endParaRPr lang="en-US" b="1">
              <a:solidFill>
                <a:srgbClr val="2D805D"/>
              </a:solidFill>
            </a:endParaRPr>
          </a:p>
          <a:p>
            <a:pPr algn="ctr"/>
            <a:r>
              <a:rPr lang="en-US">
                <a:solidFill>
                  <a:srgbClr val="2D805D"/>
                </a:solidFill>
              </a:rPr>
              <a:t>Pre-position vehicles before forecasted storms, prioritize rush-hour coverage, and consider dynamic incentives for drivers to stay on the road during adverse conditions.</a:t>
            </a:r>
          </a:p>
        </p:txBody>
      </p:sp>
    </p:spTree>
    <p:extLst>
      <p:ext uri="{BB962C8B-B14F-4D97-AF65-F5344CB8AC3E}">
        <p14:creationId xmlns:p14="http://schemas.microsoft.com/office/powerpoint/2010/main" val="2052517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a:p>
        </p:txBody>
      </p:sp>
      <p:sp>
        <p:nvSpPr>
          <p:cNvPr id="3" name="Title 2"/>
          <p:cNvSpPr>
            <a:spLocks noGrp="1"/>
          </p:cNvSpPr>
          <p:nvPr>
            <p:ph type="title"/>
          </p:nvPr>
        </p:nvSpPr>
        <p:spPr/>
        <p:txBody>
          <a:bodyPr/>
          <a:lstStyle/>
          <a:p>
            <a:r>
              <a:t>2</a:t>
            </a:r>
          </a:p>
        </p:txBody>
      </p:sp>
      <p:sp>
        <p:nvSpPr>
          <p:cNvPr id="4" name="Subtitle 3"/>
          <p:cNvSpPr>
            <a:spLocks noGrp="1"/>
          </p:cNvSpPr>
          <p:nvPr>
            <p:ph type="subTitle" idx="1"/>
          </p:nvPr>
        </p:nvSpPr>
        <p:spPr/>
        <p:txBody>
          <a:bodyPr/>
          <a:lstStyle/>
          <a:p>
            <a:r>
              <a:t>Data and Architecture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Data</a:t>
            </a: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97780" y="1257975"/>
            <a:ext cx="3411366" cy="3815951"/>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lstStyle/>
          <a:p>
            <a:pPr algn="ctr"/>
            <a:r>
              <a:rPr lang="en-US" b="1">
                <a:solidFill>
                  <a:srgbClr val="0D47A1"/>
                </a:solidFill>
              </a:rPr>
              <a:t>What We Were Given</a:t>
            </a:r>
          </a:p>
          <a:p>
            <a:pPr algn="ctr"/>
            <a:endParaRPr lang="en-US" sz="1300" b="1">
              <a:solidFill>
                <a:srgbClr val="2F63AF"/>
              </a:solidFill>
            </a:endParaRPr>
          </a:p>
          <a:p>
            <a:pPr>
              <a:lnSpc>
                <a:spcPct val="150000"/>
              </a:lnSpc>
              <a:spcBef>
                <a:spcPts val="800"/>
              </a:spcBef>
            </a:pPr>
            <a:r>
              <a:rPr lang="en-US" sz="1500">
                <a:solidFill>
                  <a:srgbClr val="2F63AF"/>
                </a:solidFill>
              </a:rPr>
              <a:t>•  20 Parquet files in S3</a:t>
            </a:r>
          </a:p>
          <a:p>
            <a:pPr>
              <a:lnSpc>
                <a:spcPct val="150000"/>
              </a:lnSpc>
              <a:spcBef>
                <a:spcPts val="800"/>
              </a:spcBef>
            </a:pPr>
            <a:r>
              <a:rPr lang="en-US" sz="1500">
                <a:solidFill>
                  <a:srgbClr val="2F63AF"/>
                </a:solidFill>
              </a:rPr>
              <a:t>•  Yellow: 38.8M rows</a:t>
            </a:r>
          </a:p>
          <a:p>
            <a:pPr>
              <a:lnSpc>
                <a:spcPct val="150000"/>
              </a:lnSpc>
              <a:spcBef>
                <a:spcPts val="800"/>
              </a:spcBef>
            </a:pPr>
            <a:r>
              <a:rPr lang="en-US" sz="1500">
                <a:solidFill>
                  <a:srgbClr val="2F63AF"/>
                </a:solidFill>
              </a:rPr>
              <a:t>•  Green: 465K rows</a:t>
            </a:r>
          </a:p>
          <a:p>
            <a:pPr>
              <a:lnSpc>
                <a:spcPct val="150000"/>
              </a:lnSpc>
              <a:spcBef>
                <a:spcPts val="800"/>
              </a:spcBef>
            </a:pPr>
            <a:r>
              <a:rPr lang="en-US" sz="1500">
                <a:solidFill>
                  <a:srgbClr val="2F63AF"/>
                </a:solidFill>
              </a:rPr>
              <a:t>•  Jan-May 2025 &amp; 2026</a:t>
            </a:r>
          </a:p>
          <a:p>
            <a:pPr>
              <a:lnSpc>
                <a:spcPct val="150000"/>
              </a:lnSpc>
              <a:spcBef>
                <a:spcPts val="800"/>
              </a:spcBef>
            </a:pPr>
            <a:r>
              <a:rPr lang="en-US" sz="1500">
                <a:solidFill>
                  <a:srgbClr val="2F63AF"/>
                </a:solidFill>
              </a:rPr>
              <a:t>•  265 taxi zones</a:t>
            </a:r>
          </a:p>
        </p:txBody>
      </p:sp>
      <p:sp>
        <p:nvSpPr>
          <p:cNvPr id="6" name="Rounded Rectangle 5"/>
          <p:cNvSpPr/>
          <p:nvPr/>
        </p:nvSpPr>
        <p:spPr>
          <a:xfrm>
            <a:off x="4297219" y="1257976"/>
            <a:ext cx="3404709" cy="3813876"/>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lstStyle/>
          <a:p>
            <a:pPr algn="ctr"/>
            <a:r>
              <a:rPr lang="en-US" b="1">
                <a:solidFill>
                  <a:srgbClr val="2E7D32"/>
                </a:solidFill>
              </a:rPr>
              <a:t>What We Added</a:t>
            </a:r>
          </a:p>
          <a:p>
            <a:pPr algn="ctr"/>
            <a:endParaRPr lang="en-US" sz="1400" b="1">
              <a:solidFill>
                <a:srgbClr val="2E7D32"/>
              </a:solidFill>
            </a:endParaRPr>
          </a:p>
          <a:p>
            <a:pPr marL="285750" indent="-285750">
              <a:spcBef>
                <a:spcPts val="800"/>
              </a:spcBef>
              <a:buFont typeface="Arial,Sans-Serif"/>
              <a:buChar char="•"/>
            </a:pPr>
            <a:r>
              <a:rPr lang="en-US" sz="1500">
                <a:solidFill>
                  <a:srgbClr val="2D805D"/>
                </a:solidFill>
              </a:rPr>
              <a:t>Open-</a:t>
            </a:r>
            <a:r>
              <a:rPr lang="en-US" sz="1500" err="1">
                <a:solidFill>
                  <a:srgbClr val="2D805D"/>
                </a:solidFill>
              </a:rPr>
              <a:t>Meteo</a:t>
            </a:r>
            <a:r>
              <a:rPr lang="en-US" sz="1500">
                <a:solidFill>
                  <a:srgbClr val="2D805D"/>
                </a:solidFill>
              </a:rPr>
              <a:t> Historical Weather API</a:t>
            </a:r>
          </a:p>
          <a:p>
            <a:pPr marL="285750" indent="-285750">
              <a:spcBef>
                <a:spcPts val="800"/>
              </a:spcBef>
              <a:buFont typeface="Arial,Sans-Serif"/>
              <a:buChar char="•"/>
            </a:pPr>
            <a:r>
              <a:rPr lang="en-US" sz="1500">
                <a:solidFill>
                  <a:srgbClr val="2D805D"/>
                </a:solidFill>
              </a:rPr>
              <a:t>7,248 hourly records</a:t>
            </a:r>
          </a:p>
          <a:p>
            <a:pPr marL="742950" lvl="1" indent="-285750">
              <a:spcBef>
                <a:spcPts val="800"/>
              </a:spcBef>
              <a:buFont typeface="Courier New"/>
              <a:buChar char="o"/>
            </a:pPr>
            <a:r>
              <a:rPr lang="en-US" sz="1500">
                <a:solidFill>
                  <a:srgbClr val="2D805D"/>
                </a:solidFill>
              </a:rPr>
              <a:t>Temperature</a:t>
            </a:r>
          </a:p>
          <a:p>
            <a:pPr marL="742950" lvl="1" indent="-285750">
              <a:spcBef>
                <a:spcPts val="800"/>
              </a:spcBef>
              <a:buFont typeface="Courier New"/>
              <a:buChar char="o"/>
            </a:pPr>
            <a:r>
              <a:rPr lang="en-US" sz="1500">
                <a:solidFill>
                  <a:srgbClr val="2D805D"/>
                </a:solidFill>
              </a:rPr>
              <a:t>Snow</a:t>
            </a:r>
          </a:p>
          <a:p>
            <a:pPr marL="742950" lvl="1" indent="-285750">
              <a:spcBef>
                <a:spcPts val="800"/>
              </a:spcBef>
              <a:buFont typeface="Courier New"/>
              <a:buChar char="o"/>
            </a:pPr>
            <a:r>
              <a:rPr lang="en-US" sz="1500">
                <a:solidFill>
                  <a:srgbClr val="2D805D"/>
                </a:solidFill>
              </a:rPr>
              <a:t>Rain</a:t>
            </a:r>
          </a:p>
          <a:p>
            <a:pPr marL="742950" lvl="1" indent="-285750">
              <a:spcBef>
                <a:spcPts val="800"/>
              </a:spcBef>
              <a:buFont typeface="Courier New"/>
              <a:buChar char="o"/>
            </a:pPr>
            <a:r>
              <a:rPr lang="en-US" sz="1500" err="1">
                <a:solidFill>
                  <a:srgbClr val="2D805D"/>
                </a:solidFill>
              </a:rPr>
              <a:t>Precipt</a:t>
            </a:r>
            <a:r>
              <a:rPr lang="en-US" sz="1500">
                <a:solidFill>
                  <a:srgbClr val="2D805D"/>
                </a:solidFill>
              </a:rPr>
              <a:t>ation</a:t>
            </a:r>
          </a:p>
          <a:p>
            <a:pPr marL="742950" lvl="1" indent="-285750">
              <a:spcBef>
                <a:spcPts val="800"/>
              </a:spcBef>
              <a:buFont typeface="Courier New"/>
              <a:buChar char="o"/>
            </a:pPr>
            <a:r>
              <a:rPr lang="en-US" sz="1500">
                <a:solidFill>
                  <a:srgbClr val="2D805D"/>
                </a:solidFill>
              </a:rPr>
              <a:t>Weather description</a:t>
            </a:r>
          </a:p>
          <a:p>
            <a:pPr marL="742950" lvl="1" indent="-285750">
              <a:spcBef>
                <a:spcPts val="800"/>
              </a:spcBef>
              <a:buFont typeface="Courier New"/>
              <a:buChar char="o"/>
            </a:pPr>
            <a:r>
              <a:rPr lang="en-US" sz="1500">
                <a:solidFill>
                  <a:srgbClr val="2D805D"/>
                </a:solidFill>
              </a:rPr>
              <a:t>Wind</a:t>
            </a:r>
          </a:p>
          <a:p>
            <a:pPr lvl="1">
              <a:spcBef>
                <a:spcPts val="800"/>
              </a:spcBef>
            </a:pPr>
            <a:endParaRPr lang="en-US" sz="1300">
              <a:solidFill>
                <a:srgbClr val="2D2D2D"/>
              </a:solidFill>
            </a:endParaRPr>
          </a:p>
        </p:txBody>
      </p:sp>
      <p:sp>
        <p:nvSpPr>
          <p:cNvPr id="7" name="Rounded Rectangle 6"/>
          <p:cNvSpPr/>
          <p:nvPr/>
        </p:nvSpPr>
        <p:spPr>
          <a:xfrm>
            <a:off x="8293073" y="1180854"/>
            <a:ext cx="3404708" cy="3893071"/>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lstStyle/>
          <a:p>
            <a:pPr algn="ctr"/>
            <a:r>
              <a:rPr lang="en-US" b="1">
                <a:solidFill>
                  <a:srgbClr val="E65100"/>
                </a:solidFill>
              </a:rPr>
              <a:t>Schema Challenges</a:t>
            </a:r>
            <a:endParaRPr lang="en-US"/>
          </a:p>
          <a:p>
            <a:endParaRPr lang="en-US" sz="1400" b="1">
              <a:solidFill>
                <a:srgbClr val="E65100"/>
              </a:solidFill>
            </a:endParaRPr>
          </a:p>
          <a:p>
            <a:pPr marL="171450" indent="-171450">
              <a:lnSpc>
                <a:spcPct val="150000"/>
              </a:lnSpc>
              <a:spcBef>
                <a:spcPts val="600"/>
              </a:spcBef>
              <a:buFont typeface="Arial"/>
              <a:buChar char="•"/>
            </a:pPr>
            <a:r>
              <a:rPr lang="en-US" sz="1600">
                <a:solidFill>
                  <a:schemeClr val="accent1">
                    <a:lumMod val="60000"/>
                    <a:lumOff val="40000"/>
                  </a:schemeClr>
                </a:solidFill>
              </a:rPr>
              <a:t>Different timestamp fields</a:t>
            </a:r>
          </a:p>
          <a:p>
            <a:pPr marL="171450" indent="-171450">
              <a:lnSpc>
                <a:spcPct val="150000"/>
              </a:lnSpc>
              <a:spcBef>
                <a:spcPts val="600"/>
              </a:spcBef>
              <a:buFont typeface="Arial"/>
              <a:buChar char="•"/>
            </a:pPr>
            <a:r>
              <a:rPr lang="en-US" sz="1600">
                <a:solidFill>
                  <a:schemeClr val="accent1">
                    <a:lumMod val="60000"/>
                    <a:lumOff val="40000"/>
                  </a:schemeClr>
                </a:solidFill>
              </a:rPr>
              <a:t>Green-only fields</a:t>
            </a:r>
          </a:p>
          <a:p>
            <a:pPr marL="171450" indent="-171450">
              <a:lnSpc>
                <a:spcPct val="150000"/>
              </a:lnSpc>
              <a:spcBef>
                <a:spcPts val="600"/>
              </a:spcBef>
              <a:buFont typeface="Arial"/>
              <a:buChar char="•"/>
            </a:pPr>
            <a:r>
              <a:rPr lang="en-US" sz="1600">
                <a:solidFill>
                  <a:schemeClr val="accent1">
                    <a:lumMod val="60000"/>
                    <a:lumOff val="40000"/>
                  </a:schemeClr>
                </a:solidFill>
              </a:rPr>
              <a:t>Case-sensitive inferred columns</a:t>
            </a:r>
          </a:p>
        </p:txBody>
      </p:sp>
      <p:sp>
        <p:nvSpPr>
          <p:cNvPr id="8" name="Rounded Rectangle 7"/>
          <p:cNvSpPr/>
          <p:nvPr/>
        </p:nvSpPr>
        <p:spPr>
          <a:xfrm>
            <a:off x="400000" y="5353121"/>
            <a:ext cx="4370878" cy="1046879"/>
          </a:xfrm>
          <a:prstGeom prst="roundRect">
            <a:avLst/>
          </a:prstGeom>
          <a:solidFill>
            <a:schemeClr val="bg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800" b="1">
                <a:solidFill>
                  <a:srgbClr val="8B0138"/>
                </a:solidFill>
              </a:rPr>
              <a:t>39,224,735</a:t>
            </a:r>
          </a:p>
          <a:p>
            <a:pPr algn="ctr"/>
            <a:r>
              <a:rPr sz="1200">
                <a:solidFill>
                  <a:srgbClr val="8B0138"/>
                </a:solidFill>
              </a:rPr>
              <a:t>Total Trip Records</a:t>
            </a:r>
          </a:p>
        </p:txBody>
      </p:sp>
      <p:sp>
        <p:nvSpPr>
          <p:cNvPr id="9" name="Rounded Rectangle 8"/>
          <p:cNvSpPr/>
          <p:nvPr/>
        </p:nvSpPr>
        <p:spPr>
          <a:xfrm>
            <a:off x="4400000" y="5353121"/>
            <a:ext cx="3200000" cy="1046879"/>
          </a:xfrm>
          <a:prstGeom prst="roundRect">
            <a:avLst/>
          </a:prstGeom>
          <a:solidFill>
            <a:schemeClr val="bg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800" b="1">
                <a:solidFill>
                  <a:schemeClr val="bg2">
                    <a:lumMod val="49000"/>
                  </a:schemeClr>
                </a:solidFill>
              </a:rPr>
              <a:t>7,248</a:t>
            </a:r>
            <a:endParaRPr lang="en-US">
              <a:solidFill>
                <a:schemeClr val="bg2">
                  <a:lumMod val="49000"/>
                </a:schemeClr>
              </a:solidFill>
            </a:endParaRPr>
          </a:p>
          <a:p>
            <a:pPr algn="ctr"/>
            <a:r>
              <a:rPr sz="1200">
                <a:solidFill>
                  <a:srgbClr val="8B0138"/>
                </a:solidFill>
              </a:rPr>
              <a:t>Weather Hours</a:t>
            </a:r>
          </a:p>
        </p:txBody>
      </p:sp>
      <p:sp>
        <p:nvSpPr>
          <p:cNvPr id="10" name="Rounded Rectangle 9"/>
          <p:cNvSpPr/>
          <p:nvPr/>
        </p:nvSpPr>
        <p:spPr>
          <a:xfrm>
            <a:off x="6931757" y="5353121"/>
            <a:ext cx="4668243" cy="1046879"/>
          </a:xfrm>
          <a:prstGeom prst="roundRect">
            <a:avLst/>
          </a:prstGeom>
          <a:solidFill>
            <a:schemeClr val="bg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sz="2800" b="1">
                <a:solidFill>
                  <a:schemeClr val="bg2">
                    <a:lumMod val="49000"/>
                  </a:schemeClr>
                </a:solidFill>
              </a:rPr>
              <a:t>265</a:t>
            </a:r>
            <a:endParaRPr lang="en-US" sz="2800" b="1">
              <a:solidFill>
                <a:schemeClr val="bg2">
                  <a:lumMod val="49000"/>
                </a:schemeClr>
              </a:solidFill>
            </a:endParaRPr>
          </a:p>
          <a:p>
            <a:pPr algn="ctr"/>
            <a:r>
              <a:rPr sz="1200">
                <a:solidFill>
                  <a:srgbClr val="8B0138"/>
                </a:solidFill>
              </a:rPr>
              <a:t>Taxi Zones</a:t>
            </a:r>
          </a:p>
        </p:txBody>
      </p:sp>
    </p:spTree>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Quality</a:t>
            </a:r>
            <a:r>
              <a:rPr lang="en-US"/>
              <a:t> Findings</a:t>
            </a:r>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30512" y="1185854"/>
            <a:ext cx="3392782" cy="2840781"/>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lstStyle/>
          <a:p>
            <a:pPr algn="ctr"/>
            <a:r>
              <a:rPr sz="1600" b="1">
                <a:solidFill>
                  <a:srgbClr val="0D47A1"/>
                </a:solidFill>
              </a:rPr>
              <a:t>Pipeline Reconciliation</a:t>
            </a:r>
          </a:p>
          <a:p>
            <a:pPr algn="ctr"/>
            <a:endParaRPr sz="1600" b="1">
              <a:solidFill>
                <a:srgbClr val="0D47A1"/>
              </a:solidFill>
            </a:endParaRPr>
          </a:p>
          <a:p>
            <a:pPr algn="ctr"/>
            <a:endParaRPr lang="en-US" sz="1600" b="1">
              <a:solidFill>
                <a:srgbClr val="0D47A1"/>
              </a:solidFill>
            </a:endParaRPr>
          </a:p>
          <a:p>
            <a:pPr algn="ctr"/>
            <a:endParaRPr lang="en-US" sz="1600" b="1">
              <a:solidFill>
                <a:srgbClr val="0D47A1"/>
              </a:solidFill>
            </a:endParaRPr>
          </a:p>
        </p:txBody>
      </p:sp>
      <p:sp>
        <p:nvSpPr>
          <p:cNvPr id="6" name="Rounded Rectangle 5"/>
          <p:cNvSpPr/>
          <p:nvPr/>
        </p:nvSpPr>
        <p:spPr>
          <a:xfrm>
            <a:off x="3646732" y="1000000"/>
            <a:ext cx="4501242" cy="3209293"/>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lstStyle/>
          <a:p>
            <a:pPr algn="ctr"/>
            <a:r>
              <a:rPr lang="en-US" sz="1600" b="1">
                <a:solidFill>
                  <a:srgbClr val="8B0138"/>
                </a:solidFill>
              </a:rPr>
              <a:t>Data Quality Findings</a:t>
            </a:r>
          </a:p>
          <a:p>
            <a:pPr algn="ctr"/>
            <a:endParaRPr lang="en-US" sz="1600" b="1">
              <a:solidFill>
                <a:srgbClr val="8B0138"/>
              </a:solidFill>
              <a:latin typeface="Trust Hartford Sans"/>
              <a:cs typeface="Segoe UI"/>
            </a:endParaRPr>
          </a:p>
          <a:p>
            <a:pPr marL="285750" indent="-285750">
              <a:lnSpc>
                <a:spcPct val="150000"/>
              </a:lnSpc>
              <a:buFont typeface="Arial"/>
              <a:buChar char="•"/>
            </a:pPr>
            <a:r>
              <a:rPr lang="en-US" sz="1200">
                <a:solidFill>
                  <a:srgbClr val="8B0138"/>
                </a:solidFill>
                <a:latin typeface="Trust Hartford Sans"/>
                <a:cs typeface="Segoe UI"/>
              </a:rPr>
              <a:t>Null/zero passenger count: </a:t>
            </a:r>
            <a:r>
              <a:rPr lang="en-US" sz="1200" b="1">
                <a:solidFill>
                  <a:srgbClr val="8B0138"/>
                </a:solidFill>
                <a:latin typeface="Trust Hartford Sans"/>
                <a:cs typeface="Segoe UI"/>
              </a:rPr>
              <a:t>9.2M (23%)</a:t>
            </a:r>
            <a:r>
              <a:rPr lang="en-US" sz="1200">
                <a:solidFill>
                  <a:srgbClr val="8B0138"/>
                </a:solidFill>
                <a:latin typeface="Trust Hartford Sans"/>
                <a:cs typeface="Segoe UI"/>
              </a:rPr>
              <a:t> → Retained (warning)</a:t>
            </a:r>
          </a:p>
          <a:p>
            <a:pPr marL="285750" indent="-285750">
              <a:lnSpc>
                <a:spcPct val="150000"/>
              </a:lnSpc>
              <a:buFont typeface="Arial"/>
              <a:buChar char="•"/>
            </a:pPr>
            <a:r>
              <a:rPr lang="en-US" sz="1200">
                <a:solidFill>
                  <a:srgbClr val="8B0138"/>
                </a:solidFill>
                <a:latin typeface="Trust Hartford Sans"/>
                <a:cs typeface="Segoe UI"/>
              </a:rPr>
              <a:t>Payment type 0 (undocumented): </a:t>
            </a:r>
            <a:r>
              <a:rPr lang="en-US" sz="1200" b="1">
                <a:solidFill>
                  <a:srgbClr val="8B0138"/>
                </a:solidFill>
                <a:latin typeface="Trust Hartford Sans"/>
                <a:cs typeface="Segoe UI"/>
              </a:rPr>
              <a:t>9M (23%)</a:t>
            </a:r>
            <a:r>
              <a:rPr lang="en-US" sz="1200">
                <a:solidFill>
                  <a:srgbClr val="8B0138"/>
                </a:solidFill>
                <a:latin typeface="Trust Hartford Sans"/>
                <a:cs typeface="Segoe UI"/>
              </a:rPr>
              <a:t> → Retained (warning)</a:t>
            </a:r>
          </a:p>
          <a:p>
            <a:pPr marL="285750" indent="-285750">
              <a:lnSpc>
                <a:spcPct val="150000"/>
              </a:lnSpc>
              <a:buFont typeface="Arial"/>
              <a:buChar char="•"/>
            </a:pPr>
            <a:r>
              <a:rPr lang="en-US" sz="1200">
                <a:solidFill>
                  <a:srgbClr val="8B0138"/>
                </a:solidFill>
                <a:latin typeface="Trust Hartford Sans"/>
                <a:cs typeface="Segoe UI"/>
              </a:rPr>
              <a:t>Invalid timestamps: </a:t>
            </a:r>
            <a:r>
              <a:rPr lang="en-US" sz="1200" b="1">
                <a:solidFill>
                  <a:srgbClr val="8B0138"/>
                </a:solidFill>
                <a:latin typeface="Trust Hartford Sans"/>
                <a:cs typeface="Segoe UI"/>
              </a:rPr>
              <a:t>702K (1.8%)</a:t>
            </a:r>
            <a:r>
              <a:rPr lang="en-US" sz="1200">
                <a:solidFill>
                  <a:srgbClr val="8B0138"/>
                </a:solidFill>
                <a:latin typeface="Trust Hartford Sans"/>
                <a:cs typeface="Segoe UI"/>
              </a:rPr>
              <a:t> → Flagged invalid</a:t>
            </a:r>
          </a:p>
          <a:p>
            <a:pPr marL="285750" indent="-285750">
              <a:lnSpc>
                <a:spcPct val="150000"/>
              </a:lnSpc>
              <a:buFont typeface="Arial"/>
              <a:buChar char="•"/>
            </a:pPr>
            <a:r>
              <a:rPr lang="en-US" sz="1200">
                <a:solidFill>
                  <a:srgbClr val="8B0138"/>
                </a:solidFill>
                <a:latin typeface="Trust Hartford Sans"/>
                <a:cs typeface="Segoe UI"/>
              </a:rPr>
              <a:t>Negative fares: </a:t>
            </a:r>
            <a:r>
              <a:rPr lang="en-US" sz="1200" b="1">
                <a:solidFill>
                  <a:srgbClr val="8B0138"/>
                </a:solidFill>
                <a:latin typeface="Trust Hartford Sans"/>
                <a:cs typeface="Segoe UI"/>
              </a:rPr>
              <a:t>247K (0.6%)</a:t>
            </a:r>
            <a:r>
              <a:rPr lang="en-US" sz="1200">
                <a:solidFill>
                  <a:srgbClr val="8B0138"/>
                </a:solidFill>
                <a:latin typeface="Trust Hartford Sans"/>
                <a:cs typeface="Segoe UI"/>
              </a:rPr>
              <a:t> → Flagged invalid</a:t>
            </a:r>
          </a:p>
          <a:p>
            <a:pPr marL="285750" indent="-285750">
              <a:lnSpc>
                <a:spcPct val="150000"/>
              </a:lnSpc>
              <a:buFont typeface="Arial"/>
              <a:buChar char="•"/>
            </a:pPr>
            <a:r>
              <a:rPr lang="en-US" sz="1200">
                <a:solidFill>
                  <a:srgbClr val="8B0138"/>
                </a:solidFill>
                <a:latin typeface="Trust Hartford Sans"/>
                <a:cs typeface="Segoe UI"/>
              </a:rPr>
              <a:t>Distance &gt; 100 miles: </a:t>
            </a:r>
            <a:r>
              <a:rPr lang="en-US" sz="1200" b="1">
                <a:solidFill>
                  <a:srgbClr val="8B0138"/>
                </a:solidFill>
                <a:latin typeface="Trust Hartford Sans"/>
                <a:cs typeface="Segoe UI"/>
              </a:rPr>
              <a:t>131K (0.3%)</a:t>
            </a:r>
            <a:r>
              <a:rPr lang="en-US" sz="1200">
                <a:solidFill>
                  <a:srgbClr val="8B0138"/>
                </a:solidFill>
                <a:latin typeface="Trust Hartford Sans"/>
                <a:cs typeface="Segoe UI"/>
              </a:rPr>
              <a:t> → Flagged invalid</a:t>
            </a:r>
          </a:p>
          <a:p>
            <a:pPr marL="285750" indent="-285750">
              <a:lnSpc>
                <a:spcPct val="150000"/>
              </a:lnSpc>
              <a:buFont typeface="Arial"/>
              <a:buChar char="•"/>
            </a:pPr>
            <a:r>
              <a:rPr lang="en-US" sz="1200">
                <a:solidFill>
                  <a:srgbClr val="8B0138"/>
                </a:solidFill>
                <a:latin typeface="Trust Hartford Sans"/>
                <a:cs typeface="Segoe UI"/>
              </a:rPr>
              <a:t>Dropoff before pickup: </a:t>
            </a:r>
            <a:r>
              <a:rPr lang="en-US" sz="1200" b="1">
                <a:solidFill>
                  <a:srgbClr val="8B0138"/>
                </a:solidFill>
                <a:latin typeface="Trust Hartford Sans"/>
                <a:cs typeface="Segoe UI"/>
              </a:rPr>
              <a:t>87</a:t>
            </a:r>
            <a:r>
              <a:rPr lang="en-US" sz="1400" b="1">
                <a:solidFill>
                  <a:srgbClr val="8B0138"/>
                </a:solidFill>
                <a:latin typeface="Trust Hartford Sans"/>
                <a:cs typeface="Segoe UI"/>
              </a:rPr>
              <a:t>K (0.2%)</a:t>
            </a:r>
            <a:r>
              <a:rPr lang="en-US" sz="1400">
                <a:solidFill>
                  <a:srgbClr val="8B0138"/>
                </a:solidFill>
                <a:latin typeface="Trust Hartford Sans"/>
                <a:cs typeface="Segoe UI"/>
              </a:rPr>
              <a:t> → Flagged invalid</a:t>
            </a:r>
          </a:p>
          <a:p>
            <a:pPr>
              <a:spcBef>
                <a:spcPts val="500"/>
              </a:spcBef>
            </a:pPr>
            <a:endParaRPr lang="en-US" sz="1100">
              <a:solidFill>
                <a:srgbClr val="2D2D2D"/>
              </a:solidFill>
              <a:latin typeface="Trust Hartford Sans"/>
              <a:cs typeface="Segoe UI"/>
            </a:endParaRPr>
          </a:p>
        </p:txBody>
      </p:sp>
      <p:sp>
        <p:nvSpPr>
          <p:cNvPr id="7" name="Rounded Rectangle 6"/>
          <p:cNvSpPr/>
          <p:nvPr/>
        </p:nvSpPr>
        <p:spPr>
          <a:xfrm>
            <a:off x="8298781" y="1185709"/>
            <a:ext cx="3652976" cy="2837729"/>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sz="1600" b="1">
                <a:solidFill>
                  <a:srgbClr val="E65100"/>
                </a:solidFill>
              </a:rPr>
              <a:t>The Cash Tip Trap</a:t>
            </a:r>
            <a:endParaRPr lang="en-US" sz="1600" b="1">
              <a:solidFill>
                <a:srgbClr val="E65100"/>
              </a:solidFill>
            </a:endParaRPr>
          </a:p>
          <a:p>
            <a:pPr algn="ctr"/>
            <a:endParaRPr lang="en-US" sz="1400" b="1">
              <a:solidFill>
                <a:srgbClr val="E65100"/>
              </a:solidFill>
              <a:latin typeface="Trust Hartford Sans"/>
              <a:cs typeface="Segoe UI"/>
            </a:endParaRPr>
          </a:p>
          <a:p>
            <a:r>
              <a:rPr lang="en-US" sz="1400">
                <a:solidFill>
                  <a:schemeClr val="accent1">
                    <a:lumMod val="60000"/>
                    <a:lumOff val="40000"/>
                  </a:schemeClr>
                </a:solidFill>
                <a:latin typeface="Segoe UI"/>
                <a:cs typeface="Segoe UI"/>
              </a:rPr>
              <a:t>Cash tips are not captured in the dataset because tip amounts are only recorded for credit card transactions.</a:t>
            </a:r>
            <a:endParaRPr lang="en-US">
              <a:solidFill>
                <a:schemeClr val="accent1">
                  <a:lumMod val="60000"/>
                  <a:lumOff val="40000"/>
                </a:schemeClr>
              </a:solidFill>
              <a:latin typeface="Trust Hartford Sans"/>
              <a:cs typeface="Segoe UI"/>
            </a:endParaRPr>
          </a:p>
          <a:p>
            <a:br>
              <a:rPr lang="en-US" sz="1400">
                <a:solidFill>
                  <a:schemeClr val="accent1">
                    <a:lumMod val="60000"/>
                    <a:lumOff val="40000"/>
                  </a:schemeClr>
                </a:solidFill>
                <a:latin typeface="Segoe UI"/>
                <a:cs typeface="Segoe UI"/>
              </a:rPr>
            </a:br>
            <a:r>
              <a:rPr lang="en-US" sz="1400">
                <a:solidFill>
                  <a:schemeClr val="accent1">
                    <a:lumMod val="60000"/>
                    <a:lumOff val="40000"/>
                  </a:schemeClr>
                </a:solidFill>
                <a:latin typeface="Segoe UI"/>
                <a:cs typeface="Segoe UI"/>
              </a:rPr>
              <a:t>To ensure accurate reporting, cash tips were excluded from all total revenue calculations.</a:t>
            </a:r>
          </a:p>
          <a:p>
            <a:pPr>
              <a:spcBef>
                <a:spcPts val="400"/>
              </a:spcBef>
            </a:pPr>
            <a:endParaRPr sz="1400" b="1">
              <a:solidFill>
                <a:srgbClr val="2D2D2D"/>
              </a:solidFill>
            </a:endParaRPr>
          </a:p>
        </p:txBody>
      </p:sp>
      <p:sp>
        <p:nvSpPr>
          <p:cNvPr id="8" name="Rounded Rectangle 7"/>
          <p:cNvSpPr/>
          <p:nvPr/>
        </p:nvSpPr>
        <p:spPr>
          <a:xfrm>
            <a:off x="390707" y="4351320"/>
            <a:ext cx="11400000" cy="2419973"/>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sz="1600" b="1">
                <a:solidFill>
                  <a:srgbClr val="2E7D32"/>
                </a:solidFill>
              </a:rPr>
              <a:t>Our Approach: Flag, Don't Delete</a:t>
            </a:r>
            <a:endParaRPr lang="en-US" sz="1600" b="1">
              <a:solidFill>
                <a:srgbClr val="2E7D32"/>
              </a:solidFill>
            </a:endParaRPr>
          </a:p>
          <a:p>
            <a:pPr algn="ctr"/>
            <a:endParaRPr lang="en-US" sz="1400" b="1">
              <a:solidFill>
                <a:srgbClr val="2E7D32"/>
              </a:solidFill>
            </a:endParaRPr>
          </a:p>
          <a:p>
            <a:pPr>
              <a:lnSpc>
                <a:spcPct val="150000"/>
              </a:lnSpc>
            </a:pPr>
            <a:r>
              <a:rPr lang="en-US" sz="1400">
                <a:solidFill>
                  <a:srgbClr val="2D805D"/>
                </a:solidFill>
                <a:latin typeface="Segoe UI"/>
                <a:cs typeface="Segoe UI"/>
              </a:rPr>
              <a:t>Instead of immediately removing questionable records, we added two fields:</a:t>
            </a:r>
            <a:endParaRPr lang="en-US" sz="1400">
              <a:solidFill>
                <a:srgbClr val="2D805D"/>
              </a:solidFill>
            </a:endParaRPr>
          </a:p>
          <a:p>
            <a:pPr marL="285750" indent="-285750">
              <a:lnSpc>
                <a:spcPct val="150000"/>
              </a:lnSpc>
              <a:buFont typeface="Arial"/>
              <a:buChar char="•"/>
            </a:pPr>
            <a:r>
              <a:rPr lang="en-US" sz="1400" b="1" err="1">
                <a:solidFill>
                  <a:srgbClr val="2D805D"/>
                </a:solidFill>
                <a:latin typeface="Segoe UI"/>
                <a:cs typeface="Segoe UI"/>
              </a:rPr>
              <a:t>is_valid</a:t>
            </a:r>
            <a:r>
              <a:rPr lang="en-US" sz="1400">
                <a:solidFill>
                  <a:srgbClr val="2D805D"/>
                </a:solidFill>
                <a:latin typeface="Segoe UI"/>
                <a:cs typeface="Segoe UI"/>
              </a:rPr>
              <a:t>: indicates whether a trip passed validation</a:t>
            </a:r>
            <a:endParaRPr lang="en-US" sz="1400">
              <a:solidFill>
                <a:srgbClr val="2D805D"/>
              </a:solidFill>
            </a:endParaRPr>
          </a:p>
          <a:p>
            <a:pPr marL="285750" indent="-285750">
              <a:lnSpc>
                <a:spcPct val="150000"/>
              </a:lnSpc>
              <a:buFont typeface="Arial"/>
              <a:buChar char="•"/>
            </a:pPr>
            <a:r>
              <a:rPr lang="en-US" sz="1400" b="1" err="1">
                <a:solidFill>
                  <a:srgbClr val="2D805D"/>
                </a:solidFill>
                <a:latin typeface="Segoe UI"/>
                <a:cs typeface="Segoe UI"/>
              </a:rPr>
              <a:t>dq_flag_reason</a:t>
            </a:r>
            <a:r>
              <a:rPr lang="en-US" sz="1400">
                <a:solidFill>
                  <a:srgbClr val="2D805D"/>
                </a:solidFill>
                <a:latin typeface="Segoe UI"/>
                <a:cs typeface="Segoe UI"/>
              </a:rPr>
              <a:t>: records why a trip failed</a:t>
            </a:r>
          </a:p>
          <a:p>
            <a:pPr>
              <a:lnSpc>
                <a:spcPct val="150000"/>
              </a:lnSpc>
            </a:pPr>
            <a:r>
              <a:rPr lang="en-US" sz="1400">
                <a:solidFill>
                  <a:srgbClr val="2D805D"/>
                </a:solidFill>
                <a:latin typeface="Segoe UI"/>
                <a:cs typeface="Segoe UI"/>
              </a:rPr>
              <a:t>Silver retains all records for transparency and future analysis, while Gold contains only validated records used for reporting.</a:t>
            </a:r>
          </a:p>
          <a:p>
            <a:pPr>
              <a:lnSpc>
                <a:spcPct val="150000"/>
              </a:lnSpc>
            </a:pPr>
            <a:r>
              <a:rPr lang="en-US" sz="1400">
                <a:solidFill>
                  <a:srgbClr val="2D805D"/>
                </a:solidFill>
                <a:latin typeface="Segoe UI"/>
                <a:cs typeface="Segoe UI"/>
              </a:rPr>
              <a:t>This preserves traceability and allows future analysis of data quality trends.</a:t>
            </a:r>
          </a:p>
          <a:p>
            <a:pPr>
              <a:spcBef>
                <a:spcPts val="400"/>
              </a:spcBef>
            </a:pPr>
            <a:endParaRPr sz="1200">
              <a:solidFill>
                <a:srgbClr val="2D2D2D"/>
              </a:solidFill>
            </a:endParaRPr>
          </a:p>
        </p:txBody>
      </p:sp>
      <p:graphicFrame>
        <p:nvGraphicFramePr>
          <p:cNvPr id="14" name="Table 13">
            <a:extLst>
              <a:ext uri="{FF2B5EF4-FFF2-40B4-BE49-F238E27FC236}">
                <a16:creationId xmlns:a16="http://schemas.microsoft.com/office/drawing/2014/main" id="{48F2EAC6-AA42-6417-02B8-6269392F4D0E}"/>
              </a:ext>
            </a:extLst>
          </p:cNvPr>
          <p:cNvGraphicFramePr>
            <a:graphicFrameLocks noGrp="1"/>
          </p:cNvGraphicFramePr>
          <p:nvPr>
            <p:extLst>
              <p:ext uri="{D42A27DB-BD31-4B8C-83A1-F6EECF244321}">
                <p14:modId xmlns:p14="http://schemas.microsoft.com/office/powerpoint/2010/main" val="2504687357"/>
              </p:ext>
            </p:extLst>
          </p:nvPr>
        </p:nvGraphicFramePr>
        <p:xfrm>
          <a:off x="-1" y="1849244"/>
          <a:ext cx="3637668" cy="1528417"/>
        </p:xfrm>
        <a:graphic>
          <a:graphicData uri="http://schemas.openxmlformats.org/drawingml/2006/table">
            <a:tbl>
              <a:tblPr bandRow="1">
                <a:tableStyleId>{F74A2FF2-876A-4A6F-922C-DD539E22E740}</a:tableStyleId>
              </a:tblPr>
              <a:tblGrid>
                <a:gridCol w="1914826">
                  <a:extLst>
                    <a:ext uri="{9D8B030D-6E8A-4147-A177-3AD203B41FA5}">
                      <a16:colId xmlns:a16="http://schemas.microsoft.com/office/drawing/2014/main" val="419355171"/>
                    </a:ext>
                  </a:extLst>
                </a:gridCol>
                <a:gridCol w="1722842">
                  <a:extLst>
                    <a:ext uri="{9D8B030D-6E8A-4147-A177-3AD203B41FA5}">
                      <a16:colId xmlns:a16="http://schemas.microsoft.com/office/drawing/2014/main" val="527123196"/>
                    </a:ext>
                  </a:extLst>
                </a:gridCol>
              </a:tblGrid>
              <a:tr h="309217">
                <a:tc>
                  <a:txBody>
                    <a:bodyPr/>
                    <a:lstStyle/>
                    <a:p>
                      <a:pPr algn="ctr">
                        <a:buNone/>
                      </a:pPr>
                      <a:r>
                        <a:rPr lang="en-US" sz="1400" b="1">
                          <a:solidFill>
                            <a:srgbClr val="2F63AF"/>
                          </a:solidFill>
                          <a:latin typeface="Trust Hartford Sans"/>
                        </a:rPr>
                        <a:t>Stage</a:t>
                      </a:r>
                    </a:p>
                  </a:txBody>
                  <a:tcPr anchor="ctr">
                    <a:lnL>
                      <a:noFill/>
                    </a:lnL>
                    <a:lnR>
                      <a:noFill/>
                    </a:lnR>
                    <a:lnT>
                      <a:noFill/>
                    </a:lnT>
                    <a:lnB>
                      <a:noFill/>
                    </a:lnB>
                    <a:noFill/>
                  </a:tcPr>
                </a:tc>
                <a:tc>
                  <a:txBody>
                    <a:bodyPr/>
                    <a:lstStyle/>
                    <a:p>
                      <a:pPr algn="ctr">
                        <a:buNone/>
                      </a:pPr>
                      <a:r>
                        <a:rPr lang="en-US" sz="1400" b="1">
                          <a:solidFill>
                            <a:srgbClr val="2F63AF"/>
                          </a:solidFill>
                          <a:latin typeface="Trust Hartford Sans"/>
                        </a:rPr>
                        <a:t>Rows</a:t>
                      </a:r>
                    </a:p>
                  </a:txBody>
                  <a:tcPr anchor="ctr">
                    <a:lnL>
                      <a:noFill/>
                    </a:lnL>
                    <a:lnR>
                      <a:noFill/>
                    </a:lnR>
                    <a:lnT>
                      <a:noFill/>
                    </a:lnT>
                    <a:lnB>
                      <a:noFill/>
                    </a:lnB>
                    <a:noFill/>
                  </a:tcPr>
                </a:tc>
                <a:extLst>
                  <a:ext uri="{0D108BD9-81ED-4DB2-BD59-A6C34878D82A}">
                    <a16:rowId xmlns:a16="http://schemas.microsoft.com/office/drawing/2014/main" val="1470875594"/>
                  </a:ext>
                </a:extLst>
              </a:tr>
              <a:tr h="0">
                <a:tc>
                  <a:txBody>
                    <a:bodyPr/>
                    <a:lstStyle/>
                    <a:p>
                      <a:pPr algn="ctr">
                        <a:buNone/>
                      </a:pPr>
                      <a:r>
                        <a:rPr lang="en-US" sz="1400" b="0">
                          <a:solidFill>
                            <a:srgbClr val="2F63AF"/>
                          </a:solidFill>
                          <a:latin typeface="Trust Hartford Sans"/>
                        </a:rPr>
                        <a:t>Source Files</a:t>
                      </a:r>
                    </a:p>
                  </a:txBody>
                  <a:tcPr anchor="ctr">
                    <a:lnL>
                      <a:noFill/>
                    </a:lnL>
                    <a:lnR>
                      <a:noFill/>
                    </a:lnR>
                    <a:lnT>
                      <a:noFill/>
                    </a:lnT>
                    <a:lnB>
                      <a:noFill/>
                    </a:lnB>
                    <a:noFill/>
                  </a:tcPr>
                </a:tc>
                <a:tc>
                  <a:txBody>
                    <a:bodyPr/>
                    <a:lstStyle/>
                    <a:p>
                      <a:pPr algn="ctr">
                        <a:buNone/>
                      </a:pPr>
                      <a:r>
                        <a:rPr lang="en-US" sz="1400">
                          <a:solidFill>
                            <a:srgbClr val="2F63AF"/>
                          </a:solidFill>
                          <a:latin typeface="Trust Hartford Sans"/>
                        </a:rPr>
                        <a:t>39,224,735</a:t>
                      </a:r>
                    </a:p>
                  </a:txBody>
                  <a:tcPr anchor="ctr">
                    <a:lnL>
                      <a:noFill/>
                    </a:lnL>
                    <a:lnR>
                      <a:noFill/>
                    </a:lnR>
                    <a:lnT>
                      <a:noFill/>
                    </a:lnT>
                    <a:lnB>
                      <a:noFill/>
                    </a:lnB>
                    <a:noFill/>
                  </a:tcPr>
                </a:tc>
                <a:extLst>
                  <a:ext uri="{0D108BD9-81ED-4DB2-BD59-A6C34878D82A}">
                    <a16:rowId xmlns:a16="http://schemas.microsoft.com/office/drawing/2014/main" val="1779159066"/>
                  </a:ext>
                </a:extLst>
              </a:tr>
              <a:tr h="0">
                <a:tc>
                  <a:txBody>
                    <a:bodyPr/>
                    <a:lstStyle/>
                    <a:p>
                      <a:pPr algn="ctr">
                        <a:buNone/>
                      </a:pPr>
                      <a:r>
                        <a:rPr lang="en-US" sz="1400" b="0">
                          <a:solidFill>
                            <a:srgbClr val="2F63AF"/>
                          </a:solidFill>
                          <a:latin typeface="Trust Hartford Sans"/>
                        </a:rPr>
                        <a:t>Bronze</a:t>
                      </a:r>
                    </a:p>
                  </a:txBody>
                  <a:tcPr anchor="ctr">
                    <a:lnL>
                      <a:noFill/>
                    </a:lnL>
                    <a:lnR>
                      <a:noFill/>
                    </a:lnR>
                    <a:lnT>
                      <a:noFill/>
                    </a:lnT>
                    <a:lnB>
                      <a:noFill/>
                    </a:lnB>
                    <a:noFill/>
                  </a:tcPr>
                </a:tc>
                <a:tc>
                  <a:txBody>
                    <a:bodyPr/>
                    <a:lstStyle/>
                    <a:p>
                      <a:pPr algn="ctr">
                        <a:buNone/>
                      </a:pPr>
                      <a:r>
                        <a:rPr lang="en-US" sz="1400">
                          <a:solidFill>
                            <a:srgbClr val="2F63AF"/>
                          </a:solidFill>
                          <a:latin typeface="Trust Hartford Sans"/>
                        </a:rPr>
                        <a:t>39,224,735</a:t>
                      </a:r>
                    </a:p>
                  </a:txBody>
                  <a:tcPr anchor="ctr">
                    <a:lnL>
                      <a:noFill/>
                    </a:lnL>
                    <a:lnR>
                      <a:noFill/>
                    </a:lnR>
                    <a:lnT>
                      <a:noFill/>
                    </a:lnT>
                    <a:lnB>
                      <a:noFill/>
                    </a:lnB>
                    <a:noFill/>
                  </a:tcPr>
                </a:tc>
                <a:extLst>
                  <a:ext uri="{0D108BD9-81ED-4DB2-BD59-A6C34878D82A}">
                    <a16:rowId xmlns:a16="http://schemas.microsoft.com/office/drawing/2014/main" val="3647303021"/>
                  </a:ext>
                </a:extLst>
              </a:tr>
              <a:tr h="0">
                <a:tc>
                  <a:txBody>
                    <a:bodyPr/>
                    <a:lstStyle/>
                    <a:p>
                      <a:pPr algn="ctr">
                        <a:buNone/>
                      </a:pPr>
                      <a:r>
                        <a:rPr lang="en-US" sz="1400" b="0">
                          <a:solidFill>
                            <a:srgbClr val="2F63AF"/>
                          </a:solidFill>
                          <a:latin typeface="Trust Hartford Sans"/>
                        </a:rPr>
                        <a:t>Silver</a:t>
                      </a:r>
                    </a:p>
                  </a:txBody>
                  <a:tcPr anchor="ctr">
                    <a:lnL>
                      <a:noFill/>
                    </a:lnL>
                    <a:lnR>
                      <a:noFill/>
                    </a:lnR>
                    <a:lnT>
                      <a:noFill/>
                    </a:lnT>
                    <a:lnB>
                      <a:noFill/>
                    </a:lnB>
                    <a:noFill/>
                  </a:tcPr>
                </a:tc>
                <a:tc>
                  <a:txBody>
                    <a:bodyPr/>
                    <a:lstStyle/>
                    <a:p>
                      <a:pPr algn="ctr">
                        <a:buNone/>
                      </a:pPr>
                      <a:r>
                        <a:rPr lang="en-US" sz="1400">
                          <a:solidFill>
                            <a:srgbClr val="2F63AF"/>
                          </a:solidFill>
                          <a:latin typeface="Trust Hartford Sans"/>
                        </a:rPr>
                        <a:t>39,224,735</a:t>
                      </a:r>
                    </a:p>
                  </a:txBody>
                  <a:tcPr anchor="ctr">
                    <a:lnL>
                      <a:noFill/>
                    </a:lnL>
                    <a:lnR>
                      <a:noFill/>
                    </a:lnR>
                    <a:lnT>
                      <a:noFill/>
                    </a:lnT>
                    <a:lnB>
                      <a:noFill/>
                    </a:lnB>
                    <a:noFill/>
                  </a:tcPr>
                </a:tc>
                <a:extLst>
                  <a:ext uri="{0D108BD9-81ED-4DB2-BD59-A6C34878D82A}">
                    <a16:rowId xmlns:a16="http://schemas.microsoft.com/office/drawing/2014/main" val="475848914"/>
                  </a:ext>
                </a:extLst>
              </a:tr>
              <a:tr h="0">
                <a:tc>
                  <a:txBody>
                    <a:bodyPr/>
                    <a:lstStyle/>
                    <a:p>
                      <a:pPr algn="ctr">
                        <a:buNone/>
                      </a:pPr>
                      <a:r>
                        <a:rPr lang="en-US" sz="1400" b="0">
                          <a:solidFill>
                            <a:srgbClr val="2F63AF"/>
                          </a:solidFill>
                          <a:latin typeface="Trust Hartford Sans"/>
                        </a:rPr>
                        <a:t>Gold (Valid Only)</a:t>
                      </a:r>
                    </a:p>
                  </a:txBody>
                  <a:tcPr anchor="ctr">
                    <a:lnL>
                      <a:noFill/>
                    </a:lnL>
                    <a:lnR>
                      <a:noFill/>
                    </a:lnR>
                    <a:lnT>
                      <a:noFill/>
                    </a:lnT>
                    <a:lnB>
                      <a:noFill/>
                    </a:lnB>
                    <a:noFill/>
                  </a:tcPr>
                </a:tc>
                <a:tc>
                  <a:txBody>
                    <a:bodyPr/>
                    <a:lstStyle/>
                    <a:p>
                      <a:pPr algn="ctr">
                        <a:buNone/>
                      </a:pPr>
                      <a:r>
                        <a:rPr lang="en-US" sz="1400">
                          <a:solidFill>
                            <a:srgbClr val="2F63AF"/>
                          </a:solidFill>
                          <a:latin typeface="Trust Hartford Sans"/>
                        </a:rPr>
                        <a:t>38,053,445</a:t>
                      </a:r>
                    </a:p>
                  </a:txBody>
                  <a:tcPr anchor="ctr">
                    <a:lnL>
                      <a:noFill/>
                    </a:lnL>
                    <a:lnR>
                      <a:noFill/>
                    </a:lnR>
                    <a:lnT>
                      <a:noFill/>
                    </a:lnT>
                    <a:lnB>
                      <a:noFill/>
                    </a:lnB>
                    <a:noFill/>
                  </a:tcPr>
                </a:tc>
                <a:extLst>
                  <a:ext uri="{0D108BD9-81ED-4DB2-BD59-A6C34878D82A}">
                    <a16:rowId xmlns:a16="http://schemas.microsoft.com/office/drawing/2014/main" val="3841932655"/>
                  </a:ext>
                </a:extLst>
              </a:tr>
            </a:tbl>
          </a:graphicData>
        </a:graphic>
      </p:graphicFrame>
    </p:spTree>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Pipeline Architecture</a:t>
            </a: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Capstone - Architecture Diagram.png">
            <a:extLst>
              <a:ext uri="{FF2B5EF4-FFF2-40B4-BE49-F238E27FC236}">
                <a16:creationId xmlns:a16="http://schemas.microsoft.com/office/drawing/2014/main" id="{3C533FFC-0E62-0F54-9E0A-151A940A4A10}"/>
              </a:ext>
            </a:extLst>
          </p:cNvPr>
          <p:cNvPicPr>
            <a:picLocks noChangeAspect="1"/>
          </p:cNvPicPr>
          <p:nvPr/>
        </p:nvPicPr>
        <p:blipFill>
          <a:blip r:embed="rId4"/>
          <a:stretch>
            <a:fillRect/>
          </a:stretch>
        </p:blipFill>
        <p:spPr>
          <a:xfrm>
            <a:off x="-254234" y="797593"/>
            <a:ext cx="12704955" cy="4649175"/>
          </a:xfrm>
          <a:prstGeom prst="rect">
            <a:avLst/>
          </a:prstGeom>
        </p:spPr>
      </p:pic>
      <p:sp>
        <p:nvSpPr>
          <p:cNvPr id="7" name="TextBox 6">
            <a:extLst>
              <a:ext uri="{FF2B5EF4-FFF2-40B4-BE49-F238E27FC236}">
                <a16:creationId xmlns:a16="http://schemas.microsoft.com/office/drawing/2014/main" id="{8BE730B4-5C58-DF63-9128-E992D610F338}"/>
              </a:ext>
            </a:extLst>
          </p:cNvPr>
          <p:cNvSpPr txBox="1"/>
          <p:nvPr/>
        </p:nvSpPr>
        <p:spPr>
          <a:xfrm>
            <a:off x="105103" y="5649310"/>
            <a:ext cx="12086896"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t>Current Performance:</a:t>
            </a:r>
            <a:r>
              <a:rPr lang="en-US" sz="1600"/>
              <a:t> </a:t>
            </a:r>
            <a:r>
              <a:rPr lang="en-US" sz="1400"/>
              <a:t>Full pipeline rebuild in ~6 minutes, with dashboard queries returning results in under 1 second.</a:t>
            </a:r>
          </a:p>
          <a:p>
            <a:pPr algn="ctr"/>
            <a:br>
              <a:rPr lang="en-US" sz="1400"/>
            </a:br>
            <a:r>
              <a:rPr lang="en-US" sz="1400" b="1"/>
              <a:t>Scalability</a:t>
            </a:r>
            <a:r>
              <a:rPr lang="en-US" sz="1400"/>
              <a:t>: Architecture can support 10x growth through </a:t>
            </a:r>
            <a:r>
              <a:rPr lang="en-US" sz="1400" err="1"/>
              <a:t>Snowpipe</a:t>
            </a:r>
            <a:r>
              <a:rPr lang="en-US" sz="1400"/>
              <a:t> ingestion, incremental </a:t>
            </a:r>
            <a:r>
              <a:rPr lang="en-US" sz="1400" err="1"/>
              <a:t>dbt</a:t>
            </a:r>
            <a:r>
              <a:rPr lang="en-US" sz="1400"/>
              <a:t> models, and Snowflake warehouse scaling without a redesign.</a:t>
            </a:r>
          </a:p>
        </p:txBody>
      </p:sp>
    </p:spTree>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Architecture Decision: </a:t>
            </a:r>
            <a:r>
              <a:rPr lang="en-US"/>
              <a:t>Snowflake + DBT</a:t>
            </a:r>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6268" y="1099998"/>
            <a:ext cx="5818171" cy="4239952"/>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sz="1600" b="1">
                <a:solidFill>
                  <a:srgbClr val="2E7D32"/>
                </a:solidFill>
              </a:rPr>
              <a:t>Why We Chose </a:t>
            </a:r>
            <a:r>
              <a:rPr lang="en-US" sz="1600" b="1">
                <a:solidFill>
                  <a:srgbClr val="2E7D32"/>
                </a:solidFill>
              </a:rPr>
              <a:t>This Approach</a:t>
            </a:r>
          </a:p>
          <a:p>
            <a:pPr algn="ctr"/>
            <a:endParaRPr lang="en-US" sz="1400" b="1">
              <a:solidFill>
                <a:srgbClr val="000000"/>
              </a:solidFill>
            </a:endParaRPr>
          </a:p>
          <a:p>
            <a:pPr marL="285750" indent="-285750">
              <a:lnSpc>
                <a:spcPct val="150000"/>
              </a:lnSpc>
              <a:buFont typeface="Arial"/>
              <a:buChar char="•"/>
            </a:pPr>
            <a:r>
              <a:rPr lang="en-US" sz="1400">
                <a:solidFill>
                  <a:srgbClr val="2D805D"/>
                </a:solidFill>
              </a:rPr>
              <a:t>Our team has the </a:t>
            </a:r>
            <a:r>
              <a:rPr lang="en-US" sz="1400" b="1">
                <a:solidFill>
                  <a:srgbClr val="2D805D"/>
                </a:solidFill>
              </a:rPr>
              <a:t>strongest experience with SQL</a:t>
            </a:r>
            <a:r>
              <a:rPr lang="en-US" sz="1400">
                <a:solidFill>
                  <a:srgbClr val="2D805D"/>
                </a:solidFill>
              </a:rPr>
              <a:t>, allowing us to </a:t>
            </a:r>
            <a:r>
              <a:rPr lang="en-US" sz="1400" b="1">
                <a:solidFill>
                  <a:srgbClr val="2D805D"/>
                </a:solidFill>
              </a:rPr>
              <a:t>move quickly and confidently</a:t>
            </a:r>
            <a:r>
              <a:rPr lang="en-US" sz="1400">
                <a:solidFill>
                  <a:srgbClr val="2D805D"/>
                </a:solidFill>
              </a:rPr>
              <a:t>.</a:t>
            </a:r>
          </a:p>
          <a:p>
            <a:pPr marL="285750" indent="-285750">
              <a:lnSpc>
                <a:spcPct val="150000"/>
              </a:lnSpc>
              <a:buFont typeface="Arial"/>
              <a:buChar char="•"/>
            </a:pPr>
            <a:r>
              <a:rPr lang="en-US" sz="1400">
                <a:solidFill>
                  <a:srgbClr val="2D805D"/>
                </a:solidFill>
              </a:rPr>
              <a:t>The architecture had the </a:t>
            </a:r>
            <a:r>
              <a:rPr lang="en-US" sz="1400" b="1">
                <a:solidFill>
                  <a:srgbClr val="2D805D"/>
                </a:solidFill>
              </a:rPr>
              <a:t>fewest moving parts</a:t>
            </a:r>
            <a:r>
              <a:rPr lang="en-US" sz="1400">
                <a:solidFill>
                  <a:srgbClr val="2D805D"/>
                </a:solidFill>
              </a:rPr>
              <a:t>, making it the best fit for a one-week sprint</a:t>
            </a:r>
          </a:p>
          <a:p>
            <a:pPr marL="285750" indent="-285750">
              <a:lnSpc>
                <a:spcPct val="150000"/>
              </a:lnSpc>
              <a:buFont typeface="Arial"/>
              <a:buChar char="•"/>
            </a:pPr>
            <a:r>
              <a:rPr lang="en-US" sz="1400">
                <a:solidFill>
                  <a:srgbClr val="2D805D"/>
                </a:solidFill>
              </a:rPr>
              <a:t>All transformation logic was tested, version-controlled, and maintainable through</a:t>
            </a:r>
            <a:r>
              <a:rPr lang="en-US" sz="1400" b="1">
                <a:solidFill>
                  <a:srgbClr val="2D805D"/>
                </a:solidFill>
              </a:rPr>
              <a:t> </a:t>
            </a:r>
            <a:r>
              <a:rPr lang="en-US" sz="1400" b="1" err="1">
                <a:solidFill>
                  <a:srgbClr val="2D805D"/>
                </a:solidFill>
              </a:rPr>
              <a:t>dbt</a:t>
            </a:r>
            <a:endParaRPr lang="en-US" sz="1400" b="1">
              <a:solidFill>
                <a:srgbClr val="2D805D"/>
              </a:solidFill>
            </a:endParaRPr>
          </a:p>
          <a:p>
            <a:pPr marL="285750" indent="-285750">
              <a:lnSpc>
                <a:spcPct val="150000"/>
              </a:lnSpc>
              <a:buFont typeface="Arial"/>
              <a:buChar char="•"/>
            </a:pPr>
            <a:r>
              <a:rPr lang="en-US" sz="1400">
                <a:solidFill>
                  <a:srgbClr val="2D805D"/>
                </a:solidFill>
              </a:rPr>
              <a:t>Snowflake </a:t>
            </a:r>
            <a:r>
              <a:rPr lang="en-US" sz="1400" b="1">
                <a:solidFill>
                  <a:srgbClr val="2D805D"/>
                </a:solidFill>
              </a:rPr>
              <a:t>efficiently processed our 39 million records</a:t>
            </a:r>
            <a:r>
              <a:rPr lang="en-US" sz="1400">
                <a:solidFill>
                  <a:srgbClr val="2D805D"/>
                </a:solidFill>
              </a:rPr>
              <a:t> without acquiring additional distributed computing tools</a:t>
            </a:r>
          </a:p>
          <a:p>
            <a:pPr marL="285750" indent="-285750">
              <a:lnSpc>
                <a:spcPct val="150000"/>
              </a:lnSpc>
              <a:buFont typeface="Arial"/>
              <a:buChar char="•"/>
            </a:pPr>
            <a:r>
              <a:rPr lang="en-US" sz="1400">
                <a:solidFill>
                  <a:srgbClr val="2D805D"/>
                </a:solidFill>
              </a:rPr>
              <a:t>End-to-end pipeline execution completed in approximately 6 minutes, enabling </a:t>
            </a:r>
            <a:r>
              <a:rPr lang="en-US" sz="1400" b="1">
                <a:solidFill>
                  <a:srgbClr val="2D805D"/>
                </a:solidFill>
              </a:rPr>
              <a:t>rapid development and testing</a:t>
            </a:r>
          </a:p>
        </p:txBody>
      </p:sp>
      <p:sp>
        <p:nvSpPr>
          <p:cNvPr id="7" name="Rounded Rectangle 6"/>
          <p:cNvSpPr/>
          <p:nvPr/>
        </p:nvSpPr>
        <p:spPr>
          <a:xfrm>
            <a:off x="6096413" y="1105120"/>
            <a:ext cx="5954488" cy="4239953"/>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sz="1600" b="1">
                <a:solidFill>
                  <a:srgbClr val="0D47A1"/>
                </a:solidFill>
              </a:rPr>
              <a:t>Key Design Decisions</a:t>
            </a:r>
          </a:p>
          <a:p>
            <a:pPr algn="ctr"/>
            <a:endParaRPr lang="en-US" sz="1600" b="1">
              <a:solidFill>
                <a:srgbClr val="0D47A1"/>
              </a:solidFill>
            </a:endParaRPr>
          </a:p>
          <a:p>
            <a:pPr marL="285750" indent="-285750">
              <a:lnSpc>
                <a:spcPct val="150000"/>
              </a:lnSpc>
              <a:buFont typeface="Arial"/>
              <a:buChar char="•"/>
            </a:pPr>
            <a:r>
              <a:rPr lang="en-US" sz="1400" b="1">
                <a:solidFill>
                  <a:srgbClr val="0D47A1"/>
                </a:solidFill>
              </a:rPr>
              <a:t>Materialized staging tables instead of views</a:t>
            </a:r>
            <a:r>
              <a:rPr lang="en-US" sz="1400">
                <a:solidFill>
                  <a:srgbClr val="0D47A1"/>
                </a:solidFill>
              </a:rPr>
              <a:t> to avoid repeatedly processing 39 million records during dashboard queries</a:t>
            </a:r>
          </a:p>
          <a:p>
            <a:pPr marL="285750" indent="-285750">
              <a:lnSpc>
                <a:spcPct val="150000"/>
              </a:lnSpc>
              <a:buFont typeface="Arial"/>
              <a:buChar char="•"/>
            </a:pPr>
            <a:r>
              <a:rPr lang="en-US" sz="1400" b="1">
                <a:solidFill>
                  <a:srgbClr val="0D47A1"/>
                </a:solidFill>
              </a:rPr>
              <a:t>Data quality filtering</a:t>
            </a:r>
            <a:r>
              <a:rPr lang="en-US" sz="1400">
                <a:solidFill>
                  <a:srgbClr val="0D47A1"/>
                </a:solidFill>
              </a:rPr>
              <a:t> implemented through an </a:t>
            </a:r>
            <a:r>
              <a:rPr lang="en-US" sz="1400" i="1" err="1">
                <a:solidFill>
                  <a:srgbClr val="0D47A1"/>
                </a:solidFill>
              </a:rPr>
              <a:t>is_valid</a:t>
            </a:r>
            <a:r>
              <a:rPr lang="en-US" sz="1400" i="1">
                <a:solidFill>
                  <a:srgbClr val="0D47A1"/>
                </a:solidFill>
              </a:rPr>
              <a:t> = True </a:t>
            </a:r>
            <a:r>
              <a:rPr lang="en-US" sz="1400">
                <a:solidFill>
                  <a:srgbClr val="0D47A1"/>
                </a:solidFill>
              </a:rPr>
              <a:t>flag, ensuring only trusted records reached the Gold layer</a:t>
            </a:r>
          </a:p>
          <a:p>
            <a:pPr marL="285750" indent="-285750">
              <a:lnSpc>
                <a:spcPct val="150000"/>
              </a:lnSpc>
              <a:buFont typeface="Arial"/>
              <a:buChar char="•"/>
            </a:pPr>
            <a:r>
              <a:rPr lang="en-US" sz="1400" b="1">
                <a:solidFill>
                  <a:srgbClr val="0D47A1"/>
                </a:solidFill>
              </a:rPr>
              <a:t>Weather data joined at the hour level, </a:t>
            </a:r>
            <a:r>
              <a:rPr lang="en-US" sz="1400">
                <a:solidFill>
                  <a:srgbClr val="2F63AF"/>
                </a:solidFill>
              </a:rPr>
              <a:t>matching ta</a:t>
            </a:r>
            <a:r>
              <a:rPr lang="en-US" sz="1400">
                <a:solidFill>
                  <a:srgbClr val="0D47A1"/>
                </a:solidFill>
              </a:rPr>
              <a:t>xi trip timestamp granularity and achieving a 100% join match rate</a:t>
            </a:r>
          </a:p>
          <a:p>
            <a:pPr marL="285750" indent="-285750">
              <a:lnSpc>
                <a:spcPct val="150000"/>
              </a:lnSpc>
              <a:buFont typeface="Arial"/>
              <a:buChar char="•"/>
            </a:pPr>
            <a:r>
              <a:rPr lang="en-US" sz="1400" b="1">
                <a:solidFill>
                  <a:srgbClr val="0D47A1"/>
                </a:solidFill>
              </a:rPr>
              <a:t>Centralized orchestration approach, </a:t>
            </a:r>
            <a:r>
              <a:rPr lang="en-US" sz="1400">
                <a:solidFill>
                  <a:srgbClr val="0D47A1"/>
                </a:solidFill>
              </a:rPr>
              <a:t>where a single command executes the entire pipeline, supports repeatability, fast failure detection, and simplified operations</a:t>
            </a:r>
          </a:p>
          <a:p>
            <a:pPr algn="ctr"/>
            <a:endParaRPr lang="en-US" sz="1600" b="1">
              <a:solidFill>
                <a:srgbClr val="0D47A1"/>
              </a:solidFill>
            </a:endParaRPr>
          </a:p>
        </p:txBody>
      </p:sp>
      <p:sp>
        <p:nvSpPr>
          <p:cNvPr id="6" name="Rounded Rectangle 10">
            <a:extLst>
              <a:ext uri="{FF2B5EF4-FFF2-40B4-BE49-F238E27FC236}">
                <a16:creationId xmlns:a16="http://schemas.microsoft.com/office/drawing/2014/main" id="{3B25A9FA-E6FC-9140-FB69-396B1BADBCDA}"/>
              </a:ext>
            </a:extLst>
          </p:cNvPr>
          <p:cNvSpPr/>
          <p:nvPr/>
        </p:nvSpPr>
        <p:spPr>
          <a:xfrm>
            <a:off x="228700" y="5541606"/>
            <a:ext cx="11751718" cy="1017828"/>
          </a:xfrm>
          <a:prstGeom prst="roundRect">
            <a:avLst/>
          </a:prstGeom>
          <a:solidFill>
            <a:schemeClr val="bg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b="1">
                <a:solidFill>
                  <a:schemeClr val="bg2">
                    <a:lumMod val="49000"/>
                  </a:schemeClr>
                </a:solidFill>
              </a:rPr>
              <a:t>Speed, Trust, Simplicity</a:t>
            </a:r>
          </a:p>
        </p:txBody>
      </p:sp>
    </p:spTree>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Additional </a:t>
            </a:r>
            <a:r>
              <a:t>Paths We Explored</a:t>
            </a: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73932" y="1403969"/>
            <a:ext cx="5081508" cy="3011619"/>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1600" b="1">
                <a:solidFill>
                  <a:srgbClr val="E65100"/>
                </a:solidFill>
              </a:rPr>
              <a:t>NYC Permit Data</a:t>
            </a:r>
            <a:endParaRPr lang="en-US" sz="1600"/>
          </a:p>
          <a:p>
            <a:pPr algn="ctr">
              <a:spcBef>
                <a:spcPts val="800"/>
              </a:spcBef>
            </a:pPr>
            <a:r>
              <a:rPr lang="en-US" sz="1200" i="1">
                <a:solidFill>
                  <a:srgbClr val="555555"/>
                </a:solidFill>
              </a:rPr>
              <a:t>Explored as enrichment</a:t>
            </a:r>
            <a:endParaRPr sz="1200" i="1">
              <a:solidFill>
                <a:srgbClr val="555555"/>
              </a:solidFill>
            </a:endParaRPr>
          </a:p>
          <a:p>
            <a:pPr marL="171450" indent="-171450">
              <a:spcBef>
                <a:spcPts val="1200"/>
              </a:spcBef>
              <a:buFont typeface="Arial"/>
              <a:buChar char="•"/>
            </a:pPr>
            <a:r>
              <a:rPr lang="en-US" sz="1400">
                <a:solidFill>
                  <a:schemeClr val="accent1">
                    <a:lumMod val="60000"/>
                    <a:lumOff val="40000"/>
                  </a:schemeClr>
                </a:solidFill>
              </a:rPr>
              <a:t>Could road work affect taxi demand?</a:t>
            </a:r>
          </a:p>
          <a:p>
            <a:pPr marL="171450" indent="-171450">
              <a:spcBef>
                <a:spcPts val="1200"/>
              </a:spcBef>
              <a:buFont typeface="Arial"/>
              <a:buChar char="•"/>
            </a:pPr>
            <a:r>
              <a:rPr lang="en-US" sz="1400">
                <a:solidFill>
                  <a:schemeClr val="accent1">
                    <a:lumMod val="60000"/>
                    <a:lumOff val="40000"/>
                  </a:schemeClr>
                </a:solidFill>
              </a:rPr>
              <a:t>Taxi data only identified pickup/drop-off zones</a:t>
            </a:r>
          </a:p>
          <a:p>
            <a:pPr marL="171450" indent="-171450">
              <a:spcBef>
                <a:spcPts val="1200"/>
              </a:spcBef>
              <a:buFont typeface="Arial"/>
              <a:buChar char="•"/>
            </a:pPr>
            <a:r>
              <a:rPr lang="en-US" sz="1400">
                <a:solidFill>
                  <a:schemeClr val="accent1">
                    <a:lumMod val="60000"/>
                    <a:lumOff val="40000"/>
                  </a:schemeClr>
                </a:solidFill>
              </a:rPr>
              <a:t>We could not reliably determine which construction sites a trip encountering </a:t>
            </a:r>
          </a:p>
          <a:p>
            <a:pPr marL="171450" indent="-171450">
              <a:spcBef>
                <a:spcPts val="1200"/>
              </a:spcBef>
              <a:buFont typeface="Arial"/>
              <a:buChar char="•"/>
            </a:pPr>
            <a:r>
              <a:rPr lang="en-US" sz="1400">
                <a:solidFill>
                  <a:schemeClr val="accent1">
                    <a:lumMod val="60000"/>
                    <a:lumOff val="40000"/>
                  </a:schemeClr>
                </a:solidFill>
              </a:rPr>
              <a:t>Decided to exclude this data to avoid making any unsupported assumptions</a:t>
            </a:r>
          </a:p>
          <a:p>
            <a:pPr marL="171450" indent="-171450">
              <a:spcBef>
                <a:spcPts val="1200"/>
              </a:spcBef>
              <a:buFont typeface="Arial"/>
              <a:buChar char="•"/>
            </a:pPr>
            <a:endParaRPr lang="en-US" sz="1100">
              <a:solidFill>
                <a:srgbClr val="2D2D2D"/>
              </a:solidFill>
            </a:endParaRPr>
          </a:p>
        </p:txBody>
      </p:sp>
      <p:sp>
        <p:nvSpPr>
          <p:cNvPr id="6" name="Rounded Rectangle 5"/>
          <p:cNvSpPr/>
          <p:nvPr/>
        </p:nvSpPr>
        <p:spPr>
          <a:xfrm>
            <a:off x="6396579" y="1403970"/>
            <a:ext cx="5081509" cy="301582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1600" b="1">
                <a:solidFill>
                  <a:srgbClr val="0D47A1"/>
                </a:solidFill>
              </a:rPr>
              <a:t>Data Pipeline</a:t>
            </a:r>
            <a:endParaRPr lang="en-US" sz="1600"/>
          </a:p>
          <a:p>
            <a:pPr algn="ctr">
              <a:spcBef>
                <a:spcPts val="800"/>
              </a:spcBef>
            </a:pPr>
            <a:r>
              <a:rPr lang="en-US" sz="1200" i="1">
                <a:solidFill>
                  <a:srgbClr val="555555"/>
                </a:solidFill>
              </a:rPr>
              <a:t>Partially Built</a:t>
            </a:r>
            <a:r>
              <a:rPr sz="1200" i="1">
                <a:solidFill>
                  <a:srgbClr val="555555"/>
                </a:solidFill>
              </a:rPr>
              <a:t> </a:t>
            </a:r>
          </a:p>
          <a:p>
            <a:pPr marL="171450" indent="-171450">
              <a:spcBef>
                <a:spcPts val="400"/>
              </a:spcBef>
              <a:buFont typeface="Arial"/>
              <a:buChar char="•"/>
            </a:pPr>
            <a:endParaRPr lang="en-US" sz="1200">
              <a:solidFill>
                <a:srgbClr val="2D2D2D"/>
              </a:solidFill>
            </a:endParaRPr>
          </a:p>
          <a:p>
            <a:pPr marL="171450" indent="-171450">
              <a:lnSpc>
                <a:spcPct val="150000"/>
              </a:lnSpc>
              <a:spcBef>
                <a:spcPts val="400"/>
              </a:spcBef>
              <a:buFont typeface="Arial"/>
              <a:buChar char="•"/>
            </a:pPr>
            <a:r>
              <a:rPr lang="en-US" sz="1400">
                <a:solidFill>
                  <a:srgbClr val="2F63AF"/>
                </a:solidFill>
              </a:rPr>
              <a:t>Used AWS Glue + </a:t>
            </a:r>
            <a:r>
              <a:rPr lang="en-US" sz="1400" err="1">
                <a:solidFill>
                  <a:srgbClr val="2F63AF"/>
                </a:solidFill>
              </a:rPr>
              <a:t>PySpark</a:t>
            </a:r>
            <a:r>
              <a:rPr lang="en-US" sz="1400">
                <a:solidFill>
                  <a:srgbClr val="2F63AF"/>
                </a:solidFill>
              </a:rPr>
              <a:t> for transformation</a:t>
            </a:r>
          </a:p>
          <a:p>
            <a:pPr marL="171450" indent="-171450">
              <a:lnSpc>
                <a:spcPct val="150000"/>
              </a:lnSpc>
              <a:spcBef>
                <a:spcPts val="400"/>
              </a:spcBef>
              <a:buFont typeface="Arial"/>
              <a:buChar char="•"/>
            </a:pPr>
            <a:r>
              <a:rPr lang="en-US" sz="1400">
                <a:solidFill>
                  <a:srgbClr val="2F63AF"/>
                </a:solidFill>
              </a:rPr>
              <a:t>Valuable hands-on experience with AWS</a:t>
            </a:r>
          </a:p>
          <a:p>
            <a:pPr marL="171450" indent="-171450">
              <a:lnSpc>
                <a:spcPct val="150000"/>
              </a:lnSpc>
              <a:spcBef>
                <a:spcPts val="400"/>
              </a:spcBef>
              <a:buFont typeface="Arial"/>
              <a:buChar char="•"/>
            </a:pPr>
            <a:r>
              <a:rPr lang="en-US" sz="1400">
                <a:solidFill>
                  <a:srgbClr val="2F63AF"/>
                </a:solidFill>
              </a:rPr>
              <a:t>Steeper learning curve and required more development effort</a:t>
            </a:r>
          </a:p>
          <a:p>
            <a:pPr marL="171450" indent="-171450">
              <a:lnSpc>
                <a:spcPct val="150000"/>
              </a:lnSpc>
              <a:spcBef>
                <a:spcPts val="400"/>
              </a:spcBef>
              <a:buFont typeface="Arial"/>
              <a:buChar char="•"/>
            </a:pPr>
            <a:r>
              <a:rPr lang="en-US" sz="1400">
                <a:solidFill>
                  <a:srgbClr val="2F63AF"/>
                </a:solidFill>
              </a:rPr>
              <a:t>Less practical within  our project timeline</a:t>
            </a:r>
          </a:p>
          <a:p>
            <a:pPr marL="171450" indent="-171450">
              <a:spcBef>
                <a:spcPts val="400"/>
              </a:spcBef>
              <a:buFont typeface="Arial"/>
              <a:buChar char="•"/>
            </a:pPr>
            <a:endParaRPr lang="en-US" sz="1100">
              <a:solidFill>
                <a:srgbClr val="2D2D2D"/>
              </a:solidFill>
            </a:endParaRPr>
          </a:p>
        </p:txBody>
      </p:sp>
      <p:sp>
        <p:nvSpPr>
          <p:cNvPr id="11" name="Rounded Rectangle 10"/>
          <p:cNvSpPr/>
          <p:nvPr/>
        </p:nvSpPr>
        <p:spPr>
          <a:xfrm>
            <a:off x="572528" y="4742436"/>
            <a:ext cx="10896793" cy="1816998"/>
          </a:xfrm>
          <a:prstGeom prst="roundRect">
            <a:avLst/>
          </a:prstGeom>
          <a:solidFill>
            <a:schemeClr val="bg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sz="1600" b="1">
                <a:solidFill>
                  <a:schemeClr val="bg2">
                    <a:lumMod val="49000"/>
                  </a:schemeClr>
                </a:solidFill>
              </a:rPr>
              <a:t>What the Exploration Taught Us</a:t>
            </a:r>
            <a:endParaRPr lang="en-US" sz="1600">
              <a:solidFill>
                <a:schemeClr val="bg2">
                  <a:lumMod val="49000"/>
                </a:schemeClr>
              </a:solidFill>
            </a:endParaRPr>
          </a:p>
          <a:p>
            <a:pPr algn="ctr"/>
            <a:endParaRPr lang="en-US" sz="1400" b="1">
              <a:solidFill>
                <a:srgbClr val="8B0138"/>
              </a:solidFill>
            </a:endParaRPr>
          </a:p>
          <a:p>
            <a:pPr marL="285750" indent="-285750">
              <a:lnSpc>
                <a:spcPct val="150000"/>
              </a:lnSpc>
              <a:buFont typeface="Arial"/>
              <a:buChar char="•"/>
            </a:pPr>
            <a:r>
              <a:rPr lang="en-US" sz="1400">
                <a:solidFill>
                  <a:srgbClr val="8B0138"/>
                </a:solidFill>
              </a:rPr>
              <a:t>Not every enrichment source can be relatively connected to our data</a:t>
            </a:r>
          </a:p>
          <a:p>
            <a:pPr marL="285750" indent="-285750">
              <a:lnSpc>
                <a:spcPct val="150000"/>
              </a:lnSpc>
              <a:buFont typeface="Arial"/>
              <a:buChar char="•"/>
            </a:pPr>
            <a:r>
              <a:rPr lang="en-US" sz="1400">
                <a:solidFill>
                  <a:srgbClr val="8B0138"/>
                </a:solidFill>
              </a:rPr>
              <a:t>Exploring a different pipeline implementation gave us valuable AWS and </a:t>
            </a:r>
            <a:r>
              <a:rPr lang="en-US" sz="1400" err="1">
                <a:solidFill>
                  <a:srgbClr val="8B0138"/>
                </a:solidFill>
              </a:rPr>
              <a:t>PySpark</a:t>
            </a:r>
            <a:r>
              <a:rPr lang="en-US" sz="1400">
                <a:solidFill>
                  <a:srgbClr val="8B0138"/>
                </a:solidFill>
              </a:rPr>
              <a:t> experience</a:t>
            </a:r>
          </a:p>
          <a:p>
            <a:pPr marL="285750" indent="-285750">
              <a:lnSpc>
                <a:spcPct val="150000"/>
              </a:lnSpc>
              <a:buFont typeface="Arial"/>
              <a:buChar char="•"/>
            </a:pPr>
            <a:r>
              <a:rPr lang="en-US" sz="1400">
                <a:solidFill>
                  <a:srgbClr val="8B0138"/>
                </a:solidFill>
              </a:rPr>
              <a:t>Comparing both approaches helped us make an informed architecture experience</a:t>
            </a:r>
          </a:p>
        </p:txBody>
      </p:sp>
    </p:spTree>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a:p>
        </p:txBody>
      </p:sp>
      <p:sp>
        <p:nvSpPr>
          <p:cNvPr id="3" name="Title 2"/>
          <p:cNvSpPr>
            <a:spLocks noGrp="1"/>
          </p:cNvSpPr>
          <p:nvPr>
            <p:ph type="title"/>
          </p:nvPr>
        </p:nvSpPr>
        <p:spPr/>
        <p:txBody>
          <a:bodyPr/>
          <a:lstStyle/>
          <a:p>
            <a:r>
              <a:t>3</a:t>
            </a:r>
          </a:p>
        </p:txBody>
      </p:sp>
      <p:sp>
        <p:nvSpPr>
          <p:cNvPr id="4" name="Subtitle 3"/>
          <p:cNvSpPr>
            <a:spLocks noGrp="1"/>
          </p:cNvSpPr>
          <p:nvPr>
            <p:ph type="subTitle" idx="1"/>
          </p:nvPr>
        </p:nvSpPr>
        <p:spPr/>
        <p:txBody>
          <a:bodyPr/>
          <a:lstStyle/>
          <a:p>
            <a:r>
              <a:rPr lang="en-US"/>
              <a:t>Our Findings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604C8-BC52-F384-C9DD-3CF4A71268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3B10C3-4B09-A94B-1593-14CD0E9D8AF8}"/>
              </a:ext>
            </a:extLst>
          </p:cNvPr>
          <p:cNvSpPr>
            <a:spLocks noGrp="1"/>
          </p:cNvSpPr>
          <p:nvPr>
            <p:ph type="title"/>
          </p:nvPr>
        </p:nvSpPr>
        <p:spPr>
          <a:xfrm>
            <a:off x="574363" y="360233"/>
            <a:ext cx="11612136" cy="422295"/>
          </a:xfrm>
        </p:spPr>
        <p:txBody>
          <a:bodyPr/>
          <a:lstStyle/>
          <a:p>
            <a:r>
              <a:rPr lang="en-US"/>
              <a:t>Discovering Similar Taxi Zone Patterns with </a:t>
            </a:r>
            <a:r>
              <a:rPr lang="en-US" err="1"/>
              <a:t>BigQuery</a:t>
            </a:r>
            <a:r>
              <a:rPr lang="en-US"/>
              <a:t> ML</a:t>
            </a:r>
          </a:p>
        </p:txBody>
      </p:sp>
      <p:sp>
        <p:nvSpPr>
          <p:cNvPr id="4" name="Rectangle 3">
            <a:extLst>
              <a:ext uri="{FF2B5EF4-FFF2-40B4-BE49-F238E27FC236}">
                <a16:creationId xmlns:a16="http://schemas.microsoft.com/office/drawing/2014/main" id="{194B9EC5-D6AA-AEAF-AF76-4BEDB4A05B68}"/>
              </a:ext>
            </a:extLst>
          </p:cNvPr>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a:extLst>
              <a:ext uri="{FF2B5EF4-FFF2-40B4-BE49-F238E27FC236}">
                <a16:creationId xmlns:a16="http://schemas.microsoft.com/office/drawing/2014/main" id="{482BDC59-8DC4-748E-95A8-8C1CBE21E56E}"/>
              </a:ext>
            </a:extLst>
          </p:cNvPr>
          <p:cNvSpPr/>
          <p:nvPr/>
        </p:nvSpPr>
        <p:spPr>
          <a:xfrm>
            <a:off x="297780" y="1285854"/>
            <a:ext cx="3755195" cy="4113316"/>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lstStyle/>
          <a:p>
            <a:pPr algn="ctr"/>
            <a:r>
              <a:rPr lang="en-US" sz="1600" b="1">
                <a:solidFill>
                  <a:srgbClr val="0D47A1"/>
                </a:solidFill>
              </a:rPr>
              <a:t>What We Looked For</a:t>
            </a:r>
            <a:endParaRPr lang="en-US"/>
          </a:p>
          <a:p>
            <a:pPr algn="ctr"/>
            <a:endParaRPr sz="1400">
              <a:solidFill>
                <a:srgbClr val="2F63AF"/>
              </a:solidFill>
            </a:endParaRPr>
          </a:p>
          <a:p>
            <a:pPr marL="171450" indent="-171450">
              <a:lnSpc>
                <a:spcPct val="150000"/>
              </a:lnSpc>
              <a:buFont typeface="Arial"/>
              <a:buChar char="•"/>
            </a:pPr>
            <a:r>
              <a:rPr lang="en-US" sz="1400">
                <a:solidFill>
                  <a:srgbClr val="2F63AF"/>
                </a:solidFill>
                <a:latin typeface="Trust Hartford Sans"/>
                <a:cs typeface="Segoe UI"/>
              </a:rPr>
              <a:t>Are there pickup zones that behave similarly?</a:t>
            </a:r>
            <a:endParaRPr lang="en-US" sz="1400">
              <a:latin typeface="Trust Hartford Sans"/>
            </a:endParaRPr>
          </a:p>
          <a:p>
            <a:pPr>
              <a:lnSpc>
                <a:spcPct val="150000"/>
              </a:lnSpc>
            </a:pPr>
            <a:endParaRPr lang="en-US" sz="1400">
              <a:solidFill>
                <a:srgbClr val="2F63AF"/>
              </a:solidFill>
              <a:latin typeface="Trust Hartford Sans"/>
              <a:cs typeface="Segoe UI"/>
            </a:endParaRPr>
          </a:p>
          <a:p>
            <a:pPr marL="171450" indent="-171450">
              <a:lnSpc>
                <a:spcPct val="150000"/>
              </a:lnSpc>
              <a:buFont typeface="Arial"/>
              <a:buChar char="•"/>
            </a:pPr>
            <a:r>
              <a:rPr lang="en-US" sz="1400">
                <a:solidFill>
                  <a:srgbClr val="2F63AF"/>
                </a:solidFill>
                <a:latin typeface="Trust Hartford Sans"/>
                <a:cs typeface="Segoe UI"/>
              </a:rPr>
              <a:t>Do factors like trip volume, distance, fare amount, and weather help separate these zones?</a:t>
            </a:r>
            <a:endParaRPr lang="en-US" sz="1400">
              <a:latin typeface="Trust Hartford Sans"/>
            </a:endParaRPr>
          </a:p>
          <a:p>
            <a:pPr>
              <a:lnSpc>
                <a:spcPct val="150000"/>
              </a:lnSpc>
            </a:pPr>
            <a:endParaRPr lang="en-US" sz="1400">
              <a:solidFill>
                <a:srgbClr val="2F63AF"/>
              </a:solidFill>
              <a:latin typeface="Trust Hartford Sans"/>
              <a:cs typeface="Segoe UI"/>
            </a:endParaRPr>
          </a:p>
          <a:p>
            <a:pPr marL="171450" indent="-171450">
              <a:lnSpc>
                <a:spcPct val="150000"/>
              </a:lnSpc>
              <a:buFont typeface="Arial"/>
              <a:buChar char="•"/>
            </a:pPr>
            <a:r>
              <a:rPr lang="en-US" sz="1400">
                <a:solidFill>
                  <a:srgbClr val="2F63AF"/>
                </a:solidFill>
                <a:latin typeface="Trust Hartford Sans"/>
                <a:cs typeface="Segoe UI"/>
              </a:rPr>
              <a:t>Can we group zones in a way that makes the patterns easier to explore?</a:t>
            </a:r>
            <a:endParaRPr lang="en-US" sz="1400">
              <a:latin typeface="Trust Hartford Sans"/>
              <a:cs typeface="Segoe UI"/>
            </a:endParaRPr>
          </a:p>
          <a:p>
            <a:pPr marL="285750" indent="-285750">
              <a:buFont typeface="Arial"/>
              <a:buChar char="•"/>
            </a:pPr>
            <a:endParaRPr lang="en-US" sz="1400">
              <a:solidFill>
                <a:srgbClr val="2F63AF"/>
              </a:solidFill>
            </a:endParaRPr>
          </a:p>
        </p:txBody>
      </p:sp>
      <p:sp>
        <p:nvSpPr>
          <p:cNvPr id="7" name="Rounded Rectangle 5">
            <a:extLst>
              <a:ext uri="{FF2B5EF4-FFF2-40B4-BE49-F238E27FC236}">
                <a16:creationId xmlns:a16="http://schemas.microsoft.com/office/drawing/2014/main" id="{A1CDF18B-6018-52E3-A1B8-D751C4A80A36}"/>
              </a:ext>
            </a:extLst>
          </p:cNvPr>
          <p:cNvSpPr/>
          <p:nvPr/>
        </p:nvSpPr>
        <p:spPr>
          <a:xfrm>
            <a:off x="4222879" y="1285854"/>
            <a:ext cx="3748539" cy="4111244"/>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lstStyle/>
          <a:p>
            <a:pPr algn="ctr"/>
            <a:r>
              <a:rPr sz="1600" b="1">
                <a:solidFill>
                  <a:srgbClr val="2E7D32"/>
                </a:solidFill>
              </a:rPr>
              <a:t>What</a:t>
            </a:r>
            <a:r>
              <a:rPr lang="en-US" sz="1600" b="1">
                <a:solidFill>
                  <a:srgbClr val="2E7D32"/>
                </a:solidFill>
              </a:rPr>
              <a:t> We Did</a:t>
            </a:r>
          </a:p>
          <a:p>
            <a:pPr marL="171450" indent="-171450">
              <a:lnSpc>
                <a:spcPct val="150000"/>
              </a:lnSpc>
              <a:buFont typeface="Arial"/>
              <a:buChar char="•"/>
            </a:pPr>
            <a:r>
              <a:rPr lang="en-US" sz="1400">
                <a:solidFill>
                  <a:srgbClr val="2E7D32"/>
                </a:solidFill>
                <a:latin typeface="Trust Hartford Sans"/>
                <a:cs typeface="Segoe UI"/>
              </a:rPr>
              <a:t>Used </a:t>
            </a:r>
            <a:r>
              <a:rPr lang="en-US" sz="1400" err="1">
                <a:solidFill>
                  <a:srgbClr val="2E7D32"/>
                </a:solidFill>
                <a:latin typeface="Trust Hartford Sans"/>
                <a:cs typeface="Segoe UI"/>
              </a:rPr>
              <a:t>BigQuery</a:t>
            </a:r>
            <a:r>
              <a:rPr lang="en-US" sz="1400">
                <a:solidFill>
                  <a:srgbClr val="2E7D32"/>
                </a:solidFill>
                <a:latin typeface="Trust Hartford Sans"/>
                <a:cs typeface="Segoe UI"/>
              </a:rPr>
              <a:t> ML clustering on the </a:t>
            </a:r>
            <a:r>
              <a:rPr lang="en-US" sz="1400" err="1">
                <a:solidFill>
                  <a:srgbClr val="2E7D32"/>
                </a:solidFill>
                <a:latin typeface="Trust Hartford Sans"/>
              </a:rPr>
              <a:t>mart_zone_clustering</a:t>
            </a:r>
            <a:r>
              <a:rPr lang="en-US" sz="1400">
                <a:solidFill>
                  <a:srgbClr val="2E7D32"/>
                </a:solidFill>
                <a:latin typeface="Trust Hartford Sans"/>
                <a:cs typeface="Segoe UI"/>
              </a:rPr>
              <a:t> table.</a:t>
            </a:r>
            <a:endParaRPr lang="en-US" sz="1400">
              <a:latin typeface="Trust Hartford Sans"/>
            </a:endParaRPr>
          </a:p>
          <a:p>
            <a:pPr>
              <a:lnSpc>
                <a:spcPct val="150000"/>
              </a:lnSpc>
            </a:pPr>
            <a:endParaRPr lang="en-US" sz="1400">
              <a:solidFill>
                <a:srgbClr val="2E7D32"/>
              </a:solidFill>
              <a:latin typeface="Trust Hartford Sans"/>
              <a:cs typeface="Segoe UI"/>
            </a:endParaRPr>
          </a:p>
          <a:p>
            <a:pPr marL="171450" indent="-171450">
              <a:lnSpc>
                <a:spcPct val="150000"/>
              </a:lnSpc>
              <a:buFont typeface="Arial"/>
              <a:buChar char="•"/>
            </a:pPr>
            <a:r>
              <a:rPr lang="en-US" sz="1400">
                <a:solidFill>
                  <a:srgbClr val="2E7D32"/>
                </a:solidFill>
                <a:latin typeface="Trust Hartford Sans"/>
                <a:cs typeface="Segoe UI"/>
              </a:rPr>
              <a:t>Clustered data at the pickup zone and year level.</a:t>
            </a:r>
            <a:endParaRPr lang="en-US" sz="1400">
              <a:solidFill>
                <a:srgbClr val="2E7D32"/>
              </a:solidFill>
              <a:latin typeface="Trust Hartford Sans"/>
            </a:endParaRPr>
          </a:p>
          <a:p>
            <a:pPr>
              <a:lnSpc>
                <a:spcPct val="150000"/>
              </a:lnSpc>
            </a:pPr>
            <a:endParaRPr lang="en-US" sz="1400">
              <a:solidFill>
                <a:srgbClr val="2E7D32"/>
              </a:solidFill>
              <a:latin typeface="Trust Hartford Sans"/>
              <a:cs typeface="Segoe UI"/>
            </a:endParaRPr>
          </a:p>
          <a:p>
            <a:pPr marL="171450" indent="-171450">
              <a:lnSpc>
                <a:spcPct val="150000"/>
              </a:lnSpc>
              <a:buFont typeface="Arial"/>
              <a:buChar char="•"/>
            </a:pPr>
            <a:r>
              <a:rPr lang="en-US" sz="1400">
                <a:solidFill>
                  <a:srgbClr val="2E7D32"/>
                </a:solidFill>
                <a:latin typeface="Trust Hartford Sans"/>
                <a:cs typeface="Segoe UI"/>
              </a:rPr>
              <a:t>Tested different numbers of clusters to find useful groupings.</a:t>
            </a:r>
            <a:endParaRPr lang="en-US" sz="1400">
              <a:solidFill>
                <a:srgbClr val="2E7D32"/>
              </a:solidFill>
              <a:latin typeface="Trust Hartford Sans"/>
            </a:endParaRPr>
          </a:p>
          <a:p>
            <a:pPr marL="171450" indent="-171450">
              <a:lnSpc>
                <a:spcPct val="150000"/>
              </a:lnSpc>
              <a:buFont typeface="Arial"/>
              <a:buChar char="•"/>
            </a:pPr>
            <a:endParaRPr lang="en-US" sz="1400">
              <a:solidFill>
                <a:srgbClr val="2E7D32"/>
              </a:solidFill>
              <a:latin typeface="Trust Hartford Sans"/>
              <a:cs typeface="Segoe UI"/>
            </a:endParaRPr>
          </a:p>
          <a:p>
            <a:pPr marL="171450" indent="-171450">
              <a:lnSpc>
                <a:spcPct val="150000"/>
              </a:lnSpc>
              <a:buFont typeface="Arial"/>
              <a:buChar char="•"/>
            </a:pPr>
            <a:r>
              <a:rPr lang="en-US" sz="1400">
                <a:solidFill>
                  <a:srgbClr val="2E7D32"/>
                </a:solidFill>
                <a:latin typeface="Trust Hartford Sans"/>
                <a:cs typeface="Segoe UI"/>
              </a:rPr>
              <a:t>Assigned each pickup zone-year record to the cluster it most closely matched.</a:t>
            </a:r>
            <a:endParaRPr lang="en-US" sz="1400">
              <a:latin typeface="Trust Hartford Sans"/>
            </a:endParaRPr>
          </a:p>
          <a:p>
            <a:pPr marL="285750" indent="-285750">
              <a:buFont typeface="Arial"/>
              <a:buChar char="•"/>
            </a:pPr>
            <a:endParaRPr lang="en-US" sz="1600" b="1">
              <a:solidFill>
                <a:srgbClr val="2E7D32"/>
              </a:solidFill>
            </a:endParaRPr>
          </a:p>
          <a:p>
            <a:pPr>
              <a:spcBef>
                <a:spcPts val="800"/>
              </a:spcBef>
            </a:pPr>
            <a:endParaRPr lang="en-US" sz="1300">
              <a:solidFill>
                <a:srgbClr val="2D2D2D"/>
              </a:solidFill>
            </a:endParaRPr>
          </a:p>
        </p:txBody>
      </p:sp>
      <p:sp>
        <p:nvSpPr>
          <p:cNvPr id="9" name="Rounded Rectangle 6">
            <a:extLst>
              <a:ext uri="{FF2B5EF4-FFF2-40B4-BE49-F238E27FC236}">
                <a16:creationId xmlns:a16="http://schemas.microsoft.com/office/drawing/2014/main" id="{6499640A-B769-6D23-B90A-216715E81F7A}"/>
              </a:ext>
            </a:extLst>
          </p:cNvPr>
          <p:cNvSpPr/>
          <p:nvPr/>
        </p:nvSpPr>
        <p:spPr>
          <a:xfrm>
            <a:off x="8293073" y="1283074"/>
            <a:ext cx="3404708" cy="4116096"/>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lstStyle/>
          <a:p>
            <a:pPr algn="ctr"/>
            <a:r>
              <a:rPr lang="en-US" sz="1600" b="1">
                <a:solidFill>
                  <a:srgbClr val="E65100"/>
                </a:solidFill>
                <a:latin typeface="Trust Hartford Sans"/>
                <a:cs typeface="Segoe UI"/>
              </a:rPr>
              <a:t>How We Used the Results</a:t>
            </a:r>
          </a:p>
          <a:p>
            <a:pPr algn="ctr">
              <a:lnSpc>
                <a:spcPct val="150000"/>
              </a:lnSpc>
            </a:pPr>
            <a:endParaRPr lang="en-US" sz="1100" b="1">
              <a:solidFill>
                <a:srgbClr val="E65100"/>
              </a:solidFill>
              <a:latin typeface="Segoe UI"/>
              <a:cs typeface="Segoe UI"/>
            </a:endParaRPr>
          </a:p>
          <a:p>
            <a:pPr marL="285750" indent="-285750">
              <a:lnSpc>
                <a:spcPct val="150000"/>
              </a:lnSpc>
              <a:buFont typeface="Arial"/>
              <a:buChar char="•"/>
            </a:pPr>
            <a:r>
              <a:rPr lang="en-US" sz="1400">
                <a:solidFill>
                  <a:srgbClr val="E65100"/>
                </a:solidFill>
                <a:latin typeface="Trust Hartford Sans"/>
                <a:cs typeface="Segoe UI"/>
              </a:rPr>
              <a:t>Brought the cluster results into Tableau.</a:t>
            </a:r>
            <a:endParaRPr lang="en-US" sz="1400">
              <a:latin typeface="Trust Hartford Sans"/>
              <a:cs typeface="Segoe UI"/>
            </a:endParaRPr>
          </a:p>
          <a:p>
            <a:pPr>
              <a:lnSpc>
                <a:spcPct val="150000"/>
              </a:lnSpc>
            </a:pPr>
            <a:endParaRPr lang="en-US" sz="1400">
              <a:solidFill>
                <a:srgbClr val="E65100"/>
              </a:solidFill>
              <a:latin typeface="Trust Hartford Sans"/>
              <a:cs typeface="Segoe UI"/>
            </a:endParaRPr>
          </a:p>
          <a:p>
            <a:pPr marL="285750" indent="-285750">
              <a:lnSpc>
                <a:spcPct val="150000"/>
              </a:lnSpc>
              <a:buFont typeface="Arial"/>
              <a:buChar char="•"/>
            </a:pPr>
            <a:r>
              <a:rPr lang="en-US" sz="1400">
                <a:solidFill>
                  <a:srgbClr val="E65100"/>
                </a:solidFill>
                <a:latin typeface="Trust Hartford Sans"/>
                <a:cs typeface="Segoe UI"/>
              </a:rPr>
              <a:t>Compared clusters to understand what made each group different.</a:t>
            </a:r>
            <a:endParaRPr lang="en-US" sz="1400">
              <a:latin typeface="Trust Hartford Sans"/>
              <a:cs typeface="Segoe UI"/>
            </a:endParaRPr>
          </a:p>
          <a:p>
            <a:pPr>
              <a:lnSpc>
                <a:spcPct val="150000"/>
              </a:lnSpc>
            </a:pPr>
            <a:endParaRPr lang="en-US" sz="1400">
              <a:solidFill>
                <a:srgbClr val="E65100"/>
              </a:solidFill>
              <a:latin typeface="Trust Hartford Sans"/>
              <a:cs typeface="Segoe UI"/>
            </a:endParaRPr>
          </a:p>
          <a:p>
            <a:pPr marL="285750" indent="-285750">
              <a:lnSpc>
                <a:spcPct val="150000"/>
              </a:lnSpc>
              <a:buFont typeface="Arial"/>
              <a:buChar char="•"/>
            </a:pPr>
            <a:r>
              <a:rPr lang="en-US" sz="1400">
                <a:solidFill>
                  <a:srgbClr val="E65100"/>
                </a:solidFill>
                <a:latin typeface="Trust Hartford Sans"/>
                <a:cs typeface="Segoe UI"/>
              </a:rPr>
              <a:t>Used the clusters to support the business analysis and visual storytelling.</a:t>
            </a:r>
            <a:endParaRPr lang="en-US" sz="1400">
              <a:latin typeface="Trust Hartford Sans"/>
            </a:endParaRPr>
          </a:p>
          <a:p>
            <a:endParaRPr lang="en-US" sz="1600" b="1">
              <a:solidFill>
                <a:srgbClr val="E65100"/>
              </a:solidFill>
            </a:endParaRPr>
          </a:p>
        </p:txBody>
      </p:sp>
      <p:sp>
        <p:nvSpPr>
          <p:cNvPr id="11" name="Rounded Rectangle 7">
            <a:extLst>
              <a:ext uri="{FF2B5EF4-FFF2-40B4-BE49-F238E27FC236}">
                <a16:creationId xmlns:a16="http://schemas.microsoft.com/office/drawing/2014/main" id="{BABDB002-3CDF-7D17-1AA1-7AD88DDDE2DF}"/>
              </a:ext>
            </a:extLst>
          </p:cNvPr>
          <p:cNvSpPr/>
          <p:nvPr/>
        </p:nvSpPr>
        <p:spPr>
          <a:xfrm>
            <a:off x="297780" y="5549655"/>
            <a:ext cx="11400000" cy="1029124"/>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endParaRPr lang="en-US" sz="1600" b="1">
              <a:solidFill>
                <a:srgbClr val="8B0138"/>
              </a:solidFill>
            </a:endParaRPr>
          </a:p>
          <a:p>
            <a:pPr algn="ctr"/>
            <a:endParaRPr lang="en-US" sz="1600" b="1">
              <a:solidFill>
                <a:srgbClr val="8B0138"/>
              </a:solidFill>
              <a:latin typeface="Trust Hartford Sans"/>
              <a:cs typeface="Segoe UI"/>
            </a:endParaRPr>
          </a:p>
          <a:p>
            <a:pPr algn="ctr"/>
            <a:endParaRPr lang="en-US" sz="1600" b="1">
              <a:solidFill>
                <a:srgbClr val="8B0138"/>
              </a:solidFill>
              <a:latin typeface="Trust Hartford Sans"/>
              <a:cs typeface="Segoe UI"/>
            </a:endParaRPr>
          </a:p>
          <a:p>
            <a:pPr algn="ctr"/>
            <a:r>
              <a:rPr lang="en-US" sz="1600" b="1">
                <a:solidFill>
                  <a:srgbClr val="8B0138"/>
                </a:solidFill>
                <a:latin typeface="Trust Hartford Sans"/>
                <a:cs typeface="Segoe UI"/>
              </a:rPr>
              <a:t>Taxi Trip Data → Zone-Year Summary → </a:t>
            </a:r>
            <a:r>
              <a:rPr lang="en-US" sz="1600" b="1" err="1">
                <a:solidFill>
                  <a:srgbClr val="8B0138"/>
                </a:solidFill>
                <a:latin typeface="Trust Hartford Sans"/>
                <a:cs typeface="Segoe UI"/>
              </a:rPr>
              <a:t>BigQuery</a:t>
            </a:r>
            <a:r>
              <a:rPr lang="en-US" sz="1600" b="1">
                <a:solidFill>
                  <a:srgbClr val="8B0138"/>
                </a:solidFill>
                <a:latin typeface="Trust Hartford Sans"/>
                <a:cs typeface="Segoe UI"/>
              </a:rPr>
              <a:t> ML Clustering → Tableau Analysis</a:t>
            </a:r>
            <a:endParaRPr lang="en-US" sz="1600">
              <a:latin typeface="Trust Hartford Sans"/>
            </a:endParaRPr>
          </a:p>
          <a:p>
            <a:pPr algn="ctr"/>
            <a:r>
              <a:rPr lang="en-US" sz="1200" b="1" i="1">
                <a:solidFill>
                  <a:srgbClr val="8B0138"/>
                </a:solidFill>
                <a:latin typeface="Trust Hartford Sans"/>
                <a:cs typeface="Segoe UI"/>
              </a:rPr>
              <a:t>Data used:</a:t>
            </a:r>
            <a:r>
              <a:rPr lang="en-US" sz="1200" i="1">
                <a:solidFill>
                  <a:srgbClr val="8B0138"/>
                </a:solidFill>
                <a:latin typeface="Trust Hartford Sans"/>
                <a:cs typeface="Segoe UI"/>
              </a:rPr>
              <a:t> </a:t>
            </a:r>
            <a:r>
              <a:rPr lang="en-US" sz="1200" i="1" err="1">
                <a:solidFill>
                  <a:srgbClr val="8B0138"/>
                </a:solidFill>
                <a:latin typeface="Trust Hartford Sans"/>
                <a:cs typeface="Segoe UI"/>
              </a:rPr>
              <a:t>mart_zone_clustering</a:t>
            </a:r>
            <a:r>
              <a:rPr lang="en-US" sz="1200" i="1">
                <a:solidFill>
                  <a:srgbClr val="8B0138"/>
                </a:solidFill>
                <a:latin typeface="Trust Hartford Sans"/>
                <a:cs typeface="Segoe UI"/>
              </a:rPr>
              <a:t>, with one row per pickup zone and year.</a:t>
            </a:r>
            <a:endParaRPr lang="en-US" sz="1200" i="1">
              <a:latin typeface="Trust Hartford Sans"/>
            </a:endParaRPr>
          </a:p>
          <a:p>
            <a:pPr algn="ctr"/>
            <a:endParaRPr lang="en-US" sz="1600" b="1">
              <a:solidFill>
                <a:srgbClr val="8B0138"/>
              </a:solidFill>
              <a:latin typeface="Trust Hartford Sans"/>
              <a:cs typeface="Segoe UI"/>
            </a:endParaRPr>
          </a:p>
          <a:p>
            <a:pPr algn="ctr"/>
            <a:endParaRPr lang="en-US" sz="1100" b="1">
              <a:solidFill>
                <a:srgbClr val="8B0138"/>
              </a:solidFill>
              <a:latin typeface="Segoe UI"/>
              <a:cs typeface="Segoe UI"/>
            </a:endParaRPr>
          </a:p>
          <a:p>
            <a:pPr algn="ctr"/>
            <a:endParaRPr lang="en-US" sz="1600" b="1">
              <a:solidFill>
                <a:srgbClr val="8B0138"/>
              </a:solidFill>
            </a:endParaRPr>
          </a:p>
          <a:p>
            <a:pPr algn="ctr"/>
            <a:endParaRPr lang="en-US" sz="1400" b="1">
              <a:solidFill>
                <a:srgbClr val="2D2D2D"/>
              </a:solidFill>
            </a:endParaRPr>
          </a:p>
        </p:txBody>
      </p:sp>
    </p:spTree>
    <p:extLst>
      <p:ext uri="{BB962C8B-B14F-4D97-AF65-F5344CB8AC3E}">
        <p14:creationId xmlns:p14="http://schemas.microsoft.com/office/powerpoint/2010/main" val="64397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42F49-A74C-C798-9F69-FB3DFC4F06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175DBC-36E5-81FE-FB4D-56C98D39B34E}"/>
              </a:ext>
            </a:extLst>
          </p:cNvPr>
          <p:cNvSpPr>
            <a:spLocks noGrp="1"/>
          </p:cNvSpPr>
          <p:nvPr>
            <p:ph type="title"/>
          </p:nvPr>
        </p:nvSpPr>
        <p:spPr>
          <a:xfrm>
            <a:off x="574363" y="360233"/>
            <a:ext cx="11612136" cy="422295"/>
          </a:xfrm>
        </p:spPr>
        <p:txBody>
          <a:bodyPr/>
          <a:lstStyle/>
          <a:p>
            <a:r>
              <a:rPr lang="en-US" err="1"/>
              <a:t>BigQuery</a:t>
            </a:r>
            <a:r>
              <a:rPr lang="en-US"/>
              <a:t> ML: What We Learned</a:t>
            </a:r>
          </a:p>
        </p:txBody>
      </p:sp>
      <p:sp>
        <p:nvSpPr>
          <p:cNvPr id="4" name="Rectangle 3">
            <a:extLst>
              <a:ext uri="{FF2B5EF4-FFF2-40B4-BE49-F238E27FC236}">
                <a16:creationId xmlns:a16="http://schemas.microsoft.com/office/drawing/2014/main" id="{46557D65-177C-693E-3714-881D8E3EA890}"/>
              </a:ext>
            </a:extLst>
          </p:cNvPr>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a:extLst>
              <a:ext uri="{FF2B5EF4-FFF2-40B4-BE49-F238E27FC236}">
                <a16:creationId xmlns:a16="http://schemas.microsoft.com/office/drawing/2014/main" id="{FA16BBCA-B72C-53D8-77A5-DBD452094CC0}"/>
              </a:ext>
            </a:extLst>
          </p:cNvPr>
          <p:cNvPicPr>
            <a:picLocks noChangeAspect="1"/>
          </p:cNvPicPr>
          <p:nvPr/>
        </p:nvPicPr>
        <p:blipFill>
          <a:blip r:embed="rId3"/>
          <a:stretch>
            <a:fillRect/>
          </a:stretch>
        </p:blipFill>
        <p:spPr>
          <a:xfrm>
            <a:off x="-4357" y="1037895"/>
            <a:ext cx="7090061" cy="5609899"/>
          </a:xfrm>
          <a:prstGeom prst="rect">
            <a:avLst/>
          </a:prstGeom>
        </p:spPr>
      </p:pic>
      <p:sp>
        <p:nvSpPr>
          <p:cNvPr id="12" name="Rounded Rectangle 4">
            <a:extLst>
              <a:ext uri="{FF2B5EF4-FFF2-40B4-BE49-F238E27FC236}">
                <a16:creationId xmlns:a16="http://schemas.microsoft.com/office/drawing/2014/main" id="{56F01AD4-E1BE-E103-694D-EB7C2D24BB0F}"/>
              </a:ext>
            </a:extLst>
          </p:cNvPr>
          <p:cNvSpPr/>
          <p:nvPr/>
        </p:nvSpPr>
        <p:spPr>
          <a:xfrm>
            <a:off x="7392263" y="1032069"/>
            <a:ext cx="4687988" cy="561776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lstStyle/>
          <a:p>
            <a:pPr algn="ctr"/>
            <a:r>
              <a:rPr lang="en-US" sz="1400" b="1">
                <a:solidFill>
                  <a:srgbClr val="2F63AF"/>
                </a:solidFill>
              </a:rPr>
              <a:t>Clustering Results</a:t>
            </a:r>
            <a:endParaRPr lang="en-US" sz="1400">
              <a:solidFill>
                <a:srgbClr val="000000"/>
              </a:solidFill>
            </a:endParaRPr>
          </a:p>
          <a:p>
            <a:pPr algn="ctr">
              <a:lnSpc>
                <a:spcPct val="150000"/>
              </a:lnSpc>
            </a:pPr>
            <a:endParaRPr lang="en-US" sz="1400">
              <a:solidFill>
                <a:srgbClr val="000000"/>
              </a:solidFill>
            </a:endParaRPr>
          </a:p>
          <a:p>
            <a:pPr>
              <a:lnSpc>
                <a:spcPct val="150000"/>
              </a:lnSpc>
            </a:pPr>
            <a:r>
              <a:rPr lang="en-US" sz="1200" b="1">
                <a:solidFill>
                  <a:srgbClr val="2F63AF"/>
                </a:solidFill>
              </a:rPr>
              <a:t>Cluster 1: Nightlife &amp; Weekend Zones</a:t>
            </a:r>
            <a:endParaRPr lang="en-US" sz="1200">
              <a:solidFill>
                <a:srgbClr val="000000"/>
              </a:solidFill>
            </a:endParaRPr>
          </a:p>
          <a:p>
            <a:pPr marL="285750" indent="-285750">
              <a:lnSpc>
                <a:spcPct val="150000"/>
              </a:lnSpc>
              <a:buFont typeface="Arial,Sans-Serif"/>
              <a:buChar char="•"/>
            </a:pPr>
            <a:r>
              <a:rPr lang="en-US" sz="1200">
                <a:solidFill>
                  <a:srgbClr val="2F63AF"/>
                </a:solidFill>
              </a:rPr>
              <a:t>High night and weekend activity</a:t>
            </a:r>
            <a:endParaRPr lang="en-US" sz="1200">
              <a:solidFill>
                <a:srgbClr val="000000"/>
              </a:solidFill>
            </a:endParaRPr>
          </a:p>
          <a:p>
            <a:pPr>
              <a:lnSpc>
                <a:spcPct val="150000"/>
              </a:lnSpc>
            </a:pPr>
            <a:r>
              <a:rPr lang="en-US" sz="1200" b="1">
                <a:solidFill>
                  <a:srgbClr val="2F63AF"/>
                </a:solidFill>
              </a:rPr>
              <a:t>Cluster 2: Strongest Nighttime Demand</a:t>
            </a:r>
            <a:endParaRPr lang="en-US" sz="1200">
              <a:solidFill>
                <a:srgbClr val="000000"/>
              </a:solidFill>
            </a:endParaRPr>
          </a:p>
          <a:p>
            <a:pPr marL="285750" indent="-285750">
              <a:lnSpc>
                <a:spcPct val="150000"/>
              </a:lnSpc>
              <a:buFont typeface="Arial,Sans-Serif"/>
              <a:buChar char="•"/>
            </a:pPr>
            <a:r>
              <a:rPr lang="en-US" sz="1200">
                <a:solidFill>
                  <a:srgbClr val="2F63AF"/>
                </a:solidFill>
              </a:rPr>
              <a:t>Highest share of late-night trips with highest fares</a:t>
            </a:r>
            <a:endParaRPr lang="en-US" sz="1200">
              <a:solidFill>
                <a:srgbClr val="000000"/>
              </a:solidFill>
            </a:endParaRPr>
          </a:p>
          <a:p>
            <a:pPr>
              <a:lnSpc>
                <a:spcPct val="150000"/>
              </a:lnSpc>
            </a:pPr>
            <a:r>
              <a:rPr lang="en-US" sz="1200" b="1">
                <a:solidFill>
                  <a:srgbClr val="2F63AF"/>
                </a:solidFill>
              </a:rPr>
              <a:t>Cluster 3: High-Demand Core Zones</a:t>
            </a:r>
            <a:endParaRPr lang="en-US" sz="1200">
              <a:solidFill>
                <a:srgbClr val="000000"/>
              </a:solidFill>
            </a:endParaRPr>
          </a:p>
          <a:p>
            <a:pPr marL="285750" indent="-285750">
              <a:lnSpc>
                <a:spcPct val="150000"/>
              </a:lnSpc>
              <a:buFont typeface="Arial,Sans-Serif"/>
              <a:buChar char="•"/>
            </a:pPr>
            <a:r>
              <a:rPr lang="en-US" sz="1200">
                <a:solidFill>
                  <a:srgbClr val="2F63AF"/>
                </a:solidFill>
              </a:rPr>
              <a:t>Highest overall trip volume with lowest fares</a:t>
            </a:r>
            <a:endParaRPr lang="en-US" sz="1200">
              <a:solidFill>
                <a:srgbClr val="000000"/>
              </a:solidFill>
            </a:endParaRPr>
          </a:p>
          <a:p>
            <a:pPr>
              <a:lnSpc>
                <a:spcPct val="150000"/>
              </a:lnSpc>
            </a:pPr>
            <a:r>
              <a:rPr lang="en-US" sz="1200" b="1">
                <a:solidFill>
                  <a:srgbClr val="2F63AF"/>
                </a:solidFill>
              </a:rPr>
              <a:t>Cluster 4: Commuter-Oriented Zones</a:t>
            </a:r>
            <a:endParaRPr lang="en-US" sz="1200">
              <a:solidFill>
                <a:srgbClr val="000000"/>
              </a:solidFill>
            </a:endParaRPr>
          </a:p>
          <a:p>
            <a:pPr marL="285750" indent="-285750">
              <a:lnSpc>
                <a:spcPct val="150000"/>
              </a:lnSpc>
              <a:buFont typeface="Arial,Sans-Serif"/>
              <a:buChar char="•"/>
            </a:pPr>
            <a:r>
              <a:rPr lang="en-US" sz="1200">
                <a:solidFill>
                  <a:srgbClr val="2F63AF"/>
                </a:solidFill>
              </a:rPr>
              <a:t>Highest trip volume during rush hours</a:t>
            </a:r>
            <a:endParaRPr lang="en-US" sz="1200">
              <a:solidFill>
                <a:srgbClr val="000000"/>
              </a:solidFill>
            </a:endParaRPr>
          </a:p>
          <a:p>
            <a:pPr algn="ctr">
              <a:lnSpc>
                <a:spcPct val="150000"/>
              </a:lnSpc>
            </a:pPr>
            <a:endParaRPr lang="en-US" sz="1200">
              <a:solidFill>
                <a:srgbClr val="000000"/>
              </a:solidFill>
            </a:endParaRPr>
          </a:p>
          <a:p>
            <a:pPr>
              <a:lnSpc>
                <a:spcPct val="150000"/>
              </a:lnSpc>
            </a:pPr>
            <a:r>
              <a:rPr lang="en-US" sz="1200" b="1">
                <a:solidFill>
                  <a:srgbClr val="2F63AF"/>
                </a:solidFill>
              </a:rPr>
              <a:t>Business Value of Clustering</a:t>
            </a:r>
            <a:endParaRPr lang="en-US" sz="1200">
              <a:solidFill>
                <a:srgbClr val="000000"/>
              </a:solidFill>
            </a:endParaRPr>
          </a:p>
          <a:p>
            <a:pPr marL="171450" indent="-171450">
              <a:lnSpc>
                <a:spcPct val="150000"/>
              </a:lnSpc>
              <a:buFont typeface="Arial,Sans-Serif"/>
              <a:buChar char="•"/>
            </a:pPr>
            <a:r>
              <a:rPr lang="en-US" sz="1200">
                <a:solidFill>
                  <a:srgbClr val="2F63AF"/>
                </a:solidFill>
              </a:rPr>
              <a:t>Target operations by zone type</a:t>
            </a:r>
            <a:endParaRPr lang="en-US" sz="1200">
              <a:solidFill>
                <a:srgbClr val="000000"/>
              </a:solidFill>
            </a:endParaRPr>
          </a:p>
          <a:p>
            <a:pPr marL="171450" indent="-171450">
              <a:lnSpc>
                <a:spcPct val="150000"/>
              </a:lnSpc>
              <a:buFont typeface="Arial,Sans-Serif"/>
              <a:buChar char="•"/>
            </a:pPr>
            <a:r>
              <a:rPr lang="en-US" sz="1200">
                <a:solidFill>
                  <a:srgbClr val="2F63AF"/>
                </a:solidFill>
              </a:rPr>
              <a:t>Predict resource needs based on travel behavior</a:t>
            </a:r>
            <a:endParaRPr lang="en-US" sz="1200">
              <a:solidFill>
                <a:srgbClr val="000000"/>
              </a:solidFill>
            </a:endParaRPr>
          </a:p>
          <a:p>
            <a:pPr algn="ctr"/>
            <a:endParaRPr lang="en-US" sz="1200">
              <a:solidFill>
                <a:srgbClr val="000000"/>
              </a:solidFill>
              <a:latin typeface="Segoe UI"/>
              <a:cs typeface="Segoe UI"/>
            </a:endParaRPr>
          </a:p>
          <a:p>
            <a:pPr>
              <a:lnSpc>
                <a:spcPct val="150000"/>
              </a:lnSpc>
            </a:pPr>
            <a:r>
              <a:rPr lang="en-US" sz="1200" b="1">
                <a:solidFill>
                  <a:srgbClr val="2F63AF"/>
                </a:solidFill>
              </a:rPr>
              <a:t>Weather had minimal impact on cluster formation, but it remained an important factor in day-to-day taxi demand and trip patterns.</a:t>
            </a:r>
          </a:p>
          <a:p>
            <a:pPr marL="171450" indent="-171450">
              <a:lnSpc>
                <a:spcPct val="150000"/>
              </a:lnSpc>
              <a:buFont typeface="Arial,Sans-Serif"/>
              <a:buChar char="•"/>
            </a:pPr>
            <a:endParaRPr lang="en-US" sz="1200">
              <a:solidFill>
                <a:srgbClr val="000000"/>
              </a:solidFill>
              <a:latin typeface="Segoe UI"/>
              <a:cs typeface="Segoe UI"/>
            </a:endParaRPr>
          </a:p>
          <a:p>
            <a:pPr algn="ctr">
              <a:lnSpc>
                <a:spcPct val="150000"/>
              </a:lnSpc>
            </a:pPr>
            <a:endParaRPr lang="en-US" sz="1400" b="1">
              <a:solidFill>
                <a:srgbClr val="0D47A1"/>
              </a:solidFill>
            </a:endParaRPr>
          </a:p>
        </p:txBody>
      </p:sp>
    </p:spTree>
    <p:extLst>
      <p:ext uri="{BB962C8B-B14F-4D97-AF65-F5344CB8AC3E}">
        <p14:creationId xmlns:p14="http://schemas.microsoft.com/office/powerpoint/2010/main" val="16637411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46034-13EF-9623-88FC-6BB2CFE361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0A599D-C7A0-8F0C-46E4-4D674382C64F}"/>
              </a:ext>
            </a:extLst>
          </p:cNvPr>
          <p:cNvSpPr>
            <a:spLocks noGrp="1"/>
          </p:cNvSpPr>
          <p:nvPr>
            <p:ph type="title"/>
          </p:nvPr>
        </p:nvSpPr>
        <p:spPr>
          <a:xfrm>
            <a:off x="574363" y="360233"/>
            <a:ext cx="11612136" cy="422295"/>
          </a:xfrm>
        </p:spPr>
        <p:txBody>
          <a:bodyPr/>
          <a:lstStyle/>
          <a:p>
            <a:r>
              <a:rPr lang="en-US"/>
              <a:t>Tableau Dashboard</a:t>
            </a:r>
          </a:p>
        </p:txBody>
      </p:sp>
      <p:sp>
        <p:nvSpPr>
          <p:cNvPr id="4" name="Rectangle 3">
            <a:extLst>
              <a:ext uri="{FF2B5EF4-FFF2-40B4-BE49-F238E27FC236}">
                <a16:creationId xmlns:a16="http://schemas.microsoft.com/office/drawing/2014/main" id="{D423D0D0-EC93-FAD4-A93D-4EDD5C74E3C0}"/>
              </a:ext>
            </a:extLst>
          </p:cNvPr>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a:extLst>
              <a:ext uri="{FF2B5EF4-FFF2-40B4-BE49-F238E27FC236}">
                <a16:creationId xmlns:a16="http://schemas.microsoft.com/office/drawing/2014/main" id="{525D95AB-AE26-035C-E485-F02A90A891B0}"/>
              </a:ext>
            </a:extLst>
          </p:cNvPr>
          <p:cNvPicPr>
            <a:picLocks noChangeAspect="1"/>
          </p:cNvPicPr>
          <p:nvPr/>
        </p:nvPicPr>
        <p:blipFill>
          <a:blip r:embed="rId3"/>
          <a:stretch>
            <a:fillRect/>
          </a:stretch>
        </p:blipFill>
        <p:spPr>
          <a:xfrm>
            <a:off x="7301" y="1037895"/>
            <a:ext cx="7158710" cy="5609899"/>
          </a:xfrm>
          <a:prstGeom prst="rect">
            <a:avLst/>
          </a:prstGeom>
        </p:spPr>
      </p:pic>
      <p:sp>
        <p:nvSpPr>
          <p:cNvPr id="5" name="Rounded Rectangle 6">
            <a:extLst>
              <a:ext uri="{FF2B5EF4-FFF2-40B4-BE49-F238E27FC236}">
                <a16:creationId xmlns:a16="http://schemas.microsoft.com/office/drawing/2014/main" id="{97E84BE1-EC12-BF1E-1FC3-C490E72CDD29}"/>
              </a:ext>
            </a:extLst>
          </p:cNvPr>
          <p:cNvSpPr/>
          <p:nvPr/>
        </p:nvSpPr>
        <p:spPr>
          <a:xfrm>
            <a:off x="7557743" y="1032657"/>
            <a:ext cx="4242257" cy="5453143"/>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lstStyle/>
          <a:p>
            <a:pPr algn="ctr">
              <a:lnSpc>
                <a:spcPct val="150000"/>
              </a:lnSpc>
            </a:pPr>
            <a:r>
              <a:rPr lang="en-US" sz="1600" b="1">
                <a:solidFill>
                  <a:schemeClr val="accent1">
                    <a:lumMod val="76000"/>
                  </a:schemeClr>
                </a:solidFill>
              </a:rPr>
              <a:t>Testing</a:t>
            </a:r>
          </a:p>
          <a:p>
            <a:pPr marL="285750" indent="-285750">
              <a:lnSpc>
                <a:spcPct val="150000"/>
              </a:lnSpc>
              <a:buFont typeface="Arial"/>
              <a:buChar char="•"/>
            </a:pPr>
            <a:r>
              <a:rPr lang="en-US" sz="1600">
                <a:solidFill>
                  <a:schemeClr val="accent1">
                    <a:lumMod val="76000"/>
                  </a:schemeClr>
                </a:solidFill>
              </a:rPr>
              <a:t>Point 1</a:t>
            </a:r>
          </a:p>
          <a:p>
            <a:pPr marL="285750" indent="-285750">
              <a:lnSpc>
                <a:spcPct val="150000"/>
              </a:lnSpc>
              <a:buFont typeface="Arial"/>
              <a:buChar char="•"/>
            </a:pPr>
            <a:r>
              <a:rPr lang="en-US" sz="1600">
                <a:solidFill>
                  <a:schemeClr val="accent1">
                    <a:lumMod val="76000"/>
                  </a:schemeClr>
                </a:solidFill>
              </a:rPr>
              <a:t>Point 2</a:t>
            </a:r>
          </a:p>
          <a:p>
            <a:pPr marL="285750" indent="-285750">
              <a:lnSpc>
                <a:spcPct val="150000"/>
              </a:lnSpc>
              <a:buFont typeface="Arial"/>
              <a:buChar char="•"/>
            </a:pPr>
            <a:r>
              <a:rPr lang="en-US" sz="1600">
                <a:solidFill>
                  <a:schemeClr val="accent1">
                    <a:lumMod val="76000"/>
                  </a:schemeClr>
                </a:solidFill>
              </a:rPr>
              <a:t>Point 3</a:t>
            </a:r>
            <a:endParaRPr lang="en-US" sz="1600" dirty="0">
              <a:solidFill>
                <a:schemeClr val="accent1">
                  <a:lumMod val="76000"/>
                </a:schemeClr>
              </a:solidFill>
            </a:endParaRPr>
          </a:p>
        </p:txBody>
      </p:sp>
    </p:spTree>
    <p:extLst>
      <p:ext uri="{BB962C8B-B14F-4D97-AF65-F5344CB8AC3E}">
        <p14:creationId xmlns:p14="http://schemas.microsoft.com/office/powerpoint/2010/main" val="2115065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Visualizations</a:t>
            </a: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4">
            <a:extLst>
              <a:ext uri="{FF2B5EF4-FFF2-40B4-BE49-F238E27FC236}">
                <a16:creationId xmlns:a16="http://schemas.microsoft.com/office/drawing/2014/main" id="{983F49E0-B3BD-5A7D-A8AD-022C7B65C095}"/>
              </a:ext>
            </a:extLst>
          </p:cNvPr>
          <p:cNvSpPr/>
          <p:nvPr/>
        </p:nvSpPr>
        <p:spPr>
          <a:xfrm>
            <a:off x="470133" y="1594381"/>
            <a:ext cx="5158392" cy="4401951"/>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lstStyle/>
          <a:p>
            <a:pPr algn="ctr"/>
            <a:r>
              <a:rPr lang="en-US" sz="1600" b="1" err="1">
                <a:solidFill>
                  <a:srgbClr val="0D47A1"/>
                </a:solidFill>
                <a:hlinkClick r:id="rId3"/>
              </a:rPr>
              <a:t>BigQuery</a:t>
            </a:r>
            <a:r>
              <a:rPr lang="en-US" sz="1600" b="1">
                <a:solidFill>
                  <a:srgbClr val="0D47A1"/>
                </a:solidFill>
                <a:hlinkClick r:id="rId3"/>
              </a:rPr>
              <a:t> ML Results</a:t>
            </a:r>
            <a:endParaRPr lang="en-US"/>
          </a:p>
          <a:p>
            <a:pPr algn="ctr"/>
            <a:r>
              <a:rPr lang="en-US" sz="1600" b="1">
                <a:solidFill>
                  <a:srgbClr val="0D47A1"/>
                </a:solidFill>
                <a:hlinkClick r:id="" action="ppaction://noaction"/>
              </a:rPr>
              <a:t>YoY Trip Analysis</a:t>
            </a:r>
            <a:endParaRPr lang="en-US" sz="1600">
              <a:solidFill>
                <a:srgbClr val="000000"/>
              </a:solidFill>
            </a:endParaRPr>
          </a:p>
          <a:p>
            <a:pPr algn="ctr"/>
            <a:endParaRPr sz="1600" b="1">
              <a:solidFill>
                <a:srgbClr val="0D47A1"/>
              </a:solidFill>
            </a:endParaRPr>
          </a:p>
          <a:p>
            <a:pPr algn="ctr"/>
            <a:endParaRPr lang="en-US" sz="1600" b="1">
              <a:solidFill>
                <a:srgbClr val="0D47A1"/>
              </a:solidFill>
            </a:endParaRPr>
          </a:p>
          <a:p>
            <a:pPr algn="ctr"/>
            <a:endParaRPr lang="en-US" sz="1600" b="1">
              <a:solidFill>
                <a:srgbClr val="0D47A1"/>
              </a:solidFill>
            </a:endParaRPr>
          </a:p>
        </p:txBody>
      </p:sp>
      <p:sp>
        <p:nvSpPr>
          <p:cNvPr id="11" name="Rounded Rectangle 5">
            <a:extLst>
              <a:ext uri="{FF2B5EF4-FFF2-40B4-BE49-F238E27FC236}">
                <a16:creationId xmlns:a16="http://schemas.microsoft.com/office/drawing/2014/main" id="{BAB856C9-8DE6-EB3B-F458-6967CCB5CE62}"/>
              </a:ext>
            </a:extLst>
          </p:cNvPr>
          <p:cNvSpPr/>
          <p:nvPr/>
        </p:nvSpPr>
        <p:spPr>
          <a:xfrm>
            <a:off x="5723908" y="1620917"/>
            <a:ext cx="5672123" cy="4390022"/>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lstStyle/>
          <a:p>
            <a:pPr algn="ctr"/>
            <a:r>
              <a:rPr lang="en-US" sz="1600" b="1">
                <a:solidFill>
                  <a:srgbClr val="2E7D32"/>
                </a:solidFill>
                <a:hlinkClick r:id="rId4"/>
              </a:rPr>
              <a:t>Additional</a:t>
            </a:r>
            <a:r>
              <a:rPr lang="en-US" sz="1600" b="1">
                <a:solidFill>
                  <a:srgbClr val="2E7D32"/>
                </a:solidFill>
                <a:hlinkClick r:id="rId4">
                  <a:extLst>
                    <a:ext uri="{A12FA001-AC4F-418D-AE19-62706E023703}">
                      <ahyp:hlinkClr xmlns:ahyp="http://schemas.microsoft.com/office/drawing/2018/hyperlinkcolor" val="tx"/>
                    </a:ext>
                  </a:extLst>
                </a:hlinkClick>
              </a:rPr>
              <a:t> Analysis</a:t>
            </a:r>
            <a:endParaRPr lang="en-US" sz="1600" b="1">
              <a:solidFill>
                <a:srgbClr val="2E7D32"/>
              </a:solidFill>
            </a:endParaRPr>
          </a:p>
          <a:p>
            <a:pPr algn="ctr"/>
            <a:endParaRPr lang="en-US" sz="1400" b="1">
              <a:solidFill>
                <a:srgbClr val="2E7D32"/>
              </a:solidFill>
            </a:endParaRPr>
          </a:p>
          <a:p>
            <a:pPr>
              <a:spcBef>
                <a:spcPts val="800"/>
              </a:spcBef>
            </a:pPr>
            <a:endParaRPr lang="en-US" sz="1300">
              <a:solidFill>
                <a:srgbClr val="2D2D2D"/>
              </a:solidFill>
            </a:endParaRPr>
          </a:p>
        </p:txBody>
      </p:sp>
      <p:pic>
        <p:nvPicPr>
          <p:cNvPr id="8" name="Picture 7" descr="Tableau Logo, symbol, meaning, history, PNG, brand">
            <a:extLst>
              <a:ext uri="{FF2B5EF4-FFF2-40B4-BE49-F238E27FC236}">
                <a16:creationId xmlns:a16="http://schemas.microsoft.com/office/drawing/2014/main" id="{14A849EC-11A6-6908-691B-AAEBF16A3748}"/>
              </a:ext>
            </a:extLst>
          </p:cNvPr>
          <p:cNvPicPr>
            <a:picLocks noChangeAspect="1"/>
          </p:cNvPicPr>
          <p:nvPr/>
        </p:nvPicPr>
        <p:blipFill>
          <a:blip r:embed="rId5"/>
          <a:stretch>
            <a:fillRect/>
          </a:stretch>
        </p:blipFill>
        <p:spPr>
          <a:xfrm>
            <a:off x="1113238" y="2721349"/>
            <a:ext cx="3870402" cy="2182387"/>
          </a:xfrm>
          <a:prstGeom prst="rect">
            <a:avLst/>
          </a:prstGeom>
        </p:spPr>
      </p:pic>
      <p:pic>
        <p:nvPicPr>
          <p:cNvPr id="9" name="Picture 8">
            <a:extLst>
              <a:ext uri="{FF2B5EF4-FFF2-40B4-BE49-F238E27FC236}">
                <a16:creationId xmlns:a16="http://schemas.microsoft.com/office/drawing/2014/main" id="{C7761419-367C-E3E2-92DC-5FC9645DF7CB}"/>
              </a:ext>
            </a:extLst>
          </p:cNvPr>
          <p:cNvPicPr>
            <a:picLocks noChangeAspect="1"/>
          </p:cNvPicPr>
          <p:nvPr/>
        </p:nvPicPr>
        <p:blipFill>
          <a:blip r:embed="rId6"/>
          <a:stretch>
            <a:fillRect/>
          </a:stretch>
        </p:blipFill>
        <p:spPr>
          <a:xfrm>
            <a:off x="6310429" y="3436189"/>
            <a:ext cx="4514850" cy="762000"/>
          </a:xfrm>
          <a:prstGeom prst="rect">
            <a:avLst/>
          </a:prstGeom>
        </p:spPr>
      </p:pic>
      <p:sp>
        <p:nvSpPr>
          <p:cNvPr id="10" name="TextBox 9">
            <a:extLst>
              <a:ext uri="{FF2B5EF4-FFF2-40B4-BE49-F238E27FC236}">
                <a16:creationId xmlns:a16="http://schemas.microsoft.com/office/drawing/2014/main" id="{31F62BC6-6E07-0E51-C317-5BF2F931962C}"/>
              </a:ext>
            </a:extLst>
          </p:cNvPr>
          <p:cNvSpPr txBox="1"/>
          <p:nvPr/>
        </p:nvSpPr>
        <p:spPr>
          <a:xfrm>
            <a:off x="627346" y="1120124"/>
            <a:ext cx="10931199" cy="805349"/>
          </a:xfrm>
          <a:prstGeom prst="rect">
            <a:avLst/>
          </a:prstGeom>
          <a:noFill/>
        </p:spPr>
        <p:txBody>
          <a:bodyPr wrap="none" lIns="91440" tIns="45720" rIns="91440" bIns="45720" anchor="t">
            <a:spAutoFit/>
          </a:bodyPr>
          <a:lstStyle/>
          <a:p>
            <a:pPr algn="ctr"/>
            <a:r>
              <a:rPr lang="en-US" sz="1900" b="1">
                <a:latin typeface="Trust Hartford Serif"/>
              </a:rPr>
              <a:t>How Does Adverse Weather Influence Taxi Demand, and Have Those Patterns Changed Over Time?</a:t>
            </a:r>
          </a:p>
          <a:p>
            <a:pPr algn="ctr">
              <a:spcBef>
                <a:spcPts val="1600"/>
              </a:spcBef>
            </a:pPr>
            <a:endParaRPr lang="en-US" sz="1400">
              <a:solidFill>
                <a:srgbClr val="2D2D2D"/>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80365-EEDD-BE8A-FD40-6A940AFB78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6CCC0A-6B1D-5E73-352E-DCD39AFB7E6F}"/>
              </a:ext>
            </a:extLst>
          </p:cNvPr>
          <p:cNvSpPr>
            <a:spLocks noGrp="1"/>
          </p:cNvSpPr>
          <p:nvPr>
            <p:ph type="title"/>
          </p:nvPr>
        </p:nvSpPr>
        <p:spPr>
          <a:xfrm>
            <a:off x="574363" y="360233"/>
            <a:ext cx="11612136" cy="422295"/>
          </a:xfrm>
        </p:spPr>
        <p:txBody>
          <a:bodyPr/>
          <a:lstStyle/>
          <a:p>
            <a:r>
              <a:rPr lang="en-US"/>
              <a:t>Summary and Recommendation</a:t>
            </a:r>
          </a:p>
        </p:txBody>
      </p:sp>
      <p:sp>
        <p:nvSpPr>
          <p:cNvPr id="4" name="Rectangle 3">
            <a:extLst>
              <a:ext uri="{FF2B5EF4-FFF2-40B4-BE49-F238E27FC236}">
                <a16:creationId xmlns:a16="http://schemas.microsoft.com/office/drawing/2014/main" id="{3A3B3469-1B6B-A193-A8C5-CDEC4C24E4CA}"/>
              </a:ext>
            </a:extLst>
          </p:cNvPr>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97780" y="1100000"/>
            <a:ext cx="7100000" cy="5550000"/>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D47A1"/>
                </a:solidFill>
                <a:latin typeface="Trust Hartford Sans"/>
              </a:rPr>
              <a:t>Key Findings</a:t>
            </a:r>
          </a:p>
          <a:p>
            <a:pPr>
              <a:spcBef>
                <a:spcPts val="1800"/>
              </a:spcBef>
            </a:pPr>
            <a:r>
              <a:rPr sz="1600" b="1">
                <a:solidFill>
                  <a:srgbClr val="0D47A1"/>
                </a:solidFill>
                <a:latin typeface="Trust Hartford Sans"/>
              </a:rPr>
              <a:t>1. Weather suppresses trip volume, not price</a:t>
            </a:r>
          </a:p>
          <a:p>
            <a:pPr>
              <a:spcBef>
                <a:spcPts val="400"/>
              </a:spcBef>
            </a:pPr>
            <a:r>
              <a:rPr sz="1400" b="0">
                <a:solidFill>
                  <a:srgbClr val="2F63AF"/>
                </a:solidFill>
                <a:latin typeface="Trust Hartford Sans"/>
              </a:rPr>
              <a:t>Fares stay flat across all boroughs regardless of conditions. Manhattan: $22.41 clear vs $22.63 adverse. The business risk is fewer rides, not cheaper ones.</a:t>
            </a:r>
          </a:p>
          <a:p>
            <a:pPr>
              <a:spcBef>
                <a:spcPts val="1600"/>
              </a:spcBef>
            </a:pPr>
            <a:r>
              <a:rPr sz="1600" b="1">
                <a:solidFill>
                  <a:srgbClr val="0D47A1"/>
                </a:solidFill>
                <a:latin typeface="Trust Hartford Sans"/>
              </a:rPr>
              <a:t>2. Weather's effect on demand flipped year over year</a:t>
            </a:r>
          </a:p>
          <a:p>
            <a:pPr>
              <a:spcBef>
                <a:spcPts val="400"/>
              </a:spcBef>
            </a:pPr>
            <a:r>
              <a:rPr sz="1400" b="0">
                <a:solidFill>
                  <a:srgbClr val="2F63AF"/>
                </a:solidFill>
                <a:latin typeface="Trust Hartford Sans"/>
              </a:rPr>
              <a:t>In 2025, adverse weather boosted taxi demand (+3.4%). In 2026, it suppressed it (-2.1%). The relationship is not static.</a:t>
            </a:r>
          </a:p>
          <a:p>
            <a:pPr>
              <a:spcBef>
                <a:spcPts val="1600"/>
              </a:spcBef>
            </a:pPr>
            <a:r>
              <a:rPr sz="1600" b="1">
                <a:solidFill>
                  <a:srgbClr val="0D47A1"/>
                </a:solidFill>
                <a:latin typeface="Trust Hartford Sans"/>
              </a:rPr>
              <a:t>3. Snow severity explains the reversal</a:t>
            </a:r>
          </a:p>
          <a:p>
            <a:pPr>
              <a:spcBef>
                <a:spcPts val="400"/>
              </a:spcBef>
            </a:pPr>
            <a:r>
              <a:rPr sz="1400" b="0">
                <a:solidFill>
                  <a:srgbClr val="2F63AF"/>
                </a:solidFill>
                <a:latin typeface="Trust Hartford Sans"/>
              </a:rPr>
              <a:t>2026 had 117% more snowfall with 2.5x longer storms. Rain still boosts ridership; severe snow suppresses it entirely.</a:t>
            </a:r>
          </a:p>
          <a:p>
            <a:pPr>
              <a:spcBef>
                <a:spcPts val="1600"/>
              </a:spcBef>
            </a:pPr>
            <a:r>
              <a:rPr sz="1600" b="1">
                <a:solidFill>
                  <a:srgbClr val="0D47A1"/>
                </a:solidFill>
                <a:latin typeface="Trust Hartford Sans"/>
              </a:rPr>
              <a:t>4. Revenue losses concentrate in rush hour</a:t>
            </a:r>
          </a:p>
          <a:p>
            <a:pPr>
              <a:spcBef>
                <a:spcPts val="400"/>
              </a:spcBef>
            </a:pPr>
            <a:r>
              <a:rPr sz="1400" b="0">
                <a:solidFill>
                  <a:srgbClr val="2F63AF"/>
                </a:solidFill>
                <a:latin typeface="Trust Hartford Sans"/>
              </a:rPr>
              <a:t>A single storm-hour during Manhattan rush hour represents $43K+ in lost revenue vs. clear weather.</a:t>
            </a:r>
          </a:p>
        </p:txBody>
      </p:sp>
      <p:sp>
        <p:nvSpPr>
          <p:cNvPr id="6" name="Rounded Rectangle 5"/>
          <p:cNvSpPr/>
          <p:nvPr/>
        </p:nvSpPr>
        <p:spPr>
          <a:xfrm>
            <a:off x="7577780" y="1100000"/>
            <a:ext cx="4316440" cy="5550000"/>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2E7D32"/>
                </a:solidFill>
                <a:latin typeface="Trust Hartford Sans"/>
              </a:rPr>
              <a:t>Recommendation</a:t>
            </a:r>
          </a:p>
          <a:p>
            <a:pPr>
              <a:spcBef>
                <a:spcPts val="1800"/>
              </a:spcBef>
            </a:pPr>
            <a:r>
              <a:rPr sz="1500" b="1">
                <a:solidFill>
                  <a:srgbClr val="2E7D32"/>
                </a:solidFill>
                <a:latin typeface="Trust Hartford Sans"/>
              </a:rPr>
              <a:t>Implement weather-triggered fleet deployment:</a:t>
            </a:r>
          </a:p>
          <a:p>
            <a:pPr>
              <a:spcBef>
                <a:spcPts val="1400"/>
              </a:spcBef>
            </a:pPr>
            <a:r>
              <a:rPr sz="1400" b="0">
                <a:solidFill>
                  <a:srgbClr val="2D805D"/>
                </a:solidFill>
                <a:latin typeface="Trust Hartford Sans"/>
              </a:rPr>
              <a:t>Pre-position vehicles in high-demand zones before forecasted storms</a:t>
            </a:r>
          </a:p>
          <a:p>
            <a:pPr>
              <a:spcBef>
                <a:spcPts val="1000"/>
              </a:spcBef>
            </a:pPr>
            <a:r>
              <a:rPr sz="1400" b="0">
                <a:solidFill>
                  <a:srgbClr val="2D805D"/>
                </a:solidFill>
                <a:latin typeface="Trust Hartford Sans"/>
              </a:rPr>
              <a:t>Prioritize rush-hour coverage where revenue impact is greatest</a:t>
            </a:r>
          </a:p>
          <a:p>
            <a:pPr>
              <a:spcBef>
                <a:spcPts val="1000"/>
              </a:spcBef>
            </a:pPr>
            <a:r>
              <a:rPr sz="1400" b="0">
                <a:solidFill>
                  <a:srgbClr val="2D805D"/>
                </a:solidFill>
                <a:latin typeface="Trust Hartford Sans"/>
              </a:rPr>
              <a:t>Use dynamic driver incentives during severe snow events</a:t>
            </a:r>
          </a:p>
          <a:p>
            <a:pPr>
              <a:spcBef>
                <a:spcPts val="2400"/>
              </a:spcBef>
            </a:pPr>
            <a:r>
              <a:rPr sz="1500" b="1">
                <a:solidFill>
                  <a:srgbClr val="2E7D32"/>
                </a:solidFill>
                <a:latin typeface="Trust Hartford Sans"/>
              </a:rPr>
              <a:t>Why This Works</a:t>
            </a:r>
          </a:p>
          <a:p>
            <a:pPr>
              <a:spcBef>
                <a:spcPts val="400"/>
              </a:spcBef>
            </a:pPr>
            <a:r>
              <a:rPr sz="1400" b="0">
                <a:solidFill>
                  <a:srgbClr val="2D805D"/>
                </a:solidFill>
                <a:latin typeface="Trust Hartford Sans"/>
              </a:rPr>
              <a:t>The data shows weather impact is predictable and concentrated. Operators who staff for storms during peak hours recover the most revenue with the least operational cost.</a:t>
            </a:r>
          </a:p>
          <a:p>
            <a:pPr>
              <a:spcBef>
                <a:spcPts val="2400"/>
              </a:spcBef>
            </a:pPr>
            <a:r>
              <a:rPr sz="1600" b="1">
                <a:solidFill>
                  <a:srgbClr val="8B0138"/>
                </a:solidFill>
                <a:latin typeface="Trust Hartford Sans"/>
              </a:rPr>
              <a:t>Focus on when, not if.</a:t>
            </a:r>
          </a:p>
          <a:p>
            <a:pPr>
              <a:spcBef>
                <a:spcPts val="400"/>
              </a:spcBef>
            </a:pPr>
            <a:r>
              <a:rPr sz="1400" b="0">
                <a:solidFill>
                  <a:srgbClr val="8B0138"/>
                </a:solidFill>
                <a:latin typeface="Trust Hartford Sans"/>
              </a:rPr>
              <a:t>It's not about whether weather hurts demand. It's about protecting the highest-value hours.</a:t>
            </a:r>
          </a:p>
        </p:txBody>
      </p:sp>
    </p:spTree>
    <p:extLst>
      <p:ext uri="{BB962C8B-B14F-4D97-AF65-F5344CB8AC3E}">
        <p14:creationId xmlns:p14="http://schemas.microsoft.com/office/powerpoint/2010/main" val="35802478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a:p>
        </p:txBody>
      </p:sp>
      <p:sp>
        <p:nvSpPr>
          <p:cNvPr id="3" name="Title 2"/>
          <p:cNvSpPr>
            <a:spLocks noGrp="1"/>
          </p:cNvSpPr>
          <p:nvPr>
            <p:ph type="title"/>
          </p:nvPr>
        </p:nvSpPr>
        <p:spPr/>
        <p:txBody>
          <a:bodyPr/>
          <a:lstStyle/>
          <a:p>
            <a:r>
              <a:t>4</a:t>
            </a:r>
          </a:p>
        </p:txBody>
      </p:sp>
      <p:sp>
        <p:nvSpPr>
          <p:cNvPr id="4" name="Subtitle 3"/>
          <p:cNvSpPr>
            <a:spLocks noGrp="1"/>
          </p:cNvSpPr>
          <p:nvPr>
            <p:ph type="subTitle" idx="1"/>
          </p:nvPr>
        </p:nvSpPr>
        <p:spPr/>
        <p:txBody>
          <a:bodyPr/>
          <a:lstStyle/>
          <a:p>
            <a:r>
              <a:rPr lang="en-US"/>
              <a:t>Future State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State Proposal</a:t>
            </a: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000000"/>
            <a:ext cx="3600000" cy="48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lnSpc>
                <a:spcPct val="150000"/>
              </a:lnSpc>
            </a:pPr>
            <a:r>
              <a:rPr lang="en-US" sz="1600" b="1">
                <a:solidFill>
                  <a:srgbClr val="2D805D"/>
                </a:solidFill>
              </a:rPr>
              <a:t>Real-Time Ingestion</a:t>
            </a:r>
            <a:endParaRPr lang="en-US"/>
          </a:p>
          <a:p>
            <a:pPr algn="ctr">
              <a:lnSpc>
                <a:spcPct val="150000"/>
              </a:lnSpc>
            </a:pPr>
            <a:endParaRPr lang="en-US" sz="1600">
              <a:solidFill>
                <a:srgbClr val="2D805D"/>
              </a:solidFill>
              <a:latin typeface="Trust Hartford Sans"/>
              <a:cs typeface="Segoe UI"/>
            </a:endParaRPr>
          </a:p>
          <a:p>
            <a:pPr algn="ctr">
              <a:lnSpc>
                <a:spcPct val="150000"/>
              </a:lnSpc>
            </a:pPr>
            <a:r>
              <a:rPr lang="en-US" sz="1400" b="1">
                <a:solidFill>
                  <a:srgbClr val="2D805D"/>
                </a:solidFill>
                <a:latin typeface="Trust Hartford Sans"/>
                <a:cs typeface="Segoe UI"/>
              </a:rPr>
              <a:t>What We Would Do</a:t>
            </a:r>
          </a:p>
          <a:p>
            <a:pPr algn="ctr">
              <a:lnSpc>
                <a:spcPct val="150000"/>
              </a:lnSpc>
            </a:pPr>
            <a:r>
              <a:rPr lang="en-US" sz="1400">
                <a:solidFill>
                  <a:srgbClr val="2D805D"/>
                </a:solidFill>
                <a:latin typeface="Trust Hartford Sans"/>
                <a:cs typeface="Segoe UI"/>
              </a:rPr>
              <a:t>Stream trip and weather data continuously</a:t>
            </a:r>
            <a:endParaRPr lang="en-US" sz="1400">
              <a:solidFill>
                <a:srgbClr val="2D805D"/>
              </a:solidFill>
              <a:latin typeface="Trust Hartford Sans"/>
            </a:endParaRPr>
          </a:p>
          <a:p>
            <a:pPr algn="ctr">
              <a:lnSpc>
                <a:spcPct val="150000"/>
              </a:lnSpc>
            </a:pPr>
            <a:endParaRPr lang="en-US" sz="1400">
              <a:solidFill>
                <a:srgbClr val="2D805D"/>
              </a:solidFill>
              <a:latin typeface="Trust Hartford Sans"/>
              <a:cs typeface="Segoe UI"/>
            </a:endParaRPr>
          </a:p>
          <a:p>
            <a:pPr algn="ctr">
              <a:lnSpc>
                <a:spcPct val="150000"/>
              </a:lnSpc>
            </a:pPr>
            <a:r>
              <a:rPr lang="en-US" sz="1400" b="1">
                <a:solidFill>
                  <a:srgbClr val="2D805D"/>
                </a:solidFill>
                <a:latin typeface="Trust Hartford Sans"/>
                <a:cs typeface="Segoe UI"/>
              </a:rPr>
              <a:t>Business Benefit</a:t>
            </a:r>
          </a:p>
          <a:p>
            <a:pPr algn="ctr">
              <a:lnSpc>
                <a:spcPct val="150000"/>
              </a:lnSpc>
            </a:pPr>
            <a:r>
              <a:rPr lang="en-US" sz="1400">
                <a:solidFill>
                  <a:srgbClr val="2D805D"/>
                </a:solidFill>
                <a:latin typeface="Trust Hartford Sans"/>
                <a:cs typeface="Segoe UI"/>
              </a:rPr>
              <a:t>Near real-time visibility into demand during storms</a:t>
            </a:r>
          </a:p>
          <a:p>
            <a:pPr algn="ctr">
              <a:lnSpc>
                <a:spcPct val="150000"/>
              </a:lnSpc>
            </a:pPr>
            <a:endParaRPr lang="en-US" sz="1600" b="1">
              <a:solidFill>
                <a:srgbClr val="2D805D"/>
              </a:solidFill>
            </a:endParaRPr>
          </a:p>
        </p:txBody>
      </p:sp>
      <p:sp>
        <p:nvSpPr>
          <p:cNvPr id="6" name="Rounded Rectangle 5"/>
          <p:cNvSpPr/>
          <p:nvPr/>
        </p:nvSpPr>
        <p:spPr>
          <a:xfrm>
            <a:off x="4300000" y="1000000"/>
            <a:ext cx="3600000" cy="48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lnSpc>
                <a:spcPct val="150000"/>
              </a:lnSpc>
            </a:pPr>
            <a:r>
              <a:rPr sz="1600" b="1">
                <a:solidFill>
                  <a:srgbClr val="0D47A1"/>
                </a:solidFill>
              </a:rPr>
              <a:t>ML Forecasting</a:t>
            </a:r>
            <a:endParaRPr lang="en-US" sz="1600" b="1">
              <a:solidFill>
                <a:srgbClr val="0D47A1"/>
              </a:solidFill>
            </a:endParaRPr>
          </a:p>
          <a:p>
            <a:pPr algn="ctr">
              <a:lnSpc>
                <a:spcPct val="150000"/>
              </a:lnSpc>
              <a:spcBef>
                <a:spcPts val="1600"/>
              </a:spcBef>
            </a:pPr>
            <a:r>
              <a:rPr lang="en-US" sz="1400" b="1">
                <a:solidFill>
                  <a:srgbClr val="0D47A1"/>
                </a:solidFill>
              </a:rPr>
              <a:t>What We Would Do</a:t>
            </a:r>
          </a:p>
          <a:p>
            <a:pPr algn="ctr">
              <a:lnSpc>
                <a:spcPct val="150000"/>
              </a:lnSpc>
              <a:spcBef>
                <a:spcPts val="1600"/>
              </a:spcBef>
            </a:pPr>
            <a:r>
              <a:rPr lang="en-US" sz="1400">
                <a:solidFill>
                  <a:srgbClr val="0D47A1"/>
                </a:solidFill>
              </a:rPr>
              <a:t>Predict demand changes before weather events occur</a:t>
            </a:r>
          </a:p>
          <a:p>
            <a:pPr algn="ctr">
              <a:lnSpc>
                <a:spcPct val="150000"/>
              </a:lnSpc>
              <a:spcBef>
                <a:spcPts val="1600"/>
              </a:spcBef>
            </a:pPr>
            <a:r>
              <a:rPr lang="en-US" sz="1400" b="1">
                <a:solidFill>
                  <a:srgbClr val="0D47A1"/>
                </a:solidFill>
              </a:rPr>
              <a:t>Business Benefit</a:t>
            </a:r>
          </a:p>
          <a:p>
            <a:pPr algn="ctr">
              <a:lnSpc>
                <a:spcPct val="150000"/>
              </a:lnSpc>
              <a:spcBef>
                <a:spcPts val="1600"/>
              </a:spcBef>
            </a:pPr>
            <a:r>
              <a:rPr lang="en-US" sz="1400">
                <a:solidFill>
                  <a:srgbClr val="0D47A1"/>
                </a:solidFill>
              </a:rPr>
              <a:t>Improve driver positioning and reduce idle time</a:t>
            </a:r>
          </a:p>
        </p:txBody>
      </p:sp>
      <p:sp>
        <p:nvSpPr>
          <p:cNvPr id="7" name="Rounded Rectangle 6"/>
          <p:cNvSpPr/>
          <p:nvPr/>
        </p:nvSpPr>
        <p:spPr>
          <a:xfrm>
            <a:off x="8200000" y="1000000"/>
            <a:ext cx="3600000" cy="48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lnSpc>
                <a:spcPct val="150000"/>
              </a:lnSpc>
            </a:pPr>
            <a:r>
              <a:rPr lang="en-US" sz="1600" b="1">
                <a:solidFill>
                  <a:schemeClr val="accent1">
                    <a:lumMod val="76000"/>
                  </a:schemeClr>
                </a:solidFill>
              </a:rPr>
              <a:t>Multi-City Expansion</a:t>
            </a:r>
            <a:endParaRPr lang="en-US"/>
          </a:p>
          <a:p>
            <a:pPr algn="ctr">
              <a:lnSpc>
                <a:spcPct val="150000"/>
              </a:lnSpc>
              <a:spcBef>
                <a:spcPts val="1600"/>
              </a:spcBef>
            </a:pPr>
            <a:r>
              <a:rPr lang="en-US" sz="1400" b="1">
                <a:solidFill>
                  <a:schemeClr val="accent1">
                    <a:lumMod val="76000"/>
                  </a:schemeClr>
                </a:solidFill>
              </a:rPr>
              <a:t>What We Would Do</a:t>
            </a:r>
          </a:p>
          <a:p>
            <a:pPr algn="ctr">
              <a:lnSpc>
                <a:spcPct val="150000"/>
              </a:lnSpc>
            </a:pPr>
            <a:r>
              <a:rPr lang="en-US" sz="1400">
                <a:solidFill>
                  <a:schemeClr val="accent1">
                    <a:lumMod val="76000"/>
                  </a:schemeClr>
                </a:solidFill>
              </a:rPr>
              <a:t>Extend the solution to additional cities</a:t>
            </a:r>
          </a:p>
          <a:p>
            <a:pPr algn="ctr">
              <a:lnSpc>
                <a:spcPct val="150000"/>
              </a:lnSpc>
            </a:pPr>
            <a:endParaRPr lang="en-US" sz="1400">
              <a:solidFill>
                <a:schemeClr val="accent1">
                  <a:lumMod val="76000"/>
                </a:schemeClr>
              </a:solidFill>
            </a:endParaRPr>
          </a:p>
          <a:p>
            <a:pPr algn="ctr">
              <a:lnSpc>
                <a:spcPct val="150000"/>
              </a:lnSpc>
              <a:spcBef>
                <a:spcPts val="1200"/>
              </a:spcBef>
            </a:pPr>
            <a:r>
              <a:rPr lang="en-US" sz="1400" b="1">
                <a:solidFill>
                  <a:schemeClr val="accent1">
                    <a:lumMod val="76000"/>
                  </a:schemeClr>
                </a:solidFill>
              </a:rPr>
              <a:t>Business Benefit</a:t>
            </a:r>
          </a:p>
          <a:p>
            <a:pPr algn="ctr">
              <a:lnSpc>
                <a:spcPct val="150000"/>
              </a:lnSpc>
            </a:pPr>
            <a:r>
              <a:rPr lang="en-US" sz="1400">
                <a:solidFill>
                  <a:schemeClr val="accent1">
                    <a:lumMod val="76000"/>
                  </a:schemeClr>
                </a:solidFill>
              </a:rPr>
              <a:t>Enable broader demand and weather insights across markets</a:t>
            </a:r>
          </a:p>
        </p:txBody>
      </p:sp>
      <p:sp>
        <p:nvSpPr>
          <p:cNvPr id="8" name="Rounded Rectangle 7"/>
          <p:cNvSpPr/>
          <p:nvPr/>
        </p:nvSpPr>
        <p:spPr>
          <a:xfrm>
            <a:off x="400000" y="6000000"/>
            <a:ext cx="11400000" cy="6000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sz="1300" b="1">
                <a:solidFill>
                  <a:srgbClr val="8B0138"/>
                </a:solidFill>
              </a:rPr>
              <a:t>Highest Impact: Real-Time Ingestion. Fleet operators need minute-level demand signals during active storms.</a:t>
            </a:r>
            <a:endParaRPr lang="en-US" sz="1300" b="1">
              <a:solidFill>
                <a:srgbClr val="8B0138"/>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Thank You</a:t>
            </a:r>
          </a:p>
        </p:txBody>
      </p:sp>
      <p:sp>
        <p:nvSpPr>
          <p:cNvPr id="3" name="Subtitle 2"/>
          <p:cNvSpPr>
            <a:spLocks noGrp="1"/>
          </p:cNvSpPr>
          <p:nvPr>
            <p:ph type="subTitle" idx="1"/>
          </p:nvPr>
        </p:nvSpPr>
        <p:spPr/>
        <p:txBody>
          <a:bodyPr/>
          <a:lstStyle/>
          <a:p>
            <a:r>
              <a:t>Questions?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AI Use Disclosure</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100000"/>
            <a:ext cx="11400000" cy="50000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rPr>
              <a:t>  Where We Used AI                    What For                              What We Verified</a:t>
            </a:r>
          </a:p>
        </p:txBody>
      </p:sp>
      <p:sp>
        <p:nvSpPr>
          <p:cNvPr id="6" name="Rounded Rectangle 5"/>
          <p:cNvSpPr/>
          <p:nvPr/>
        </p:nvSpPr>
        <p:spPr>
          <a:xfrm>
            <a:off x="400000" y="1650000"/>
            <a:ext cx="11400000" cy="5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a:solidFill>
                  <a:srgbClr val="2D2D2D"/>
                </a:solidFill>
              </a:rPr>
              <a:t>  [Tool]                                        [Purpose]                                    [Verification]</a:t>
            </a:r>
          </a:p>
        </p:txBody>
      </p:sp>
      <p:sp>
        <p:nvSpPr>
          <p:cNvPr id="7" name="Rounded Rectangle 6"/>
          <p:cNvSpPr/>
          <p:nvPr/>
        </p:nvSpPr>
        <p:spPr>
          <a:xfrm>
            <a:off x="400000" y="2200000"/>
            <a:ext cx="11400000" cy="500000"/>
          </a:xfrm>
          <a:prstGeom prst="round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a:solidFill>
                  <a:srgbClr val="2D2D2D"/>
                </a:solidFill>
              </a:rPr>
              <a:t>  [Tool]                                        [Purpose]                                    [Verification]</a:t>
            </a:r>
          </a:p>
        </p:txBody>
      </p:sp>
      <p:sp>
        <p:nvSpPr>
          <p:cNvPr id="8" name="Rounded Rectangle 7"/>
          <p:cNvSpPr/>
          <p:nvPr/>
        </p:nvSpPr>
        <p:spPr>
          <a:xfrm>
            <a:off x="400000" y="2750000"/>
            <a:ext cx="11400000" cy="5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a:solidFill>
                  <a:srgbClr val="2D2D2D"/>
                </a:solidFill>
              </a:rPr>
              <a:t>  [Tool]                                        [Purpose]                                    [Verification]</a:t>
            </a:r>
          </a:p>
        </p:txBody>
      </p:sp>
      <p:sp>
        <p:nvSpPr>
          <p:cNvPr id="9" name="Rounded Rectangle 8"/>
          <p:cNvSpPr/>
          <p:nvPr/>
        </p:nvSpPr>
        <p:spPr>
          <a:xfrm>
            <a:off x="400000" y="3600000"/>
            <a:ext cx="11400000" cy="20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E65100"/>
                </a:solidFill>
              </a:rPr>
              <a:t>What We Rejected or Corrected From AI Suggestions</a:t>
            </a:r>
          </a:p>
          <a:p>
            <a:pPr>
              <a:spcBef>
                <a:spcPts val="800"/>
              </a:spcBef>
            </a:pPr>
            <a:r>
              <a:rPr sz="1200">
                <a:solidFill>
                  <a:srgbClr val="2D2D2D"/>
                </a:solidFill>
              </a:rPr>
              <a:t>[Describe corrections made, things that required manual verification, etc.]</a:t>
            </a:r>
          </a:p>
        </p:txBody>
      </p:sp>
    </p:spTree>
  </p:cSld>
  <p:clrMapOvr>
    <a:masterClrMapping/>
  </p:clrMapOvr>
</p:sld>
</file>

<file path=ppt/theme/theme1.xml><?xml version="1.0" encoding="utf-8"?>
<a:theme xmlns:a="http://schemas.openxmlformats.org/drawingml/2006/main" name="The Hartford Template Slides">
  <a:themeElements>
    <a:clrScheme name="HIG Theme Colors">
      <a:dk1>
        <a:sysClr val="windowText" lastClr="000000"/>
      </a:dk1>
      <a:lt1>
        <a:srgbClr val="FFFFFF"/>
      </a:lt1>
      <a:dk2>
        <a:srgbClr val="75013F"/>
      </a:dk2>
      <a:lt2>
        <a:srgbClr val="FE3082"/>
      </a:lt2>
      <a:accent1>
        <a:srgbClr val="BF4A24"/>
      </a:accent1>
      <a:accent2>
        <a:srgbClr val="7A9900"/>
      </a:accent2>
      <a:accent3>
        <a:srgbClr val="367A3D"/>
      </a:accent3>
      <a:accent4>
        <a:srgbClr val="12543D"/>
      </a:accent4>
      <a:accent5>
        <a:srgbClr val="818284"/>
      </a:accent5>
      <a:accent6>
        <a:srgbClr val="1C2E5E"/>
      </a:accent6>
      <a:hlink>
        <a:srgbClr val="0D5996"/>
      </a:hlink>
      <a:folHlink>
        <a:srgbClr val="000000"/>
      </a:folHlink>
    </a:clrScheme>
    <a:fontScheme name="The Hartford Fonts">
      <a:majorFont>
        <a:latin typeface="Trust Hartford Serif"/>
        <a:ea typeface=""/>
        <a:cs typeface=""/>
      </a:majorFont>
      <a:minorFont>
        <a:latin typeface="Trust Hartford Sans"/>
        <a:ea typeface=""/>
        <a:cs typefa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Burgundy">
      <a:srgbClr val="75013F"/>
    </a:custClr>
    <a:custClr name="Pink">
      <a:srgbClr val="FE3082"/>
    </a:custClr>
    <a:custClr name="Tan">
      <a:srgbClr val="EBE5DF"/>
    </a:custClr>
    <a:custClr name="Tangerine">
      <a:srgbClr val="F59900"/>
    </a:custClr>
    <a:custClr name="Burnt Orange">
      <a:srgbClr val="BF4A24"/>
    </a:custClr>
    <a:custClr name="Yellow Green">
      <a:srgbClr val="7A9900"/>
    </a:custClr>
    <a:custClr name="Dark Yellow Green">
      <a:srgbClr val="367A3D"/>
    </a:custClr>
    <a:custClr name="Green">
      <a:srgbClr val="3DA373"/>
    </a:custClr>
    <a:custClr name="Dark Green">
      <a:srgbClr val="12543D"/>
    </a:custClr>
    <a:custClr name="Light Blue">
      <a:srgbClr val="73A3C2"/>
    </a:custClr>
    <a:custClr name="Dark Blue">
      <a:srgbClr val="1C2E5E"/>
    </a:custClr>
    <a:custClr name="Grey">
      <a:srgbClr val="808080"/>
    </a:custClr>
  </a:custClrLst>
  <a:extLst>
    <a:ext uri="{05A4C25C-085E-4340-85A3-A5531E510DB2}">
      <thm15:themeFamily xmlns:thm15="http://schemas.microsoft.com/office/thememl/2012/main" name="HIG_Widescreen_Template_FINAL.pptx" id="{CD353832-D829-4280-89A1-06AFFF1CC76B}" vid="{3B90B76E-4DE7-4C57-AA79-D886034896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42c473a-5317-4d13-ad87-86a2a47c9514">
      <Terms xmlns="http://schemas.microsoft.com/office/infopath/2007/PartnerControls"/>
    </lcf76f155ced4ddcb4097134ff3c332f>
    <TaxCatchAll xmlns="65a51801-ec80-49bd-9bc3-86cb9f3d0a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9D4D9C6D7EB3A45BA07DDCE137F3A77" ma:contentTypeVersion="16" ma:contentTypeDescription="Create a new document." ma:contentTypeScope="" ma:versionID="80a29a38a3811a9c8488ec60c8ebf733">
  <xsd:schema xmlns:xsd="http://www.w3.org/2001/XMLSchema" xmlns:xs="http://www.w3.org/2001/XMLSchema" xmlns:p="http://schemas.microsoft.com/office/2006/metadata/properties" xmlns:ns2="842c473a-5317-4d13-ad87-86a2a47c9514" xmlns:ns3="65a51801-ec80-49bd-9bc3-86cb9f3d0aa5" xmlns:ns4="dca353f4-67a1-4cb1-9c7d-5d6923610443" targetNamespace="http://schemas.microsoft.com/office/2006/metadata/properties" ma:root="true" ma:fieldsID="d5f0f043c1799197e3af8cd28bdc65c6" ns2:_="" ns3:_="" ns4:_="">
    <xsd:import namespace="842c473a-5317-4d13-ad87-86a2a47c9514"/>
    <xsd:import namespace="65a51801-ec80-49bd-9bc3-86cb9f3d0aa5"/>
    <xsd:import namespace="dca353f4-67a1-4cb1-9c7d-5d692361044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LengthInSeconds" minOccurs="0"/>
                <xsd:element ref="ns2:lcf76f155ced4ddcb4097134ff3c332f" minOccurs="0"/>
                <xsd:element ref="ns3:TaxCatchAll" minOccurs="0"/>
                <xsd:element ref="ns4:SharedWithUsers" minOccurs="0"/>
                <xsd:element ref="ns4: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2c473a-5317-4d13-ad87-86a2a47c951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80c56ab5-1ab2-4a8e-bda2-ee42cffeb21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5a51801-ec80-49bd-9bc3-86cb9f3d0aa5"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b53f09ee-0b74-43df-b2fc-a7c8c11a9fab}" ma:internalName="TaxCatchAll" ma:showField="CatchAllData" ma:web="dca353f4-67a1-4cb1-9c7d-5d692361044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ca353f4-67a1-4cb1-9c7d-5d6923610443"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1E6C963-5293-43DA-A96C-045F7BFE1667}">
  <ds:schemaRefs>
    <ds:schemaRef ds:uri="http://schemas.microsoft.com/sharepoint/v3/contenttype/forms"/>
  </ds:schemaRefs>
</ds:datastoreItem>
</file>

<file path=customXml/itemProps2.xml><?xml version="1.0" encoding="utf-8"?>
<ds:datastoreItem xmlns:ds="http://schemas.openxmlformats.org/officeDocument/2006/customXml" ds:itemID="{B1F5A6BA-5C40-4396-A321-3C576FF36A31}">
  <ds:schemaRefs>
    <ds:schemaRef ds:uri="65a51801-ec80-49bd-9bc3-86cb9f3d0aa5"/>
    <ds:schemaRef ds:uri="842c473a-5317-4d13-ad87-86a2a47c9514"/>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4387F914-44F5-4DBF-AC00-AB7E9ECE0430}">
  <ds:schemaRefs>
    <ds:schemaRef ds:uri="65a51801-ec80-49bd-9bc3-86cb9f3d0aa5"/>
    <ds:schemaRef ds:uri="842c473a-5317-4d13-ad87-86a2a47c9514"/>
    <ds:schemaRef ds:uri="dca353f4-67a1-4cb1-9c7d-5d692361044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blank</Template>
  <Application>Microsoft Office PowerPoint</Application>
  <PresentationFormat>Widescreen</PresentationFormat>
  <Slides>21</Slides>
  <Notes>20</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The Hartford Template Slides</vt:lpstr>
      <vt:lpstr>NYC Taxi Data Platform How does adverse weather affect taxi demand across New York City, and how have those patterns changed over time?</vt:lpstr>
      <vt:lpstr>Topics of Discussion</vt:lpstr>
      <vt:lpstr>1</vt:lpstr>
      <vt:lpstr>The Business Question</vt:lpstr>
      <vt:lpstr>Headline Finding</vt:lpstr>
      <vt:lpstr>2</vt:lpstr>
      <vt:lpstr>The Data</vt:lpstr>
      <vt:lpstr>Data Quality Findings</vt:lpstr>
      <vt:lpstr>Pipeline Architecture</vt:lpstr>
      <vt:lpstr>Architecture Decision: Snowflake + DBT</vt:lpstr>
      <vt:lpstr>Additional Paths We Explored</vt:lpstr>
      <vt:lpstr>3</vt:lpstr>
      <vt:lpstr>Discovering Similar Taxi Zone Patterns with BigQuery ML</vt:lpstr>
      <vt:lpstr>BigQuery ML: What We Learned</vt:lpstr>
      <vt:lpstr>Tableau Dashboard</vt:lpstr>
      <vt:lpstr>Visualizations</vt:lpstr>
      <vt:lpstr>Summary Of Our Findings</vt:lpstr>
      <vt:lpstr>4</vt:lpstr>
      <vt:lpstr>Future State Proposal</vt:lpstr>
      <vt:lpstr>Thank You</vt:lpstr>
      <vt:lpstr>AI Use Disclosure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Marin, Orlando (Applied AI and Analytics)</dc:creator>
  <cp:keywords/>
  <dc:description>Version 1.2
25-BD-2785360 Brand Refresh - HIG Master Template - Widescreen PPT FINAL</dc:description>
  <cp:revision>44</cp:revision>
  <cp:lastPrinted>2024-04-30T20:31:00Z</cp:lastPrinted>
  <dcterms:created xsi:type="dcterms:W3CDTF">2026-07-23T20:23:29Z</dcterms:created>
  <dcterms:modified xsi:type="dcterms:W3CDTF">2026-08-18T00:32:18Z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927861f-9136-4b0c-8ea1-6998fc0dabd0_Enabled">
    <vt:lpwstr>true</vt:lpwstr>
  </property>
  <property fmtid="{D5CDD505-2E9C-101B-9397-08002B2CF9AE}" pid="3" name="MSIP_Label_d927861f-9136-4b0c-8ea1-6998fc0dabd0_SetDate">
    <vt:lpwstr>2026-07-23T20:28:35Z</vt:lpwstr>
  </property>
  <property fmtid="{D5CDD505-2E9C-101B-9397-08002B2CF9AE}" pid="4" name="MSIP_Label_d927861f-9136-4b0c-8ea1-6998fc0dabd0_Method">
    <vt:lpwstr>Privileged</vt:lpwstr>
  </property>
  <property fmtid="{D5CDD505-2E9C-101B-9397-08002B2CF9AE}" pid="5" name="MSIP_Label_d927861f-9136-4b0c-8ea1-6998fc0dabd0_Name">
    <vt:lpwstr>NC - Show Footer</vt:lpwstr>
  </property>
  <property fmtid="{D5CDD505-2E9C-101B-9397-08002B2CF9AE}" pid="6" name="MSIP_Label_d927861f-9136-4b0c-8ea1-6998fc0dabd0_SiteId">
    <vt:lpwstr>a311fc62-83f4-45f0-9502-1bb2247d4c8d</vt:lpwstr>
  </property>
  <property fmtid="{D5CDD505-2E9C-101B-9397-08002B2CF9AE}" pid="7" name="MSIP_Label_d927861f-9136-4b0c-8ea1-6998fc0dabd0_ActionId">
    <vt:lpwstr>6e341894-8460-4288-9635-75af306aec01</vt:lpwstr>
  </property>
  <property fmtid="{D5CDD505-2E9C-101B-9397-08002B2CF9AE}" pid="8" name="MSIP_Label_d927861f-9136-4b0c-8ea1-6998fc0dabd0_ContentBits">
    <vt:lpwstr>2</vt:lpwstr>
  </property>
  <property fmtid="{D5CDD505-2E9C-101B-9397-08002B2CF9AE}" pid="9" name="MSIP_Label_d927861f-9136-4b0c-8ea1-6998fc0dabd0_Tag">
    <vt:lpwstr>10, 0, 1, 1</vt:lpwstr>
  </property>
  <property fmtid="{D5CDD505-2E9C-101B-9397-08002B2CF9AE}" pid="10" name="ClassificationContentMarkingFooterLocations">
    <vt:lpwstr>The Hartford Template Slides:5</vt:lpwstr>
  </property>
  <property fmtid="{D5CDD505-2E9C-101B-9397-08002B2CF9AE}" pid="11" name="ClassificationContentMarkingFooterText">
    <vt:lpwstr>© 2026 The Hartford. Classification: Non-Confidential. No part of this document may be reproduced, published, or used without the permission of The Hartford.</vt:lpwstr>
  </property>
</Properties>
</file>