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No other borough shows that combination.
Second, when it snows, stay on the road. This might sound counterintuitive because total trip volume drops during snow. But the drivers who remain available earn more per active minute of driving, in every single borough, ranging from 7 percent more in Manhattan to 29 percent more in the Bronx. In Manhattan specifically, that translates to roughly 76 dollars per hour versus 71 during clear weather. Fewer drivers on the road means less competition for the fares that are still available.
Third, during clear weather, which accounts for 94.5 percent of all operating hours, prioritize Manhattan for volume consistency. At over 4,500 trips per hour, Manhattan offers 10 times the trip density of the next borough, which means minimal downtime between fares. This is where the majority of annual income is generated.
The bottom line is that each weather condition calls for a different strategy. Rain is an opportunity, snow rewards those who stay, and clear weather is about steady volume.</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as our current solution is </a:t>
            </a:r>
            <a:r>
              <a:rPr lang="en-US" b="1"/>
              <a:t>scalable, it </a:t>
            </a:r>
            <a:r>
              <a:rPr lang="en-US"/>
              <a:t>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($1.16 → $1.29/min)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(+7% to +29%)</a:t>
            </a:r>
          </a:p>
          <a:p>
            <a:pPr>
              <a:spcBef>
                <a:spcPts val="600"/>
              </a:spcBef>
            </a:pPr>
            <a:r>
              <a:rPr sz="1400" b="0">
                <a:solidFill>
                  <a:srgbClr val="2F63AF"/>
                </a:solidFill>
                <a:latin typeface="Trust Hartford Sans"/>
              </a:rPr>
              <a:t>Manhattan snow: $76/hr vs $71/hr clear weather</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Maximize Manhattan Volume</a:t>
            </a:r>
          </a:p>
          <a:p>
            <a:pPr>
              <a:spcBef>
                <a:spcPts val="1400"/>
              </a:spcBef>
            </a:pPr>
            <a:r>
              <a:rPr sz="1400" b="1">
                <a:solidFill>
                  <a:srgbClr val="E65100"/>
                </a:solidFill>
                <a:latin typeface="Trust Hartford Sans"/>
              </a:rPr>
              <a:t>The Data</a:t>
            </a:r>
          </a:p>
          <a:p>
            <a:pPr>
              <a:spcBef>
                <a:spcPts val="600"/>
              </a:spcBef>
            </a:pPr>
            <a:r>
              <a:rPr sz="1400" b="0">
                <a:solidFill>
                  <a:srgbClr val="E65100"/>
                </a:solidFill>
                <a:latin typeface="Trust Hartford Sans"/>
              </a:rPr>
              <a:t>4,539 trips/hr in Manhattan (10x any other borough)</a:t>
            </a:r>
          </a:p>
          <a:p>
            <a:pPr>
              <a:spcBef>
                <a:spcPts val="600"/>
              </a:spcBef>
            </a:pPr>
            <a:r>
              <a:rPr sz="1400" b="0">
                <a:solidFill>
                  <a:srgbClr val="E65100"/>
                </a:solidFill>
                <a:latin typeface="Trust Hartford Sans"/>
              </a:rPr>
              <a:t>Clear weather accounts for 94.5% of all operating hours</a:t>
            </a:r>
          </a:p>
          <a:p>
            <a:pPr>
              <a:spcBef>
                <a:spcPts val="1400"/>
              </a:spcBef>
            </a:pPr>
            <a:r>
              <a:rPr sz="1400" b="1">
                <a:solidFill>
                  <a:srgbClr val="E65100"/>
                </a:solidFill>
                <a:latin typeface="Trust Hartford Sans"/>
              </a:rPr>
              <a:t>Why It Matters</a:t>
            </a:r>
          </a:p>
          <a:p>
            <a:pPr>
              <a:spcBef>
                <a:spcPts val="600"/>
              </a:spcBef>
            </a:pPr>
            <a:r>
              <a:rPr sz="1400" b="0">
                <a:solidFill>
                  <a:srgbClr val="E65100"/>
                </a:solidFill>
                <a:latin typeface="Trust Hartford Sans"/>
              </a:rPr>
              <a:t>The majority of annual income is earned during clear conditions. Consistent volume minimizes downtime between fares.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chemeClr val="accent1">
                    <a:lumMod val="76000"/>
                  </a:schemeClr>
                </a:solidFill>
              </a:rPr>
              <a:t>Multi-City Expansion</a:t>
            </a:r>
            <a:endParaRPr lang="en-US"/>
          </a:p>
          <a:p>
            <a:pPr algn="ctr">
              <a:lnSpc>
                <a:spcPct val="150000"/>
              </a:lnSpc>
              <a:spcBef>
                <a:spcPts val="1600"/>
              </a:spcBef>
            </a:pPr>
            <a:r>
              <a:rPr lang="en-US" sz="1400" b="1">
                <a:solidFill>
                  <a:schemeClr val="accent1">
                    <a:lumMod val="76000"/>
                  </a:schemeClr>
                </a:solidFill>
              </a:rPr>
              <a:t>What We Would Do</a:t>
            </a:r>
          </a:p>
          <a:p>
            <a:pPr algn="ctr">
              <a:lnSpc>
                <a:spcPct val="150000"/>
              </a:lnSpc>
            </a:pPr>
            <a:r>
              <a:rPr lang="en-US" sz="1400">
                <a:solidFill>
                  <a:schemeClr val="accent1">
                    <a:lumMod val="76000"/>
                  </a:schemeClr>
                </a:solidFill>
              </a:rPr>
              <a:t>Extend the solution to additional cities</a:t>
            </a:r>
          </a:p>
          <a:p>
            <a:pPr algn="ctr">
              <a:lnSpc>
                <a:spcPct val="150000"/>
              </a:lnSpc>
            </a:pPr>
            <a:endParaRPr lang="en-US" sz="1400">
              <a:solidFill>
                <a:schemeClr val="accent1">
                  <a:lumMod val="76000"/>
                </a:schemeClr>
              </a:solidFill>
            </a:endParaRPr>
          </a:p>
          <a:p>
            <a:pPr algn="ctr">
              <a:lnSpc>
                <a:spcPct val="150000"/>
              </a:lnSpc>
              <a:spcBef>
                <a:spcPts val="1200"/>
              </a:spcBef>
            </a:pPr>
            <a:r>
              <a:rPr lang="en-US" sz="1400" b="1">
                <a:solidFill>
                  <a:schemeClr val="accent1">
                    <a:lumMod val="76000"/>
                  </a:schemeClr>
                </a:solidFill>
              </a:rPr>
              <a:t>Business Benefit</a:t>
            </a:r>
          </a:p>
          <a:p>
            <a:pPr algn="ct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