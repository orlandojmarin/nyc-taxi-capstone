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06_0.xml" ContentType="application/vnd.ms-powerpoint.comments+xml"/>
  <Override PartName="/ppt/comments/modernComment_107_0.xml" ContentType="application/vnd.ms-powerpoint.comments+xml"/>
  <Override PartName="/ppt/comments/modernComment_108_0.xml" ContentType="application/vnd.ms-powerpoint.comments+xml"/>
  <Override PartName="/ppt/comments/modernComment_10A_0.xml" ContentType="application/vnd.ms-powerpoint.comments+xml"/>
  <Override PartName="/ppt/comments/modernComment_118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26"/>
  </p:notesMasterIdLst>
  <p:sldIdLst>
    <p:sldId id="256" r:id="rId5"/>
    <p:sldId id="257" r:id="rId6"/>
    <p:sldId id="258" r:id="rId7"/>
    <p:sldId id="260" r:id="rId8"/>
    <p:sldId id="285" r:id="rId9"/>
    <p:sldId id="261" r:id="rId10"/>
    <p:sldId id="262" r:id="rId11"/>
    <p:sldId id="266" r:id="rId12"/>
    <p:sldId id="263" r:id="rId13"/>
    <p:sldId id="264" r:id="rId14"/>
    <p:sldId id="280" r:id="rId15"/>
    <p:sldId id="265" r:id="rId16"/>
    <p:sldId id="283" r:id="rId17"/>
    <p:sldId id="284" r:id="rId18"/>
    <p:sldId id="289" r:id="rId19"/>
    <p:sldId id="269" r:id="rId20"/>
    <p:sldId id="288" r:id="rId21"/>
    <p:sldId id="267" r:id="rId22"/>
    <p:sldId id="275" r:id="rId23"/>
    <p:sldId id="278" r:id="rId24"/>
    <p:sldId id="279" r:id="rId25"/>
  </p:sldIdLst>
  <p:sldSz cx="12192000" cy="6858000"/>
  <p:notesSz cx="6858000" cy="9144000"/>
  <p:embeddedFontLst>
    <p:embeddedFont>
      <p:font typeface="Segoe UI" panose="020B0502040204020203" pitchFamily="34" charset="0"/>
      <p:regular r:id="rId27"/>
      <p:bold r:id="rId28"/>
      <p:italic r:id="rId29"/>
      <p:boldItalic r:id="rId30"/>
    </p:embeddedFont>
    <p:embeddedFont>
      <p:font typeface="Trust Hartford Sans" panose="020B0604020202020204" charset="0"/>
      <p:regular r:id="rId31"/>
      <p:bold r:id="rId32"/>
      <p:italic r:id="rId33"/>
      <p:boldItalic r:id="rId34"/>
    </p:embeddedFont>
    <p:embeddedFont>
      <p:font typeface="Trust Hartford Sans Light" panose="020B0604020202020204" charset="0"/>
      <p:regular r:id="rId35"/>
      <p:italic r:id="rId36"/>
    </p:embeddedFont>
    <p:embeddedFont>
      <p:font typeface="Trust Hartford Serif" panose="020B0604020202020204" charset="0"/>
      <p:regular r:id="rId37"/>
      <p:bold r:id="rId38"/>
      <p:italic r:id="rId39"/>
      <p:boldItalic r:id="rId40"/>
    </p:embeddedFont>
    <p:embeddedFont>
      <p:font typeface="Trust Hartford Serif XLight" panose="020B0604020202020204" charset="0"/>
      <p:regular r:id="rId41"/>
      <p:italic r:id="rId42"/>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F1E415D1-44F3-4EC2-856E-EF09CF6AD433}" name="Marin, Orlando (Applied AI and Analytics)" initials="MA" userId="S::orlando.marin@thehartford.com::390b000f-a7aa-4388-ba72-ff8eedcc0bf5"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63AF"/>
    <a:srgbClr val="8B0138"/>
    <a:srgbClr val="2D805D"/>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DD2064-90AA-EB45-550B-FD5F95CD47A9}" v="1" dt="2026-08-17T13:49:37.380"/>
    <p1510:client id="{55CEEAA3-0129-5D74-EA63-FF414F97CB10}" v="20" dt="2026-08-17T03:18:03.237"/>
    <p1510:client id="{BB6831CA-8D10-EC19-2E7C-59C49705195E}" v="72" dt="2026-08-18T00:21:02.527"/>
    <p1510:client id="{E9881596-AEDA-EE99-5150-E042AB240479}" v="2" dt="2026-08-17T13:59:20.061"/>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5/10/relationships/revisionInfo" Target="revisionInfo.xml"/><Relationship Id="rId48" Type="http://schemas.microsoft.com/office/2018/10/relationships/authors" Target="author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thank you for being here. I'm Orlando, joined by Ariana and Maryam, and we're going to answer the question: how does adverse weather affect taxi demand across New York City, and have those patterns changed over time?</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I'll open with a breakdown of our business question and our key findings. Ariana and Maryam will walk through the data and pipeline architecture, as well as additional paths that we explored. We'll share the YoY analysis that supports our findings, and then we'll close by sharing a few things we'd implement with more time. We look forward to answering your questions afterward.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Let's start with what we set out to answer, and our key findings.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The business question that we set out to answer is "how does adverse weather (which includes rain and snow) impact taxi demand, and has that relationship changed year over year?" We scoped this to January through May in both 2025 and 2026 to ensure a fair YoY comparison. We combined over 39 million trip records with about 7,250 hours of </a:t>
            </a:r>
            <a:r>
              <a:rPr lang="en-US" err="1"/>
              <a:t>weathe</a:t>
            </a:r>
            <a:r>
              <a:rPr lang="en-US"/>
              <a:t>r data, so every trip is paired with the exact </a:t>
            </a:r>
            <a:r>
              <a:rPr lang="en-US" err="1"/>
              <a:t>weathe</a:t>
            </a:r>
            <a:r>
              <a:rPr lang="en-US"/>
              <a:t>r conditions at the time of pickup. This matters for operations, business decisions, and city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555555"/>
                </a:solidFill>
              </a:rPr>
              <a:t>ORLANDO: We'll start with the main insight from our analysis. In 2025, bad weather actually helped taxi operators. In 2026, that relationship reversed, particularly during snow events that were far more severe than the year before. Most importantly is when the storm hits. A single storm-hour during rush hour in Manhattan now represents over $43K per hour in lost revenue compared to a clear-weather hour. For taxi operators, the takeaway is that it's crucial to plan around when adverse weather is coming and have drivers on the road during those high impact windows like rush hour.</a:t>
            </a:r>
            <a:endParaRPr lang="en-US">
              <a:solidFill>
                <a:srgbClr val="000000"/>
              </a:solidFill>
            </a:endParaRPr>
          </a:p>
          <a:p>
            <a:pPr algn="ctr"/>
            <a:endParaRPr lang="en-US" i="1">
              <a:solidFill>
                <a:srgbClr val="555555"/>
              </a:solidFill>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With that context in mind, I'll pass it to Maryam and Ariana, and they'll walk through the data and our pipeline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MARYAM: Before we get into the platform we built, I want to briefly go through and explain the data.</a:t>
            </a:r>
          </a:p>
          <a:p>
            <a:endParaRPr lang="en-US" b="1"/>
          </a:p>
          <a:p>
            <a:r>
              <a:rPr lang="en-US"/>
              <a:t>Our primary dataset consists of New York City taxi trips, where each record represents a single ride from pickup to dropoff. </a:t>
            </a:r>
          </a:p>
          <a:p>
            <a:endParaRPr lang="en-US"/>
          </a:p>
          <a:p>
            <a:r>
              <a:rPr lang="en-US"/>
              <a:t>We worked with both </a:t>
            </a:r>
            <a:r>
              <a:rPr lang="en-US" b="1"/>
              <a:t>Yellow Taxi</a:t>
            </a:r>
            <a:r>
              <a:rPr lang="en-US"/>
              <a:t> and </a:t>
            </a:r>
            <a:r>
              <a:rPr lang="en-US" b="1"/>
              <a:t>Green Taxi</a:t>
            </a:r>
            <a:r>
              <a:rPr lang="en-US"/>
              <a:t> data. </a:t>
            </a:r>
          </a:p>
          <a:p>
            <a:endParaRPr lang="en-US"/>
          </a:p>
          <a:p>
            <a:r>
              <a:rPr lang="en-US"/>
              <a:t>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a:t>
            </a:r>
            <a:r>
              <a:rPr lang="en-US"/>
              <a:t>.</a:t>
            </a:r>
          </a:p>
          <a:p>
            <a:endParaRPr lang="en-US"/>
          </a:p>
          <a:p>
            <a:r>
              <a:rPr lang="en-US"/>
              <a:t>We mapped </a:t>
            </a:r>
            <a:r>
              <a:rPr lang="en-US" b="1"/>
              <a:t>265 taxi zones</a:t>
            </a:r>
            <a:r>
              <a:rPr lang="en-US"/>
              <a:t> across the city.</a:t>
            </a:r>
          </a:p>
          <a:p>
            <a:endParaRPr lang="en-US"/>
          </a:p>
          <a:p>
            <a:r>
              <a:rPr lang="en-US"/>
              <a:t>As an external data source, we incorporated hourly weather data. This allowed us to connect weather patterns directly to taxi activity.</a:t>
            </a:r>
          </a:p>
          <a:p>
            <a:endParaRPr lang="en-US"/>
          </a:p>
          <a:p>
            <a:r>
              <a:rPr lang="en-US"/>
              <a:t>There were some schema challenges with the data, we will go more into detail on that later 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MARYAM: Before we could trust any insights, we needed to trust the data itself. </a:t>
            </a:r>
          </a:p>
          <a:p>
            <a:endParaRPr lang="en-US"/>
          </a:p>
          <a:p>
            <a:r>
              <a:rPr lang="en-US"/>
              <a:t>Although all 39.2 million records loaded successfully, we found several quality issues that affected about 3% of trips. </a:t>
            </a:r>
          </a:p>
          <a:p>
            <a:endParaRPr lang="en-US"/>
          </a:p>
          <a:p>
            <a:r>
              <a:rPr lang="en-US"/>
              <a:t>Rather than deleting those records, we adopted a </a:t>
            </a:r>
            <a:r>
              <a:rPr lang="en-US" b="1"/>
              <a:t>"flag, don't delete"</a:t>
            </a:r>
            <a:r>
              <a:rPr lang="en-US"/>
              <a:t> approach.</a:t>
            </a:r>
          </a:p>
          <a:p>
            <a:endParaRPr lang="en-US"/>
          </a:p>
          <a:p>
            <a:r>
              <a:rPr lang="en-US"/>
              <a:t>We flagged each record with data quality indicators and preserved the original data.</a:t>
            </a:r>
          </a:p>
          <a:p>
            <a:endParaRPr lang="en-US"/>
          </a:p>
          <a:p>
            <a:r>
              <a:rPr lang="en-US"/>
              <a:t> This gave us reliable reporting based on validated trips without losing the underlying records.</a:t>
            </a:r>
          </a:p>
          <a:p>
            <a:endParaRPr lang="en-US"/>
          </a:p>
          <a:p>
            <a:r>
              <a:rPr lang="en-US"/>
              <a:t>We also identified that the dataset only records tips paid by credit card, and cash tips appear as zero.</a:t>
            </a:r>
          </a:p>
          <a:p>
            <a:endParaRPr lang="en-US"/>
          </a:p>
          <a:p>
            <a:r>
              <a:rPr lang="en-US"/>
              <a:t> To avoid misleading results, we excluded cash tips from all tip and total revenue calculations.</a:t>
            </a:r>
          </a:p>
          <a:p>
            <a:endParaRPr lang="en-US"/>
          </a:p>
          <a:p>
            <a:r>
              <a:rPr lang="en-US"/>
              <a:t>After our findings, we were left with 38 million records to do analysis on.</a:t>
            </a:r>
          </a:p>
          <a:p>
            <a:endParaRPr lang="en-US"/>
          </a:p>
          <a:p>
            <a:r>
              <a:rPr lang="en-US"/>
              <a:t>I'm going to pass it on to Ariana to go over our architecture.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moving from left to right, with raw taxi and weather sources on the left and our end user platforms on the right.</a:t>
            </a:r>
          </a:p>
          <a:p>
            <a:endParaRPr lang="en-US"/>
          </a:p>
          <a:p>
            <a:r>
              <a:rPr lang="en-US"/>
              <a:t>Starting on the left with our source datasets. This data includes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are present here,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further fimplementation of </a:t>
            </a:r>
            <a:r>
              <a:rPr lang="en-US" b="1" err="1"/>
              <a:t>Snowpipe</a:t>
            </a:r>
            <a:r>
              <a:rPr lang="en-US" b="1"/>
              <a:t> </a:t>
            </a:r>
            <a:r>
              <a:rPr lang="en-US"/>
              <a:t>would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 further in the future.</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designed our solution around three priorities: speed, trust, and simplicity. </a:t>
            </a:r>
          </a:p>
          <a:p>
            <a:endParaRPr lang="en-US"/>
          </a:p>
          <a:p>
            <a:r>
              <a:rPr lang="en-US"/>
              <a:t>Using Snowflake and </a:t>
            </a:r>
            <a:r>
              <a:rPr lang="en-US" err="1"/>
              <a:t>dbt</a:t>
            </a:r>
            <a:r>
              <a:rPr lang="en-US"/>
              <a:t>, we built a scalable pipeline capable of processing nearly 39 million taxi trips. </a:t>
            </a:r>
          </a:p>
          <a:p>
            <a:endParaRPr lang="en-US"/>
          </a:p>
          <a:p>
            <a:r>
              <a:rPr lang="en-US"/>
              <a:t>We improved performance by storing transformed data in tables, and built-in quality checks flag invalid records and keep them out of reporting. </a:t>
            </a:r>
          </a:p>
          <a:p>
            <a:endParaRPr lang="en-US"/>
          </a:p>
          <a:p>
            <a:r>
              <a:rPr lang="en-US"/>
              <a:t>We also integrated hourly weather data to support our analysis and automated the entire workflow through a single process. </a:t>
            </a:r>
          </a:p>
          <a:p>
            <a:endParaRPr lang="en-US"/>
          </a:p>
          <a:p>
            <a:r>
              <a:rPr lang="en-US"/>
              <a:t>Our result here is a reliable, scalable platform that delivers fast and trusted insights.</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a:t>
            </a:r>
            <a:endParaRPr lang="en-US"/>
          </a:p>
          <a:p>
            <a:endParaRPr lang="en-US" b="1"/>
          </a:p>
          <a:p>
            <a:r>
              <a:rPr lang="en-US" b="1"/>
              <a:t>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a:t>
            </a:r>
          </a:p>
          <a:p>
            <a:endParaRPr lang="en-US"/>
          </a:p>
          <a:p>
            <a:r>
              <a:rPr lang="en-US"/>
              <a:t>Because of that, we couldn't reliably determine whether a trip was impacted by construction, so we decided not to incorporate permit data.</a:t>
            </a:r>
          </a:p>
          <a:p>
            <a:endParaRPr lang="en-US"/>
          </a:p>
          <a:p>
            <a:r>
              <a:rPr lang="en-US"/>
              <a:t>We also experimented with AWS Glue and </a:t>
            </a:r>
            <a:r>
              <a:rPr lang="en-US" err="1"/>
              <a:t>PySpark</a:t>
            </a:r>
            <a:r>
              <a:rPr lang="en-US"/>
              <a:t> as part of our pipeline. While the solution worked, AWS Glue made debugging very difficult, as identifying errors required digging through CloudWatch logs and troubleshooting multiple services. </a:t>
            </a:r>
          </a:p>
          <a:p>
            <a:endParaRPr lang="en-US"/>
          </a:p>
          <a:p>
            <a:r>
              <a:rPr lang="en-US"/>
              <a:t>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that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moving onto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Here, we wanted to take a step back and see if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identify a small number of meaningful groups with similar behavior within the data.</a:t>
            </a:r>
          </a:p>
          <a:p>
            <a:endParaRPr lang="en-US" b="1"/>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represents from a business perspective.</a:t>
            </a:r>
          </a:p>
          <a:p>
            <a:endParaRPr lang="en-US"/>
          </a:p>
          <a:p>
            <a:r>
              <a:rPr lang="en-US"/>
              <a:t>Cluster 3 immediately stands out, accounting for nearly </a:t>
            </a:r>
            <a:r>
              <a:rPr lang="en-US" b="1"/>
              <a:t>29 million trips</a:t>
            </a:r>
            <a:r>
              <a:rPr lang="en-US"/>
              <a:t> and serving as the primary demand center in our dataset. It also shows higher average fares and longer trip distances, highlighting its outsized impact on overall taxi demand and revenue.</a:t>
            </a:r>
          </a:p>
          <a:p>
            <a:endParaRPr lang="en-US"/>
          </a:p>
          <a:p>
            <a:r>
              <a:rPr lang="en-US"/>
              <a:t>Looking at trip timing, Clusters 1 and 2 show more nighttime and weekend activity, suggesting leisure-focused travel, while Cluster 4 has the strongest rush-hour patterns, indicating commuter behavior.</a:t>
            </a:r>
          </a:p>
          <a:p>
            <a:endParaRPr lang="en-US"/>
          </a:p>
          <a:p>
            <a:r>
              <a:rPr lang="en-US"/>
              <a:t>Together, these findings show that trip volume, fare levels, distance, and trip timing were the main drivers of cluster formation.</a:t>
            </a:r>
          </a:p>
          <a:p>
            <a:endParaRPr lang="en-US"/>
          </a:p>
          <a:p>
            <a:r>
              <a:rPr lang="en-US" b="1"/>
              <a:t>Weather did influence taxi demand and rider behavior at a more detailed level, which Maryam and Orlando will explore in the upcoming slides.</a:t>
            </a:r>
          </a:p>
          <a:p>
            <a:endParaRPr lang="en-US"/>
          </a:p>
          <a:p>
            <a:endParaRPr lang="en-US" b="1"/>
          </a:p>
          <a:p>
            <a:endParaRPr lang="en-US"/>
          </a:p>
          <a:p>
            <a:endParaRPr lang="en-US"/>
          </a:p>
          <a:p>
            <a:endParaRPr lang="en-US"/>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983C3-8271-2641-E323-3F28FEC1D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C6DF-A546-64A0-459A-C5EF58EC336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45E6B5-7052-4D10-E8C4-5539DF6F349D}"/>
              </a:ext>
            </a:extLst>
          </p:cNvPr>
          <p:cNvSpPr>
            <a:spLocks noGrp="1"/>
          </p:cNvSpPr>
          <p:nvPr>
            <p:ph type="body" sz="quarter" idx="3"/>
          </p:nvPr>
        </p:nvSpPr>
        <p:spPr/>
        <p:txBody>
          <a:bodyPr/>
          <a:lstStyle/>
          <a:p>
            <a:endParaRPr lang="en-US"/>
          </a:p>
          <a:p>
            <a:r>
              <a:rPr lang="en-US"/>
              <a:t>MARYAM: This Tableau dashboard gives us a high-level view of how adverse weather (rain and snow) affects taxi behavior across NYC's five boroughs.</a:t>
            </a:r>
          </a:p>
          <a:p>
            <a:endParaRPr lang="en-US"/>
          </a:p>
          <a:p>
            <a:r>
              <a:rPr lang="en-US"/>
              <a:t>[Top left chart – Trips per Hour] In the top left chart, we can see that most boroughs experience fewer trips per hour during adverse weather. Queens drops from 475 to 432 trips per hour, and The Bronx drops from 45 to 41. Manhattan, which dominates overall volume at over 4,500 trips per hour, still dips by about 100 trips per hour during bad weather.</a:t>
            </a:r>
          </a:p>
          <a:p>
            <a:endParaRPr lang="en-US"/>
          </a:p>
          <a:p>
            <a:r>
              <a:rPr lang="en-US"/>
              <a:t>[Top right chart – Distance] In the chart on the top right, we see that when people do take a taxi in bad weather, they're going shorter distances. This suggests that riders are using taxis for quicker, nearby trips rather than longer commutes.</a:t>
            </a:r>
          </a:p>
          <a:p>
            <a:endParaRPr lang="en-US"/>
          </a:p>
          <a:p>
            <a:r>
              <a:rPr lang="en-US"/>
              <a:t>[Bottom – Fare] The key insight from this dashboard is that despite fewer trips and shorter distances during adverse weather, the average fare per trip barely changes when compared to clear weather. For example, Manhattan averages $22.41 in clear weather versus $22.63 in adverse weather, which is nearly identical. This pattern holds across every borough.</a:t>
            </a:r>
          </a:p>
          <a:p>
            <a:endParaRPr lang="en-US"/>
          </a:p>
          <a:p>
            <a:r>
              <a:rPr lang="en-US" dirty="0"/>
              <a:t>So weather's impact is about volume, not price. To build on this, Orlando will walk through our </a:t>
            </a:r>
            <a:r>
              <a:rPr lang="en-US" err="1"/>
              <a:t>Streamlit</a:t>
            </a:r>
            <a:r>
              <a:rPr lang="en-US"/>
              <a:t> dashboard, which layers in the year-over-year comparison between 2025 and 2026, time of day, and specific weather types like rain versus snow to see what's driving</a:t>
            </a:r>
            <a:r>
              <a:rPr lang="en-US" dirty="0"/>
              <a:t> these patterns.</a:t>
            </a:r>
          </a:p>
          <a:p>
            <a:endParaRPr lang="en-US"/>
          </a:p>
          <a:p>
            <a:endParaRPr lang="en-US"/>
          </a:p>
        </p:txBody>
      </p:sp>
      <p:sp>
        <p:nvSpPr>
          <p:cNvPr id="4" name="Slide Number Placeholder 3">
            <a:extLst>
              <a:ext uri="{FF2B5EF4-FFF2-40B4-BE49-F238E27FC236}">
                <a16:creationId xmlns:a16="http://schemas.microsoft.com/office/drawing/2014/main" id="{B5A57711-E3D1-B838-DB1D-86DAB30D0D44}"/>
              </a:ext>
            </a:extLst>
          </p:cNvPr>
          <p:cNvSpPr>
            <a:spLocks noGrp="1"/>
          </p:cNvSpPr>
          <p:nvPr>
            <p:ph type="sldNum" sz="quarter" idx="5"/>
          </p:nvPr>
        </p:nvSpPr>
        <p:spPr/>
      </p:sp>
    </p:spTree>
    <p:extLst>
      <p:ext uri="{BB962C8B-B14F-4D97-AF65-F5344CB8AC3E}">
        <p14:creationId xmlns:p14="http://schemas.microsoft.com/office/powerpoint/2010/main" val="1167937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Tableau Speaker Notes</a:t>
            </a:r>
          </a:p>
          <a:p>
            <a:r>
              <a:rPr lang="en-US"/>
              <a:t>Transition into Tableau</a:t>
            </a:r>
          </a:p>
          <a:p>
            <a:r>
              <a:rPr lang="en-US"/>
              <a:t>For the Tableau portion, we focused on </a:t>
            </a:r>
            <a:r>
              <a:rPr lang="en-US" b="1"/>
              <a:t>how taxi activity was distributed across the five boroughs plus EWR, how that distribution differed during adverse weather, and how those patterns changed from 2025 to 2026.</a:t>
            </a:r>
            <a:endParaRPr lang="en-US"/>
          </a:p>
          <a:p>
            <a:endParaRPr lang="en-US"/>
          </a:p>
          <a:p>
            <a:r>
              <a:rPr lang="en-US"/>
              <a:t>The Tableau views will be showing </a:t>
            </a:r>
            <a:r>
              <a:rPr lang="en-US" b="1"/>
              <a:t>relative geographic shifts in trip activity, so we'll basically be looking at performance comparisons between the pickup areas.</a:t>
            </a:r>
          </a:p>
          <a:p>
            <a:pPr algn="ctr"/>
            <a:endParaRPr lang="en-US">
              <a:cs typeface="+mn-lt"/>
            </a:endParaRPr>
          </a:p>
          <a:p>
            <a:r>
              <a:rPr lang="en-US"/>
              <a:t>1. Overall Taxi Volume by Pickup Area and Year</a:t>
            </a:r>
          </a:p>
          <a:p>
            <a:r>
              <a:rPr lang="en-US" b="1"/>
              <a:t>Main takeaway: Overall taxi volume was nearly flat year over year, but growth differed substantially by pickup area.</a:t>
            </a:r>
            <a:endParaRPr lang="en-US"/>
          </a:p>
          <a:p>
            <a:r>
              <a:rPr lang="en-US"/>
              <a:t>Across January through May, total trips increased only about </a:t>
            </a:r>
            <a:r>
              <a:rPr lang="en-US" b="1"/>
              <a:t>0.8%</a:t>
            </a:r>
            <a:r>
              <a:rPr lang="en-US"/>
              <a:t>, from approximately </a:t>
            </a:r>
            <a:r>
              <a:rPr lang="en-US" b="1"/>
              <a:t>18.92 million in 2025 to 19.06 million in 2026</a:t>
            </a:r>
            <a:r>
              <a:rPr lang="en-US"/>
              <a:t>.</a:t>
            </a:r>
          </a:p>
          <a:p>
            <a:r>
              <a:rPr lang="en-US"/>
              <a:t>However, that annual stability, some key  area-level differences would be hidden. </a:t>
            </a:r>
            <a:r>
              <a:rPr lang="en-US" b="1"/>
              <a:t>Brooklyn grew about 40%, from 571,000 to 797,000 trips, and the Bronx grew about 41%, from 134,000 to 188,000.</a:t>
            </a:r>
            <a:r>
              <a:rPr lang="en-US"/>
              <a:t> Meanwhile, Manhattan remained by far the largest market but actually declined slightly, from </a:t>
            </a:r>
            <a:r>
              <a:rPr lang="en-US" b="1"/>
              <a:t>16.49 million to 16.36 million trips</a:t>
            </a:r>
            <a:r>
              <a:rPr lang="en-US"/>
              <a:t>.</a:t>
            </a:r>
          </a:p>
          <a:p>
            <a:r>
              <a:rPr lang="en-US"/>
              <a:t>This gives us a baseline to keep in mind: the overall market was stable, but the geographic mix was already changing.</a:t>
            </a:r>
          </a:p>
          <a:p>
            <a:r>
              <a:rPr lang="en-US" b="1"/>
              <a:t>Transition:</a:t>
            </a:r>
            <a:r>
              <a:rPr lang="en-US"/>
              <a:t> From there, we wanted to see whether that geographic mix also looked different during adverse weather.</a:t>
            </a:r>
          </a:p>
          <a:p>
            <a:pPr algn="ctr"/>
            <a:r>
              <a:rPr lang="en-US">
                <a:cs typeface="+mn-lt"/>
              </a:rPr>
              <a:t>And that brings us to our next visualization</a:t>
            </a:r>
            <a:br>
              <a:rPr lang="en-US">
                <a:cs typeface="+mn-lt"/>
              </a:rPr>
            </a:br>
            <a:endParaRPr lang="en-US"/>
          </a:p>
          <a:p>
            <a:r>
              <a:rPr lang="en-US"/>
              <a:t>2. Pickup Area Distribution of Trips by Weather</a:t>
            </a:r>
          </a:p>
          <a:p>
            <a:r>
              <a:rPr lang="en-US" b="1"/>
              <a:t>Main takeaway: Manhattan dominates taxi activity in every weather condition, but the geographic mix shifts slightly between adverse and non-adverse weather. Adverse weather here means rain and snow. </a:t>
            </a:r>
            <a:endParaRPr lang="en-US"/>
          </a:p>
          <a:p>
            <a:r>
              <a:rPr lang="en-US"/>
              <a:t>Each bar represents </a:t>
            </a:r>
            <a:r>
              <a:rPr lang="en-US" b="1"/>
              <a:t>100% of trips within that year and weather condition</a:t>
            </a:r>
            <a:r>
              <a:rPr lang="en-US"/>
              <a:t>, and the colors show how those trips were distributed across pickup areas.</a:t>
            </a:r>
          </a:p>
          <a:p>
            <a:r>
              <a:rPr lang="en-US"/>
              <a:t>So, for example, if an area represents 1% of an adverse-weather bar as in the Bronx in 2026, that means 1</a:t>
            </a:r>
            <a:r>
              <a:rPr lang="en-US" b="1"/>
              <a:t>% of all trips observed during that condition, of adverse weather, came from that area</a:t>
            </a:r>
            <a:r>
              <a:rPr lang="en-US"/>
              <a:t>.</a:t>
            </a:r>
          </a:p>
          <a:p>
            <a:r>
              <a:rPr lang="en-US"/>
              <a:t>We kept this chart mainly as context because Manhattan's volume is so dominant that the smaller changes are difficult to see precisely here.</a:t>
            </a:r>
          </a:p>
          <a:p>
            <a:r>
              <a:rPr lang="en-US" b="1"/>
              <a:t>Transition:</a:t>
            </a:r>
            <a:r>
              <a:rPr lang="en-US"/>
              <a:t> The next chart calculates those differences directly, so we can see which areas actually gained or lost relative share.</a:t>
            </a:r>
          </a:p>
          <a:p>
            <a:pPr algn="ctr"/>
            <a:r>
              <a:rPr lang="en-US">
                <a:cs typeface="+mn-lt"/>
              </a:rPr>
              <a:t>It shows</a:t>
            </a:r>
            <a:br>
              <a:rPr lang="en-US">
                <a:cs typeface="+mn-lt"/>
              </a:rPr>
            </a:br>
            <a:endParaRPr lang="en-US"/>
          </a:p>
          <a:p>
            <a:r>
              <a:rPr lang="en-US"/>
              <a:t>3. Pickup Area Share Shift During Adverse Weather</a:t>
            </a:r>
          </a:p>
          <a:p>
            <a:r>
              <a:rPr lang="en-US" b="1"/>
              <a:t>Main takeaway: The adverse-weather pattern changed noticeably from 2025 to 2026, particularly for Brooklyn and Manhattan.</a:t>
            </a:r>
            <a:endParaRPr lang="en-US"/>
          </a:p>
          <a:p>
            <a:r>
              <a:rPr lang="en-US"/>
              <a:t>This chart subtracts each pickup area's </a:t>
            </a:r>
            <a:r>
              <a:rPr lang="en-US" b="1"/>
              <a:t>non-adverse share of trips from its adverse-weather share, leaving us with percentage point changes as our response variable to analyze.</a:t>
            </a:r>
            <a:endParaRPr lang="en-US"/>
          </a:p>
          <a:p>
            <a:r>
              <a:rPr lang="en-US"/>
              <a:t>Positive values on the right side of the zero axis mean the area represented a </a:t>
            </a:r>
            <a:r>
              <a:rPr lang="en-US" b="1"/>
              <a:t>larger share of taxi activity during adverse weather</a:t>
            </a:r>
            <a:r>
              <a:rPr lang="en-US"/>
              <a:t>; negative values mean a smaller share. </a:t>
            </a:r>
          </a:p>
          <a:p>
            <a:endParaRPr lang="en-US"/>
          </a:p>
          <a:p>
            <a:r>
              <a:rPr lang="en-US"/>
              <a:t>Looking at the left plot, we see that in </a:t>
            </a:r>
            <a:r>
              <a:rPr lang="en-US" b="1"/>
              <a:t>2025</a:t>
            </a:r>
            <a:r>
              <a:rPr lang="en-US"/>
              <a:t>, Manhattan gained about </a:t>
            </a:r>
            <a:r>
              <a:rPr lang="en-US" b="1"/>
              <a:t>+0.7 percentage points</a:t>
            </a:r>
            <a:r>
              <a:rPr lang="en-US"/>
              <a:t> during adverse weather, while Queens declined about </a:t>
            </a:r>
            <a:r>
              <a:rPr lang="en-US" b="1"/>
              <a:t>−0.8 points</a:t>
            </a:r>
            <a:r>
              <a:rPr lang="en-US"/>
              <a:t>.</a:t>
            </a:r>
          </a:p>
          <a:p>
            <a:r>
              <a:rPr lang="en-US"/>
              <a:t>In </a:t>
            </a:r>
            <a:r>
              <a:rPr lang="en-US" b="1"/>
              <a:t>2026</a:t>
            </a:r>
            <a:r>
              <a:rPr lang="en-US"/>
              <a:t>, that pattern shifted: </a:t>
            </a:r>
            <a:r>
              <a:rPr lang="en-US" b="1"/>
              <a:t>Brooklyn increased from +0.2 to +0.8 points</a:t>
            </a:r>
            <a:r>
              <a:rPr lang="en-US"/>
              <a:t>, while </a:t>
            </a:r>
            <a:r>
              <a:rPr lang="en-US" b="1"/>
              <a:t>Manhattan flipped from +0.7 to −0.5 points</a:t>
            </a:r>
            <a:r>
              <a:rPr lang="en-US"/>
              <a:t>. Queens remained negative but became somewhat less negative, moving from </a:t>
            </a:r>
            <a:r>
              <a:rPr lang="en-US" b="1"/>
              <a:t>−0.8 to −0.4 points</a:t>
            </a:r>
            <a:r>
              <a:rPr lang="en-US"/>
              <a:t>.</a:t>
            </a:r>
          </a:p>
          <a:p>
            <a:r>
              <a:rPr lang="en-US"/>
              <a:t>So the major year-over-year story is that </a:t>
            </a:r>
            <a:r>
              <a:rPr lang="en-US" b="1"/>
              <a:t>adverse-weather activity became relatively more concentrated in Brooklyn and less concentrated in Manhattan in 2026.</a:t>
            </a:r>
            <a:endParaRPr lang="en-US"/>
          </a:p>
          <a:p>
            <a:r>
              <a:rPr lang="en-US" b="1"/>
              <a:t>Transition:</a:t>
            </a:r>
            <a:r>
              <a:rPr lang="en-US"/>
              <a:t> Here we are seeing that the annual values summarize the overall pattern, but the monthly views we're looking at next show that these effects were not consistent throughout the year.</a:t>
            </a:r>
          </a:p>
          <a:p>
            <a:pPr algn="ctr"/>
            <a:br>
              <a:rPr lang="en-US">
                <a:cs typeface="+mn-lt"/>
              </a:rPr>
            </a:br>
            <a:r>
              <a:rPr lang="en-US"/>
              <a:t>This visualization is showing</a:t>
            </a:r>
          </a:p>
          <a:p>
            <a:r>
              <a:rPr lang="en-US"/>
              <a:t>4. Monthly Weather Share Shift</a:t>
            </a:r>
          </a:p>
          <a:p>
            <a:r>
              <a:rPr lang="en-US" b="1"/>
              <a:t>Main takeaway: The weather-related geographic shift varied significantly month to month, with some of the strongest changes occurring in 2026.</a:t>
            </a:r>
            <a:endParaRPr lang="en-US"/>
          </a:p>
          <a:p>
            <a:r>
              <a:rPr lang="en-US"/>
              <a:t>This heatmap uses the same share-shift calculation, but calculates it separately for each month.</a:t>
            </a:r>
          </a:p>
          <a:p>
            <a:r>
              <a:rPr lang="en-US"/>
              <a:t>A few examples show why the monthly detail matters.</a:t>
            </a:r>
          </a:p>
          <a:p>
            <a:r>
              <a:rPr lang="en-US"/>
              <a:t>In early </a:t>
            </a:r>
            <a:r>
              <a:rPr lang="en-US" b="1"/>
              <a:t>2026</a:t>
            </a:r>
            <a:r>
              <a:rPr lang="en-US"/>
              <a:t>, Brooklyn consistently gained share during adverse weather — approximately </a:t>
            </a:r>
            <a:r>
              <a:rPr lang="en-US" b="1"/>
              <a:t>+1.1 points in January and +1.7 in February</a:t>
            </a:r>
            <a:r>
              <a:rPr lang="en-US"/>
              <a:t>.</a:t>
            </a:r>
          </a:p>
          <a:p>
            <a:r>
              <a:rPr lang="en-US"/>
              <a:t>At the same time, Manhattan moved in the opposite direction, falling about </a:t>
            </a:r>
            <a:r>
              <a:rPr lang="en-US" b="1"/>
              <a:t>−1.2 points in January and −3.0 points in February</a:t>
            </a:r>
            <a:r>
              <a:rPr lang="en-US"/>
              <a:t>.</a:t>
            </a:r>
          </a:p>
          <a:p>
            <a:r>
              <a:rPr lang="en-US"/>
              <a:t>But the pattern later reversed: Manhattan gained about </a:t>
            </a:r>
            <a:r>
              <a:rPr lang="en-US" b="1"/>
              <a:t>+1.8 points in April and +1.5 in May</a:t>
            </a:r>
            <a:r>
              <a:rPr lang="en-US"/>
              <a:t>, while Queens fell approximately </a:t>
            </a:r>
            <a:r>
              <a:rPr lang="en-US" b="1"/>
              <a:t>−2.2 and −1.4 points</a:t>
            </a:r>
            <a:r>
              <a:rPr lang="en-US"/>
              <a:t> in those same months.</a:t>
            </a:r>
          </a:p>
          <a:p>
            <a:r>
              <a:rPr lang="en-US"/>
              <a:t>So the impact of adverse weather was </a:t>
            </a:r>
            <a:r>
              <a:rPr lang="en-US" b="1"/>
              <a:t>not uniform across either location or time</a:t>
            </a:r>
            <a:r>
              <a:rPr lang="en-US"/>
              <a:t>. The annual results are really the combination of several different monthly patterns.</a:t>
            </a:r>
          </a:p>
          <a:p>
            <a:pPr algn="ctr"/>
            <a:br>
              <a:rPr lang="en-US">
                <a:cs typeface="+mn-lt"/>
              </a:rPr>
            </a:br>
            <a:endParaRPr lang="en-US"/>
          </a:p>
          <a:p>
            <a:r>
              <a:rPr lang="en-US"/>
              <a:t>Tableau Story / Conclusion</a:t>
            </a:r>
          </a:p>
          <a:p>
            <a:r>
              <a:rPr lang="en-US"/>
              <a:t>The monthly view shows that these shifts weren’t consistent throughout the year, but the broader pattern is still clear: </a:t>
            </a:r>
            <a:r>
              <a:rPr lang="en-US" b="1"/>
              <a:t>overall taxi volume stayed relatively stable, while adverse weather was associated with changes in where that activity was concentrated.</a:t>
            </a:r>
            <a:endParaRPr lang="en-US"/>
          </a:p>
          <a:p>
            <a:r>
              <a:rPr lang="en-US"/>
              <a:t>The biggest year-over-year change was between </a:t>
            </a:r>
            <a:r>
              <a:rPr lang="en-US" b="1"/>
              <a:t>Brooklyn and Manhattan</a:t>
            </a:r>
            <a:r>
              <a:rPr lang="en-US"/>
              <a:t>. Brooklyn became more prominent during adverse weather in 2026, while Manhattan shifted from gaining share in 2025 to losing share in 2026.</a:t>
            </a:r>
          </a:p>
          <a:p>
            <a:r>
              <a:rPr lang="en-US"/>
              <a:t>Overall, the takeaway is that </a:t>
            </a:r>
            <a:r>
              <a:rPr lang="en-US" b="1"/>
              <a:t>adverse weather does not affect every pickup area the same way, and those geographic patterns changed meaningfully between 2025 and 2026.</a:t>
            </a: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16</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t>ORLANDO: To bring it all together: our analysis showed four clear findings. First, weather impacts trip volume but not pricing. Fares stay essentially flat regardless of conditions. Second, the relationship between weather and demand is not static. In 2025, bad weather actually boosted taxi usage, but in 2026, it suppressed it. Third, that reversal is explained by snow severity. 2026 had dramatically worse winter storms that crossed a threshold from inconvenient to impassable. And fourth, the revenue impact is not spread evenly. It concentrates heavily during rush hour, where a single storm-hour in Manhattan costs over $43,000 in lost revenue. Our recommendation is to implement weather-triggered fleet deployment: pre-position vehicles before storms, prioritize rush-hour coverage, and use driver incentives during severe snow. The key insight is that it's not about whether weather hurts demand. It's about protecting the highest-value hours.</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our future state proposal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identified three potential next steps to build on this solution.</a:t>
            </a:r>
          </a:p>
          <a:p>
            <a:endParaRPr lang="en-US"/>
          </a:p>
          <a:p>
            <a:r>
              <a:rPr lang="en-US"/>
              <a:t>First, </a:t>
            </a:r>
            <a:r>
              <a:rPr lang="en-US" b="1"/>
              <a:t>real-time ingestion</a:t>
            </a:r>
            <a:r>
              <a:rPr lang="en-US"/>
              <a:t> would allow trip and weather data to flow continuously, giving operators a more up-to-date view of demand during storms.</a:t>
            </a:r>
          </a:p>
          <a:p>
            <a:endParaRPr lang="en-US"/>
          </a:p>
          <a:p>
            <a:r>
              <a:rPr lang="en-US"/>
              <a:t>Second, </a:t>
            </a:r>
            <a:r>
              <a:rPr lang="en-US" b="1"/>
              <a:t>machine learning forecasting</a:t>
            </a:r>
            <a:r>
              <a:rPr lang="en-US"/>
              <a:t> could help predict demand changes before weather events occur, enabling more proactive planning.</a:t>
            </a:r>
          </a:p>
          <a:p>
            <a:endParaRPr lang="en-US"/>
          </a:p>
          <a:p>
            <a:r>
              <a:rPr lang="en-US"/>
              <a:t>Third, as our current solution is </a:t>
            </a:r>
            <a:r>
              <a:rPr lang="en-US" b="1"/>
              <a:t>scalable, it </a:t>
            </a:r>
            <a:r>
              <a:rPr lang="en-US"/>
              <a:t>could be expanded to other cities with similar taxi and weather data.</a:t>
            </a:r>
          </a:p>
          <a:p>
            <a:endParaRPr lang="en-US"/>
          </a:p>
          <a:p>
            <a:r>
              <a:rPr lang="en-US" b="1"/>
              <a:t>Our top recommendation is real-time ingestion because it offers the greatest business value with the lowest implementation effort.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Thank you for your time and attention today. </a:t>
            </a:r>
          </a:p>
          <a:p>
            <a:endParaRPr lang="en-US"/>
          </a:p>
          <a:p>
            <a:r>
              <a:rPr lang="en-US"/>
              <a:t>We appreciate the opportunity to share our findings and would be happy to answer any questions.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17,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microsoft.com/office/2018/10/relationships/comments" Target="../comments/modernComment_106_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microsoft.com/office/2018/10/relationships/comments" Target="../comments/modernComment_10A_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microsoft.com/office/2018/10/relationships/comments" Target="../comments/modernComment_107_0.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microsoft.com/office/2018/10/relationships/comments" Target="../comments/modernComment_108_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microsoft.com/office/2018/10/relationships/comments" Target="../comments/modernComment_118_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hyperlink" Target="https://public.tableau.com/app/profile/ariana.lopez8837/viz/clusteringcapstone/Dashboard1" TargetMode="External"/><Relationship Id="rId4" Type="http://schemas.openxmlformats.org/officeDocument/2006/relationships/hyperlink" Target="https://nyc-taxi-capstone.streamlit.app/" TargetMode="External"/><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1008033"/>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how have those patterns changed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1552028" cy="369332"/>
          </a:xfrm>
          <a:prstGeom prst="rect">
            <a:avLst/>
          </a:prstGeom>
          <a:noFill/>
        </p:spPr>
        <p:txBody>
          <a:bodyPr wrap="none" lIns="91440" tIns="45720" rIns="91440" bIns="45720" anchor="t">
            <a:spAutoFit/>
          </a:bodyPr>
          <a:lstStyle/>
          <a:p>
            <a:r>
              <a:rPr lang="en-US" b="1">
                <a:solidFill>
                  <a:srgbClr val="2D2D2D"/>
                </a:solidFill>
              </a:rPr>
              <a:t>Our Findings</a:t>
            </a:r>
            <a:endParaRPr lang="en-US"/>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1495922" cy="369332"/>
          </a:xfrm>
          <a:prstGeom prst="rect">
            <a:avLst/>
          </a:prstGeom>
          <a:noFill/>
        </p:spPr>
        <p:txBody>
          <a:bodyPr wrap="none" lIns="91440" tIns="45720" rIns="91440" bIns="45720" anchor="t">
            <a:spAutoFit/>
          </a:bodyPr>
          <a:lstStyle/>
          <a:p>
            <a:r>
              <a:rPr lang="en-US" b="1">
                <a:solidFill>
                  <a:srgbClr val="2D2D2D"/>
                </a:solidFill>
              </a:rPr>
              <a:t>Future State</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7,248 hours of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E831FFAF-D961-34C9-4C81-8C1B9B8B0C43}"/>
              </a:ext>
            </a:extLst>
          </p:cNvPr>
          <p:cNvSpPr/>
          <p:nvPr/>
        </p:nvSpPr>
        <p:spPr>
          <a:xfrm>
            <a:off x="400000" y="1128755"/>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2D2D2D"/>
              </a:solidFill>
            </a:endParaRPr>
          </a:p>
          <a:p>
            <a:pPr algn="ctr"/>
            <a:r>
              <a:rPr lang="en-US" sz="1900" b="1">
                <a:solidFill>
                  <a:srgbClr val="8B0138"/>
                </a:solidFill>
              </a:rPr>
              <a:t> A single storm-hour during rush hour now costs more in lost revenue than several off-peak storm-hours combined.</a:t>
            </a:r>
          </a:p>
          <a:p>
            <a:pPr algn="ctr"/>
            <a:endParaRPr lang="en-US">
              <a:solidFill>
                <a:srgbClr val="FFFFFF"/>
              </a:solidFill>
            </a:endParaRPr>
          </a:p>
        </p:txBody>
      </p:sp>
      <p:sp>
        <p:nvSpPr>
          <p:cNvPr id="6" name="Rounded Rectangle 5">
            <a:extLst>
              <a:ext uri="{FF2B5EF4-FFF2-40B4-BE49-F238E27FC236}">
                <a16:creationId xmlns:a16="http://schemas.microsoft.com/office/drawing/2014/main" id="{94BAC692-A57D-6F57-D8E9-813F7DA39B7C}"/>
              </a:ext>
            </a:extLst>
          </p:cNvPr>
          <p:cNvSpPr/>
          <p:nvPr/>
        </p:nvSpPr>
        <p:spPr>
          <a:xfrm>
            <a:off x="400000"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38M+</a:t>
            </a:r>
          </a:p>
          <a:p>
            <a:pPr algn="ctr"/>
            <a:r>
              <a:rPr sz="1200">
                <a:solidFill>
                  <a:srgbClr val="555555"/>
                </a:solidFill>
              </a:rPr>
              <a:t>Trip Records Analyzed</a:t>
            </a:r>
          </a:p>
        </p:txBody>
      </p:sp>
      <p:sp>
        <p:nvSpPr>
          <p:cNvPr id="7" name="Rounded Rectangle 6">
            <a:extLst>
              <a:ext uri="{FF2B5EF4-FFF2-40B4-BE49-F238E27FC236}">
                <a16:creationId xmlns:a16="http://schemas.microsoft.com/office/drawing/2014/main" id="{92F307B3-32E8-4798-07AA-CE89169BE790}"/>
              </a:ext>
            </a:extLst>
          </p:cNvPr>
          <p:cNvSpPr/>
          <p:nvPr/>
        </p:nvSpPr>
        <p:spPr>
          <a:xfrm>
            <a:off x="4500642"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10 months</a:t>
            </a:r>
          </a:p>
          <a:p>
            <a:pPr algn="ctr"/>
            <a:r>
              <a:rPr sz="1200">
                <a:solidFill>
                  <a:srgbClr val="555555"/>
                </a:solidFill>
              </a:rPr>
              <a:t>Jan-May 2025 vs 2026</a:t>
            </a:r>
          </a:p>
        </p:txBody>
      </p:sp>
      <p:sp>
        <p:nvSpPr>
          <p:cNvPr id="8" name="Rounded Rectangle 7">
            <a:extLst>
              <a:ext uri="{FF2B5EF4-FFF2-40B4-BE49-F238E27FC236}">
                <a16:creationId xmlns:a16="http://schemas.microsoft.com/office/drawing/2014/main" id="{53CA5D5C-F525-5CEA-D403-7EDE5D23B2FF}"/>
              </a:ext>
            </a:extLst>
          </p:cNvPr>
          <p:cNvSpPr/>
          <p:nvPr/>
        </p:nvSpPr>
        <p:spPr>
          <a:xfrm>
            <a:off x="8601283"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a:extLst>
              <a:ext uri="{FF2B5EF4-FFF2-40B4-BE49-F238E27FC236}">
                <a16:creationId xmlns:a16="http://schemas.microsoft.com/office/drawing/2014/main" id="{88EA5623-CF14-F675-B41F-9D11B723E59E}"/>
              </a:ext>
            </a:extLst>
          </p:cNvPr>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rgbClr val="2D805D"/>
                </a:solidFill>
              </a:rPr>
              <a:t>Business Insight</a:t>
            </a:r>
          </a:p>
          <a:p>
            <a:pPr algn="ctr"/>
            <a:endParaRPr lang="en-US" b="1">
              <a:solidFill>
                <a:srgbClr val="2D805D"/>
              </a:solidFill>
            </a:endParaRPr>
          </a:p>
          <a:p>
            <a:pPr algn="ctr"/>
            <a:r>
              <a:rPr lang="en-US">
                <a:solidFill>
                  <a:srgbClr val="2D805D"/>
                </a:solidFill>
              </a:rPr>
              <a:t>Pre-position vehicles before forecasted storms, prioritize rush-hour coverage, and consider dynamic incentives for drivers to stay on the road during adverse conditions.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a:t>
            </a:r>
            <a:r>
              <a:rPr lang="en-US" err="1"/>
              <a:t>BigQuery</a:t>
            </a:r>
            <a:r>
              <a:rPr lang="en-US"/>
              <a:t>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err="1"/>
              <a:t>BigQuery</a:t>
            </a:r>
            <a:r>
              <a:rPr lang="en-US"/>
              <a:t>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FA16BBCA-B72C-53D8-77A5-DBD452094CC0}"/>
              </a:ext>
            </a:extLst>
          </p:cNvPr>
          <p:cNvPicPr>
            <a:picLocks noChangeAspect="1"/>
          </p:cNvPicPr>
          <p:nvPr/>
        </p:nvPicPr>
        <p:blipFill>
          <a:blip r:embed="rId3"/>
          <a:stretch>
            <a:fillRect/>
          </a:stretch>
        </p:blipFill>
        <p:spPr>
          <a:xfrm>
            <a:off x="-4357" y="1037895"/>
            <a:ext cx="7090061" cy="5609899"/>
          </a:xfrm>
          <a:prstGeom prst="rect">
            <a:avLst/>
          </a:prstGeom>
        </p:spPr>
      </p:pic>
      <p:sp>
        <p:nvSpPr>
          <p:cNvPr id="12" name="Rounded Rectangle 4">
            <a:extLst>
              <a:ext uri="{FF2B5EF4-FFF2-40B4-BE49-F238E27FC236}">
                <a16:creationId xmlns:a16="http://schemas.microsoft.com/office/drawing/2014/main" id="{56F01AD4-E1BE-E103-694D-EB7C2D24BB0F}"/>
              </a:ext>
            </a:extLst>
          </p:cNvPr>
          <p:cNvSpPr/>
          <p:nvPr/>
        </p:nvSpPr>
        <p:spPr>
          <a:xfrm>
            <a:off x="7392263" y="1032069"/>
            <a:ext cx="4687988" cy="561776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400" b="1">
                <a:solidFill>
                  <a:srgbClr val="2F63AF"/>
                </a:solidFill>
              </a:rPr>
              <a:t>Clustering Results</a:t>
            </a:r>
            <a:endParaRPr lang="en-US" sz="1400">
              <a:solidFill>
                <a:srgbClr val="000000"/>
              </a:solidFill>
            </a:endParaRPr>
          </a:p>
          <a:p>
            <a:pPr algn="ctr">
              <a:lnSpc>
                <a:spcPct val="150000"/>
              </a:lnSpc>
            </a:pPr>
            <a:endParaRPr lang="en-US" sz="1400">
              <a:solidFill>
                <a:srgbClr val="000000"/>
              </a:solidFill>
            </a:endParaRPr>
          </a:p>
          <a:p>
            <a:pPr>
              <a:lnSpc>
                <a:spcPct val="150000"/>
              </a:lnSpc>
            </a:pPr>
            <a:r>
              <a:rPr lang="en-US" sz="1200" b="1">
                <a:solidFill>
                  <a:srgbClr val="2F63AF"/>
                </a:solidFill>
              </a:rPr>
              <a:t>Cluster 1: Nightlife &amp; Weekend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 night and weekend activity</a:t>
            </a:r>
            <a:endParaRPr lang="en-US" sz="1200">
              <a:solidFill>
                <a:srgbClr val="000000"/>
              </a:solidFill>
            </a:endParaRPr>
          </a:p>
          <a:p>
            <a:pPr>
              <a:lnSpc>
                <a:spcPct val="150000"/>
              </a:lnSpc>
            </a:pPr>
            <a:r>
              <a:rPr lang="en-US" sz="1200" b="1">
                <a:solidFill>
                  <a:srgbClr val="2F63AF"/>
                </a:solidFill>
              </a:rPr>
              <a:t>Cluster 2: Strongest Nighttime Demand</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share of late-night trips with highest fares</a:t>
            </a:r>
            <a:endParaRPr lang="en-US" sz="1200">
              <a:solidFill>
                <a:srgbClr val="000000"/>
              </a:solidFill>
            </a:endParaRPr>
          </a:p>
          <a:p>
            <a:pPr>
              <a:lnSpc>
                <a:spcPct val="150000"/>
              </a:lnSpc>
            </a:pPr>
            <a:r>
              <a:rPr lang="en-US" sz="1200" b="1">
                <a:solidFill>
                  <a:srgbClr val="2F63AF"/>
                </a:solidFill>
              </a:rPr>
              <a:t>Cluster 3: High-Demand Core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overall trip volume with lowest fares</a:t>
            </a:r>
            <a:endParaRPr lang="en-US" sz="1200">
              <a:solidFill>
                <a:srgbClr val="000000"/>
              </a:solidFill>
            </a:endParaRPr>
          </a:p>
          <a:p>
            <a:pPr>
              <a:lnSpc>
                <a:spcPct val="150000"/>
              </a:lnSpc>
            </a:pPr>
            <a:r>
              <a:rPr lang="en-US" sz="1200" b="1">
                <a:solidFill>
                  <a:srgbClr val="2F63AF"/>
                </a:solidFill>
              </a:rPr>
              <a:t>Cluster 4: Commuter-Oriented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trip volume during rush hours</a:t>
            </a:r>
            <a:endParaRPr lang="en-US" sz="1200">
              <a:solidFill>
                <a:srgbClr val="000000"/>
              </a:solidFill>
            </a:endParaRPr>
          </a:p>
          <a:p>
            <a:pPr algn="ctr">
              <a:lnSpc>
                <a:spcPct val="150000"/>
              </a:lnSpc>
            </a:pPr>
            <a:endParaRPr lang="en-US" sz="1200">
              <a:solidFill>
                <a:srgbClr val="000000"/>
              </a:solidFill>
            </a:endParaRPr>
          </a:p>
          <a:p>
            <a:pPr>
              <a:lnSpc>
                <a:spcPct val="150000"/>
              </a:lnSpc>
            </a:pPr>
            <a:r>
              <a:rPr lang="en-US" sz="1200" b="1">
                <a:solidFill>
                  <a:srgbClr val="2F63AF"/>
                </a:solidFill>
              </a:rPr>
              <a:t>Business Value of Clustering</a:t>
            </a:r>
            <a:endParaRPr lang="en-US" sz="1200">
              <a:solidFill>
                <a:srgbClr val="000000"/>
              </a:solidFill>
            </a:endParaRPr>
          </a:p>
          <a:p>
            <a:pPr marL="171450" indent="-171450">
              <a:lnSpc>
                <a:spcPct val="150000"/>
              </a:lnSpc>
              <a:buFont typeface="Arial,Sans-Serif"/>
              <a:buChar char="•"/>
            </a:pPr>
            <a:r>
              <a:rPr lang="en-US" sz="1200">
                <a:solidFill>
                  <a:srgbClr val="2F63AF"/>
                </a:solidFill>
              </a:rPr>
              <a:t>Target operations by zone type</a:t>
            </a:r>
            <a:endParaRPr lang="en-US" sz="1200">
              <a:solidFill>
                <a:srgbClr val="000000"/>
              </a:solidFill>
            </a:endParaRPr>
          </a:p>
          <a:p>
            <a:pPr marL="171450" indent="-171450">
              <a:lnSpc>
                <a:spcPct val="150000"/>
              </a:lnSpc>
              <a:buFont typeface="Arial,Sans-Serif"/>
              <a:buChar char="•"/>
            </a:pPr>
            <a:r>
              <a:rPr lang="en-US" sz="1200">
                <a:solidFill>
                  <a:srgbClr val="2F63AF"/>
                </a:solidFill>
              </a:rPr>
              <a:t>Predict resource needs based on travel behavior</a:t>
            </a:r>
            <a:endParaRPr lang="en-US" sz="1200">
              <a:solidFill>
                <a:srgbClr val="000000"/>
              </a:solidFill>
            </a:endParaRPr>
          </a:p>
          <a:p>
            <a:pPr algn="ctr"/>
            <a:endParaRPr lang="en-US" sz="1200">
              <a:solidFill>
                <a:srgbClr val="000000"/>
              </a:solidFill>
              <a:latin typeface="Segoe UI"/>
              <a:cs typeface="Segoe UI"/>
            </a:endParaRPr>
          </a:p>
          <a:p>
            <a:pPr>
              <a:lnSpc>
                <a:spcPct val="150000"/>
              </a:lnSpc>
            </a:pPr>
            <a:r>
              <a:rPr lang="en-US" sz="1200" b="1">
                <a:solidFill>
                  <a:srgbClr val="2F63AF"/>
                </a:solidFill>
              </a:rPr>
              <a:t>Weather had minimal impact on cluster formation, but it remained an important factor in day-to-day taxi demand and trip patterns.</a:t>
            </a:r>
          </a:p>
          <a:p>
            <a:pPr marL="171450" indent="-171450">
              <a:lnSpc>
                <a:spcPct val="150000"/>
              </a:lnSpc>
              <a:buFont typeface="Arial,Sans-Serif"/>
              <a:buChar char="•"/>
            </a:pPr>
            <a:endParaRPr lang="en-US" sz="1200">
              <a:solidFill>
                <a:srgbClr val="000000"/>
              </a:solidFill>
              <a:latin typeface="Segoe UI"/>
              <a:cs typeface="Segoe UI"/>
            </a:endParaRPr>
          </a:p>
          <a:p>
            <a:pPr algn="ctr">
              <a:lnSpc>
                <a:spcPct val="150000"/>
              </a:lnSpc>
            </a:pPr>
            <a:endParaRPr lang="en-US" sz="1400" b="1">
              <a:solidFill>
                <a:srgbClr val="0D47A1"/>
              </a:solidFill>
            </a:endParaRPr>
          </a:p>
        </p:txBody>
      </p:sp>
    </p:spTree>
    <p:extLst>
      <p:ext uri="{BB962C8B-B14F-4D97-AF65-F5344CB8AC3E}">
        <p14:creationId xmlns:p14="http://schemas.microsoft.com/office/powerpoint/2010/main" val="1663741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46034-13EF-9623-88FC-6BB2CFE36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A599D-C7A0-8F0C-46E4-4D674382C64F}"/>
              </a:ext>
            </a:extLst>
          </p:cNvPr>
          <p:cNvSpPr>
            <a:spLocks noGrp="1"/>
          </p:cNvSpPr>
          <p:nvPr>
            <p:ph type="title"/>
          </p:nvPr>
        </p:nvSpPr>
        <p:spPr>
          <a:xfrm>
            <a:off x="574363" y="360233"/>
            <a:ext cx="11612136" cy="422295"/>
          </a:xfrm>
        </p:spPr>
        <p:txBody>
          <a:bodyPr/>
          <a:lstStyle/>
          <a:p>
            <a:r>
              <a:rPr lang="en-US"/>
              <a:t>Tableau Dashboard</a:t>
            </a:r>
          </a:p>
        </p:txBody>
      </p:sp>
      <p:sp>
        <p:nvSpPr>
          <p:cNvPr id="4" name="Rectangle 3">
            <a:extLst>
              <a:ext uri="{FF2B5EF4-FFF2-40B4-BE49-F238E27FC236}">
                <a16:creationId xmlns:a16="http://schemas.microsoft.com/office/drawing/2014/main" id="{D423D0D0-EC93-FAD4-A93D-4EDD5C74E3C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525D95AB-AE26-035C-E485-F02A90A891B0}"/>
              </a:ext>
            </a:extLst>
          </p:cNvPr>
          <p:cNvPicPr>
            <a:picLocks noChangeAspect="1"/>
          </p:cNvPicPr>
          <p:nvPr/>
        </p:nvPicPr>
        <p:blipFill>
          <a:blip r:embed="rId3"/>
          <a:stretch>
            <a:fillRect/>
          </a:stretch>
        </p:blipFill>
        <p:spPr>
          <a:xfrm>
            <a:off x="7301" y="1037895"/>
            <a:ext cx="7158710" cy="5609899"/>
          </a:xfrm>
          <a:prstGeom prst="rect">
            <a:avLst/>
          </a:prstGeom>
        </p:spPr>
      </p:pic>
      <p:sp>
        <p:nvSpPr>
          <p:cNvPr id="5" name="Rounded Rectangle 6">
            <a:extLst>
              <a:ext uri="{FF2B5EF4-FFF2-40B4-BE49-F238E27FC236}">
                <a16:creationId xmlns:a16="http://schemas.microsoft.com/office/drawing/2014/main" id="{97E84BE1-EC12-BF1E-1FC3-C490E72CDD29}"/>
              </a:ext>
            </a:extLst>
          </p:cNvPr>
          <p:cNvSpPr/>
          <p:nvPr/>
        </p:nvSpPr>
        <p:spPr>
          <a:xfrm>
            <a:off x="7557743" y="1032657"/>
            <a:ext cx="4242257" cy="5453143"/>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Testing</a:t>
            </a:r>
          </a:p>
          <a:p>
            <a:pPr marL="285750" indent="-285750">
              <a:lnSpc>
                <a:spcPct val="150000"/>
              </a:lnSpc>
              <a:buFont typeface="Arial"/>
              <a:buChar char="•"/>
            </a:pPr>
            <a:r>
              <a:rPr lang="en-US" sz="1600">
                <a:solidFill>
                  <a:schemeClr val="accent1">
                    <a:lumMod val="76000"/>
                  </a:schemeClr>
                </a:solidFill>
              </a:rPr>
              <a:t>Point 1</a:t>
            </a:r>
          </a:p>
          <a:p>
            <a:pPr marL="285750" indent="-285750">
              <a:lnSpc>
                <a:spcPct val="150000"/>
              </a:lnSpc>
              <a:buFont typeface="Arial"/>
              <a:buChar char="•"/>
            </a:pPr>
            <a:r>
              <a:rPr lang="en-US" sz="1600">
                <a:solidFill>
                  <a:schemeClr val="accent1">
                    <a:lumMod val="76000"/>
                  </a:schemeClr>
                </a:solidFill>
              </a:rPr>
              <a:t>Point 2</a:t>
            </a:r>
          </a:p>
          <a:p>
            <a:pPr marL="285750" indent="-285750">
              <a:lnSpc>
                <a:spcPct val="150000"/>
              </a:lnSpc>
              <a:buFont typeface="Arial"/>
              <a:buChar char="•"/>
            </a:pPr>
            <a:r>
              <a:rPr lang="en-US" sz="1600">
                <a:solidFill>
                  <a:schemeClr val="accent1">
                    <a:lumMod val="76000"/>
                  </a:schemeClr>
                </a:solidFill>
              </a:rPr>
              <a:t>Point 3</a:t>
            </a:r>
            <a:endParaRPr lang="en-US" sz="1600" dirty="0">
              <a:solidFill>
                <a:schemeClr val="accent1">
                  <a:lumMod val="76000"/>
                </a:schemeClr>
              </a:solidFill>
            </a:endParaRPr>
          </a:p>
        </p:txBody>
      </p:sp>
    </p:spTree>
    <p:extLst>
      <p:ext uri="{BB962C8B-B14F-4D97-AF65-F5344CB8AC3E}">
        <p14:creationId xmlns:p14="http://schemas.microsoft.com/office/powerpoint/2010/main" val="211506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err="1">
                <a:solidFill>
                  <a:srgbClr val="0D47A1"/>
                </a:solidFill>
                <a:hlinkClick r:id="rId3"/>
              </a:rPr>
              <a:t>BigQuery</a:t>
            </a:r>
            <a:r>
              <a:rPr lang="en-US" sz="1600" b="1">
                <a:solidFill>
                  <a:srgbClr val="0D47A1"/>
                </a:solidFill>
                <a:hlinkClick r:id="rId3"/>
              </a:rPr>
              <a:t> ML Results</a:t>
            </a:r>
            <a:endParaRPr lang="en-US"/>
          </a:p>
          <a:p>
            <a:pPr algn="ctr"/>
            <a:r>
              <a:rPr lang="en-US" sz="1600" b="1">
                <a:solidFill>
                  <a:srgbClr val="0D47A1"/>
                </a:solidFill>
                <a:hlinkClick r:id="" action="ppaction://noaction"/>
              </a:rPr>
              <a:t>YoY Trip Analysis</a:t>
            </a:r>
            <a:endParaRPr lang="en-US" sz="1600">
              <a:solidFill>
                <a:srgbClr val="000000"/>
              </a:solidFill>
            </a:endParaRP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4"/>
              </a:rPr>
              <a:t>Additional</a:t>
            </a:r>
            <a:r>
              <a:rPr lang="en-US" sz="1600" b="1">
                <a:solidFill>
                  <a:srgbClr val="2E7D32"/>
                </a:solidFill>
                <a:hlinkClick r:id="rId4">
                  <a:extLst>
                    <a:ext uri="{A12FA001-AC4F-418D-AE19-62706E023703}">
                      <ahyp:hlinkClr xmlns:ahyp="http://schemas.microsoft.com/office/drawing/2018/hyperlinkcolor" val="tx"/>
                    </a:ext>
                  </a:extLst>
                </a:hlinkClick>
              </a:rPr>
              <a:t> Analysis</a:t>
            </a:r>
            <a:endParaRPr lang="en-US" sz="1600" b="1">
              <a:solidFill>
                <a:srgbClr val="2E7D32"/>
              </a:solidFill>
            </a:endParaRP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5"/>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6"/>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627346" y="1120124"/>
            <a:ext cx="10931199" cy="805349"/>
          </a:xfrm>
          <a:prstGeom prst="rect">
            <a:avLst/>
          </a:prstGeom>
          <a:noFill/>
        </p:spPr>
        <p:txBody>
          <a:bodyPr wrap="none" lIns="91440" tIns="45720" rIns="91440" bIns="45720" anchor="t">
            <a:spAutoFit/>
          </a:bodyPr>
          <a:lstStyle/>
          <a:p>
            <a:pPr algn="ctr"/>
            <a:r>
              <a:rPr lang="en-US" sz="1900" b="1">
                <a:latin typeface="Trust Hartford Serif"/>
              </a:rPr>
              <a:t>How Does Adverse Weather Influence Taxi Demand, and Have Those Patterns Changed Over Time?</a:t>
            </a:r>
          </a:p>
          <a:p>
            <a:pPr algn="ctr">
              <a:spcBef>
                <a:spcPts val="1600"/>
              </a:spcBef>
            </a:pPr>
            <a:endParaRPr lang="en-US" sz="1400">
              <a:solidFill>
                <a:srgbClr val="2D2D2D"/>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rPr lang="en-US"/>
              <a:t>Summary and Recommendation</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137172"/>
            <a:ext cx="7200000" cy="3600000"/>
          </a:xfrm>
          <a:prstGeom prst="round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2D2D2D"/>
                </a:solidFill>
              </a:rPr>
              <a:t>Key Findings</a:t>
            </a:r>
          </a:p>
          <a:p>
            <a:pPr>
              <a:spcBef>
                <a:spcPts val="1200"/>
              </a:spcBef>
            </a:pPr>
            <a:r>
              <a:rPr sz="1400" b="1">
                <a:solidFill>
                  <a:srgbClr val="0D47A1"/>
                </a:solidFill>
              </a:rPr>
              <a:t>1. Weather suppresses trip volume, not price</a:t>
            </a:r>
          </a:p>
          <a:p>
            <a:pPr>
              <a:spcBef>
                <a:spcPts val="200"/>
              </a:spcBef>
            </a:pPr>
            <a:r>
              <a:rPr sz="1200" b="0">
                <a:solidFill>
                  <a:srgbClr val="555555"/>
                </a:solidFill>
              </a:rPr>
              <a:t>Fares stay flat across all boroughs regardless of conditions. The risk is fewer rides, not cheaper ones.</a:t>
            </a:r>
          </a:p>
          <a:p>
            <a:pPr>
              <a:spcBef>
                <a:spcPts val="1200"/>
              </a:spcBef>
            </a:pPr>
            <a:r>
              <a:rPr sz="1400" b="1">
                <a:solidFill>
                  <a:srgbClr val="0D47A1"/>
                </a:solidFill>
              </a:rPr>
              <a:t>2. Weather's effect on demand flipped year over year</a:t>
            </a:r>
          </a:p>
          <a:p>
            <a:pPr>
              <a:spcBef>
                <a:spcPts val="200"/>
              </a:spcBef>
            </a:pPr>
            <a:r>
              <a:rPr sz="1200" b="0">
                <a:solidFill>
                  <a:srgbClr val="555555"/>
                </a:solidFill>
              </a:rPr>
              <a:t>In 2025, adverse weather boosted taxi demand. In 2026, it suppressed it.</a:t>
            </a:r>
          </a:p>
          <a:p>
            <a:pPr>
              <a:spcBef>
                <a:spcPts val="1200"/>
              </a:spcBef>
            </a:pPr>
            <a:r>
              <a:rPr sz="1400" b="1">
                <a:solidFill>
                  <a:srgbClr val="0D47A1"/>
                </a:solidFill>
              </a:rPr>
              <a:t>3. Snow severity explains the reversal</a:t>
            </a:r>
          </a:p>
          <a:p>
            <a:pPr>
              <a:spcBef>
                <a:spcPts val="200"/>
              </a:spcBef>
            </a:pPr>
            <a:r>
              <a:rPr sz="1200" b="0">
                <a:solidFill>
                  <a:srgbClr val="555555"/>
                </a:solidFill>
              </a:rPr>
              <a:t>2026 saw 117% more snowfall with 2.5x longer storms. Rain still boosts ridership; heavy snow suppresses it.</a:t>
            </a:r>
          </a:p>
          <a:p>
            <a:pPr>
              <a:spcBef>
                <a:spcPts val="1200"/>
              </a:spcBef>
            </a:pPr>
            <a:r>
              <a:rPr sz="1400" b="1">
                <a:solidFill>
                  <a:srgbClr val="0D47A1"/>
                </a:solidFill>
              </a:rPr>
              <a:t>4. Revenue losses concentrate in rush hour</a:t>
            </a:r>
          </a:p>
          <a:p>
            <a:pPr>
              <a:spcBef>
                <a:spcPts val="200"/>
              </a:spcBef>
            </a:pPr>
            <a:r>
              <a:rPr sz="1200" b="0">
                <a:solidFill>
                  <a:srgbClr val="555555"/>
                </a:solidFill>
              </a:rPr>
              <a:t>A single storm-hour during Manhattan rush hour costs $43K+ in lost revenue vs. clear weather.</a:t>
            </a:r>
          </a:p>
        </p:txBody>
      </p:sp>
      <p:sp>
        <p:nvSpPr>
          <p:cNvPr id="6" name="Rounded Rectangle 5"/>
          <p:cNvSpPr/>
          <p:nvPr/>
        </p:nvSpPr>
        <p:spPr>
          <a:xfrm>
            <a:off x="7700000" y="1137172"/>
            <a:ext cx="4200000" cy="36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2E7D32"/>
                </a:solidFill>
              </a:rPr>
              <a:t>Recommendation</a:t>
            </a:r>
          </a:p>
          <a:p>
            <a:pPr>
              <a:spcBef>
                <a:spcPts val="1400"/>
              </a:spcBef>
            </a:pPr>
            <a:r>
              <a:rPr sz="1300" b="1">
                <a:solidFill>
                  <a:srgbClr val="2D805D"/>
                </a:solidFill>
              </a:rPr>
              <a:t>Implement weather-triggered fleet deployment:</a:t>
            </a:r>
          </a:p>
          <a:p>
            <a:pPr>
              <a:spcBef>
                <a:spcPts val="800"/>
              </a:spcBef>
            </a:pPr>
            <a:r>
              <a:rPr sz="1200" b="0">
                <a:solidFill>
                  <a:srgbClr val="2D805D"/>
                </a:solidFill>
              </a:rPr>
              <a:t>1. Pre-position vehicles in high-demand zones before forecasted storms</a:t>
            </a:r>
          </a:p>
          <a:p>
            <a:pPr>
              <a:spcBef>
                <a:spcPts val="600"/>
              </a:spcBef>
            </a:pPr>
            <a:r>
              <a:rPr sz="1200" b="0">
                <a:solidFill>
                  <a:srgbClr val="2D805D"/>
                </a:solidFill>
              </a:rPr>
              <a:t>2. Prioritize rush-hour coverage where revenue loss is greatest</a:t>
            </a:r>
          </a:p>
          <a:p>
            <a:pPr>
              <a:spcBef>
                <a:spcPts val="600"/>
              </a:spcBef>
            </a:pPr>
            <a:r>
              <a:rPr sz="1200" b="0">
                <a:solidFill>
                  <a:srgbClr val="2D805D"/>
                </a:solidFill>
              </a:rPr>
              <a:t>3. Use dynamic incentives to keep drivers on the road during severe snow</a:t>
            </a:r>
          </a:p>
          <a:p>
            <a:pPr>
              <a:spcBef>
                <a:spcPts val="1400"/>
              </a:spcBef>
            </a:pPr>
            <a:r>
              <a:rPr sz="1300" b="1">
                <a:solidFill>
                  <a:srgbClr val="2E7D32"/>
                </a:solidFill>
              </a:rPr>
              <a:t>Focus on when, not if.</a:t>
            </a:r>
          </a:p>
          <a:p>
            <a:pPr>
              <a:spcBef>
                <a:spcPts val="400"/>
              </a:spcBef>
            </a:pPr>
            <a:r>
              <a:rPr sz="1200" b="0">
                <a:solidFill>
                  <a:srgbClr val="2D805D"/>
                </a:solidFill>
              </a:rPr>
              <a:t>The data shows it's not about whether weather hurts demand. It's about protecting the highest-value hours.</a:t>
            </a:r>
          </a:p>
        </p:txBody>
      </p:sp>
      <p:sp>
        <p:nvSpPr>
          <p:cNvPr id="7" name="Rounded Rectangle 6"/>
          <p:cNvSpPr/>
          <p:nvPr/>
        </p:nvSpPr>
        <p:spPr>
          <a:xfrm>
            <a:off x="297780" y="4937172"/>
            <a:ext cx="11600000" cy="700000"/>
          </a:xfrm>
          <a:prstGeom prst="roundRect">
            <a:avLst/>
          </a:prstGeom>
          <a:solidFill>
            <a:srgbClr val="8B013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rPr>
              <a:t>Bottom Line: Weather doesn't change what a ride costs. It changes how many rides happen, and that impact is concentrated in the hours that matter most.</a:t>
            </a:r>
          </a:p>
        </p:txBody>
      </p:sp>
    </p:spTree>
    <p:extLst>
      <p:ext uri="{BB962C8B-B14F-4D97-AF65-F5344CB8AC3E}">
        <p14:creationId xmlns:p14="http://schemas.microsoft.com/office/powerpoint/2010/main" val="358024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Future State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What We Would Do</a:t>
            </a:r>
          </a:p>
          <a:p>
            <a:pPr algn="ct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gn="ctr">
              <a:lnSpc>
                <a:spcPct val="150000"/>
              </a:lnSpc>
            </a:pPr>
            <a:endParaRPr lang="en-US" sz="14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Business Benefit</a:t>
            </a:r>
          </a:p>
          <a:p>
            <a:pPr algn="ct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sz="1600" b="1">
                <a:solidFill>
                  <a:srgbClr val="0D47A1"/>
                </a:solidFill>
              </a:rPr>
              <a:t>ML Forecasting</a:t>
            </a:r>
            <a:endParaRPr lang="en-US" sz="1600" b="1">
              <a:solidFill>
                <a:srgbClr val="0D47A1"/>
              </a:solidFill>
            </a:endParaRPr>
          </a:p>
          <a:p>
            <a:pPr algn="ctr">
              <a:lnSpc>
                <a:spcPct val="150000"/>
              </a:lnSpc>
              <a:spcBef>
                <a:spcPts val="1600"/>
              </a:spcBef>
            </a:pPr>
            <a:r>
              <a:rPr lang="en-US" sz="1400" b="1">
                <a:solidFill>
                  <a:srgbClr val="0D47A1"/>
                </a:solidFill>
              </a:rPr>
              <a:t>What We Would Do</a:t>
            </a:r>
          </a:p>
          <a:p>
            <a:pPr algn="ctr">
              <a:lnSpc>
                <a:spcPct val="150000"/>
              </a:lnSpc>
              <a:spcBef>
                <a:spcPts val="1600"/>
              </a:spcBef>
            </a:pPr>
            <a:r>
              <a:rPr lang="en-US" sz="1400">
                <a:solidFill>
                  <a:srgbClr val="0D47A1"/>
                </a:solidFill>
              </a:rPr>
              <a:t>Predict demand changes before weather events occur</a:t>
            </a:r>
          </a:p>
          <a:p>
            <a:pPr algn="ctr">
              <a:lnSpc>
                <a:spcPct val="150000"/>
              </a:lnSpc>
              <a:spcBef>
                <a:spcPts val="1600"/>
              </a:spcBef>
            </a:pPr>
            <a:r>
              <a:rPr lang="en-US" sz="1400" b="1">
                <a:solidFill>
                  <a:srgbClr val="0D47A1"/>
                </a:solidFill>
              </a:rPr>
              <a:t>Business Benefit</a:t>
            </a:r>
          </a:p>
          <a:p>
            <a:pPr algn="ctr">
              <a:lnSpc>
                <a:spcPct val="150000"/>
              </a:lnSpc>
              <a:spcBef>
                <a:spcPts val="1600"/>
              </a:spcBef>
            </a:pPr>
            <a:r>
              <a:rPr lang="en-US" sz="1400">
                <a:solidFill>
                  <a:srgbClr val="0D47A1"/>
                </a:solidFill>
              </a:rPr>
              <a:t>Improve driver positioning and reduce idle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chemeClr val="accent1">
                    <a:lumMod val="76000"/>
                  </a:schemeClr>
                </a:solidFill>
              </a:rPr>
              <a:t>Multi-City Expansion</a:t>
            </a:r>
            <a:endParaRPr lang="en-US"/>
          </a:p>
          <a:p>
            <a:pPr algn="ctr">
              <a:lnSpc>
                <a:spcPct val="150000"/>
              </a:lnSpc>
              <a:spcBef>
                <a:spcPts val="1600"/>
              </a:spcBef>
            </a:pPr>
            <a:r>
              <a:rPr lang="en-US" sz="1400" b="1">
                <a:solidFill>
                  <a:schemeClr val="accent1">
                    <a:lumMod val="76000"/>
                  </a:schemeClr>
                </a:solidFill>
              </a:rPr>
              <a:t>What We Would Do</a:t>
            </a:r>
          </a:p>
          <a:p>
            <a:pPr algn="ctr">
              <a:lnSpc>
                <a:spcPct val="150000"/>
              </a:lnSpc>
            </a:pPr>
            <a:r>
              <a:rPr lang="en-US" sz="1400">
                <a:solidFill>
                  <a:schemeClr val="accent1">
                    <a:lumMod val="76000"/>
                  </a:schemeClr>
                </a:solidFill>
              </a:rPr>
              <a:t>Extend the solution to additional cities</a:t>
            </a:r>
          </a:p>
          <a:p>
            <a:pPr algn="ctr">
              <a:lnSpc>
                <a:spcPct val="150000"/>
              </a:lnSpc>
            </a:pPr>
            <a:endParaRPr lang="en-US" sz="1400">
              <a:solidFill>
                <a:schemeClr val="accent1">
                  <a:lumMod val="76000"/>
                </a:schemeClr>
              </a:solidFill>
            </a:endParaRPr>
          </a:p>
          <a:p>
            <a:pPr algn="ctr">
              <a:lnSpc>
                <a:spcPct val="150000"/>
              </a:lnSpc>
              <a:spcBef>
                <a:spcPts val="1200"/>
              </a:spcBef>
            </a:pPr>
            <a:r>
              <a:rPr lang="en-US" sz="1400" b="1">
                <a:solidFill>
                  <a:schemeClr val="accent1">
                    <a:lumMod val="76000"/>
                  </a:schemeClr>
                </a:solidFill>
              </a:rPr>
              <a:t>Business Benefit</a:t>
            </a:r>
          </a:p>
          <a:p>
            <a:pPr algn="ctr">
              <a:lnSpc>
                <a:spcPct val="150000"/>
              </a:lnSpc>
            </a:pPr>
            <a:r>
              <a:rPr lang="en-US" sz="1400">
                <a:solidFill>
                  <a:schemeClr val="accent1">
                    <a:lumMod val="76000"/>
                  </a:schemeClr>
                </a:solidFill>
              </a:rPr>
              <a:t>Enable broader demand and weather insights across markets</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2.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21</Slides>
  <Notes>20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The Hartford Template Slides</vt:lpstr>
      <vt:lpstr>NYC Taxi Data Platform How does adverse weather affect taxi demand across New York City, and how have those patterns changed over time?</vt:lpstr>
      <vt:lpstr>Topics of Discussion</vt:lpstr>
      <vt:lpstr>1</vt:lpstr>
      <vt:lpstr>The Business Question</vt:lpstr>
      <vt:lpstr>Headline Finding</vt:lpstr>
      <vt:lpstr>2</vt:lpstr>
      <vt:lpstr>The Data</vt:lpstr>
      <vt:lpstr>Data Quality Findings</vt:lpstr>
      <vt:lpstr>Pipeline Architecture</vt:lpstr>
      <vt:lpstr>Architecture Decision: Snowflake + DBT</vt:lpstr>
      <vt:lpstr>Additional Paths We Explored</vt:lpstr>
      <vt:lpstr>3</vt:lpstr>
      <vt:lpstr>Discovering Similar Taxi Zone Patterns with BigQuery ML</vt:lpstr>
      <vt:lpstr>BigQuery ML: What We Learned</vt:lpstr>
      <vt:lpstr>Tableau Dashboard</vt:lpstr>
      <vt:lpstr>Visualizations</vt:lpstr>
      <vt:lpstr>Summary Of Our Findings</vt:lpstr>
      <vt:lpstr>4</vt:lpstr>
      <vt:lpstr>Future State Proposal</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44</cp:revision>
  <cp:lastPrinted>2024-04-30T20:31:00Z</cp:lastPrinted>
  <dcterms:created xsi:type="dcterms:W3CDTF">2026-07-23T20:23:29Z</dcterms:created>
  <dcterms:modified xsi:type="dcterms:W3CDTF">2026-08-18T00:32:18Z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