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solidFill>
                  <a:srgbClr val="555555"/>
                </a:solidFill>
              </a:rPr>
              <a:t>ORLANDO: We'll start with the main insight from our analysis. In 2025, bad weather actually helped taxi operators. In 2026, that relationship reversed, particularly during snow events that were far more severe than the year before. Most importantly is when the storm hits. A single storm-hour during rush hour in Manhattan now represents over $43K per hour in lost revenue compared to a clear-weather hour. For taxi operators, the takeaway is that it's crucial to plan around when adverse weather is coming and have drivers on the road during those high impact windows like rush hour.</a:t>
            </a:r>
            <a:endParaRPr lang="en-US">
              <a:solidFill>
                <a:srgbClr val="000000"/>
              </a:solidFill>
            </a:endParaRPr>
          </a:p>
          <a:p>
            <a:pPr algn="ctr"/>
            <a:endParaRPr lang="en-US" i="1">
              <a:solidFill>
                <a:srgbClr val="555555"/>
              </a:solidFill>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So what should taxi drivers actually do with this information? Our data supports three clear recommendations.
First, when it rains, get to Brooklyn. Brooklyn is the only borough where both demand and earnings efficiency increase during rain. Demand surges 27 percent, from 188 to 238 trips per hour, and per-minute earnings rise 11 percent. No other borough shows that combination.
Second, when it snows, stay on the road. This might sound counterintuitive because total trip volume drops during snow. But the drivers who remain available earn more per active minute of driving, in every single borough, ranging from 7 percent more in Manhattan to 29 percent more in the Bronx. In Manhattan specifically, that translates to roughly 76 dollars per hour versus 71 during clear weather. Fewer drivers on the road means less competition for the fares that are still available.
Third, during clear weather, which accounts for 94.5 percent of all operating hours, drivers have two strong options. Manhattan offers unmatched volume at over 4,500 trips per hour, meaning minimal idle time between fares and consistent 71-dollar-per-hour earnings. Queens, on the other hand, offers a 15 percent earnings premium at 82 dollars per hour, driven by longer trips averaging 66 dollars per fare. For drivers who can stay busy in Queens, particularly with airport runs, the per-hour return is higher.
The bottom line is that each weather condition calls for a different strategy. Rain is an opportunity, snow rewards those who stay, and clear weather is about choosing between volume consistency in Manhattan or higher per-trip efficiency in Queens.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identified three potential next steps to build on this solution.</a:t>
            </a:r>
          </a:p>
          <a:p>
            <a:endParaRPr lang="en-US"/>
          </a:p>
          <a:p>
            <a:r>
              <a:rPr lang="en-US"/>
              <a:t>First, </a:t>
            </a:r>
            <a:r>
              <a:rPr lang="en-US" b="1"/>
              <a:t>real-time ingestion</a:t>
            </a:r>
            <a:r>
              <a:rPr lang="en-US"/>
              <a:t> would allow trip and weather data to flow continuously, giving operators a more up-to-date view of demand during storms.</a:t>
            </a:r>
          </a:p>
          <a:p>
            <a:endParaRPr lang="en-US"/>
          </a:p>
          <a:p>
            <a:r>
              <a:rPr lang="en-US"/>
              <a:t>Second, </a:t>
            </a:r>
            <a:r>
              <a:rPr lang="en-US" b="1"/>
              <a:t>machine learning forecasting</a:t>
            </a:r>
            <a:r>
              <a:rPr lang="en-US"/>
              <a:t> could help predict demand changes before weather events occur, enabling more proactive planning.</a:t>
            </a:r>
          </a:p>
          <a:p>
            <a:endParaRPr lang="en-US"/>
          </a:p>
          <a:p>
            <a:r>
              <a:rPr lang="en-US"/>
              <a:t>Third, as our current solution is </a:t>
            </a:r>
            <a:r>
              <a:rPr lang="en-US" b="1"/>
              <a:t>scalable, it </a:t>
            </a:r>
            <a:r>
              <a:rPr lang="en-US"/>
              <a:t>could be expanded to other cities with similar taxi and weather data.</a:t>
            </a:r>
          </a:p>
          <a:p>
            <a:endParaRPr lang="en-US"/>
          </a:p>
          <a:p>
            <a:r>
              <a:rPr lang="en-US" b="1"/>
              <a:t>Our top recommendation is real-time ingestion because it offers the greatest business value with the lowest implementation effort.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E831FFAF-D961-34C9-4C81-8C1B9B8B0C43}"/>
              </a:ext>
            </a:extLst>
          </p:cNvPr>
          <p:cNvSpPr/>
          <p:nvPr/>
        </p:nvSpPr>
        <p:spPr>
          <a:xfrm>
            <a:off x="400000" y="1128755"/>
            <a:ext cx="11400000" cy="14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2D2D2D"/>
              </a:solidFill>
            </a:endParaRPr>
          </a:p>
          <a:p>
            <a:pPr algn="ctr"/>
            <a:r>
              <a:rPr lang="en-US" sz="1900" b="1">
                <a:solidFill>
                  <a:srgbClr val="8B0138"/>
                </a:solidFill>
              </a:rPr>
              <a:t> A single storm-hour during rush hour now costs more in lost revenue than several off-peak storm-hours combined.</a:t>
            </a:r>
          </a:p>
          <a:p>
            <a:pPr algn="ctr"/>
            <a:endParaRPr lang="en-US">
              <a:solidFill>
                <a:srgbClr val="FFFFFF"/>
              </a:solidFill>
            </a:endParaRPr>
          </a:p>
        </p:txBody>
      </p:sp>
      <p:sp>
        <p:nvSpPr>
          <p:cNvPr id="6" name="Rounded Rectangle 5">
            <a:extLst>
              <a:ext uri="{FF2B5EF4-FFF2-40B4-BE49-F238E27FC236}">
                <a16:creationId xmlns:a16="http://schemas.microsoft.com/office/drawing/2014/main" id="{94BAC692-A57D-6F57-D8E9-813F7DA39B7C}"/>
              </a:ext>
            </a:extLst>
          </p:cNvPr>
          <p:cNvSpPr/>
          <p:nvPr/>
        </p:nvSpPr>
        <p:spPr>
          <a:xfrm>
            <a:off x="400000"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38M+</a:t>
            </a:r>
          </a:p>
          <a:p>
            <a:pPr algn="ctr"/>
            <a:r>
              <a:rPr sz="1200">
                <a:solidFill>
                  <a:srgbClr val="555555"/>
                </a:solidFill>
              </a:rPr>
              <a:t>Trip Records Analyzed</a:t>
            </a:r>
          </a:p>
        </p:txBody>
      </p:sp>
      <p:sp>
        <p:nvSpPr>
          <p:cNvPr id="7" name="Rounded Rectangle 6">
            <a:extLst>
              <a:ext uri="{FF2B5EF4-FFF2-40B4-BE49-F238E27FC236}">
                <a16:creationId xmlns:a16="http://schemas.microsoft.com/office/drawing/2014/main" id="{92F307B3-32E8-4798-07AA-CE89169BE790}"/>
              </a:ext>
            </a:extLst>
          </p:cNvPr>
          <p:cNvSpPr/>
          <p:nvPr/>
        </p:nvSpPr>
        <p:spPr>
          <a:xfrm>
            <a:off x="4500642"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10 months</a:t>
            </a:r>
          </a:p>
          <a:p>
            <a:pPr algn="ctr"/>
            <a:r>
              <a:rPr sz="1200">
                <a:solidFill>
                  <a:srgbClr val="555555"/>
                </a:solidFill>
              </a:rPr>
              <a:t>Jan-May 2025 vs 2026</a:t>
            </a:r>
          </a:p>
        </p:txBody>
      </p:sp>
      <p:sp>
        <p:nvSpPr>
          <p:cNvPr id="8" name="Rounded Rectangle 7">
            <a:extLst>
              <a:ext uri="{FF2B5EF4-FFF2-40B4-BE49-F238E27FC236}">
                <a16:creationId xmlns:a16="http://schemas.microsoft.com/office/drawing/2014/main" id="{53CA5D5C-F525-5CEA-D403-7EDE5D23B2FF}"/>
              </a:ext>
            </a:extLst>
          </p:cNvPr>
          <p:cNvSpPr/>
          <p:nvPr/>
        </p:nvSpPr>
        <p:spPr>
          <a:xfrm>
            <a:off x="8601283" y="2943774"/>
            <a:ext cx="3200000" cy="14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a:solidFill>
                  <a:srgbClr val="0D47A1"/>
                </a:solidFill>
              </a:rPr>
              <a:t>5 boroughs</a:t>
            </a:r>
          </a:p>
          <a:p>
            <a:pPr algn="ctr"/>
            <a:r>
              <a:rPr sz="1200">
                <a:solidFill>
                  <a:srgbClr val="555555"/>
                </a:solidFill>
              </a:rPr>
              <a:t>Weather Impact Compared</a:t>
            </a:r>
          </a:p>
        </p:txBody>
      </p:sp>
      <p:sp>
        <p:nvSpPr>
          <p:cNvPr id="9" name="Rounded Rectangle 8">
            <a:extLst>
              <a:ext uri="{FF2B5EF4-FFF2-40B4-BE49-F238E27FC236}">
                <a16:creationId xmlns:a16="http://schemas.microsoft.com/office/drawing/2014/main" id="{88EA5623-CF14-F675-B41F-9D11B723E59E}"/>
              </a:ext>
            </a:extLst>
          </p:cNvPr>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rgbClr val="2D805D"/>
                </a:solidFill>
              </a:rPr>
              <a:t>Business Insight</a:t>
            </a:r>
          </a:p>
          <a:p>
            <a:pPr algn="ctr"/>
            <a:endParaRPr lang="en-US" b="1">
              <a:solidFill>
                <a:srgbClr val="2D805D"/>
              </a:solidFill>
            </a:endParaRPr>
          </a:p>
          <a:p>
            <a:pPr algn="ctr"/>
            <a:r>
              <a:rPr lang="en-US">
                <a:solidFill>
                  <a:srgbClr val="2D805D"/>
                </a:solidFill>
              </a:rPr>
              <a:t>Pre-position vehicles before forecasted storms, prioritize rush-hour coverage, and consider dynamic incentives for drivers to stay on the road during adverse conditions.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a:solidFill>
                  <a:srgbClr val="2D805D"/>
                </a:solidFill>
                <a:latin typeface="Trust Hartford Sans"/>
              </a:rPr>
              <a:t>Brooklyn demand surges +27% during rain (188 → 238 trips/hr)</a:t>
            </a:r>
          </a:p>
          <a:p>
            <a:pPr>
              <a:spcBef>
                <a:spcPts val="600"/>
              </a:spcBef>
            </a:pPr>
            <a:r>
              <a:rPr sz="1400" b="0">
                <a:solidFill>
                  <a:srgbClr val="2D805D"/>
                </a:solidFill>
                <a:latin typeface="Trust Hartford Sans"/>
              </a:rPr>
              <a:t>Per-minute earnings rise +11% ($1.16 → $1.29/min)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(+7% to +29%)</a:t>
            </a:r>
          </a:p>
          <a:p>
            <a:pPr>
              <a:spcBef>
                <a:spcPts val="600"/>
              </a:spcBef>
            </a:pPr>
            <a:r>
              <a:rPr sz="1400" b="0">
                <a:solidFill>
                  <a:srgbClr val="2F63AF"/>
                </a:solidFill>
                <a:latin typeface="Trust Hartford Sans"/>
              </a:rPr>
              <a:t>Manhattan snow: $76/hr vs $71/hr clear weather</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8" name="Rounded Rectangle 7"/>
          <p:cNvSpPr/>
          <p:nvPr/>
        </p:nvSpPr>
        <p:spPr>
          <a:xfrm>
            <a:off x="400000" y="60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Each weather condition calls for a different positioning strategy. Rain is an opportunity, snow rewards persistence, and clear weather is about volume consistency.</a:t>
            </a:r>
          </a:p>
        </p:txBody>
      </p:sp>
      <p:sp>
        <p:nvSpPr>
          <p:cNvPr id="9" name="Rounded Rectangle 8"/>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Clear Weather: Manhattan or Queens</a:t>
            </a:r>
          </a:p>
          <a:p>
            <a:pPr>
              <a:spcBef>
                <a:spcPts val="1200"/>
              </a:spcBef>
            </a:pPr>
            <a:r>
              <a:rPr sz="1400" b="1">
                <a:solidFill>
                  <a:srgbClr val="E65100"/>
                </a:solidFill>
                <a:latin typeface="Trust Hartford Sans"/>
              </a:rPr>
              <a:t>Manhattan: Volume</a:t>
            </a:r>
          </a:p>
          <a:p>
            <a:pPr>
              <a:spcBef>
                <a:spcPts val="400"/>
              </a:spcBef>
            </a:pPr>
            <a:r>
              <a:rPr sz="1400" b="0">
                <a:solidFill>
                  <a:srgbClr val="E65100"/>
                </a:solidFill>
                <a:latin typeface="Trust Hartford Sans"/>
              </a:rPr>
              <a:t>4,539 trips/hr, $71/hr earnings</a:t>
            </a:r>
          </a:p>
          <a:p>
            <a:pPr>
              <a:spcBef>
                <a:spcPts val="400"/>
              </a:spcBef>
            </a:pPr>
            <a:r>
              <a:rPr sz="1400" b="0">
                <a:solidFill>
                  <a:srgbClr val="E65100"/>
                </a:solidFill>
                <a:latin typeface="Trust Hartford Sans"/>
              </a:rPr>
              <a:t>Minimal idle time between fares</a:t>
            </a:r>
          </a:p>
          <a:p>
            <a:pPr>
              <a:spcBef>
                <a:spcPts val="1200"/>
              </a:spcBef>
            </a:pPr>
            <a:r>
              <a:rPr sz="1400" b="1">
                <a:solidFill>
                  <a:srgbClr val="E65100"/>
                </a:solidFill>
                <a:latin typeface="Trust Hartford Sans"/>
              </a:rPr>
              <a:t>Queens: Efficiency</a:t>
            </a:r>
          </a:p>
          <a:p>
            <a:pPr>
              <a:spcBef>
                <a:spcPts val="400"/>
              </a:spcBef>
            </a:pPr>
            <a:r>
              <a:rPr sz="1400" b="0">
                <a:solidFill>
                  <a:srgbClr val="E65100"/>
                </a:solidFill>
                <a:latin typeface="Trust Hartford Sans"/>
              </a:rPr>
              <a:t>$66 avg fare, $82/hr earnings (+15% over Manhattan)</a:t>
            </a:r>
          </a:p>
          <a:p>
            <a:pPr>
              <a:spcBef>
                <a:spcPts val="400"/>
              </a:spcBef>
            </a:pPr>
            <a:r>
              <a:rPr sz="1400" b="0">
                <a:solidFill>
                  <a:srgbClr val="E65100"/>
                </a:solidFill>
                <a:latin typeface="Trust Hartford Sans"/>
              </a:rPr>
              <a:t>Longer trips with higher per-minute return</a:t>
            </a:r>
          </a:p>
          <a:p>
            <a:pPr>
              <a:spcBef>
                <a:spcPts val="1200"/>
              </a:spcBef>
            </a:pPr>
            <a:r>
              <a:rPr sz="1400" b="1">
                <a:solidFill>
                  <a:srgbClr val="E65100"/>
                </a:solidFill>
                <a:latin typeface="Trust Hartford Sans"/>
              </a:rPr>
              <a:t>Why It Matters</a:t>
            </a:r>
          </a:p>
          <a:p>
            <a:pPr>
              <a:spcBef>
                <a:spcPts val="400"/>
              </a:spcBef>
            </a:pPr>
            <a:r>
              <a:rPr sz="1400" b="0">
                <a:solidFill>
                  <a:srgbClr val="E65100"/>
                </a:solidFill>
                <a:latin typeface="Trust Hartford Sans"/>
              </a:rPr>
              <a:t>Clear weather is 94.5% of all hours. Manhattan guarantees volume; Queens rewards drivers who stay busy with airport and cross-borough runs.</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chemeClr val="accent1">
                    <a:lumMod val="76000"/>
                  </a:schemeClr>
                </a:solidFill>
              </a:rPr>
              <a:t>Multi-City Expansion</a:t>
            </a:r>
            <a:endParaRPr lang="en-US"/>
          </a:p>
          <a:p>
            <a:pPr algn="ctr">
              <a:lnSpc>
                <a:spcPct val="150000"/>
              </a:lnSpc>
              <a:spcBef>
                <a:spcPts val="1600"/>
              </a:spcBef>
            </a:pPr>
            <a:r>
              <a:rPr lang="en-US" sz="1400" b="1">
                <a:solidFill>
                  <a:schemeClr val="accent1">
                    <a:lumMod val="76000"/>
                  </a:schemeClr>
                </a:solidFill>
              </a:rPr>
              <a:t>What We Would Do</a:t>
            </a:r>
          </a:p>
          <a:p>
            <a:pPr algn="ctr">
              <a:lnSpc>
                <a:spcPct val="150000"/>
              </a:lnSpc>
            </a:pPr>
            <a:r>
              <a:rPr lang="en-US" sz="1400">
                <a:solidFill>
                  <a:schemeClr val="accent1">
                    <a:lumMod val="76000"/>
                  </a:schemeClr>
                </a:solidFill>
              </a:rPr>
              <a:t>Extend the solution to additional cities</a:t>
            </a:r>
          </a:p>
          <a:p>
            <a:pPr algn="ctr">
              <a:lnSpc>
                <a:spcPct val="150000"/>
              </a:lnSpc>
            </a:pPr>
            <a:endParaRPr lang="en-US" sz="1400">
              <a:solidFill>
                <a:schemeClr val="accent1">
                  <a:lumMod val="76000"/>
                </a:schemeClr>
              </a:solidFill>
            </a:endParaRPr>
          </a:p>
          <a:p>
            <a:pPr algn="ctr">
              <a:lnSpc>
                <a:spcPct val="150000"/>
              </a:lnSpc>
              <a:spcBef>
                <a:spcPts val="1200"/>
              </a:spcBef>
            </a:pPr>
            <a:r>
              <a:rPr lang="en-US" sz="1400" b="1">
                <a:solidFill>
                  <a:schemeClr val="accent1">
                    <a:lumMod val="76000"/>
                  </a:schemeClr>
                </a:solidFill>
              </a:rPr>
              <a:t>Business Benefit</a:t>
            </a:r>
          </a:p>
          <a:p>
            <a:pPr algn="ctr">
              <a:lnSpc>
                <a:spcPct val="150000"/>
              </a:lnSpc>
            </a:pPr>
            <a:r>
              <a:rPr lang="en-US" sz="1400">
                <a:solidFill>
                  <a:schemeClr val="accent1">
                    <a:lumMod val="76000"/>
                  </a:schemeClr>
                </a:solidFill>
              </a:rPr>
              <a:t>Enable broader demand and weather insights across markets</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rPr>
              <a:t>  Where We Used AI                    What For                              What We Verified</a:t>
            </a:r>
          </a:p>
        </p:txBody>
      </p:sp>
      <p:sp>
        <p:nvSpPr>
          <p:cNvPr id="6" name="Rounded Rectangle 5"/>
          <p:cNvSpPr/>
          <p:nvPr/>
        </p:nvSpPr>
        <p:spPr>
          <a:xfrm>
            <a:off x="400000" y="16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7" name="Rounded Rectangle 6"/>
          <p:cNvSpPr/>
          <p:nvPr/>
        </p:nvSpPr>
        <p:spPr>
          <a:xfrm>
            <a:off x="400000" y="2200000"/>
            <a:ext cx="11400000" cy="500000"/>
          </a:xfrm>
          <a:prstGeom prst="roundRect">
            <a:avLst/>
          </a:prstGeom>
          <a:solidFill>
            <a:srgbClr val="F0F7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8" name="Rounded Rectangle 7"/>
          <p:cNvSpPr/>
          <p:nvPr/>
        </p:nvSpPr>
        <p:spPr>
          <a:xfrm>
            <a:off x="400000" y="2750000"/>
            <a:ext cx="11400000" cy="5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00">
                <a:solidFill>
                  <a:srgbClr val="2D2D2D"/>
                </a:solidFill>
              </a:rPr>
              <a:t>  [Tool]                                        [Purpose]                                    [Verification]</a:t>
            </a:r>
          </a:p>
        </p:txBody>
      </p:sp>
      <p:sp>
        <p:nvSpPr>
          <p:cNvPr id="9" name="Rounded Rectangle 8"/>
          <p:cNvSpPr/>
          <p:nvPr/>
        </p:nvSpPr>
        <p:spPr>
          <a:xfrm>
            <a:off x="400000" y="3600000"/>
            <a:ext cx="11400000" cy="20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E65100"/>
                </a:solidFill>
              </a:rPr>
              <a:t>What We Rejected or Corrected From AI Suggestions</a:t>
            </a:r>
          </a:p>
          <a:p>
            <a:pPr>
              <a:spcBef>
                <a:spcPts val="800"/>
              </a:spcBef>
            </a:pPr>
            <a:r>
              <a:rPr sz="1200">
                <a:solidFill>
                  <a:srgbClr val="2D2D2D"/>
                </a:solidFill>
              </a:rPr>
              <a:t>[Describe corrections made, things that required manual verification, etc.]</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