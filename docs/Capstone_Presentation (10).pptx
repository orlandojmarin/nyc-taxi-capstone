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ORLANDO: Here's the headline from our analysis. Adverse weather doesn't change what a ride costs. Fares stay essentially flat across all boroughs regardless of conditions. What changes is how many rides happen, and that impact is not spread evenly. It concentrates in specific boroughs and specific hours.
We analyzed over 38 million trips across 10 months and all five boroughs. The key insight is that each weather condition creates a different positioning opportunity.
During rain, Brooklyn demand surges 27 percent and per-minute earnings rise 11 percent. During snow, per-minute earnings rise in every borough, from 8 percent in Manhattan to 29 percent in the Bronx. And during clear weather, which is 94.5 percent of all hours, drivers choose between Manhattan's unmatched volume or Queens' 14 percent per-minute premium on longer trips.
The bottom line: weather creates positioning opportunities, not just risk.</a:t>
            </a:r>
            <a:endParaRPr lang="en-US">
              <a:solidFill>
                <a:srgbClr val="000000"/>
              </a:solidFill>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from $1.14 to $1.26 per active minute.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that's $1.52 per minute during clear weather rising to $1.64 during snow.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at $1.52 per active minute. Queens offers a 14 percent earnings premium at $1.73 per active minute, driven by longer trips averaging $58 per fare. For drivers who can stay busy in Queens, particularly with airport runs, the per-minute return is higher.
All of these figures exclude tips to avoid the cash tip recording bias in the data. They represent fare revenue earned per minute of active driving time.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identified three potential next steps to build on this solution.
First, real-time ingestion would allow trip and weather data to flow continuously, giving operators a more up-to-date view of demand during storms.
Second, machine learning forecasting could help predict demand changes before storms occur, enabling more proactive planning.
Third, we would expand the analysis itself. Our current dataset covers January through May, so we're missing summer and fall seasonality. A full year of data would show how these patterns hold across all seasons. We'd also incorporate rideshare data from Uber and Lyft to understand how surge pricing during storms competes with traditional taxi demand.
Our top recommendation is real-time ingestion because it offers the greatest business value with the lowest implementation effort.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28755"/>
            <a:ext cx="114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900" b="1">
                <a:solidFill>
                  <a:srgbClr val="8B0138"/>
                </a:solidFill>
                <a:latin typeface="Trust Hartford Sans"/>
              </a:rPr>
              <a:t>Weather doesn't change what a ride costs. It changes how many rides happen, and that impact is concentrated in the hours and boroughs that matter most.</a:t>
            </a:r>
          </a:p>
        </p:txBody>
      </p:sp>
      <p:sp>
        <p:nvSpPr>
          <p:cNvPr id="6" name="Rounded Rectangle 5"/>
          <p:cNvSpPr/>
          <p:nvPr/>
        </p:nvSpPr>
        <p:spPr>
          <a:xfrm>
            <a:off x="400000" y="2943774"/>
            <a:ext cx="32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2800" b="1">
                <a:solidFill>
                  <a:srgbClr val="0D47A1"/>
                </a:solidFill>
                <a:latin typeface="Trust Hartford Sans"/>
              </a:rPr>
              <a:t>38M+</a:t>
            </a:r>
          </a:p>
          <a:p>
            <a:r>
              <a:rPr sz="1200" b="0">
                <a:solidFill>
                  <a:srgbClr val="555555"/>
                </a:solidFill>
                <a:latin typeface="Trust Hartford Sans"/>
              </a:rPr>
              <a:t>Trip Records Analyzed</a:t>
            </a:r>
          </a:p>
        </p:txBody>
      </p:sp>
      <p:sp>
        <p:nvSpPr>
          <p:cNvPr id="7" name="Rounded Rectangle 6"/>
          <p:cNvSpPr/>
          <p:nvPr/>
        </p:nvSpPr>
        <p:spPr>
          <a:xfrm>
            <a:off x="4500642" y="2943774"/>
            <a:ext cx="32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2800" b="1">
                <a:solidFill>
                  <a:srgbClr val="0D47A1"/>
                </a:solidFill>
                <a:latin typeface="Trust Hartford Sans"/>
              </a:rPr>
              <a:t>10 months</a:t>
            </a:r>
          </a:p>
          <a:p>
            <a:r>
              <a:rPr sz="1200" b="0">
                <a:solidFill>
                  <a:srgbClr val="555555"/>
                </a:solidFill>
                <a:latin typeface="Trust Hartford Sans"/>
              </a:rPr>
              <a:t>Jan-May 2025 vs 2026</a:t>
            </a:r>
          </a:p>
        </p:txBody>
      </p:sp>
      <p:sp>
        <p:nvSpPr>
          <p:cNvPr id="8" name="Rounded Rectangle 7"/>
          <p:cNvSpPr/>
          <p:nvPr/>
        </p:nvSpPr>
        <p:spPr>
          <a:xfrm>
            <a:off x="8601283" y="2943774"/>
            <a:ext cx="32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2800" b="1">
                <a:solidFill>
                  <a:srgbClr val="0D47A1"/>
                </a:solidFill>
                <a:latin typeface="Trust Hartford Sans"/>
              </a:rPr>
              <a:t>5 boroughs</a:t>
            </a:r>
          </a:p>
          <a:p>
            <a:r>
              <a:rPr sz="1200" b="0">
                <a:solidFill>
                  <a:srgbClr val="555555"/>
                </a:solidFill>
                <a:latin typeface="Trust Hartford Sans"/>
              </a:rPr>
              <a:t>Weather Impact Compared</a:t>
            </a:r>
          </a:p>
        </p:txBody>
      </p:sp>
      <p:sp>
        <p:nvSpPr>
          <p:cNvPr id="9" name="Rounded Rectangle 8"/>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Business Insight</a:t>
            </a:r>
          </a:p>
          <a:p>
            <a:pPr>
              <a:spcBef>
                <a:spcPts val="800"/>
              </a:spcBef>
            </a:pPr>
            <a:r>
              <a:rPr sz="1400" b="0">
                <a:solidFill>
                  <a:srgbClr val="2D805D"/>
                </a:solidFill>
                <a:latin typeface="Trust Hartford Sans"/>
              </a:rPr>
              <a:t>During rain, prioritize Brooklyn where demand and earnings both surge. During snow, per-minute earnings rise 8-29% across all boroughs. During clear weather, choose Manhattan for volume or Queens for higher per-trip returns.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$1.52/min clear → $1.64/min snow (+8%)</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$1.52/min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$1.73/min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
        <p:nvSpPr>
          <p:cNvPr id="9" name="Rounded Rectangle 8"/>
          <p:cNvSpPr/>
          <p:nvPr/>
        </p:nvSpPr>
        <p:spPr>
          <a:xfrm>
            <a:off x="8200000" y="1000000"/>
            <a:ext cx="3600000" cy="48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Expanded Analysis</a:t>
            </a:r>
          </a:p>
          <a:p>
            <a:pPr>
              <a:spcBef>
                <a:spcPts val="1000"/>
              </a:spcBef>
            </a:pPr>
            <a:r>
              <a:rPr sz="1400" b="1">
                <a:solidFill>
                  <a:srgbClr val="E65100"/>
                </a:solidFill>
                <a:latin typeface="Trust Hartford Sans"/>
              </a:rPr>
              <a:t>What We Would Do</a:t>
            </a:r>
          </a:p>
          <a:p>
            <a:pPr>
              <a:spcBef>
                <a:spcPts val="600"/>
              </a:spcBef>
            </a:pPr>
            <a:r>
              <a:rPr sz="1400" b="0">
                <a:solidFill>
                  <a:srgbClr val="E65100"/>
                </a:solidFill>
                <a:latin typeface="Trust Hartford Sans"/>
              </a:rPr>
              <a:t>Extend to full-year data for seasonal patterns</a:t>
            </a:r>
          </a:p>
          <a:p>
            <a:pPr>
              <a:spcBef>
                <a:spcPts val="600"/>
              </a:spcBef>
            </a:pPr>
            <a:r>
              <a:rPr sz="1400" b="0">
                <a:solidFill>
                  <a:srgbClr val="E65100"/>
                </a:solidFill>
                <a:latin typeface="Trust Hartford Sans"/>
              </a:rPr>
              <a:t>Incorporate Uber/Lyft to compare surge pricing during storms</a:t>
            </a:r>
          </a:p>
          <a:p>
            <a:pPr>
              <a:spcBef>
                <a:spcPts val="1000"/>
              </a:spcBef>
            </a:pPr>
            <a:r>
              <a:rPr sz="1400" b="1">
                <a:solidFill>
                  <a:srgbClr val="E65100"/>
                </a:solidFill>
                <a:latin typeface="Trust Hartford Sans"/>
              </a:rPr>
              <a:t>Business Benefit</a:t>
            </a:r>
          </a:p>
          <a:p>
            <a:pPr>
              <a:spcBef>
                <a:spcPts val="600"/>
              </a:spcBef>
            </a:pPr>
            <a:r>
              <a:rPr sz="1400" b="0">
                <a:solidFill>
                  <a:srgbClr val="E65100"/>
                </a:solidFill>
                <a:latin typeface="Trust Hartford Sans"/>
              </a:rPr>
              <a:t>Reveal how demand shifts across all seasons and how rideshare surge pricing competes with taxis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00000"/>
            <a:ext cx="3755195" cy="42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Where We Used AI</a:t>
            </a:r>
          </a:p>
          <a:p>
            <a:pPr>
              <a:spcBef>
                <a:spcPts val="1200"/>
              </a:spcBef>
            </a:pPr>
            <a:r>
              <a:rPr sz="1400" b="0">
                <a:solidFill>
                  <a:srgbClr val="2F63AF"/>
                </a:solidFill>
                <a:latin typeface="Trust Hartford Sans"/>
              </a:rPr>
              <a:t>Pipeline development and SQL transformations</a:t>
            </a:r>
          </a:p>
          <a:p>
            <a:pPr>
              <a:spcBef>
                <a:spcPts val="800"/>
              </a:spcBef>
            </a:pPr>
            <a:r>
              <a:rPr sz="1400" b="0">
                <a:solidFill>
                  <a:srgbClr val="2F63AF"/>
                </a:solidFill>
                <a:latin typeface="Trust Hartford Sans"/>
              </a:rPr>
              <a:t>Streamlit visualizations and chart logic</a:t>
            </a:r>
          </a:p>
          <a:p>
            <a:pPr>
              <a:spcBef>
                <a:spcPts val="800"/>
              </a:spcBef>
            </a:pPr>
            <a:r>
              <a:rPr sz="1400" b="0">
                <a:solidFill>
                  <a:srgbClr val="2F63AF"/>
                </a:solidFill>
                <a:latin typeface="Trust Hartford Sans"/>
              </a:rPr>
              <a:t>Data analysis and revenue calculations</a:t>
            </a:r>
          </a:p>
          <a:p>
            <a:pPr>
              <a:spcBef>
                <a:spcPts val="800"/>
              </a:spcBef>
            </a:pPr>
            <a:r>
              <a:rPr sz="1400" b="0">
                <a:solidFill>
                  <a:srgbClr val="2F63AF"/>
                </a:solidFill>
                <a:latin typeface="Trust Hartford Sans"/>
              </a:rPr>
              <a:t>Presentation content and speaker notes</a:t>
            </a:r>
          </a:p>
        </p:txBody>
      </p:sp>
      <p:sp>
        <p:nvSpPr>
          <p:cNvPr id="6" name="Rounded Rectangle 5"/>
          <p:cNvSpPr/>
          <p:nvPr/>
        </p:nvSpPr>
        <p:spPr>
          <a:xfrm>
            <a:off x="4222879" y="1200000"/>
            <a:ext cx="3748539" cy="42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How We Verified</a:t>
            </a:r>
          </a:p>
          <a:p>
            <a:pPr>
              <a:spcBef>
                <a:spcPts val="1200"/>
              </a:spcBef>
            </a:pPr>
            <a:r>
              <a:rPr sz="1400" b="0">
                <a:solidFill>
                  <a:srgbClr val="2D805D"/>
                </a:solidFill>
                <a:latin typeface="Trust Hartford Sans"/>
              </a:rPr>
              <a:t>Ran full pipeline end-to-end and reconciled row counts against source</a:t>
            </a:r>
          </a:p>
          <a:p>
            <a:pPr>
              <a:spcBef>
                <a:spcPts val="800"/>
              </a:spcBef>
            </a:pPr>
            <a:r>
              <a:rPr sz="1400" b="0">
                <a:solidFill>
                  <a:srgbClr val="2D805D"/>
                </a:solidFill>
                <a:latin typeface="Trust Hartford Sans"/>
              </a:rPr>
              <a:t>Cross-checked all calculations against raw data and Tableau results</a:t>
            </a:r>
          </a:p>
          <a:p>
            <a:pPr>
              <a:spcBef>
                <a:spcPts val="800"/>
              </a:spcBef>
            </a:pPr>
            <a:r>
              <a:rPr sz="1400" b="0">
                <a:solidFill>
                  <a:srgbClr val="2D805D"/>
                </a:solidFill>
                <a:latin typeface="Trust Hartford Sans"/>
              </a:rPr>
              <a:t>Reviewed and revised all generated content before committing</a:t>
            </a:r>
          </a:p>
          <a:p>
            <a:pPr>
              <a:spcBef>
                <a:spcPts val="800"/>
              </a:spcBef>
            </a:pPr>
            <a:r>
              <a:rPr sz="1400" b="0">
                <a:solidFill>
                  <a:srgbClr val="2D805D"/>
                </a:solidFill>
                <a:latin typeface="Trust Hartford Sans"/>
              </a:rPr>
              <a:t>Every number on every slide traces back to a verifiable query</a:t>
            </a:r>
          </a:p>
        </p:txBody>
      </p:sp>
      <p:sp>
        <p:nvSpPr>
          <p:cNvPr id="7" name="Rounded Rectangle 6"/>
          <p:cNvSpPr/>
          <p:nvPr/>
        </p:nvSpPr>
        <p:spPr>
          <a:xfrm>
            <a:off x="8293073" y="1200000"/>
            <a:ext cx="3404708" cy="42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What We Corrected</a:t>
            </a:r>
          </a:p>
          <a:p>
            <a:pPr>
              <a:spcBef>
                <a:spcPts val="1200"/>
              </a:spcBef>
            </a:pPr>
            <a:r>
              <a:rPr sz="1400" b="0">
                <a:solidFill>
                  <a:srgbClr val="E65100"/>
                </a:solidFill>
                <a:latin typeface="Trust Hartford Sans"/>
              </a:rPr>
              <a:t>Fare calculations initially included tips, inflating averages. Caught and corrected.</a:t>
            </a:r>
          </a:p>
          <a:p>
            <a:pPr>
              <a:spcBef>
                <a:spcPts val="800"/>
              </a:spcBef>
            </a:pPr>
            <a:r>
              <a:rPr sz="1400" b="0">
                <a:solidFill>
                  <a:srgbClr val="E65100"/>
                </a:solidFill>
                <a:latin typeface="Trust Hartford Sans"/>
              </a:rPr>
              <a:t>Hourly earnings used an unverifiable utilization assumption. Replaced with $/active-minute.</a:t>
            </a:r>
          </a:p>
          <a:p>
            <a:pPr>
              <a:spcBef>
                <a:spcPts val="800"/>
              </a:spcBef>
            </a:pPr>
            <a:r>
              <a:rPr sz="1400" b="0">
                <a:solidFill>
                  <a:srgbClr val="E65100"/>
                </a:solidFill>
                <a:latin typeface="Trust Hartford Sans"/>
              </a:rPr>
              <a:t>Initial summary slide was descriptive. Reworked to be prescriptive with data-backed actions.</a:t>
            </a:r>
          </a:p>
        </p:txBody>
      </p:sp>
      <p:sp>
        <p:nvSpPr>
          <p:cNvPr id="8" name="Rounded Rectangle 7"/>
          <p:cNvSpPr/>
          <p:nvPr/>
        </p:nvSpPr>
        <p:spPr>
          <a:xfrm>
            <a:off x="400000" y="56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AI accelerated development. Human judgment drove every analytical decision and verified every output.</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