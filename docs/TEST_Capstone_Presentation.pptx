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04_0.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6_0.xml" ContentType="application/vnd.ms-powerpoint.comments+xml"/>
  <Override PartName="/ppt/notesSlides/notesSlide8.xml" ContentType="application/vnd.openxmlformats-officedocument.presentationml.notesSlide+xml"/>
  <Override PartName="/ppt/comments/modernComment_107_0.xml" ContentType="application/vnd.ms-powerpoint.comments+xml"/>
  <Override PartName="/ppt/notesSlides/notesSlide9.xml" ContentType="application/vnd.openxmlformats-officedocument.presentationml.notesSlide+xml"/>
  <Override PartName="/ppt/comments/modernComment_108_0.xml" ContentType="application/vnd.ms-powerpoint.comments+xml"/>
  <Override PartName="/ppt/notesSlides/notesSlide10.xml" ContentType="application/vnd.openxmlformats-officedocument.presentationml.notesSlide+xml"/>
  <Override PartName="/ppt/comments/modernComment_118_0.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0A_0.xml" ContentType="application/vnd.ms-powerpoint.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8"/>
  </p:notesMasterIdLst>
  <p:sldIdLst>
    <p:sldId id="256" r:id="rId5"/>
    <p:sldId id="257" r:id="rId6"/>
    <p:sldId id="258" r:id="rId7"/>
    <p:sldId id="260" r:id="rId8"/>
    <p:sldId id="285" r:id="rId9"/>
    <p:sldId id="261" r:id="rId10"/>
    <p:sldId id="262" r:id="rId11"/>
    <p:sldId id="263" r:id="rId12"/>
    <p:sldId id="264" r:id="rId13"/>
    <p:sldId id="280" r:id="rId14"/>
    <p:sldId id="265" r:id="rId15"/>
    <p:sldId id="266" r:id="rId16"/>
    <p:sldId id="267" r:id="rId17"/>
    <p:sldId id="268" r:id="rId18"/>
    <p:sldId id="269" r:id="rId19"/>
    <p:sldId id="283" r:id="rId20"/>
    <p:sldId id="284" r:id="rId21"/>
    <p:sldId id="288" r:id="rId22"/>
    <p:sldId id="286" r:id="rId23"/>
    <p:sldId id="275" r:id="rId24"/>
    <p:sldId id="277" r:id="rId25"/>
    <p:sldId id="278" r:id="rId26"/>
    <p:sldId id="279" r:id="rId27"/>
  </p:sldIdLst>
  <p:sldSz cx="12192000" cy="6858000"/>
  <p:notesSz cx="6858000" cy="9144000"/>
  <p:embeddedFontLst>
    <p:embeddedFont>
      <p:font typeface="Segoe UI" panose="020B0502040204020203" pitchFamily="34" charset="0"/>
      <p:regular r:id="rId29"/>
      <p:bold r:id="rId30"/>
      <p:italic r:id="rId31"/>
      <p:boldItalic r:id="rId32"/>
    </p:embeddedFont>
    <p:embeddedFont>
      <p:font typeface="Trust Hartford Sans" panose="020B0604020202020204" charset="0"/>
      <p:regular r:id="rId33"/>
      <p:bold r:id="rId34"/>
      <p:italic r:id="rId35"/>
      <p:boldItalic r:id="rId36"/>
    </p:embeddedFont>
    <p:embeddedFont>
      <p:font typeface="Trust Hartford Sans Light" panose="020B0604020202020204" charset="0"/>
      <p:regular r:id="rId37"/>
      <p:italic r:id="rId38"/>
    </p:embeddedFont>
    <p:embeddedFont>
      <p:font typeface="Trust Hartford Serif" panose="020B0604020202020204" charset="0"/>
      <p:regular r:id="rId39"/>
      <p:bold r:id="rId40"/>
      <p:italic r:id="rId41"/>
      <p:boldItalic r:id="rId42"/>
    </p:embeddedFont>
    <p:embeddedFont>
      <p:font typeface="Trust Hartford Serif XLight" panose="020B0604020202020204" charset="0"/>
      <p:regular r:id="rId43"/>
      <p:italic r:id="rId44"/>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B0138"/>
    <a:srgbClr val="2D805D"/>
    <a:srgbClr val="2F63AF"/>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C6B407-A88F-83C5-92AA-E7C0662A3A55}" v="207" dt="2026-08-13T17:53:57.296"/>
    <p1510:client id="{22A2C90C-8116-4A1B-AA3F-A8C54ADD4F3B}" v="11" dt="2026-08-13T19:04:14.399"/>
    <p1510:client id="{240C9CE4-B0C3-B77A-31AC-13E34A8815F4}" v="43" dt="2026-08-13T11:37:50.296"/>
    <p1510:client id="{8B7E71A9-1771-D9B2-96AE-83B92B3BA484}" v="4404" dt="2026-08-13T20:00:18.751"/>
    <p1510:client id="{BF69C230-18A7-EAE8-0A51-28419CC595B5}" v="576" dt="2026-08-13T18:03:35.862"/>
    <p1510:client id="{E59587EE-3263-6923-8ADE-D4C835675346}" v="835" dt="2026-08-12T21:00:56.250"/>
    <p1510:client id="{ECFCE5AE-6251-FF25-AD6E-6223E4E2569E}" v="78" dt="2026-08-13T19:09:52.056"/>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theme" Target="theme/theme1.xml"/><Relationship Id="rId50"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36" Type="http://schemas.openxmlformats.org/officeDocument/2006/relationships/font" Target="fonts/font8.fntdata"/><Relationship Id="rId49"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9912044C-DD86-4EEC-B856-A6998F6B4256}" authorId="{4FB9D2F5-E275-8295-0520-7EF5F7DC6A9A}" created="2026-08-13T14:28:46.973">
    <ac:txMkLst xmlns:ac="http://schemas.microsoft.com/office/drawing/2013/main/command">
      <pc:docMk xmlns:pc="http://schemas.microsoft.com/office/powerpoint/2013/main/command"/>
      <pc:sldMk xmlns:pc="http://schemas.microsoft.com/office/powerpoint/2013/main/command" cId="0" sldId="256"/>
      <ac:spMk id="2" creationId="{00000000-0000-0000-0000-000000000000}"/>
      <ac:txMk cp="21" len="1">
        <ac:context len="129" hash="3971314365"/>
      </ac:txMk>
    </ac:txMkLst>
    <p188:pos x="11587975" y="-18585"/>
    <p188:txBody>
      <a:bodyPr/>
      <a:lstStyle/>
      <a:p>
        <a:r>
          <a:rPr lang="en-US"/>
          <a:t>speaker notes done</a:t>
        </a:r>
      </a:p>
    </p188:txBody>
  </p188:cm>
</p188:cmLst>
</file>

<file path=ppt/comments/modernComment_104_0.xml><?xml version="1.0" encoding="utf-8"?>
<p188:cmLst xmlns:a="http://schemas.openxmlformats.org/drawingml/2006/main" xmlns:r="http://schemas.openxmlformats.org/officeDocument/2006/relationships" xmlns:p188="http://schemas.microsoft.com/office/powerpoint/2018/8/main">
  <p188:cm id="{4320EAD5-57C7-4FE9-BF1D-EF51B40745C3}" authorId="{4FB9D2F5-E275-8295-0520-7EF5F7DC6A9A}" created="2026-08-13T14:26:10.935">
    <ac:deMkLst xmlns:ac="http://schemas.microsoft.com/office/drawing/2013/main/command">
      <pc:docMk xmlns:pc="http://schemas.microsoft.com/office/powerpoint/2013/main/command"/>
      <pc:sldMk xmlns:pc="http://schemas.microsoft.com/office/powerpoint/2013/main/command" cId="0" sldId="260"/>
      <ac:spMk id="2" creationId="{00000000-0000-0000-0000-000000000000}"/>
    </ac:deMkLst>
    <p188:txBody>
      <a:bodyPr/>
      <a:lstStyle/>
      <a:p>
        <a:r>
          <a:rPr lang="en-US"/>
          <a:t>speaker notes done</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Ariana, Maryam, and I are Team AMO, and today we'll show how adverse weather affects taxi demand across New York City.</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To answer our business question, we'll start by diving deeper into the business question and.</a:t>
            </a:r>
          </a:p>
          <a:p>
            <a:endParaRPr lang="en-US"/>
          </a:p>
          <a:p>
            <a:r>
              <a:rPr lang="en-US"/>
              <a:t>Then we'll walk through the data, architecture, and data quality work that supported our analysis. </a:t>
            </a:r>
          </a:p>
          <a:p>
            <a:endParaRPr lang="en-US"/>
          </a:p>
          <a:p>
            <a:r>
              <a:rPr lang="en-US"/>
              <a:t>Finally, we'll share our year-over-year results and close with recommendations for future improvements.</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Let’s start with the business question at the center of our analysis and the key finding that reveals where taxi operators can make the greatest impact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Starting with the business problem we set out to solve.</a:t>
            </a:r>
          </a:p>
          <a:p>
            <a:endParaRPr lang="en-US"/>
          </a:p>
          <a:p>
            <a:r>
              <a:rPr lang="en-US"/>
              <a:t>Weather affects people's daily routines, but it's not always clear how much of an impact it has on transportation demand or whether that impact changes over time. Our goal was to better understand that relationship and determine if adverse weather influences taxi demand differently across New York City's boroughs.</a:t>
            </a:r>
          </a:p>
          <a:p>
            <a:endParaRPr lang="en-US"/>
          </a:p>
          <a:p>
            <a:r>
              <a:rPr lang="en-US"/>
              <a:t>This question matters because understanding how demand shifts during poor weather can help support better planning and decision-making. Whether it's allocating resources, preparing for demand changes, or understanding transportation patterns across the city, weather can be an important factor.</a:t>
            </a:r>
          </a:p>
          <a:p>
            <a:endParaRPr lang="en-US"/>
          </a:p>
          <a:p>
            <a:r>
              <a:rPr lang="en-US"/>
              <a:t>For this analysis, we focused on adverse weather conditions such as rain and snow. We then compared patterns across 2025 and 2026 to see whether the relationship between weather and demand remained consistent or changed over time.</a:t>
            </a:r>
          </a:p>
          <a:p>
            <a:endParaRPr lang="en-US"/>
          </a:p>
          <a:p>
            <a:r>
              <a:rPr lang="en-US"/>
              <a:t>With our business question established, let's look at the data we used to answer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US">
                <a:solidFill>
                  <a:srgbClr val="555555"/>
                </a:solidFill>
              </a:rPr>
              <a:t>We'll start with the biggest insight from our analysis. </a:t>
            </a:r>
            <a:endParaRPr lang="en-US">
              <a:solidFill>
                <a:srgbClr val="000000"/>
              </a:solidFill>
            </a:endParaRPr>
          </a:p>
          <a:p>
            <a:pPr algn="ctr"/>
            <a:endParaRPr lang="en-US">
              <a:solidFill>
                <a:srgbClr val="555555"/>
              </a:solidFill>
            </a:endParaRPr>
          </a:p>
          <a:p>
            <a:pPr algn="ctr"/>
            <a:r>
              <a:rPr lang="en-US">
                <a:solidFill>
                  <a:srgbClr val="555555"/>
                </a:solidFill>
              </a:rPr>
              <a:t>We found that the timing of a storm matters just as much as the storm itself. </a:t>
            </a:r>
            <a:endParaRPr lang="en-US">
              <a:solidFill>
                <a:srgbClr val="000000"/>
              </a:solidFill>
            </a:endParaRPr>
          </a:p>
          <a:p>
            <a:pPr algn="ctr"/>
            <a:endParaRPr lang="en-US">
              <a:solidFill>
                <a:srgbClr val="555555"/>
              </a:solidFill>
            </a:endParaRPr>
          </a:p>
          <a:p>
            <a:pPr algn="ctr"/>
            <a:r>
              <a:rPr lang="en-US">
                <a:solidFill>
                  <a:srgbClr val="555555"/>
                </a:solidFill>
              </a:rPr>
              <a:t>A single hour of bad weather during rush hour can have a greater business impact than several hours of adverse weather during off-peak times. </a:t>
            </a:r>
            <a:endParaRPr lang="en-US">
              <a:solidFill>
                <a:srgbClr val="000000"/>
              </a:solidFill>
            </a:endParaRPr>
          </a:p>
          <a:p>
            <a:pPr algn="ctr"/>
            <a:endParaRPr lang="en-US">
              <a:solidFill>
                <a:srgbClr val="555555"/>
              </a:solidFill>
            </a:endParaRPr>
          </a:p>
          <a:p>
            <a:pPr algn="ctr"/>
            <a:r>
              <a:rPr lang="en-US">
                <a:solidFill>
                  <a:srgbClr val="555555"/>
                </a:solidFill>
              </a:rPr>
              <a:t>For taxi operators, that means planning around when disruptions occur, not just predicting the weather.</a:t>
            </a:r>
            <a:endParaRPr lang="en-US"/>
          </a:p>
          <a:p>
            <a:pPr algn="ctr"/>
            <a:endParaRPr lang="en-US">
              <a:solidFill>
                <a:srgbClr val="555555"/>
              </a:solidFill>
            </a:endParaRPr>
          </a:p>
          <a:p>
            <a:pPr algn="ctr"/>
            <a:endParaRPr lang="en-US">
              <a:solidFill>
                <a:srgbClr val="555555"/>
              </a:solidFill>
            </a:endParaRPr>
          </a:p>
          <a:p>
            <a:pPr algn="ctr"/>
            <a:endParaRPr lang="en-US" i="1">
              <a:solidFill>
                <a:srgbClr val="555555"/>
              </a:solidFill>
              <a:latin typeface="Aptos"/>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I'm going to pass it on to Ariana to go through our data and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Before we get into the platform we built, I want to briefly explain the data behind our analysis.</a:t>
            </a:r>
          </a:p>
          <a:p>
            <a:endParaRPr lang="en-US" b="1"/>
          </a:p>
          <a:p>
            <a:r>
              <a:rPr lang="en-US"/>
              <a:t>Our primary dataset consists of New York City taxi trips, where each record represents a single ride from pickup to dropoff. For each trip, we have details such as the timestamp, trip distance, fare amount, and pickup and dropoff locations.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One challenge was that the trip data only contained numeric location IDs rather than borough or neighborhood names. To make the data more meaningful, we used New York City's taxi zone lookup table to map those IDs to </a:t>
            </a:r>
            <a:r>
              <a:rPr lang="en-US" b="1"/>
              <a:t>265 taxi zones</a:t>
            </a:r>
            <a:r>
              <a:rPr lang="en-US"/>
              <a:t> across the city.</a:t>
            </a:r>
          </a:p>
          <a:p>
            <a:endParaRPr lang="en-US"/>
          </a:p>
          <a:p>
            <a:r>
              <a:rPr lang="en-US"/>
              <a:t>To add context, we also incorporated hourly weather data for the same period, including measures such as precipitation, temperature, wind speed, and weather conditions. This allowed us to connect weather patterns directly to taxi activity.</a:t>
            </a:r>
          </a:p>
          <a:p>
            <a:endParaRPr lang="en-US"/>
          </a:p>
          <a:p>
            <a:r>
              <a:rPr lang="en-US"/>
              <a:t>Before any analysis could begin, we had to clean and standardize the data. The Yellow and Green Taxi datasets used different schemas, naming conventions, and formats, so we transformed them into a consistent structure that could be analyzed together. We will go more in detail on data cleaning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from raw taxi and weather sources to the dashboards and analytics used by business teams.</a:t>
            </a:r>
          </a:p>
          <a:p>
            <a:endParaRPr lang="en-US"/>
          </a:p>
          <a:p>
            <a:r>
              <a:rPr lang="en-US"/>
              <a:t>On the left are our source datasets, including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move forward,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a:t>
            </a:r>
            <a:r>
              <a:rPr lang="en-US" b="1" err="1"/>
              <a:t>Snowpipe</a:t>
            </a:r>
            <a:r>
              <a:rPr lang="en-US" b="1"/>
              <a:t> </a:t>
            </a:r>
            <a:r>
              <a:rPr lang="en-US"/>
              <a:t>can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When designing our solution, we focused on three priorities: </a:t>
            </a:r>
            <a:r>
              <a:rPr lang="en-US" b="1"/>
              <a:t>speed, trust, and simplicity</a:t>
            </a:r>
            <a:r>
              <a:rPr lang="en-US"/>
              <a:t>.</a:t>
            </a:r>
          </a:p>
          <a:p>
            <a:endParaRPr lang="en-US"/>
          </a:p>
          <a:p>
            <a:r>
              <a:rPr lang="en-US"/>
              <a:t>To achieve that, we selected </a:t>
            </a:r>
            <a:r>
              <a:rPr lang="en-US" b="1"/>
              <a:t>Snowflake</a:t>
            </a:r>
            <a:r>
              <a:rPr lang="en-US"/>
              <a:t> as our cloud data platform and </a:t>
            </a:r>
            <a:r>
              <a:rPr lang="en-US" b="1" err="1"/>
              <a:t>dbt</a:t>
            </a:r>
            <a:r>
              <a:rPr lang="en-US"/>
              <a:t> to manage transformations. </a:t>
            </a:r>
          </a:p>
          <a:p>
            <a:endParaRPr lang="en-US"/>
          </a:p>
          <a:p>
            <a:r>
              <a:rPr lang="en-US"/>
              <a:t>Together, they allowed us to turn nearly </a:t>
            </a:r>
            <a:r>
              <a:rPr lang="en-US" b="1"/>
              <a:t>39 million taxi trips</a:t>
            </a:r>
            <a:r>
              <a:rPr lang="en-US"/>
              <a:t> into a scalable and reliable analytics pipeline.</a:t>
            </a:r>
          </a:p>
          <a:p>
            <a:endParaRPr lang="en-US"/>
          </a:p>
          <a:p>
            <a:r>
              <a:rPr lang="en-US"/>
              <a:t>To improve performance, we stored transformed data in tables rather than recalculating millions of records every time a dashboard is opened. </a:t>
            </a:r>
          </a:p>
          <a:p>
            <a:endParaRPr lang="en-US"/>
          </a:p>
          <a:p>
            <a:r>
              <a:rPr lang="en-US"/>
              <a:t>This allows users to access insights much more quickly.</a:t>
            </a:r>
          </a:p>
          <a:p>
            <a:endParaRPr lang="en-US"/>
          </a:p>
          <a:p>
            <a:r>
              <a:rPr lang="en-US"/>
              <a:t>We also built data quality checks directly into the pipeline. Invalid records are flagged and excluded from reporting datasets, ensuring that dashboards and analysis are based on trusted data.</a:t>
            </a:r>
          </a:p>
          <a:p>
            <a:endParaRPr lang="en-US"/>
          </a:p>
          <a:p>
            <a:r>
              <a:rPr lang="en-US"/>
              <a:t>To support our weather analysis, we matched weather observations to taxi trips at the hourly level. This allowed us to accurately measure how weather conditions relate to trip demand and revenue patterns.</a:t>
            </a:r>
          </a:p>
          <a:p>
            <a:endParaRPr lang="en-US"/>
          </a:p>
          <a:p>
            <a:r>
              <a:rPr lang="en-US"/>
              <a:t>Finally, we automated the entire workflow through a single process. This reduces manual effort, improves consistency, and makes the pipeline easier to maintain as new data becomes available.</a:t>
            </a:r>
          </a:p>
          <a:p>
            <a:endParaRPr lang="en-US"/>
          </a:p>
          <a:p>
            <a:r>
              <a:rPr lang="en-US"/>
              <a:t>Overall, these design decisions gave us a solution that can efficiently process millions of records while remaining reliable, scalable, and easy to operate.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Because of that, we couldn't reliably determine whether a trip was impacted by construction, so we decided not to include it.</a:t>
            </a:r>
          </a:p>
          <a:p>
            <a:endParaRPr lang="en-US"/>
          </a:p>
          <a:p>
            <a:r>
              <a:rPr lang="en-US"/>
              <a:t>We also experimented with AWS Glue and </a:t>
            </a:r>
            <a:r>
              <a:rPr lang="en-US" err="1"/>
              <a:t>PySpark</a:t>
            </a:r>
            <a:r>
              <a:rPr lang="en-US"/>
              <a:t> as part of our pipeline. While the solution worked, AWS Glue made debugging difficult, as identifying errors often required digging through CloudWatch logs and troubleshooting multiple services. 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I'm going to pass it off to Maryam to go over data quality and some of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As we began working with the taxi data, one of our first priorities was understanding its quality and determining whether any issues could affect our analysis.</a:t>
            </a:r>
          </a:p>
          <a:p>
            <a:endParaRPr lang="en-US"/>
          </a:p>
          <a:p>
            <a:r>
              <a:rPr lang="en-US"/>
              <a:t>The good news is that the pipeline successfully loaded all 39.2 million records from the source files into both our Bronze and Silver layers. However, we discovered several data quality issues within the dataset.</a:t>
            </a:r>
          </a:p>
          <a:p>
            <a:endParaRPr lang="en-US"/>
          </a:p>
          <a:p>
            <a:r>
              <a:rPr lang="en-US"/>
              <a:t>Some records contained invalid timestamps, negative fares, unrealistic trip distances, or drop-off times that occurred before pickup times. These were clear data quality issues, so those records were flagged as invalid.</a:t>
            </a:r>
          </a:p>
          <a:p>
            <a:endParaRPr lang="en-US"/>
          </a:p>
          <a:p>
            <a:r>
              <a:rPr lang="en-US"/>
              <a:t>We also found two issues that were much more common: missing or zero passenger counts and a payment type value of zero. Together, these accounted for nearly a quarter of the dataset each. Since these values were not necessarily incorrect, we chose to retain them as warnings rather than discard them.</a:t>
            </a:r>
          </a:p>
          <a:p>
            <a:endParaRPr lang="en-US"/>
          </a:p>
          <a:p>
            <a:r>
              <a:rPr lang="en-US"/>
              <a:t>Rather than immediately deleting questionable records, we adopted a </a:t>
            </a:r>
            <a:r>
              <a:rPr lang="en-US" b="1"/>
              <a:t>"flag, don't delete"</a:t>
            </a:r>
            <a:r>
              <a:rPr lang="en-US"/>
              <a:t> approach. Every trip was assigned an </a:t>
            </a:r>
            <a:r>
              <a:rPr lang="en-US" b="1" err="1"/>
              <a:t>is_valid</a:t>
            </a:r>
            <a:r>
              <a:rPr lang="en-US"/>
              <a:t> flag and, when applicable, a </a:t>
            </a:r>
            <a:r>
              <a:rPr lang="en-US" b="1" err="1"/>
              <a:t>dq_flag_reason</a:t>
            </a:r>
            <a:r>
              <a:rPr lang="en-US"/>
              <a:t> explaining why it failed a quality check.</a:t>
            </a:r>
          </a:p>
          <a:p>
            <a:endParaRPr lang="en-US"/>
          </a:p>
          <a:p>
            <a:r>
              <a:rPr lang="en-US"/>
              <a:t>This approach gave us two benefits. First, our final reporting layer only contains validated records, which helps ensure trustworthy results. Second, we preserved the original records so future teams could analyze data quality trends and investigate source-system issues if needed.</a:t>
            </a:r>
          </a:p>
          <a:p>
            <a:endParaRPr lang="en-US"/>
          </a:p>
          <a:p>
            <a:r>
              <a:rPr lang="en-US"/>
              <a:t>We also uncovered an important business consideration around tipping. In the source data, cash tips are not recorded and instead appear as zero-dollar tips. If we included those transactions, tip-related analysis would be misleading. To avoid that issue, we limited all tip analysis to credit card transactions only.</a:t>
            </a:r>
          </a:p>
          <a:p>
            <a:endParaRPr lang="en-US"/>
          </a:p>
          <a:p>
            <a:r>
              <a:rPr lang="en-US"/>
              <a:t>In total, about </a:t>
            </a:r>
            <a:r>
              <a:rPr lang="en-US" b="1"/>
              <a:t>1.17 million trips</a:t>
            </a:r>
            <a:r>
              <a:rPr lang="en-US"/>
              <a:t>, or roughly </a:t>
            </a:r>
            <a:r>
              <a:rPr lang="en-US" b="1"/>
              <a:t>3% of the dataset</a:t>
            </a:r>
            <a:r>
              <a:rPr lang="en-US"/>
              <a:t>, were flagged as invalid, leaving us with more than </a:t>
            </a:r>
            <a:r>
              <a:rPr lang="en-US" b="1"/>
              <a:t>38 million validated trips</a:t>
            </a:r>
            <a:r>
              <a:rPr lang="en-US"/>
              <a:t> for our analysis.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clean, validated data in hand,</a:t>
            </a:r>
            <a:r>
              <a:rPr lang="en-US"/>
              <a:t> we will now walk through our findings. </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I focused on </a:t>
            </a:r>
            <a:r>
              <a:rPr lang="en-US" b="1"/>
              <a:t>how taxi activity was distributed across the five boroughs plus EWR, how that distribution differed during adverse weather, and how those patterns changed from 2025 to 2026.</a:t>
            </a:r>
            <a:endParaRPr lang="en-US"/>
          </a:p>
          <a:p>
            <a:r>
              <a:rPr lang="en-US"/>
              <a:t>One important note: these Tableau views show </a:t>
            </a:r>
            <a:r>
              <a:rPr lang="en-US" b="1"/>
              <a:t>relative geographic shifts in trip activity</a:t>
            </a:r>
            <a:r>
              <a:rPr lang="en-US"/>
              <a:t>, rather than claiming that weather directly caused a specific percentage increase or decrease in total demand.</a:t>
            </a:r>
          </a:p>
          <a:p>
            <a:pPr algn="ctr"/>
            <a:br>
              <a:rPr lang="en-US"/>
            </a:br>
            <a:endParaRPr lang="en-US"/>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stability hides some area-level differences. </a:t>
            </a:r>
            <a:r>
              <a:rPr lang="en-US" b="1"/>
              <a:t>Brooklyn grew about 40%, from 571,000 to 797,000 trips, and the Bronx grew about 41%, from 134,000 to 188,000.</a:t>
            </a:r>
            <a:r>
              <a:rPr lang="en-US"/>
              <a:t> Meanwhile, Manhattan remained by far the largest market but declined slightly, from </a:t>
            </a:r>
            <a:r>
              <a:rPr lang="en-US" b="1"/>
              <a:t>16.49 million to 16.36 million trips</a:t>
            </a:r>
            <a:r>
              <a:rPr lang="en-US"/>
              <a:t>.</a:t>
            </a:r>
          </a:p>
          <a:p>
            <a:r>
              <a:rPr lang="en-US"/>
              <a:t>This gives us the baseline: the overall market was stable, but the geographic mix was already changing.</a:t>
            </a:r>
          </a:p>
          <a:p>
            <a:r>
              <a:rPr lang="en-US" b="1"/>
              <a:t>Transition:</a:t>
            </a:r>
            <a:r>
              <a:rPr lang="en-US"/>
              <a:t> From there, I wanted to see whether that geographic mix also looked different during adverse weather.</a:t>
            </a:r>
          </a:p>
          <a:p>
            <a:pPr algn="ctr"/>
            <a:br>
              <a:rPr lang="en-US"/>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5% of an adverse-weather bar, that means </a:t>
            </a:r>
            <a:r>
              <a:rPr lang="en-US" b="1"/>
              <a:t>5% of all trips observed during that condition came from that area</a:t>
            </a:r>
            <a:r>
              <a:rPr lang="en-US"/>
              <a:t>.</a:t>
            </a:r>
          </a:p>
          <a:p>
            <a:r>
              <a:rPr lang="en-US"/>
              <a:t>I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br>
              <a:rPr lang="en-US"/>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a:t>
            </a:r>
            <a:r>
              <a:rPr lang="en-US"/>
              <a:t>.</a:t>
            </a:r>
          </a:p>
          <a:p>
            <a:r>
              <a:rPr lang="en-US"/>
              <a:t>Positive values mean the area represented a </a:t>
            </a:r>
            <a:r>
              <a:rPr lang="en-US" b="1"/>
              <a:t>larger share of taxi activity during adverse weather</a:t>
            </a:r>
            <a:r>
              <a:rPr lang="en-US"/>
              <a:t>; negative values mean a smaller share. These are </a:t>
            </a:r>
            <a:r>
              <a:rPr lang="en-US" b="1"/>
              <a:t>percentage-point changes</a:t>
            </a:r>
            <a:r>
              <a:rPr lang="en-US"/>
              <a:t>, not percentage changes in total demand.</a:t>
            </a:r>
          </a:p>
          <a:p>
            <a:r>
              <a:rPr lang="en-US"/>
              <a:t>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The annual values summarize the overall pattern, but the monthly view shows that these effects were not consistent throughout the year.</a:t>
            </a:r>
          </a:p>
          <a:p>
            <a:pPr algn="ctr"/>
            <a:br>
              <a:rPr lang="en-US"/>
            </a:br>
            <a:endParaRPr lang="en-US"/>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15</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After analyzing individual trends, we wanted to take a step back and see whether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Rather than reviewing hundreds of zones one at a time, clustering allowed us to identify a small number of meaningful groups with similar behavior.</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simplify a large and complex dataset into distinct groups that could support future business-decisions.</a:t>
            </a:r>
            <a:endParaRPr lang="en-US"/>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actually represents from a business perspective.</a:t>
            </a:r>
          </a:p>
          <a:p>
            <a:endParaRPr lang="en-US"/>
          </a:p>
          <a:p>
            <a:r>
              <a:rPr lang="en-US"/>
              <a:t>Starting with </a:t>
            </a:r>
            <a:r>
              <a:rPr lang="en-US" b="1"/>
              <a:t>Cluster 1</a:t>
            </a:r>
            <a:r>
              <a:rPr lang="en-US"/>
              <a:t>, these zones show high levels of both nighttime and weekend activity. This suggests these areas are more associated with leisure, entertainment, and social travel.</a:t>
            </a:r>
          </a:p>
          <a:p>
            <a:endParaRPr lang="en-US"/>
          </a:p>
          <a:p>
            <a:r>
              <a:rPr lang="en-US" b="1"/>
              <a:t>Cluster 2</a:t>
            </a:r>
            <a:r>
              <a:rPr lang="en-US"/>
              <a:t> looks similar, but has the highest share of nighttime trips and the lowest amount of rush-hour activity. This indicates demand that is less tied to traditional commuting patterns.</a:t>
            </a:r>
          </a:p>
          <a:p>
            <a:endParaRPr lang="en-US"/>
          </a:p>
          <a:p>
            <a:r>
              <a:rPr lang="en-US" b="1"/>
              <a:t>Cluster 3</a:t>
            </a:r>
            <a:r>
              <a:rPr lang="en-US"/>
              <a:t> stands out as the major demand center. It contains by far the highest trip volume in our dataset and also shows higher average fares and trip distances. These are likely the busiest zones where the majority of taxi activity takes place.</a:t>
            </a:r>
          </a:p>
          <a:p>
            <a:endParaRPr lang="en-US"/>
          </a:p>
          <a:p>
            <a:r>
              <a:rPr lang="en-US" b="1"/>
              <a:t>Cluster 4</a:t>
            </a:r>
            <a:r>
              <a:rPr lang="en-US"/>
              <a:t> appears to be more commuter-focused. It has the highest percentage of rush-hour trips and longer average trip distances, suggesting travel patterns related to workday commuting.</a:t>
            </a:r>
          </a:p>
          <a:p>
            <a:endParaRPr lang="en-US"/>
          </a:p>
          <a:p>
            <a:r>
              <a:rPr lang="en-US"/>
              <a:t>While it's not shown here, we found that adverse weather exposure was very similar across all four clusters. While we expected weather to be a stronger differentiator, the results showed that factors such as trip volume, trip timing, fare amount, and trip distance were much more influential in defining the clusters.</a:t>
            </a:r>
          </a:p>
          <a:p>
            <a:endParaRPr lang="en-US"/>
          </a:p>
          <a:p>
            <a:r>
              <a:rPr lang="en-US"/>
              <a:t>From a business perspective, this is valuable because it allows organizations to stop treating all taxi zones the same. Instead, they can tailor strategies based on the characteristics of each cluster. For example, high-demand zones may benefit from increased driver availability, while commuter-focused zones may require additional coverage during peak rush-hour periods.</a:t>
            </a:r>
          </a:p>
          <a:p>
            <a:endParaRPr lang="en-US"/>
          </a:p>
          <a:p>
            <a:endParaRPr/>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endParaRPr lang="en-US"/>
          </a:p>
          <a:p>
            <a:r>
              <a:rPr lang="en-US"/>
              <a:t>WHOS DOING THIS?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DDE34-E701-E70E-4F1D-CB8B279AA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E4C7B1-9760-17CB-9440-FFDF47802E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D70662E-0092-87E1-2751-AA3CB519AD3F}"/>
              </a:ext>
            </a:extLst>
          </p:cNvPr>
          <p:cNvSpPr>
            <a:spLocks noGrp="1"/>
          </p:cNvSpPr>
          <p:nvPr>
            <p:ph type="body" sz="quarter" idx="3"/>
          </p:nvPr>
        </p:nvSpPr>
        <p:spPr/>
        <p:txBody>
          <a:bodyPr/>
          <a:lstStyle/>
          <a:p>
            <a:r>
              <a:rPr lang="en-US"/>
              <a:t>ADD NOTES HERE</a:t>
            </a:r>
          </a:p>
        </p:txBody>
      </p:sp>
      <p:sp>
        <p:nvSpPr>
          <p:cNvPr id="4" name="Slide Number Placeholder 3">
            <a:extLst>
              <a:ext uri="{FF2B5EF4-FFF2-40B4-BE49-F238E27FC236}">
                <a16:creationId xmlns:a16="http://schemas.microsoft.com/office/drawing/2014/main" id="{D836F7B3-5753-88CA-A3CD-C12AF72ED629}"/>
              </a:ext>
            </a:extLst>
          </p:cNvPr>
          <p:cNvSpPr>
            <a:spLocks noGrp="1"/>
          </p:cNvSpPr>
          <p:nvPr>
            <p:ph type="sldNum" sz="quarter" idx="5"/>
          </p:nvPr>
        </p:nvSpPr>
        <p:spPr/>
      </p:sp>
    </p:spTree>
    <p:extLst>
      <p:ext uri="{BB962C8B-B14F-4D97-AF65-F5344CB8AC3E}">
        <p14:creationId xmlns:p14="http://schemas.microsoft.com/office/powerpoint/2010/main" val="1105981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the solution is </a:t>
            </a:r>
            <a:r>
              <a:rPr lang="en-US" b="1"/>
              <a:t>scalable</a:t>
            </a:r>
            <a:r>
              <a:rPr lang="en-US"/>
              <a:t> and 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summarize: adverse weather measurably changes taxi demand, and that impact varies by borough and has shifted year over year. Our pipeline is reproducible, tested, and ready for production use.</a:t>
            </a:r>
            <a:br/>
            <a:br/>
            <a:r>
              <a:t>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14,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14,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14,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14,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14,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14,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14,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14,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14,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4_0.xml"/><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0.xml"/><Relationship Id="rId2" Type="http://schemas.openxmlformats.org/officeDocument/2006/relationships/notesSlide" Target="../notesSlides/notesSlide8.xml"/><Relationship Id="rId1" Type="http://schemas.openxmlformats.org/officeDocument/2006/relationships/slideLayout" Target="../slideLayouts/slideLayout1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microsoft.com/office/2018/10/relationships/comments" Target="../comments/modernComment_108_0.xml"/><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18_0.xml"/><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0A_0.xml"/><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hyperlink" Target="https://public.tableau.com/app/profile/maryam.c3730/viz/amd_gold_vizs/PickupAreaDistributionofTripsbyWeather"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s://nyc-taxi-capstone.streamlit.app/"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2051815"/>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do those patterns change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pic>
        <p:nvPicPr>
          <p:cNvPr id="5" name="Picture 4">
            <a:extLst>
              <a:ext uri="{FF2B5EF4-FFF2-40B4-BE49-F238E27FC236}">
                <a16:creationId xmlns:a16="http://schemas.microsoft.com/office/drawing/2014/main" id="{77CD915C-1B5B-C835-82B5-54F2CDC1C757}"/>
              </a:ext>
            </a:extLst>
          </p:cNvPr>
          <p:cNvPicPr>
            <a:picLocks noChangeAspect="1"/>
          </p:cNvPicPr>
          <p:nvPr/>
        </p:nvPicPr>
        <p:blipFill>
          <a:blip r:embed="rId4"/>
          <a:stretch>
            <a:fillRect/>
          </a:stretch>
        </p:blipFill>
        <p:spPr>
          <a:xfrm>
            <a:off x="9514024" y="4267200"/>
            <a:ext cx="2092960" cy="215392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9000000" cy="500000"/>
          </a:xfrm>
          <a:prstGeom prst="rect">
            <a:avLst/>
          </a:prstGeom>
          <a:noFill/>
        </p:spPr>
        <p:txBody>
          <a:bodyPr wrap="none">
            <a:spAutoFit/>
          </a:bodyPr>
          <a:lstStyle/>
          <a:p>
            <a:r>
              <a:rPr sz="1800" b="1">
                <a:solidFill>
                  <a:srgbClr val="2D2D2D"/>
                </a:solidFill>
              </a:rPr>
              <a:t>Data Quality</a:t>
            </a:r>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9000000" cy="500000"/>
          </a:xfrm>
          <a:prstGeom prst="rect">
            <a:avLst/>
          </a:prstGeom>
          <a:noFill/>
        </p:spPr>
        <p:txBody>
          <a:bodyPr wrap="none">
            <a:spAutoFit/>
          </a:bodyPr>
          <a:lstStyle/>
          <a:p>
            <a:r>
              <a:rPr sz="1800" b="1">
                <a:solidFill>
                  <a:srgbClr val="2D2D2D"/>
                </a:solidFill>
              </a:rPr>
              <a:t>Year-over-Year Analysis</a:t>
            </a:r>
          </a:p>
        </p:txBody>
      </p:sp>
      <p:sp>
        <p:nvSpPr>
          <p:cNvPr id="12" name="TextBox 11"/>
          <p:cNvSpPr txBox="1"/>
          <p:nvPr/>
        </p:nvSpPr>
        <p:spPr>
          <a:xfrm>
            <a:off x="1010207" y="5020414"/>
            <a:ext cx="600000" cy="700000"/>
          </a:xfrm>
          <a:prstGeom prst="rect">
            <a:avLst/>
          </a:prstGeom>
          <a:noFill/>
        </p:spPr>
        <p:txBody>
          <a:bodyPr wrap="none">
            <a:spAutoFit/>
          </a:bodyPr>
          <a:lstStyle/>
          <a:p>
            <a:r>
              <a:rPr sz="4800">
                <a:solidFill>
                  <a:srgbClr val="FE3082"/>
                </a:solidFill>
              </a:rPr>
              <a:t>5</a:t>
            </a:r>
          </a:p>
        </p:txBody>
      </p:sp>
      <p:sp>
        <p:nvSpPr>
          <p:cNvPr id="13" name="TextBox 12"/>
          <p:cNvSpPr txBox="1"/>
          <p:nvPr/>
        </p:nvSpPr>
        <p:spPr>
          <a:xfrm>
            <a:off x="1810207" y="5170414"/>
            <a:ext cx="4003019" cy="369332"/>
          </a:xfrm>
          <a:prstGeom prst="rect">
            <a:avLst/>
          </a:prstGeom>
          <a:noFill/>
        </p:spPr>
        <p:txBody>
          <a:bodyPr wrap="none" lIns="91440" tIns="45720" rIns="91440" bIns="45720" anchor="t">
            <a:spAutoFit/>
          </a:bodyPr>
          <a:lstStyle/>
          <a:p>
            <a:r>
              <a:rPr lang="en-US" b="1">
                <a:solidFill>
                  <a:srgbClr val="2D2D2D"/>
                </a:solidFill>
              </a:rPr>
              <a:t>Future State and Recommendations</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Hourly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t>Data Quality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Year-over-Year Finding</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12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2D2D2D"/>
                </a:solidFill>
              </a:rPr>
              <a:t>[STATE THE YEAR-OVER-YEAR FINDING HERE]</a:t>
            </a:r>
          </a:p>
          <a:p>
            <a:pPr algn="ctr"/>
            <a:r>
              <a:rPr sz="1300" i="1">
                <a:solidFill>
                  <a:srgbClr val="555555"/>
                </a:solidFill>
              </a:rPr>
              <a:t>e.g., During rain/snow events, outer-borough demand fell X% YoY while Manhattan held steady</a:t>
            </a:r>
          </a:p>
        </p:txBody>
      </p:sp>
      <p:sp>
        <p:nvSpPr>
          <p:cNvPr id="6" name="Rounded Rectangle 5"/>
          <p:cNvSpPr/>
          <p:nvPr/>
        </p:nvSpPr>
        <p:spPr>
          <a:xfrm>
            <a:off x="400000" y="2600000"/>
            <a:ext cx="54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0D47A1"/>
                </a:solidFill>
              </a:rPr>
              <a:t>Is the comparison fair?</a:t>
            </a:r>
          </a:p>
          <a:p>
            <a:r>
              <a:rPr sz="1200">
                <a:solidFill>
                  <a:srgbClr val="2D2D2D"/>
                </a:solidFill>
              </a:rPr>
              <a:t>Same months (Jan-May), same vehicle types, same DQ filters applied to both years. Weather conditions matched on same hourly granularity.</a:t>
            </a:r>
          </a:p>
        </p:txBody>
      </p:sp>
      <p:sp>
        <p:nvSpPr>
          <p:cNvPr id="7" name="Rounded Rectangle 6"/>
          <p:cNvSpPr/>
          <p:nvPr/>
        </p:nvSpPr>
        <p:spPr>
          <a:xfrm>
            <a:off x="6100000" y="2600000"/>
            <a:ext cx="5700000" cy="1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E7D32"/>
                </a:solidFill>
              </a:rPr>
              <a:t>Could a DQ issue explain it?</a:t>
            </a:r>
          </a:p>
          <a:p>
            <a:r>
              <a:rPr sz="1200">
                <a:solidFill>
                  <a:srgbClr val="2D2D2D"/>
                </a:solidFill>
              </a:rPr>
              <a:t>[What we checked and ruled out: e.g., invalid rows distributed evenly across both years, no systematic bias]</a:t>
            </a:r>
          </a:p>
        </p:txBody>
      </p:sp>
      <p:sp>
        <p:nvSpPr>
          <p:cNvPr id="8" name="Rounded Rectangle 7"/>
          <p:cNvSpPr/>
          <p:nvPr/>
        </p:nvSpPr>
        <p:spPr>
          <a:xfrm>
            <a:off x="400000" y="4300000"/>
            <a:ext cx="5400000" cy="1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Is it large enough to be real?</a:t>
            </a:r>
          </a:p>
          <a:p>
            <a:r>
              <a:rPr sz="1200">
                <a:solidFill>
                  <a:srgbClr val="2D2D2D"/>
                </a:solidFill>
              </a:rPr>
              <a:t>[Evidence the change is not noise, or honest confidence statement]</a:t>
            </a:r>
          </a:p>
        </p:txBody>
      </p:sp>
      <p:sp>
        <p:nvSpPr>
          <p:cNvPr id="9" name="Rounded Rectangle 8"/>
          <p:cNvSpPr/>
          <p:nvPr/>
        </p:nvSpPr>
        <p:spPr>
          <a:xfrm>
            <a:off x="6100000" y="4300000"/>
            <a:ext cx="57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0D47A1"/>
                </a:solidFill>
              </a:rPr>
              <a:t>So What?</a:t>
            </a:r>
          </a:p>
          <a:p>
            <a:r>
              <a:rPr sz="1200">
                <a:solidFill>
                  <a:srgbClr val="2D2D2D"/>
                </a:solidFill>
              </a:rPr>
              <a:t>[Business recommendation: e.g., stage more drivers in X borough during Y weather because Z]</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932996" y="6324728"/>
            <a:ext cx="2319867" cy="307777"/>
          </a:xfrm>
          <a:prstGeom prst="rect">
            <a:avLst/>
          </a:prstGeom>
          <a:noFill/>
        </p:spPr>
        <p:txBody>
          <a:bodyPr wrap="none" lIns="91440" tIns="45720" rIns="91440" bIns="45720" anchor="t">
            <a:spAutoFit/>
          </a:bodyPr>
          <a:lstStyle/>
          <a:p>
            <a:pPr algn="ctr">
              <a:spcBef>
                <a:spcPts val="1600"/>
              </a:spcBef>
            </a:pPr>
            <a:r>
              <a:rPr lang="en-US" sz="1400">
                <a:solidFill>
                  <a:srgbClr val="2D2D2D"/>
                </a:solidFill>
              </a:rPr>
              <a:t>WILL ADD TAKEAWAY HERE</a:t>
            </a:r>
            <a:endParaRPr lang="en-US"/>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hlinkClick r:id="rId3"/>
              </a:rPr>
              <a:t>Tableau</a:t>
            </a:r>
            <a:r>
              <a:rPr lang="en-US" sz="1600" b="1">
                <a:solidFill>
                  <a:srgbClr val="0D47A1"/>
                </a:solidFill>
              </a:rPr>
              <a:t> – Setting the Stage</a:t>
            </a:r>
            <a:endParaRPr lang="en-US"/>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Streamlit</a:t>
            </a:r>
            <a:r>
              <a:rPr lang="en-US" sz="1600" b="1">
                <a:solidFill>
                  <a:srgbClr val="2E7D32"/>
                </a:solidFill>
              </a:rPr>
              <a:t> – Analysis to Business Recommendations</a:t>
            </a: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4286187" y="1120124"/>
            <a:ext cx="3613490" cy="307777"/>
          </a:xfrm>
          <a:prstGeom prst="rect">
            <a:avLst/>
          </a:prstGeom>
          <a:noFill/>
        </p:spPr>
        <p:txBody>
          <a:bodyPr wrap="none" lIns="91440" tIns="45720" rIns="91440" bIns="45720" anchor="t">
            <a:spAutoFit/>
          </a:bodyPr>
          <a:lstStyle/>
          <a:p>
            <a:pPr algn="ctr">
              <a:spcBef>
                <a:spcPts val="1600"/>
              </a:spcBef>
            </a:pPr>
            <a:r>
              <a:rPr lang="en-US" sz="1400">
                <a:solidFill>
                  <a:srgbClr val="2D2D2D"/>
                </a:solidFill>
              </a:rPr>
              <a:t>WILL REITERATE BUSINESS QUESTION HERE</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Big Query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a:t>Big Query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7">
            <a:extLst>
              <a:ext uri="{FF2B5EF4-FFF2-40B4-BE49-F238E27FC236}">
                <a16:creationId xmlns:a16="http://schemas.microsoft.com/office/drawing/2014/main" id="{78FB42D1-F6DB-556B-273C-780E52311385}"/>
              </a:ext>
            </a:extLst>
          </p:cNvPr>
          <p:cNvSpPr/>
          <p:nvPr/>
        </p:nvSpPr>
        <p:spPr>
          <a:xfrm>
            <a:off x="7397390" y="1033411"/>
            <a:ext cx="4681390" cy="5610417"/>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endParaRPr lang="en-US" sz="900">
              <a:solidFill>
                <a:srgbClr val="8B0138"/>
              </a:solidFill>
              <a:latin typeface="Trust Hartford Sans"/>
              <a:cs typeface="Segoe UI"/>
            </a:endParaRPr>
          </a:p>
          <a:p>
            <a:pPr algn="ctr">
              <a:lnSpc>
                <a:spcPct val="150000"/>
              </a:lnSpc>
            </a:pPr>
            <a:r>
              <a:rPr lang="en-US" sz="900" b="1">
                <a:solidFill>
                  <a:srgbClr val="8B0138"/>
                </a:solidFill>
                <a:latin typeface="Trust Hartford Sans"/>
                <a:cs typeface="Segoe UI"/>
              </a:rPr>
              <a:t>Cluster 1: Nightlife &amp; Weekend Zones</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High night and weekend activity</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Moderate trip volume</a:t>
            </a:r>
            <a:endParaRPr lang="en-US" sz="900">
              <a:solidFill>
                <a:srgbClr val="8B0138"/>
              </a:solidFill>
              <a:latin typeface="Trust Hartford Sans"/>
            </a:endParaRPr>
          </a:p>
          <a:p>
            <a:pPr algn="ctr">
              <a:lnSpc>
                <a:spcPct val="150000"/>
              </a:lnSpc>
            </a:pPr>
            <a:r>
              <a:rPr lang="en-US" sz="900" b="1">
                <a:solidFill>
                  <a:srgbClr val="8B0138"/>
                </a:solidFill>
                <a:latin typeface="Trust Hartford Sans"/>
                <a:cs typeface="Segoe UI"/>
              </a:rPr>
              <a:t>Cluster 2: Strongest Nighttime Demand</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Highest share of night trips</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Lowest rush-hour activity</a:t>
            </a:r>
            <a:endParaRPr lang="en-US" sz="900">
              <a:solidFill>
                <a:srgbClr val="8B0138"/>
              </a:solidFill>
              <a:latin typeface="Trust Hartford Sans"/>
            </a:endParaRPr>
          </a:p>
          <a:p>
            <a:pPr algn="ctr">
              <a:lnSpc>
                <a:spcPct val="150000"/>
              </a:lnSpc>
            </a:pPr>
            <a:r>
              <a:rPr lang="en-US" sz="900" b="1">
                <a:solidFill>
                  <a:srgbClr val="8B0138"/>
                </a:solidFill>
                <a:latin typeface="Trust Hartford Sans"/>
                <a:cs typeface="Segoe UI"/>
              </a:rPr>
              <a:t>Cluster 3: High-Demand Core Zones</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Highest overall trip volume</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Higher fares and longer trips</a:t>
            </a:r>
            <a:endParaRPr lang="en-US" sz="900">
              <a:solidFill>
                <a:srgbClr val="8B0138"/>
              </a:solidFill>
              <a:latin typeface="Trust Hartford Sans"/>
            </a:endParaRPr>
          </a:p>
          <a:p>
            <a:pPr algn="ctr">
              <a:lnSpc>
                <a:spcPct val="150000"/>
              </a:lnSpc>
            </a:pPr>
            <a:r>
              <a:rPr lang="en-US" sz="900" b="1">
                <a:solidFill>
                  <a:srgbClr val="8B0138"/>
                </a:solidFill>
                <a:latin typeface="Trust Hartford Sans"/>
                <a:cs typeface="Segoe UI"/>
              </a:rPr>
              <a:t>Cluster 4: Commuter-Oriented Zones</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Highest rush-hour activity</a:t>
            </a:r>
            <a:endParaRPr lang="en-US" sz="900">
              <a:solidFill>
                <a:srgbClr val="8B0138"/>
              </a:solidFill>
              <a:latin typeface="Trust Hartford Sans"/>
            </a:endParaRPr>
          </a:p>
          <a:p>
            <a:pPr marL="285750" indent="-285750" algn="ctr">
              <a:lnSpc>
                <a:spcPct val="150000"/>
              </a:lnSpc>
              <a:buFont typeface="Arial"/>
              <a:buChar char="•"/>
            </a:pPr>
            <a:r>
              <a:rPr lang="en-US" sz="900">
                <a:solidFill>
                  <a:srgbClr val="8B0138"/>
                </a:solidFill>
                <a:latin typeface="Trust Hartford Sans"/>
                <a:cs typeface="Segoe UI"/>
              </a:rPr>
              <a:t>Longer-distance, lower-volume trip</a:t>
            </a:r>
            <a:endParaRPr lang="en-US" sz="900">
              <a:solidFill>
                <a:srgbClr val="8B0138"/>
              </a:solidFill>
              <a:latin typeface="Trust Hartford Sans"/>
            </a:endParaRPr>
          </a:p>
          <a:p>
            <a:pPr algn="ctr">
              <a:lnSpc>
                <a:spcPct val="150000"/>
              </a:lnSpc>
            </a:pPr>
            <a:endParaRPr lang="en-US" sz="900">
              <a:solidFill>
                <a:srgbClr val="8B0138"/>
              </a:solidFill>
            </a:endParaRPr>
          </a:p>
          <a:p>
            <a:pPr algn="ctr">
              <a:lnSpc>
                <a:spcPct val="150000"/>
              </a:lnSpc>
            </a:pPr>
            <a:r>
              <a:rPr lang="en-US" sz="900" b="1">
                <a:solidFill>
                  <a:srgbClr val="8B0138"/>
                </a:solidFill>
                <a:latin typeface="Segoe UI"/>
                <a:cs typeface="Segoe UI"/>
              </a:rPr>
              <a:t>Weather had minimal impact on cluster formation.</a:t>
            </a:r>
            <a:endParaRPr lang="en-US" sz="900">
              <a:solidFill>
                <a:srgbClr val="8B0138"/>
              </a:solidFill>
            </a:endParaRPr>
          </a:p>
          <a:p>
            <a:pPr marL="285750" indent="-285750" algn="ctr">
              <a:lnSpc>
                <a:spcPct val="150000"/>
              </a:lnSpc>
              <a:buFont typeface="Arial"/>
              <a:buChar char="•"/>
            </a:pPr>
            <a:r>
              <a:rPr lang="en-US" sz="900">
                <a:solidFill>
                  <a:srgbClr val="8B0138"/>
                </a:solidFill>
                <a:latin typeface="Segoe UI"/>
                <a:cs typeface="Segoe UI"/>
              </a:rPr>
              <a:t>Adverse weather exposure was similar across all four clusters (roughly 5-6%).</a:t>
            </a:r>
            <a:endParaRPr lang="en-US" sz="900">
              <a:solidFill>
                <a:srgbClr val="8B0138"/>
              </a:solidFill>
            </a:endParaRPr>
          </a:p>
          <a:p>
            <a:pPr algn="ctr">
              <a:lnSpc>
                <a:spcPct val="150000"/>
              </a:lnSpc>
            </a:pPr>
            <a:endParaRPr lang="en-US" sz="900">
              <a:solidFill>
                <a:srgbClr val="8B0138"/>
              </a:solidFill>
              <a:latin typeface="Segoe UI"/>
              <a:cs typeface="Segoe UI"/>
            </a:endParaRPr>
          </a:p>
          <a:p>
            <a:pPr algn="ctr">
              <a:lnSpc>
                <a:spcPct val="150000"/>
              </a:lnSpc>
            </a:pPr>
            <a:r>
              <a:rPr lang="en-US" sz="900" b="1">
                <a:solidFill>
                  <a:srgbClr val="8B0138"/>
                </a:solidFill>
              </a:rPr>
              <a:t>Business Value of Clustering</a:t>
            </a:r>
            <a:endParaRPr lang="en-US" sz="900">
              <a:solidFill>
                <a:srgbClr val="8B0138"/>
              </a:solidFill>
            </a:endParaRPr>
          </a:p>
          <a:p>
            <a:pPr marL="285750" indent="-285750" algn="ctr">
              <a:lnSpc>
                <a:spcPct val="150000"/>
              </a:lnSpc>
              <a:buFont typeface="Arial"/>
              <a:buChar char="•"/>
            </a:pPr>
            <a:r>
              <a:rPr lang="en-US" sz="900" b="1">
                <a:solidFill>
                  <a:srgbClr val="8B0138"/>
                </a:solidFill>
                <a:latin typeface="Segoe UI"/>
                <a:cs typeface="Segoe UI"/>
              </a:rPr>
              <a:t>Target operations by zone type:</a:t>
            </a:r>
            <a:r>
              <a:rPr lang="en-US" sz="900">
                <a:solidFill>
                  <a:srgbClr val="8B0138"/>
                </a:solidFill>
                <a:latin typeface="Segoe UI"/>
                <a:cs typeface="Segoe UI"/>
              </a:rPr>
              <a:t> Different clusters can support tailored strategies for driver allocation, pricing, and service planning based on demand patterns.</a:t>
            </a:r>
            <a:endParaRPr lang="en-US" sz="900"/>
          </a:p>
          <a:p>
            <a:pPr marL="285750" indent="-285750" algn="ctr">
              <a:lnSpc>
                <a:spcPct val="150000"/>
              </a:lnSpc>
              <a:buFont typeface="Arial"/>
              <a:buChar char="•"/>
            </a:pPr>
            <a:r>
              <a:rPr lang="en-US" sz="900" b="1">
                <a:solidFill>
                  <a:srgbClr val="8B0138"/>
                </a:solidFill>
                <a:latin typeface="Segoe UI"/>
                <a:cs typeface="Segoe UI"/>
              </a:rPr>
              <a:t>Improve forecasting and resource planning:</a:t>
            </a:r>
            <a:r>
              <a:rPr lang="en-US" sz="900">
                <a:solidFill>
                  <a:srgbClr val="8B0138"/>
                </a:solidFill>
                <a:latin typeface="Segoe UI"/>
                <a:cs typeface="Segoe UI"/>
              </a:rPr>
              <a:t> Understanding which zones are commuter-focused, nightlife-focused, or high-demand helps predict future demand and allocate resources more effectively.</a:t>
            </a:r>
            <a:endParaRPr lang="en-US" sz="900"/>
          </a:p>
          <a:p>
            <a:pPr algn="ctr">
              <a:buFont typeface="Arial"/>
            </a:pPr>
            <a:endParaRPr lang="en-US" sz="900">
              <a:solidFill>
                <a:srgbClr val="8B0138"/>
              </a:solidFill>
              <a:latin typeface="Segoe UI"/>
              <a:cs typeface="Segoe UI"/>
            </a:endParaRPr>
          </a:p>
          <a:p>
            <a:pPr algn="ctr"/>
            <a:endParaRPr lang="en-US" sz="900">
              <a:solidFill>
                <a:srgbClr val="FFFFFF"/>
              </a:solidFill>
            </a:endParaRPr>
          </a:p>
        </p:txBody>
      </p:sp>
      <p:pic>
        <p:nvPicPr>
          <p:cNvPr id="7" name="Picture 6">
            <a:extLst>
              <a:ext uri="{FF2B5EF4-FFF2-40B4-BE49-F238E27FC236}">
                <a16:creationId xmlns:a16="http://schemas.microsoft.com/office/drawing/2014/main" id="{88950DEB-D23D-132E-F36E-57AB0C5F97E2}"/>
              </a:ext>
            </a:extLst>
          </p:cNvPr>
          <p:cNvPicPr>
            <a:picLocks noChangeAspect="1"/>
          </p:cNvPicPr>
          <p:nvPr/>
        </p:nvPicPr>
        <p:blipFill>
          <a:blip r:embed="rId3"/>
          <a:stretch>
            <a:fillRect/>
          </a:stretch>
        </p:blipFill>
        <p:spPr>
          <a:xfrm>
            <a:off x="118017" y="1037064"/>
            <a:ext cx="7086600" cy="5638800"/>
          </a:xfrm>
          <a:prstGeom prst="rect">
            <a:avLst/>
          </a:prstGeom>
        </p:spPr>
      </p:pic>
    </p:spTree>
    <p:extLst>
      <p:ext uri="{BB962C8B-B14F-4D97-AF65-F5344CB8AC3E}">
        <p14:creationId xmlns:p14="http://schemas.microsoft.com/office/powerpoint/2010/main" val="16637411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rPr lang="en-US"/>
              <a:t>Summary Of Our Findings</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A7660FCA-5E1F-DA41-ACA6-2C09D31755CC}"/>
              </a:ext>
            </a:extLst>
          </p:cNvPr>
          <p:cNvSpPr/>
          <p:nvPr/>
        </p:nvSpPr>
        <p:spPr>
          <a:xfrm>
            <a:off x="297780" y="1285854"/>
            <a:ext cx="3755195" cy="500541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endParaRPr lang="en-US" sz="1600" b="1">
              <a:solidFill>
                <a:srgbClr val="0D47A1"/>
              </a:solidFill>
            </a:endParaRPr>
          </a:p>
        </p:txBody>
      </p:sp>
      <p:sp>
        <p:nvSpPr>
          <p:cNvPr id="7" name="Rounded Rectangle 5">
            <a:extLst>
              <a:ext uri="{FF2B5EF4-FFF2-40B4-BE49-F238E27FC236}">
                <a16:creationId xmlns:a16="http://schemas.microsoft.com/office/drawing/2014/main" id="{263C5470-B92A-0F96-3093-1CEA8BE8D80F}"/>
              </a:ext>
            </a:extLst>
          </p:cNvPr>
          <p:cNvSpPr/>
          <p:nvPr/>
        </p:nvSpPr>
        <p:spPr>
          <a:xfrm>
            <a:off x="4222879" y="1285854"/>
            <a:ext cx="3748539" cy="49011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endParaRPr lang="en-US" sz="1600" b="1">
              <a:solidFill>
                <a:srgbClr val="2E7D32"/>
              </a:solidFill>
            </a:endParaRPr>
          </a:p>
        </p:txBody>
      </p:sp>
      <p:sp>
        <p:nvSpPr>
          <p:cNvPr id="9" name="Rounded Rectangle 6">
            <a:extLst>
              <a:ext uri="{FF2B5EF4-FFF2-40B4-BE49-F238E27FC236}">
                <a16:creationId xmlns:a16="http://schemas.microsoft.com/office/drawing/2014/main" id="{C008DA0C-DB66-90B0-5F75-5B6648E67009}"/>
              </a:ext>
            </a:extLst>
          </p:cNvPr>
          <p:cNvSpPr/>
          <p:nvPr/>
        </p:nvSpPr>
        <p:spPr>
          <a:xfrm>
            <a:off x="8293073" y="1134392"/>
            <a:ext cx="3404708" cy="5398484"/>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400" b="1">
                <a:solidFill>
                  <a:srgbClr val="E65100"/>
                </a:solidFill>
                <a:latin typeface="Trust Hartford Sans"/>
                <a:cs typeface="Segoe UI"/>
              </a:rPr>
              <a:t>Taxi zones naturally grouped into four distinct patterns</a:t>
            </a:r>
            <a:r>
              <a:rPr lang="en-US" sz="1400">
                <a:solidFill>
                  <a:srgbClr val="E65100"/>
                </a:solidFill>
                <a:latin typeface="Trust Hartford Sans"/>
                <a:cs typeface="Segoe UI"/>
              </a:rPr>
              <a:t> nightlife/weekend areas, commuter-focused zones, high-demand core zones, and mixed-demand areas.</a:t>
            </a:r>
            <a:endParaRPr lang="en-US" sz="1400">
              <a:latin typeface="Trust Hartford Sans"/>
            </a:endParaRPr>
          </a:p>
          <a:p>
            <a:pPr algn="ctr">
              <a:lnSpc>
                <a:spcPct val="150000"/>
              </a:lnSpc>
            </a:pPr>
            <a:endParaRPr lang="en-US" sz="1400">
              <a:solidFill>
                <a:srgbClr val="E65100"/>
              </a:solidFill>
              <a:latin typeface="Trust Hartford Sans"/>
              <a:cs typeface="Segoe UI"/>
            </a:endParaRPr>
          </a:p>
          <a:p>
            <a:pPr algn="ctr">
              <a:lnSpc>
                <a:spcPct val="150000"/>
              </a:lnSpc>
            </a:pPr>
            <a:r>
              <a:rPr lang="en-US" sz="1400" b="1">
                <a:solidFill>
                  <a:srgbClr val="E65100"/>
                </a:solidFill>
                <a:latin typeface="Trust Hartford Sans"/>
                <a:cs typeface="Segoe UI"/>
              </a:rPr>
              <a:t>Demand patterns were a stronger differentiator than weather</a:t>
            </a:r>
            <a:endParaRPr lang="en-US" sz="1400">
              <a:solidFill>
                <a:srgbClr val="FFFFFF"/>
              </a:solidFill>
              <a:latin typeface="Trust Hartford Sans"/>
              <a:cs typeface="Segoe UI"/>
            </a:endParaRPr>
          </a:p>
          <a:p>
            <a:pPr algn="ctr">
              <a:lnSpc>
                <a:spcPct val="150000"/>
              </a:lnSpc>
            </a:pPr>
            <a:r>
              <a:rPr lang="en-US" sz="1400">
                <a:solidFill>
                  <a:srgbClr val="E65100"/>
                </a:solidFill>
                <a:latin typeface="Trust Hartford Sans"/>
                <a:cs typeface="Segoe UI"/>
              </a:rPr>
              <a:t> adverse weather exposure had little impact on cluster formation.</a:t>
            </a:r>
            <a:endParaRPr lang="en-US" sz="1400">
              <a:latin typeface="Trust Hartford Sans"/>
            </a:endParaRPr>
          </a:p>
          <a:p>
            <a:pPr algn="ctr">
              <a:lnSpc>
                <a:spcPct val="150000"/>
              </a:lnSpc>
            </a:pPr>
            <a:endParaRPr lang="en-US" sz="1400">
              <a:solidFill>
                <a:srgbClr val="E65100"/>
              </a:solidFill>
              <a:latin typeface="Trust Hartford Sans"/>
              <a:cs typeface="Segoe UI"/>
            </a:endParaRPr>
          </a:p>
          <a:p>
            <a:pPr algn="ctr">
              <a:lnSpc>
                <a:spcPct val="150000"/>
              </a:lnSpc>
            </a:pPr>
            <a:r>
              <a:rPr lang="en-US" sz="1400" b="1">
                <a:solidFill>
                  <a:srgbClr val="E65100"/>
                </a:solidFill>
                <a:latin typeface="Trust Hartford Sans"/>
                <a:cs typeface="Segoe UI"/>
              </a:rPr>
              <a:t>Clustering can support smarter operations</a:t>
            </a:r>
            <a:endParaRPr lang="en-US" sz="1400">
              <a:solidFill>
                <a:srgbClr val="FFFFFF"/>
              </a:solidFill>
              <a:latin typeface="Trust Hartford Sans"/>
              <a:cs typeface="Segoe UI"/>
            </a:endParaRPr>
          </a:p>
          <a:p>
            <a:pPr algn="ctr">
              <a:lnSpc>
                <a:spcPct val="150000"/>
              </a:lnSpc>
            </a:pPr>
            <a:r>
              <a:rPr lang="en-US" sz="1400">
                <a:solidFill>
                  <a:srgbClr val="E65100"/>
                </a:solidFill>
                <a:latin typeface="Trust Hartford Sans"/>
                <a:cs typeface="Segoe UI"/>
              </a:rPr>
              <a:t> zone-specific insights can help guide driver allocation, service planning, and demand forecasting.</a:t>
            </a:r>
            <a:endParaRPr lang="en-US" sz="1400">
              <a:latin typeface="Trust Hartford Sans"/>
            </a:endParaRPr>
          </a:p>
          <a:p>
            <a:endParaRPr lang="en-US" sz="1600" b="1">
              <a:solidFill>
                <a:srgbClr val="E65100"/>
              </a:solidFill>
            </a:endParaRPr>
          </a:p>
        </p:txBody>
      </p:sp>
    </p:spTree>
    <p:extLst>
      <p:ext uri="{BB962C8B-B14F-4D97-AF65-F5344CB8AC3E}">
        <p14:creationId xmlns:p14="http://schemas.microsoft.com/office/powerpoint/2010/main" val="35802478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751C2-8024-9205-4793-7FAC3B3C866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C5CB762-5D19-CD84-2AB0-5D8178773F52}"/>
              </a:ext>
            </a:extLst>
          </p:cNvPr>
          <p:cNvSpPr>
            <a:spLocks noGrp="1"/>
          </p:cNvSpPr>
          <p:nvPr>
            <p:ph type="body" sz="quarter" idx="13"/>
          </p:nvPr>
        </p:nvSpPr>
        <p:spPr/>
        <p:txBody>
          <a:bodyPr/>
          <a:lstStyle/>
          <a:p>
            <a:endParaRPr/>
          </a:p>
        </p:txBody>
      </p:sp>
      <p:sp>
        <p:nvSpPr>
          <p:cNvPr id="3" name="Title 2">
            <a:extLst>
              <a:ext uri="{FF2B5EF4-FFF2-40B4-BE49-F238E27FC236}">
                <a16:creationId xmlns:a16="http://schemas.microsoft.com/office/drawing/2014/main" id="{3DAB8125-FDEA-C303-C000-DABB81A78B45}"/>
              </a:ext>
            </a:extLst>
          </p:cNvPr>
          <p:cNvSpPr>
            <a:spLocks noGrp="1"/>
          </p:cNvSpPr>
          <p:nvPr>
            <p:ph type="title"/>
          </p:nvPr>
        </p:nvSpPr>
        <p:spPr/>
        <p:txBody>
          <a:bodyPr/>
          <a:lstStyle/>
          <a:p>
            <a:r>
              <a:rPr lang="en-US"/>
              <a:t>5</a:t>
            </a:r>
          </a:p>
        </p:txBody>
      </p:sp>
      <p:sp>
        <p:nvSpPr>
          <p:cNvPr id="4" name="Subtitle 3">
            <a:extLst>
              <a:ext uri="{FF2B5EF4-FFF2-40B4-BE49-F238E27FC236}">
                <a16:creationId xmlns:a16="http://schemas.microsoft.com/office/drawing/2014/main" id="{A1573CEB-6DE3-9028-6A7E-EB7E76AE121F}"/>
              </a:ext>
            </a:extLst>
          </p:cNvPr>
          <p:cNvSpPr>
            <a:spLocks noGrp="1"/>
          </p:cNvSpPr>
          <p:nvPr>
            <p:ph type="subTitle" idx="1"/>
          </p:nvPr>
        </p:nvSpPr>
        <p:spPr/>
        <p:txBody>
          <a:bodyPr/>
          <a:lstStyle/>
          <a:p>
            <a:r>
              <a:rPr lang="en-US"/>
              <a:t>Future State and Recommendations</a:t>
            </a:r>
          </a:p>
        </p:txBody>
      </p:sp>
    </p:spTree>
    <p:extLst>
      <p:ext uri="{BB962C8B-B14F-4D97-AF65-F5344CB8AC3E}">
        <p14:creationId xmlns:p14="http://schemas.microsoft.com/office/powerpoint/2010/main" val="32250541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chemeClr val="accent1">
                    <a:lumMod val="76000"/>
                  </a:schemeClr>
                </a:solidFill>
              </a:rPr>
              <a:t>Multi-City Expansion</a:t>
            </a:r>
            <a:endParaRPr lang="en-US"/>
          </a:p>
          <a:p>
            <a:pPr algn="ctr">
              <a:lnSpc>
                <a:spcPct val="150000"/>
              </a:lnSpc>
              <a:spcBef>
                <a:spcPts val="1600"/>
              </a:spcBef>
            </a:pPr>
            <a:r>
              <a:rPr lang="en-US" sz="1400" b="1">
                <a:solidFill>
                  <a:schemeClr val="accent1">
                    <a:lumMod val="76000"/>
                  </a:schemeClr>
                </a:solidFill>
              </a:rPr>
              <a:t>What:</a:t>
            </a:r>
          </a:p>
          <a:p>
            <a:pPr algn="ctr">
              <a:lnSpc>
                <a:spcPct val="150000"/>
              </a:lnSpc>
            </a:pPr>
            <a:r>
              <a:rPr lang="en-US" sz="1400">
                <a:solidFill>
                  <a:schemeClr val="accent1">
                    <a:lumMod val="76000"/>
                  </a:schemeClr>
                </a:solidFill>
              </a:rPr>
              <a:t>Extend the solution to additional cities</a:t>
            </a:r>
          </a:p>
          <a:p>
            <a:pPr algn="ctr">
              <a:lnSpc>
                <a:spcPct val="150000"/>
              </a:lnSpc>
              <a:spcBef>
                <a:spcPts val="1200"/>
              </a:spcBef>
            </a:pPr>
            <a:r>
              <a:rPr lang="en-US" sz="1400" b="1">
                <a:solidFill>
                  <a:schemeClr val="accent1">
                    <a:lumMod val="76000"/>
                  </a:schemeClr>
                </a:solidFill>
              </a:rPr>
              <a:t>Business Benefit:</a:t>
            </a:r>
          </a:p>
          <a:p>
            <a:pPr algn="ct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PLACEHOLDER Recommendation</a:t>
            </a:r>
            <a:endParaRP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200000"/>
            <a:ext cx="11400000" cy="1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D47A1"/>
                </a:solidFill>
              </a:rPr>
              <a:t>[One clear recommendation tied to the finding]</a:t>
            </a:r>
          </a:p>
          <a:p>
            <a:pPr algn="ctr">
              <a:spcBef>
                <a:spcPts val="800"/>
              </a:spcBef>
            </a:pPr>
            <a:r>
              <a:rPr sz="1400" i="1">
                <a:solidFill>
                  <a:srgbClr val="555555"/>
                </a:solidFill>
              </a:rPr>
              <a:t>e.g., Pre-position 15% more vehicles in outer boroughs during forecasted rain events</a:t>
            </a:r>
          </a:p>
        </p:txBody>
      </p:sp>
      <p:sp>
        <p:nvSpPr>
          <p:cNvPr id="6" name="Rounded Rectangle 5"/>
          <p:cNvSpPr/>
          <p:nvPr/>
        </p:nvSpPr>
        <p:spPr>
          <a:xfrm>
            <a:off x="400000" y="3400000"/>
            <a:ext cx="5400000" cy="15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E7D32"/>
                </a:solidFill>
              </a:rPr>
              <a:t>Actionable Next Step</a:t>
            </a:r>
          </a:p>
          <a:p>
            <a:pPr>
              <a:spcBef>
                <a:spcPts val="800"/>
              </a:spcBef>
            </a:pPr>
            <a:r>
              <a:rPr sz="1300">
                <a:solidFill>
                  <a:srgbClr val="2D2D2D"/>
                </a:solidFill>
              </a:rPr>
              <a:t>[What the client should do first]</a:t>
            </a:r>
          </a:p>
        </p:txBody>
      </p:sp>
      <p:sp>
        <p:nvSpPr>
          <p:cNvPr id="7" name="Rounded Rectangle 6"/>
          <p:cNvSpPr/>
          <p:nvPr/>
        </p:nvSpPr>
        <p:spPr>
          <a:xfrm>
            <a:off x="6100000" y="3400000"/>
            <a:ext cx="5700000" cy="15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Implementation Cost</a:t>
            </a:r>
          </a:p>
          <a:p>
            <a:pPr>
              <a:spcBef>
                <a:spcPts val="800"/>
              </a:spcBef>
            </a:pPr>
            <a:r>
              <a:rPr sz="1300">
                <a:solidFill>
                  <a:srgbClr val="2D2D2D"/>
                </a:solidFill>
              </a:rPr>
              <a:t>[What it would take: time, team, tools]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1E6C963-5293-43DA-A96C-045F7BFE166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23</Slides>
  <Notes>20</Notes>
  <HiddenSlides>1</HiddenSlides>
  <ScaleCrop>false</ScaleCrop>
  <HeadingPairs>
    <vt:vector size="4" baseType="variant">
      <vt:variant>
        <vt:lpstr>Theme</vt:lpstr>
      </vt:variant>
      <vt:variant>
        <vt:i4>1</vt:i4>
      </vt:variant>
      <vt:variant>
        <vt:lpstr>Slide Titles</vt:lpstr>
      </vt:variant>
      <vt:variant>
        <vt:i4>23</vt:i4>
      </vt:variant>
    </vt:vector>
  </HeadingPairs>
  <TitlesOfParts>
    <vt:vector size="24" baseType="lpstr">
      <vt:lpstr>The Hartford Template Slides</vt:lpstr>
      <vt:lpstr>NYC Taxi Data Platform How does adverse weather affect taxi demand across New York City, and do those patterns change over time?</vt:lpstr>
      <vt:lpstr>Topics of Discussion</vt:lpstr>
      <vt:lpstr>1</vt:lpstr>
      <vt:lpstr>The Business Question</vt:lpstr>
      <vt:lpstr>Headline Finding</vt:lpstr>
      <vt:lpstr>2</vt:lpstr>
      <vt:lpstr>The Data</vt:lpstr>
      <vt:lpstr>Pipeline Architecture</vt:lpstr>
      <vt:lpstr>Architecture Decision: Snowflake + DBT</vt:lpstr>
      <vt:lpstr>Additional Paths We Explored</vt:lpstr>
      <vt:lpstr>3</vt:lpstr>
      <vt:lpstr>Data Quality Findings</vt:lpstr>
      <vt:lpstr>4</vt:lpstr>
      <vt:lpstr>Year-over-Year Finding</vt:lpstr>
      <vt:lpstr>Visualizations</vt:lpstr>
      <vt:lpstr>Discovering Similar Taxi Zone Patterns with Big Query ML</vt:lpstr>
      <vt:lpstr>Big Query ML: What We Learned</vt:lpstr>
      <vt:lpstr>Summary Of Our Findings</vt:lpstr>
      <vt:lpstr>5</vt:lpstr>
      <vt:lpstr>Future State Proposal</vt:lpstr>
      <vt:lpstr>PLACEHOLDER Recommendation</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2</cp:revision>
  <cp:lastPrinted>2024-04-30T20:31:00Z</cp:lastPrinted>
  <dcterms:created xsi:type="dcterms:W3CDTF">2026-07-23T20:23:29Z</dcterms:created>
  <dcterms:modified xsi:type="dcterms:W3CDTF">2026-08-14T11:58:04Z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