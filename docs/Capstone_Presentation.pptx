
<file path=[Content_Types].xml><?xml version="1.0" encoding="utf-8"?>
<Types xmlns="http://schemas.openxmlformats.org/package/2006/content-types">
  <Default Extension="emf" ContentType="image/x-emf"/>
  <Default Extension="fntdata" ContentType="application/x-fontdata"/>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37"/>
  </p:notesMasterIdLst>
  <p:sldIdLst>
    <p:sldId id="256" r:id="rId27"/>
    <p:sldId id="257" r:id="rId28"/>
    <p:sldId id="258" r:id="rId29"/>
    <p:sldId id="259" r:id="rId30"/>
    <p:sldId id="260" r:id="rId31"/>
    <p:sldId id="261" r:id="rId32"/>
    <p:sldId id="262" r:id="rId33"/>
    <p:sldId id="263" r:id="rId34"/>
    <p:sldId id="264" r:id="rId35"/>
    <p:sldId id="280" r:id="rId12"/>
    <p:sldId id="265" r:id="rId36"/>
    <p:sldId id="266" r:id="rId26"/>
    <p:sldId id="267" r:id="rId25"/>
    <p:sldId id="268" r:id="rId24"/>
    <p:sldId id="269" r:id="rId23"/>
    <p:sldId id="270" r:id="rId22"/>
    <p:sldId id="271" r:id="rId21"/>
    <p:sldId id="272" r:id="rId20"/>
    <p:sldId id="273" r:id="rId19"/>
    <p:sldId id="274" r:id="rId18"/>
    <p:sldId id="275" r:id="rId17"/>
    <p:sldId id="276" r:id="rId16"/>
    <p:sldId id="277" r:id="rId15"/>
    <p:sldId id="278" r:id="rId14"/>
    <p:sldId id="279" r:id="rId13"/>
  </p:sldIdLst>
  <p:sldSz cx="12192000" cy="6858000"/>
  <p:notesSz cx="6858000" cy="9144000"/>
  <p:embeddedFontLst>
    <p:embeddedFont>
      <p:font typeface="Trust Hartford Mono" pitchFamily="50" charset="0"/>
      <p:regular r:id="rId38"/>
      <p:bold r:id="rId39"/>
      <p:italic r:id="rId40"/>
      <p:boldItalic r:id="rId41"/>
    </p:embeddedFont>
    <p:embeddedFont>
      <p:font typeface="Trust Hartford Sans" pitchFamily="50" charset="0"/>
      <p:regular r:id="rId42"/>
      <p:bold r:id="rId43"/>
      <p:italic r:id="rId44"/>
      <p:boldItalic r:id="rId45"/>
    </p:embeddedFont>
    <p:embeddedFont>
      <p:font typeface="Trust Hartford Sans Light" pitchFamily="50" charset="0"/>
      <p:regular r:id="rId46"/>
      <p:italic r:id="rId47"/>
    </p:embeddedFont>
    <p:embeddedFont>
      <p:font typeface="Trust Hartford Serif" pitchFamily="50" charset="0"/>
      <p:regular r:id="rId48"/>
      <p:bold r:id="rId49"/>
      <p:italic r:id="rId50"/>
      <p:boldItalic r:id="rId51"/>
    </p:embeddedFont>
    <p:embeddedFont>
      <p:font typeface="Trust Hartford Serif XLight" pitchFamily="50" charset="0"/>
      <p:regular r:id="rId52"/>
      <p:italic r:id="rId53"/>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5DF"/>
    <a:srgbClr val="FE3082"/>
    <a:srgbClr val="73A2C2"/>
    <a:srgbClr val="8F96AD"/>
    <a:srgbClr val="C7CBD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6" autoAdjust="0"/>
    <p:restoredTop sz="96301"/>
  </p:normalViewPr>
  <p:slideViewPr>
    <p:cSldViewPr snapToGrid="0" showGuides="1">
      <p:cViewPr varScale="1">
        <p:scale>
          <a:sx n="111" d="100"/>
          <a:sy n="111" d="100"/>
        </p:scale>
        <p:origin x="594" y="9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82" d="100"/>
        <a:sy n="82"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0.xml"/><Relationship Id="rId13" Type="http://schemas.openxmlformats.org/officeDocument/2006/relationships/slide" Target="slides/slide25.xml"/><Relationship Id="rId14" Type="http://schemas.openxmlformats.org/officeDocument/2006/relationships/slide" Target="slides/slide24.xml"/><Relationship Id="rId15" Type="http://schemas.openxmlformats.org/officeDocument/2006/relationships/slide" Target="slides/slide23.xml"/><Relationship Id="rId16" Type="http://schemas.openxmlformats.org/officeDocument/2006/relationships/slide" Target="slides/slide22.xml"/><Relationship Id="rId17" Type="http://schemas.openxmlformats.org/officeDocument/2006/relationships/slide" Target="slides/slide21.xml"/><Relationship Id="rId18" Type="http://schemas.openxmlformats.org/officeDocument/2006/relationships/slide" Target="slides/slide20.xml"/><Relationship Id="rId19" Type="http://schemas.openxmlformats.org/officeDocument/2006/relationships/slide" Target="slides/slide19.xml"/><Relationship Id="rId20" Type="http://schemas.openxmlformats.org/officeDocument/2006/relationships/slide" Target="slides/slide18.xml"/><Relationship Id="rId21" Type="http://schemas.openxmlformats.org/officeDocument/2006/relationships/slide" Target="slides/slide17.xml"/><Relationship Id="rId22" Type="http://schemas.openxmlformats.org/officeDocument/2006/relationships/slide" Target="slides/slide16.xml"/><Relationship Id="rId23" Type="http://schemas.openxmlformats.org/officeDocument/2006/relationships/slide" Target="slides/slide15.xml"/><Relationship Id="rId24" Type="http://schemas.openxmlformats.org/officeDocument/2006/relationships/slide" Target="slides/slide14.xml"/><Relationship Id="rId25" Type="http://schemas.openxmlformats.org/officeDocument/2006/relationships/slide" Target="slides/slide13.xml"/><Relationship Id="rId26" Type="http://schemas.openxmlformats.org/officeDocument/2006/relationships/slide" Target="slides/slide12.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notesMaster" Target="notesMasters/notesMaster1.xml"/><Relationship Id="rId38" Type="http://schemas.openxmlformats.org/officeDocument/2006/relationships/font" Target="fonts/font1.fntdata"/><Relationship Id="rId39" Type="http://schemas.openxmlformats.org/officeDocument/2006/relationships/font" Target="fonts/font2.fntdata"/><Relationship Id="rId40" Type="http://schemas.openxmlformats.org/officeDocument/2006/relationships/font" Target="fonts/font3.fntdata"/><Relationship Id="rId41" Type="http://schemas.openxmlformats.org/officeDocument/2006/relationships/font" Target="fonts/font4.fntdata"/><Relationship Id="rId42" Type="http://schemas.openxmlformats.org/officeDocument/2006/relationships/font" Target="fonts/font5.fntdata"/><Relationship Id="rId43" Type="http://schemas.openxmlformats.org/officeDocument/2006/relationships/font" Target="fonts/font6.fntdata"/><Relationship Id="rId44" Type="http://schemas.openxmlformats.org/officeDocument/2006/relationships/font" Target="fonts/font7.fntdata"/><Relationship Id="rId45" Type="http://schemas.openxmlformats.org/officeDocument/2006/relationships/font" Target="fonts/font8.fntdata"/><Relationship Id="rId46" Type="http://schemas.openxmlformats.org/officeDocument/2006/relationships/font" Target="fonts/font9.fntdata"/><Relationship Id="rId47" Type="http://schemas.openxmlformats.org/officeDocument/2006/relationships/font" Target="fonts/font10.fntdata"/><Relationship Id="rId48" Type="http://schemas.openxmlformats.org/officeDocument/2006/relationships/font" Target="fonts/font11.fntdata"/><Relationship Id="rId49" Type="http://schemas.openxmlformats.org/officeDocument/2006/relationships/font" Target="fonts/font12.fntdata"/><Relationship Id="rId50" Type="http://schemas.openxmlformats.org/officeDocument/2006/relationships/font" Target="fonts/font13.fntdata"/><Relationship Id="rId51" Type="http://schemas.openxmlformats.org/officeDocument/2006/relationships/font" Target="fonts/font14.fntdata"/><Relationship Id="rId52" Type="http://schemas.openxmlformats.org/officeDocument/2006/relationships/font" Target="fonts/font15.fntdata"/><Relationship Id="rId53" Type="http://schemas.openxmlformats.org/officeDocument/2006/relationships/font" Target="fonts/font16.fnt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7/23/2026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We are Team AMO. Our project answers a simple but important question: when the weather turns bad in New York City, what happens to taxi demand, and has that pattern changed over the past year?</a:t>
            </a:r>
            <a:br/>
            <a:br/>
            <a:r>
              <a:t>We analyzed over 38 million taxi trips across ten months, enriched them with hourly weather data, and built a pipeline that anyone on the team can re-run with a single command. Here is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will start with our headline finding, then walk you through how we got there: the data, our architecture, what was wrong with the data and how we handled it, our year-over-year analysis, the technical decisions behind it all, and finally where we would take this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start with the result and why it matters to anyone running a taxi fleet in New York City.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question is specific and measurable: how does adverse weather, meaning rain, snow, or high wind, affect taxi demand across different boroughs, and did that relationship shift between 2025 and 2026?</a:t>
            </a:r>
            <a:br/>
            <a:br/>
            <a:r>
              <a:t>This matters because fleet operators make real-time decisions about where to position drivers. If rain cuts demand by 20 percent in the Bronx but only 5 percent in Manhattan, that changes where you send your cars during a storm.</a:t>
            </a:r>
            <a:br/>
            <a:br/>
            <a:r>
              <a:t>We scoped this to Yellow and Green taxi trips from January through May in both years, giving us an apples-to-apples seasonal comparison. Our answer lives in a single pre-aggregated table with about 35,000 rows that any dashboard can query instantly.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talk about what we were given and how we built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20 files in an S3 bucket: about 38.8 million Yellow taxi trips and 465,000 Green taxi trips in Parquet format, plus a zone lookup mapping 265 zones to boroughs.</a:t>
            </a:r>
            <a:br/>
            <a:br/>
            <a:r>
              <a:t>The two taxi types have different column names and slightly different schemas, so we had to reconcile them before combining. There is also a new congestion fee column that only appears starting January 2025.</a:t>
            </a:r>
            <a:br/>
            <a:br/>
            <a:r>
              <a:t>We enriched this with hourly weather data from the Open-Meteo API, covering the same ten-month window. That gave us 7,248 hourly weather records including temperature, precipitation, wind speed, and weather codes that we categorized into Clear, Rain, Snow, Fog, and so on.</a:t>
            </a:r>
            <a:br/>
            <a:br/>
            <a:r>
              <a:t>In total, we are working with over 39 million trips joined to weather conditions at the hour of pickup.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end-to-end pipeline. Data flows left to right.</a:t>
            </a:r>
            <a:br/>
            <a:br/>
            <a:r>
              <a:t>Raw Parquet files sit in S3. We load them unchanged into Snowflake Bronze, which is our landing zone. No transformations happen here, just a faithful copy of the source.</a:t>
            </a:r>
            <a:br/>
            <a:br/>
            <a:r>
              <a:t>From Bronze, dbt builds our Silver layer: one unified trips table with data quality flags, plus clean zone and weather tables. Nothing is deleted in Silver; bad records are flagged but kept for traceability.</a:t>
            </a:r>
            <a:br/>
            <a:br/>
            <a:r>
              <a:t>Silver feeds into Gold, where we filter to valid records only, join trips to boroughs and weather conditions, and aggregate into a small, fast table designed for dashboard consumption.</a:t>
            </a:r>
            <a:br/>
            <a:br/>
            <a:r>
              <a:t>The whole thing runs with one command in about six minutes and is safe to re-run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chose Pattern A, the warehouse-centric ELT approach. All transformation happens inside Snowflake using dbt.</a:t>
            </a:r>
            <a:br/>
            <a:br/>
            <a:r>
              <a:t>The main reasons: our team is strongest in SQL, we had one week, and this approach has the fewest things that can break. Snowflake handles 39 million rows without us managing memory or clusters, and dbt gives us automated testing and version control on every transformation.</a:t>
            </a:r>
            <a:br/>
            <a:br/>
            <a:r>
              <a:t>What we gave up is Spark experience and distributed compute. If our data were ten times larger or streaming, we would need a different approach, and we address that in our future state proposal.</a:t>
            </a:r>
            <a:br/>
            <a:br/>
            <a:r>
              <a:t>The key design decisions are listed here: we use tables instead of views because 39 million rows is too expensive to rebuild on every query, we flag data quality issues rather than deleting them, and we join weather on the exact hour of each trip pickup.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landing on Pattern A, we explored multiple approaches.</a:t>
            </a:r>
            <a:br/>
            <a:br/>
            <a:r>
              <a:t>First, we investigated NYC construction data as a potential enrichment source to see whether road work affected taxi demand. We moved on from that and pursued weather instead as a stronger analytical signal.</a:t>
            </a:r>
            <a:br/>
            <a:br/>
            <a:r>
              <a:t>In parallel, we built and tested Pattern B, which uses AWS Glue and PySpark to do the heavy cleaning before data reaches Snowflake. That gave us hands-on experience with distributed processing and DataFrames.</a:t>
            </a:r>
            <a:br/>
            <a:br/>
            <a:r>
              <a:t>Ultimately, we selected Pattern A because it offered the strongest reliability guarantee within our one-week sprint. But the Pattern B work was not wasted. It deepened our understanding of the data quality issues and made our final architecture decision more informed and more defensible.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data quality. This is where trust in our findings gets built or lost.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loaded 39.2 million rows into Bronze and lost zero in the process. That exact reconciliation is the first thing we verified.</a:t>
            </a:r>
            <a:br/>
            <a:br/>
            <a:r>
              <a:t>In Silver, we flagged about 1.17 million rows as invalid, which is 3 percent of the total. These include trips with timestamps outside our study window, negative fares, distances over 100 miles, and trips where the dropoff happened before the pickup. We keep these flagged rows in Silver for traceability but filter them out in Gold.</a:t>
            </a:r>
            <a:br/>
            <a:br/>
            <a:r>
              <a:t>We also found two issues not listed in the data catalog. First, over 9 million trips have a payment type of zero, which is undocumented. Second, 9.2 million trips have null or zero passenger count. We kept both of these because they do not invalidate the trip itself, but we flag them and note the limitation.</a:t>
            </a:r>
            <a:br/>
            <a:br/>
            <a:r>
              <a:t>The cash tip trap is important to call out. Tip amounts are only recorded for credit card payments. Cash tips show as zero. This means any tip analysis we do only reflects credit card transactions, and we state that explicitly wherever tips appear in our findings.</a:t>
            </a:r>
            <a:br/>
            <a:br/>
            <a:r>
              <a:t>Our philosophy is flag, do not delete. Every row gets a validity flag and a reason field listing which checks failed. This lets us report exact counts, show our reasoning, and still filter cleanly in the final layer.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clean, validated data in hand, here is what we found when comparing 2025 to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under the hood at the technical decisions that make this pipeline reliable and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dbt project has four model layers. Staging tables clean and conform the raw data. The fact table enriches valid trips with borough names and weather. The mart pre-aggregates for the dashboard. And dimension tables provide lookup data for drilldowns.</a:t>
            </a:r>
            <a:br/>
            <a:br/>
            <a:r>
              <a:t>We have 32 automated tests that run every time we build. These check that key columns are never null, that dimension keys are unique, that categorical values are within expected ranges, and that foreign key relationships hold. One test intentionally warns rather than fails: it documents that payment type zero exists but does not block the pipeline.</a:t>
            </a:r>
            <a:br/>
            <a:br/>
            <a:r>
              <a:t>Orchestration is a single Python script. It creates the Bronze infrastructure, loads data from S3, fetches weather from the API, verifies row counts, runs dbt to build all models, and then runs all tests. End to end, about six minutes. If anything fails, it stops immediately with a clear message.</a:t>
            </a:r>
            <a:br/>
            <a:br/>
            <a:r>
              <a:t>The key transformations include unioning Yellow and Green taxi data with their different column names, adding data quality flags, deriving time-based features like rush hour and weekend indicators, and joining to weather and zone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cost and performance: our pipeline runs on a shared Snowflake warehouse. The full rebuild takes about six minutes, and most of that is the dbt build processing 39 million rows through Silver and Gold.</a:t>
            </a:r>
            <a:br/>
            <a:br/>
            <a:r>
              <a:t>Dashboard queries against our mart table return in under one second because it is only 35,000 pre-aggregated rows. We designed it this way specifically so that Tableau never needs to scan the full 38 million row fact table.</a:t>
            </a:r>
            <a:br/>
            <a:br/>
            <a:r>
              <a:t>If we scaled this to ten times the data volume, we would make three changes. First, switch from batch loading to Snowpipe for continuous ingestion. Second, move to incremental dbt models that append new data rather than rebuilding everything. Third, scale the warehouse up or use multi-cluster for concurrent users. The architecture supports all of these without a redesign.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where we would take this next and what we recommend.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see three natural next steps.</a:t>
            </a:r>
            <a:br/>
            <a:br/>
            <a:r>
              <a:t>The highest impact is real-time ingestion. Right now our pipeline runs on demand. With Snowpipe and streams, new trip data would flow in continuously, giving fleet operators live demand signals during active storms rather than waiting for a batch.</a:t>
            </a:r>
            <a:br/>
            <a:br/>
            <a:r>
              <a:t>Second, we could add machine learning forecasting to predict demand drops by borough before a storm hits, rather than just reporting what happened after the fact.</a:t>
            </a:r>
            <a:br/>
            <a:br/>
            <a:r>
              <a:t>Third, this pipeline is designed to be replicable. The same architecture could serve Chicago, Boston, or any city with similar taxi and weather data. Each new city would take a few sprints to onboard.</a:t>
            </a:r>
            <a:br/>
            <a:br/>
            <a:r>
              <a:t>The highest impact for the least effort is real-time ingestion, so that is what we would prioritize.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adverse weather measurably changes taxi demand, and that impact varies by borough and has shifted year over year. Our pipeline is reproducible, tested, and ready for production use.</a:t>
            </a:r>
            <a:br/>
            <a:br/>
            <a:r>
              <a:t>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bg1"/>
                </a:solidFill>
              </a:rPr>
              <a:t>© 2026 The Hartford</a:t>
            </a:r>
            <a:endParaRPr lang="en-CA" sz="550" dirty="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dirty="0"/>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tx1"/>
                </a:solidFill>
              </a:rPr>
              <a:t>© 2026 The Hartford</a:t>
            </a:r>
            <a:endParaRPr lang="en-CA" sz="550" dirty="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endParaRPr lang="en-US" dirty="0"/>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dirty="0"/>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dirty="0"/>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dirty="0"/>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dirty="0">
                <a:solidFill>
                  <a:schemeClr val="tx1"/>
                </a:solidFill>
              </a:rPr>
              <a:t>© 2026 The Hartford</a:t>
            </a:r>
            <a:endParaRPr lang="en-CA" sz="550" dirty="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July 23, 2026</a:t>
            </a:fld>
            <a:endParaRPr lang="en-CA" dirty="0"/>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July 23, 2026</a:t>
            </a:fld>
            <a:endParaRPr lang="en-CA" dirty="0"/>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July 23, 2026</a:t>
            </a:fld>
            <a:endParaRPr lang="en-CA" dirty="0"/>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dirty="0"/>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July 23, 2026</a:t>
            </a:fld>
            <a:endParaRPr lang="en-CA" dirty="0"/>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dirty="0"/>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dirty="0"/>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endParaRPr lang="en-US" dirty="0"/>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dirty="0"/>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dirty="0"/>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July 23, 2026</a:t>
            </a:fld>
            <a:endParaRPr lang="en-CA" dirty="0"/>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dirty="0"/>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dirty="0"/>
              <a:t>Click to edit Master text styles</a:t>
            </a:r>
          </a:p>
          <a:p>
            <a:pPr lvl="1"/>
            <a:r>
              <a:rPr lang="en-US" dirty="0"/>
              <a:t>Second level</a:t>
            </a:r>
          </a:p>
          <a:p>
            <a:pPr lvl="2"/>
            <a:r>
              <a:rPr lang="en-US" dirty="0"/>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dirty="0"/>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dirty="0"/>
              <a:t>“</a:t>
            </a:r>
            <a:r>
              <a:rPr lang="en-US" dirty="0"/>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July 23,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dirty="0"/>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July 23,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dirty="0"/>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July 23,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dirty="0"/>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dirty="0"/>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July 23,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dirty="0"/>
              <a:t>#</a:t>
            </a:r>
          </a:p>
          <a:p>
            <a:pPr lvl="1"/>
            <a:r>
              <a:rPr lang="en-US" dirty="0"/>
              <a:t>Second level</a:t>
            </a:r>
          </a:p>
          <a:p>
            <a:pPr lvl="2"/>
            <a:r>
              <a:rPr lang="en-US" dirty="0"/>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dirty="0"/>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dirty="0"/>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dirty="0"/>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dirty="0"/>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dirty="0"/>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dirty="0"/>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dirty="0"/>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dirty="0"/>
              <a:t>Click to edit Master text styles</a:t>
            </a:r>
          </a:p>
          <a:p>
            <a:pPr lvl="1"/>
            <a:r>
              <a:rPr lang="en-US" dirty="0"/>
              <a:t>Second level</a:t>
            </a:r>
          </a:p>
          <a:p>
            <a:pPr lvl="2"/>
            <a:r>
              <a:rPr lang="en-US" dirty="0"/>
              <a:t>Third level</a:t>
            </a:r>
          </a:p>
          <a:p>
            <a:pPr lvl="4"/>
            <a:r>
              <a:rPr lang="en-US" dirty="0"/>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dirty="0"/>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NYC Taxi Data Platform</a:t>
            </a:r>
          </a:p>
          <a:p>
            <a:r>
              <a:rPr sz="1800" i="1"/>
              <a:t>How does adverse weather affect taxi demand across NYC boroughs?</a:t>
            </a:r>
          </a:p>
        </p:txBody>
      </p:sp>
      <p:sp>
        <p:nvSpPr>
          <p:cNvPr id="3" name="Subtitle 2"/>
          <p:cNvSpPr>
            <a:spLocks noGrp="1"/>
          </p:cNvSpPr>
          <p:nvPr>
            <p:ph type="subTitle" idx="1"/>
          </p:nvPr>
        </p:nvSpPr>
        <p:spPr/>
        <p:txBody>
          <a:bodyPr/>
          <a:lstStyle/>
          <a:p>
            <a:r>
              <a:t>Team AMO: Maryam Choudhury, Ariana Lopez, Orlando Marin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Topics of Discussion</a:t>
            </a:r>
          </a:p>
        </p:txBody>
      </p:sp>
      <p:sp>
        <p:nvSpPr>
          <p:cNvPr id="3" name="Content Placeholder 2"/>
          <p:cNvSpPr>
            <a:spLocks noGrp="1"/>
          </p:cNvSpPr>
          <p:nvPr>
            <p:ph idx="1"/>
          </p:nvPr>
        </p:nvSpPr>
        <p:spPr/>
        <p:txBody>
          <a:bodyPr/>
          <a:lstStyle/>
          <a:p/>
        </p:txBody>
      </p:sp>
      <p:sp>
        <p:nvSpPr>
          <p:cNvPr id="4" name="TextBox 3"/>
          <p:cNvSpPr txBox="1"/>
          <p:nvPr/>
        </p:nvSpPr>
        <p:spPr>
          <a:xfrm>
            <a:off x="800000" y="1200000"/>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600000" y="1350000"/>
            <a:ext cx="9000000" cy="500000"/>
          </a:xfrm>
          <a:prstGeom prst="rect">
            <a:avLst/>
          </a:prstGeom>
          <a:noFill/>
        </p:spPr>
        <p:txBody>
          <a:bodyPr wrap="none">
            <a:spAutoFit/>
          </a:bodyPr>
          <a:lstStyle/>
          <a:p>
            <a:r>
              <a:rPr sz="1800" b="1">
                <a:solidFill>
                  <a:srgbClr val="2D2D2D"/>
                </a:solidFill>
              </a:rPr>
              <a:t>The Finding and Why It Matters</a:t>
            </a:r>
          </a:p>
        </p:txBody>
      </p:sp>
      <p:sp>
        <p:nvSpPr>
          <p:cNvPr id="6" name="TextBox 5"/>
          <p:cNvSpPr txBox="1"/>
          <p:nvPr/>
        </p:nvSpPr>
        <p:spPr>
          <a:xfrm>
            <a:off x="800000" y="2050000"/>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600000" y="2200000"/>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800000" y="2900000"/>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600000" y="3050000"/>
            <a:ext cx="9000000" cy="500000"/>
          </a:xfrm>
          <a:prstGeom prst="rect">
            <a:avLst/>
          </a:prstGeom>
          <a:noFill/>
        </p:spPr>
        <p:txBody>
          <a:bodyPr wrap="none">
            <a:spAutoFit/>
          </a:bodyPr>
          <a:lstStyle/>
          <a:p>
            <a:r>
              <a:rPr sz="1800" b="1">
                <a:solidFill>
                  <a:srgbClr val="2D2D2D"/>
                </a:solidFill>
              </a:rPr>
              <a:t>Data Quality</a:t>
            </a:r>
          </a:p>
        </p:txBody>
      </p:sp>
      <p:sp>
        <p:nvSpPr>
          <p:cNvPr id="10" name="TextBox 9"/>
          <p:cNvSpPr txBox="1"/>
          <p:nvPr/>
        </p:nvSpPr>
        <p:spPr>
          <a:xfrm>
            <a:off x="800000" y="3750000"/>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600000" y="3900000"/>
            <a:ext cx="9000000" cy="500000"/>
          </a:xfrm>
          <a:prstGeom prst="rect">
            <a:avLst/>
          </a:prstGeom>
          <a:noFill/>
        </p:spPr>
        <p:txBody>
          <a:bodyPr wrap="none">
            <a:spAutoFit/>
          </a:bodyPr>
          <a:lstStyle/>
          <a:p>
            <a:r>
              <a:rPr sz="1800" b="1">
                <a:solidFill>
                  <a:srgbClr val="2D2D2D"/>
                </a:solidFill>
              </a:rPr>
              <a:t>Year-over-Year Analysis</a:t>
            </a:r>
          </a:p>
        </p:txBody>
      </p:sp>
      <p:sp>
        <p:nvSpPr>
          <p:cNvPr id="12" name="TextBox 11"/>
          <p:cNvSpPr txBox="1"/>
          <p:nvPr/>
        </p:nvSpPr>
        <p:spPr>
          <a:xfrm>
            <a:off x="800000" y="4600000"/>
            <a:ext cx="600000" cy="700000"/>
          </a:xfrm>
          <a:prstGeom prst="rect">
            <a:avLst/>
          </a:prstGeom>
          <a:noFill/>
        </p:spPr>
        <p:txBody>
          <a:bodyPr wrap="none">
            <a:spAutoFit/>
          </a:bodyPr>
          <a:lstStyle/>
          <a:p>
            <a:r>
              <a:rPr sz="4800">
                <a:solidFill>
                  <a:srgbClr val="FE3082"/>
                </a:solidFill>
              </a:rPr>
              <a:t>5</a:t>
            </a:r>
          </a:p>
        </p:txBody>
      </p:sp>
      <p:sp>
        <p:nvSpPr>
          <p:cNvPr id="13" name="TextBox 12"/>
          <p:cNvSpPr txBox="1"/>
          <p:nvPr/>
        </p:nvSpPr>
        <p:spPr>
          <a:xfrm>
            <a:off x="1600000" y="4750000"/>
            <a:ext cx="9000000" cy="500000"/>
          </a:xfrm>
          <a:prstGeom prst="rect">
            <a:avLst/>
          </a:prstGeom>
          <a:noFill/>
        </p:spPr>
        <p:txBody>
          <a:bodyPr wrap="none">
            <a:spAutoFit/>
          </a:bodyPr>
          <a:lstStyle/>
          <a:p>
            <a:r>
              <a:rPr sz="1800" b="1">
                <a:solidFill>
                  <a:srgbClr val="2D2D2D"/>
                </a:solidFill>
              </a:rPr>
              <a:t>Technical Deep Dive</a:t>
            </a:r>
          </a:p>
        </p:txBody>
      </p:sp>
      <p:sp>
        <p:nvSpPr>
          <p:cNvPr id="14" name="TextBox 13"/>
          <p:cNvSpPr txBox="1"/>
          <p:nvPr/>
        </p:nvSpPr>
        <p:spPr>
          <a:xfrm>
            <a:off x="800000" y="5450000"/>
            <a:ext cx="600000" cy="700000"/>
          </a:xfrm>
          <a:prstGeom prst="rect">
            <a:avLst/>
          </a:prstGeom>
          <a:noFill/>
        </p:spPr>
        <p:txBody>
          <a:bodyPr wrap="none">
            <a:spAutoFit/>
          </a:bodyPr>
          <a:lstStyle/>
          <a:p>
            <a:r>
              <a:rPr sz="4800">
                <a:solidFill>
                  <a:srgbClr val="FE3082"/>
                </a:solidFill>
              </a:rPr>
              <a:t>6</a:t>
            </a:r>
          </a:p>
        </p:txBody>
      </p:sp>
      <p:sp>
        <p:nvSpPr>
          <p:cNvPr id="15" name="TextBox 14"/>
          <p:cNvSpPr txBox="1"/>
          <p:nvPr/>
        </p:nvSpPr>
        <p:spPr>
          <a:xfrm>
            <a:off x="1600000" y="5600000"/>
            <a:ext cx="9000000" cy="500000"/>
          </a:xfrm>
          <a:prstGeom prst="rect">
            <a:avLst/>
          </a:prstGeom>
          <a:noFill/>
        </p:spPr>
        <p:txBody>
          <a:bodyPr wrap="none">
            <a:spAutoFit/>
          </a:bodyPr>
          <a:lstStyle/>
          <a:p>
            <a:r>
              <a:rPr sz="1800" b="1">
                <a:solidFill>
                  <a:srgbClr val="2D2D2D"/>
                </a:solidFill>
              </a:rPr>
              <a:t>Future State and Recommendation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t>The Finding and Why It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Finding</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2D2D2D"/>
                </a:solidFill>
              </a:rPr>
              <a:t>[STATE THE YEAR-OVER-YEAR FINDING IN ONE SENTENCE]</a:t>
            </a:r>
          </a:p>
          <a:p>
            <a:pPr algn="ctr"/>
            <a:r>
              <a:rPr sz="1400" i="1">
                <a:solidFill>
                  <a:srgbClr val="555555"/>
                </a:solidFill>
              </a:rPr>
              <a:t>e.g., During adverse weather, trips dropped X% in outer boroughs but only Y% in Manhattan</a:t>
            </a:r>
          </a:p>
        </p:txBody>
      </p:sp>
      <p:sp>
        <p:nvSpPr>
          <p:cNvPr id="6" name="Rounded Rectangle 5"/>
          <p:cNvSpPr/>
          <p:nvPr/>
        </p:nvSpPr>
        <p:spPr>
          <a:xfrm>
            <a:off x="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38M+</a:t>
            </a:r>
          </a:p>
          <a:p>
            <a:pPr algn="ctr"/>
            <a:r>
              <a:rPr sz="1200">
                <a:solidFill>
                  <a:srgbClr val="555555"/>
                </a:solidFill>
              </a:rPr>
              <a:t>Trip Records Analyzed</a:t>
            </a:r>
          </a:p>
        </p:txBody>
      </p:sp>
      <p:sp>
        <p:nvSpPr>
          <p:cNvPr id="7" name="Rounded Rectangle 6"/>
          <p:cNvSpPr/>
          <p:nvPr/>
        </p:nvSpPr>
        <p:spPr>
          <a:xfrm>
            <a:off x="4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10 months</a:t>
            </a:r>
          </a:p>
          <a:p>
            <a:pPr algn="ctr"/>
            <a:r>
              <a:rPr sz="1200">
                <a:solidFill>
                  <a:srgbClr val="555555"/>
                </a:solidFill>
              </a:rPr>
              <a:t>Jan-May 2025 vs 2026</a:t>
            </a:r>
          </a:p>
        </p:txBody>
      </p:sp>
      <p:sp>
        <p:nvSpPr>
          <p:cNvPr id="8" name="Rounded Rectangle 7"/>
          <p:cNvSpPr/>
          <p:nvPr/>
        </p:nvSpPr>
        <p:spPr>
          <a:xfrm>
            <a:off x="8400000" y="28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p:cNvSpPr/>
          <p:nvPr/>
        </p:nvSpPr>
        <p:spPr>
          <a:xfrm>
            <a:off x="400000" y="4600000"/>
            <a:ext cx="11400000" cy="10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Key Insight: [One sentence connecting the finding to a business recommendation]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Business Question</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11400000" cy="1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D47A1"/>
                </a:solidFill>
              </a:rPr>
              <a:t>How does adverse weather affect taxi demand across NYC boroughs,</a:t>
            </a:r>
          </a:p>
          <a:p>
            <a:pPr algn="ctr"/>
            <a:r>
              <a:rPr sz="2000" b="1">
                <a:solidFill>
                  <a:srgbClr val="0D47A1"/>
                </a:solidFill>
              </a:rPr>
              <a:t>and how did those patterns shift between 2025 and 2026?</a:t>
            </a:r>
          </a:p>
        </p:txBody>
      </p:sp>
      <p:sp>
        <p:nvSpPr>
          <p:cNvPr id="6" name="Rounded Rectangle 5"/>
          <p:cNvSpPr/>
          <p:nvPr/>
        </p:nvSpPr>
        <p:spPr>
          <a:xfrm>
            <a:off x="400000" y="2600000"/>
            <a:ext cx="5400000" cy="22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Why It Matters</a:t>
            </a:r>
          </a:p>
          <a:p>
            <a:pPr>
              <a:spcBef>
                <a:spcPts val="600"/>
              </a:spcBef>
            </a:pPr>
            <a:r>
              <a:rPr sz="1300">
                <a:solidFill>
                  <a:srgbClr val="2D2D2D"/>
                </a:solidFill>
              </a:rPr>
              <a:t>•  Fleet operators need to know where demand drops during storms</a:t>
            </a:r>
          </a:p>
          <a:p>
            <a:pPr>
              <a:spcBef>
                <a:spcPts val="600"/>
              </a:spcBef>
            </a:pPr>
            <a:r>
              <a:rPr sz="1300">
                <a:solidFill>
                  <a:srgbClr val="2D2D2D"/>
                </a:solidFill>
              </a:rPr>
              <a:t>•  Surge pricing decisions depend on weather sensitivity by zone</a:t>
            </a:r>
          </a:p>
          <a:p>
            <a:pPr>
              <a:spcBef>
                <a:spcPts val="600"/>
              </a:spcBef>
            </a:pPr>
            <a:r>
              <a:rPr sz="1300">
                <a:solidFill>
                  <a:srgbClr val="2D2D2D"/>
                </a:solidFill>
              </a:rPr>
              <a:t>•  NYC TLC planning benefits from quantified weather impact</a:t>
            </a:r>
          </a:p>
        </p:txBody>
      </p:sp>
      <p:sp>
        <p:nvSpPr>
          <p:cNvPr id="7" name="Rounded Rectangle 6"/>
          <p:cNvSpPr/>
          <p:nvPr/>
        </p:nvSpPr>
        <p:spPr>
          <a:xfrm>
            <a:off x="6100000" y="2600000"/>
            <a:ext cx="5700000" cy="2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Scope</a:t>
            </a:r>
          </a:p>
          <a:p>
            <a:pPr>
              <a:spcBef>
                <a:spcPts val="600"/>
              </a:spcBef>
            </a:pPr>
            <a:r>
              <a:rPr sz="1300">
                <a:solidFill>
                  <a:srgbClr val="2D2D2D"/>
                </a:solidFill>
              </a:rPr>
              <a:t>•  Yellow + Green taxi, Jan-May 2025 vs Jan-May 2026</a:t>
            </a:r>
          </a:p>
          <a:p>
            <a:pPr>
              <a:spcBef>
                <a:spcPts val="600"/>
              </a:spcBef>
            </a:pPr>
            <a:r>
              <a:rPr sz="1300">
                <a:solidFill>
                  <a:srgbClr val="2D2D2D"/>
                </a:solidFill>
              </a:rPr>
              <a:t>•  39.2 million trip records from S3</a:t>
            </a:r>
          </a:p>
          <a:p>
            <a:pPr>
              <a:spcBef>
                <a:spcPts val="600"/>
              </a:spcBef>
            </a:pPr>
            <a:r>
              <a:rPr sz="1300">
                <a:solidFill>
                  <a:srgbClr val="2D2D2D"/>
                </a:solidFill>
              </a:rPr>
              <a:t>•  Weather enrichment: hourly NYC conditions</a:t>
            </a:r>
          </a:p>
          <a:p>
            <a:pPr>
              <a:spcBef>
                <a:spcPts val="600"/>
              </a:spcBef>
            </a:pPr>
            <a:r>
              <a:rPr sz="1300">
                <a:solidFill>
                  <a:srgbClr val="2D2D2D"/>
                </a:solidFill>
              </a:rPr>
              <a:t>•  265 taxi zones mapped to 5 boroughs</a:t>
            </a:r>
          </a:p>
        </p:txBody>
      </p:sp>
      <p:sp>
        <p:nvSpPr>
          <p:cNvPr id="8" name="Rounded Rectangle 7"/>
          <p:cNvSpPr/>
          <p:nvPr/>
        </p:nvSpPr>
        <p:spPr>
          <a:xfrm>
            <a:off x="400000" y="5100000"/>
            <a:ext cx="11400000" cy="10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D2D2D"/>
                </a:solidFill>
              </a:rPr>
              <a:t>How We Know We Answered It: </a:t>
            </a:r>
            <a:r>
              <a:rPr sz="1400">
                <a:solidFill>
                  <a:srgbClr val="2D2D2D"/>
                </a:solidFill>
              </a:rPr>
              <a:t>Pre-aggregated mart (34,719 rows) with trip counts, revenue, and duration by borough, weather, and year. Same months, same filters, fair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Data</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5400000" cy="3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What We Were Given</a:t>
            </a:r>
          </a:p>
          <a:p>
            <a:pPr>
              <a:spcBef>
                <a:spcPts val="800"/>
              </a:spcBef>
            </a:pPr>
            <a:r>
              <a:rPr sz="1300">
                <a:solidFill>
                  <a:srgbClr val="2D2D2D"/>
                </a:solidFill>
              </a:rPr>
              <a:t>•  20 Parquet files in S3</a:t>
            </a:r>
          </a:p>
          <a:p>
            <a:pPr>
              <a:spcBef>
                <a:spcPts val="800"/>
              </a:spcBef>
            </a:pPr>
            <a:r>
              <a:rPr sz="1300">
                <a:solidFill>
                  <a:srgbClr val="2D2D2D"/>
                </a:solidFill>
              </a:rPr>
              <a:t>•  Yellow taxi: 38,759,706 rows</a:t>
            </a:r>
          </a:p>
          <a:p>
            <a:pPr>
              <a:spcBef>
                <a:spcPts val="800"/>
              </a:spcBef>
            </a:pPr>
            <a:r>
              <a:rPr sz="1300">
                <a:solidFill>
                  <a:srgbClr val="2D2D2D"/>
                </a:solidFill>
              </a:rPr>
              <a:t>•  Green taxi: 465,029 rows</a:t>
            </a:r>
          </a:p>
          <a:p>
            <a:pPr>
              <a:spcBef>
                <a:spcPts val="800"/>
              </a:spcBef>
            </a:pPr>
            <a:r>
              <a:rPr sz="1300">
                <a:solidFill>
                  <a:srgbClr val="2D2D2D"/>
                </a:solidFill>
              </a:rPr>
              <a:t>•  Taxi zone lookup: 265 zones</a:t>
            </a:r>
          </a:p>
          <a:p>
            <a:pPr>
              <a:spcBef>
                <a:spcPts val="800"/>
              </a:spcBef>
            </a:pPr>
            <a:r>
              <a:rPr sz="1300">
                <a:solidFill>
                  <a:srgbClr val="2D2D2D"/>
                </a:solidFill>
              </a:rPr>
              <a:t>•  Date range: Jan-May 2025 and Jan-May 2026</a:t>
            </a:r>
          </a:p>
        </p:txBody>
      </p:sp>
      <p:sp>
        <p:nvSpPr>
          <p:cNvPr id="6" name="Rounded Rectangle 5"/>
          <p:cNvSpPr/>
          <p:nvPr/>
        </p:nvSpPr>
        <p:spPr>
          <a:xfrm>
            <a:off x="6100000" y="1100000"/>
            <a:ext cx="57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What We Added</a:t>
            </a:r>
          </a:p>
          <a:p>
            <a:pPr>
              <a:spcBef>
                <a:spcPts val="800"/>
              </a:spcBef>
            </a:pPr>
            <a:r>
              <a:rPr sz="1300">
                <a:solidFill>
                  <a:srgbClr val="2D2D2D"/>
                </a:solidFill>
              </a:rPr>
              <a:t>•  Open-Meteo Historical Weather API</a:t>
            </a:r>
          </a:p>
          <a:p>
            <a:pPr>
              <a:spcBef>
                <a:spcPts val="800"/>
              </a:spcBef>
            </a:pPr>
            <a:r>
              <a:rPr sz="1300">
                <a:solidFill>
                  <a:srgbClr val="2D2D2D"/>
                </a:solidFill>
              </a:rPr>
              <a:t>•  Hourly NYC conditions: 7,248 records</a:t>
            </a:r>
          </a:p>
          <a:p>
            <a:pPr>
              <a:spcBef>
                <a:spcPts val="800"/>
              </a:spcBef>
            </a:pPr>
            <a:r>
              <a:rPr sz="1300">
                <a:solidFill>
                  <a:srgbClr val="2D2D2D"/>
                </a:solidFill>
              </a:rPr>
              <a:t>•  Temperature, precipitation, wind, weather codes</a:t>
            </a:r>
          </a:p>
        </p:txBody>
      </p:sp>
      <p:sp>
        <p:nvSpPr>
          <p:cNvPr id="7" name="Rounded Rectangle 6"/>
          <p:cNvSpPr/>
          <p:nvPr/>
        </p:nvSpPr>
        <p:spPr>
          <a:xfrm>
            <a:off x="6100000" y="2900000"/>
            <a:ext cx="5700000" cy="17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Schema Challenges</a:t>
            </a:r>
          </a:p>
          <a:p>
            <a:pPr>
              <a:spcBef>
                <a:spcPts val="600"/>
              </a:spcBef>
            </a:pPr>
            <a:r>
              <a:rPr sz="1200">
                <a:solidFill>
                  <a:srgbClr val="2D2D2D"/>
                </a:solidFill>
              </a:rPr>
              <a:t>•  Yellow: tpep_* timestamps; Green: lpep_*</a:t>
            </a:r>
          </a:p>
          <a:p>
            <a:pPr>
              <a:spcBef>
                <a:spcPts val="600"/>
              </a:spcBef>
            </a:pPr>
            <a:r>
              <a:rPr sz="1200">
                <a:solidFill>
                  <a:srgbClr val="2D2D2D"/>
                </a:solidFill>
              </a:rPr>
              <a:t>•  Green has ehail_fee, trip_type; no airport_fee</a:t>
            </a:r>
          </a:p>
          <a:p>
            <a:pPr>
              <a:spcBef>
                <a:spcPts val="600"/>
              </a:spcBef>
            </a:pPr>
            <a:r>
              <a:rPr sz="1200">
                <a:solidFill>
                  <a:srgbClr val="2D2D2D"/>
                </a:solidFill>
              </a:rPr>
              <a:t>•  cbd_congestion_fee added Jan 2025</a:t>
            </a:r>
          </a:p>
          <a:p>
            <a:pPr>
              <a:spcBef>
                <a:spcPts val="600"/>
              </a:spcBef>
            </a:pPr>
            <a:r>
              <a:rPr sz="1200">
                <a:solidFill>
                  <a:srgbClr val="2D2D2D"/>
                </a:solidFill>
              </a:rPr>
              <a:t>•  Case-sensitive columns from INFER_SCHEMA</a:t>
            </a:r>
          </a:p>
        </p:txBody>
      </p:sp>
      <p:sp>
        <p:nvSpPr>
          <p:cNvPr id="8" name="Rounded Rectangle 7"/>
          <p:cNvSpPr/>
          <p:nvPr/>
        </p:nvSpPr>
        <p:spPr>
          <a:xfrm>
            <a:off x="400000" y="50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39,224,735</a:t>
            </a:r>
          </a:p>
          <a:p>
            <a:pPr algn="ctr"/>
            <a:r>
              <a:rPr sz="1200">
                <a:solidFill>
                  <a:srgbClr val="555555"/>
                </a:solidFill>
              </a:rPr>
              <a:t>Total Trip Records</a:t>
            </a:r>
          </a:p>
        </p:txBody>
      </p:sp>
      <p:sp>
        <p:nvSpPr>
          <p:cNvPr id="9" name="Rounded Rectangle 8"/>
          <p:cNvSpPr/>
          <p:nvPr/>
        </p:nvSpPr>
        <p:spPr>
          <a:xfrm>
            <a:off x="4400000" y="50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7,248</a:t>
            </a:r>
          </a:p>
          <a:p>
            <a:pPr algn="ctr"/>
            <a:r>
              <a:rPr sz="1200">
                <a:solidFill>
                  <a:srgbClr val="555555"/>
                </a:solidFill>
              </a:rPr>
              <a:t>Weather Hours</a:t>
            </a:r>
          </a:p>
        </p:txBody>
      </p:sp>
      <p:sp>
        <p:nvSpPr>
          <p:cNvPr id="10" name="Rounded Rectangle 9"/>
          <p:cNvSpPr/>
          <p:nvPr/>
        </p:nvSpPr>
        <p:spPr>
          <a:xfrm>
            <a:off x="8400000" y="5000000"/>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D47A1"/>
                </a:solidFill>
              </a:rPr>
              <a:t>265</a:t>
            </a:r>
          </a:p>
          <a:p>
            <a:pPr algn="ctr"/>
            <a:r>
              <a:rPr sz="1200">
                <a:solidFill>
                  <a:srgbClr val="555555"/>
                </a:solidFill>
              </a:rPr>
              <a:t>Taxi Zones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Architecture</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800" i="1">
                <a:solidFill>
                  <a:srgbClr val="555555"/>
                </a:solidFill>
              </a:rPr>
              <a:t>[Insert Architecture Diagram: Capstone_Architecture_PatternA.drawio]</a:t>
            </a:r>
          </a:p>
          <a:p>
            <a:pPr algn="ctr">
              <a:spcBef>
                <a:spcPts val="2000"/>
              </a:spcBef>
            </a:pPr>
            <a:r>
              <a:rPr sz="1600" b="1">
                <a:solidFill>
                  <a:srgbClr val="2D2D2D"/>
                </a:solidFill>
              </a:rPr>
              <a:t>S3 RAW  →  Snowflake Bronze  →  dbt Silver  →  dbt Gold  →  Tableau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Decision: Pattern A (ELT)</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54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Why We Chose It</a:t>
            </a:r>
          </a:p>
          <a:p>
            <a:pPr>
              <a:spcBef>
                <a:spcPts val="600"/>
              </a:spcBef>
            </a:pPr>
            <a:r>
              <a:rPr sz="1300">
                <a:solidFill>
                  <a:srgbClr val="2D2D2D"/>
                </a:solidFill>
              </a:rPr>
              <a:t>•  Team is strongest in SQL</a:t>
            </a:r>
          </a:p>
          <a:p>
            <a:pPr>
              <a:spcBef>
                <a:spcPts val="600"/>
              </a:spcBef>
            </a:pPr>
            <a:r>
              <a:rPr sz="1300">
                <a:solidFill>
                  <a:srgbClr val="2D2D2D"/>
                </a:solidFill>
              </a:rPr>
              <a:t>•  Fewest moving parts for a one-week sprint</a:t>
            </a:r>
          </a:p>
          <a:p>
            <a:pPr>
              <a:spcBef>
                <a:spcPts val="600"/>
              </a:spcBef>
            </a:pPr>
            <a:r>
              <a:rPr sz="1300">
                <a:solidFill>
                  <a:srgbClr val="2D2D2D"/>
                </a:solidFill>
              </a:rPr>
              <a:t>•  All transforms tested and version-controlled (dbt)</a:t>
            </a:r>
          </a:p>
          <a:p>
            <a:pPr>
              <a:spcBef>
                <a:spcPts val="600"/>
              </a:spcBef>
            </a:pPr>
            <a:r>
              <a:rPr sz="1300">
                <a:solidFill>
                  <a:srgbClr val="2D2D2D"/>
                </a:solidFill>
              </a:rPr>
              <a:t>•  Snowflake handles 39M rows natively</a:t>
            </a:r>
          </a:p>
          <a:p>
            <a:pPr>
              <a:spcBef>
                <a:spcPts val="600"/>
              </a:spcBef>
            </a:pPr>
            <a:r>
              <a:rPr sz="1300">
                <a:solidFill>
                  <a:srgbClr val="2D2D2D"/>
                </a:solidFill>
              </a:rPr>
              <a:t>•  Full pipeline re-runs in ~6 minutes</a:t>
            </a:r>
          </a:p>
        </p:txBody>
      </p:sp>
      <p:sp>
        <p:nvSpPr>
          <p:cNvPr id="6" name="Rounded Rectangle 5"/>
          <p:cNvSpPr/>
          <p:nvPr/>
        </p:nvSpPr>
        <p:spPr>
          <a:xfrm>
            <a:off x="6100000" y="1100000"/>
            <a:ext cx="57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What We Gave Up</a:t>
            </a:r>
          </a:p>
          <a:p>
            <a:pPr>
              <a:spcBef>
                <a:spcPts val="600"/>
              </a:spcBef>
            </a:pPr>
            <a:r>
              <a:rPr sz="1300">
                <a:solidFill>
                  <a:srgbClr val="2D2D2D"/>
                </a:solidFill>
              </a:rPr>
              <a:t>•  No Spark/Glue experience demonstrated</a:t>
            </a:r>
          </a:p>
          <a:p>
            <a:pPr>
              <a:spcBef>
                <a:spcPts val="600"/>
              </a:spcBef>
            </a:pPr>
            <a:r>
              <a:rPr sz="1300">
                <a:solidFill>
                  <a:srgbClr val="2D2D2D"/>
                </a:solidFill>
              </a:rPr>
              <a:t>•  No DataFrames or distributed compute</a:t>
            </a:r>
          </a:p>
          <a:p>
            <a:pPr>
              <a:spcBef>
                <a:spcPts val="600"/>
              </a:spcBef>
            </a:pPr>
            <a:r>
              <a:rPr sz="1300">
                <a:solidFill>
                  <a:srgbClr val="2D2D2D"/>
                </a:solidFill>
              </a:rPr>
              <a:t>•  Less tooling breadth on resume</a:t>
            </a:r>
          </a:p>
          <a:p>
            <a:pPr>
              <a:spcBef>
                <a:spcPts val="600"/>
              </a:spcBef>
            </a:pPr>
            <a:r>
              <a:rPr sz="1300">
                <a:solidFill>
                  <a:srgbClr val="2D2D2D"/>
                </a:solidFill>
              </a:rPr>
              <a:t>•  If data exceeded Snowflake limits, would need rework</a:t>
            </a:r>
          </a:p>
        </p:txBody>
      </p:sp>
      <p:sp>
        <p:nvSpPr>
          <p:cNvPr id="7" name="Rounded Rectangle 6"/>
          <p:cNvSpPr/>
          <p:nvPr/>
        </p:nvSpPr>
        <p:spPr>
          <a:xfrm>
            <a:off x="400000" y="3800000"/>
            <a:ext cx="11400000" cy="2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Key Design Decisions</a:t>
            </a:r>
          </a:p>
          <a:p>
            <a:pPr>
              <a:spcBef>
                <a:spcPts val="600"/>
              </a:spcBef>
            </a:pPr>
            <a:r>
              <a:rPr sz="1200">
                <a:solidFill>
                  <a:srgbClr val="2D2D2D"/>
                </a:solidFill>
              </a:rPr>
              <a:t>•  Tables (not views) for staging: 39M rows too expensive to rebuild on every dashboard query</a:t>
            </a:r>
          </a:p>
          <a:p>
            <a:pPr>
              <a:spcBef>
                <a:spcPts val="600"/>
              </a:spcBef>
            </a:pPr>
            <a:r>
              <a:rPr sz="1200">
                <a:solidFill>
                  <a:srgbClr val="2D2D2D"/>
                </a:solidFill>
              </a:rPr>
              <a:t>•  Flag DQ issues, don't delete: preserves traceability, Gold filters with WHERE is_valid = TRUE</a:t>
            </a:r>
          </a:p>
          <a:p>
            <a:pPr>
              <a:spcBef>
                <a:spcPts val="600"/>
              </a:spcBef>
            </a:pPr>
            <a:r>
              <a:rPr sz="1200">
                <a:solidFill>
                  <a:srgbClr val="2D2D2D"/>
                </a:solidFill>
              </a:rPr>
              <a:t>•  Weather join on date + hour: matches trip pickup timestamp granularity (100% match rate)</a:t>
            </a:r>
          </a:p>
          <a:p>
            <a:pPr>
              <a:spcBef>
                <a:spcPts val="600"/>
              </a:spcBef>
            </a:pPr>
            <a:r>
              <a:rPr sz="1200">
                <a:solidFill>
                  <a:srgbClr val="2D2D2D"/>
                </a:solidFill>
              </a:rPr>
              <a:t>•  Single orchestration script: one command runs everything, idempotent, fails fast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Paths We Explored</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000000"/>
            <a:ext cx="3500000" cy="22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Construction Data</a:t>
            </a:r>
          </a:p>
          <a:p>
            <a:pPr algn="ctr">
              <a:spcBef>
                <a:spcPts val="800"/>
              </a:spcBef>
            </a:pPr>
            <a:r>
              <a:rPr sz="1200" i="1">
                <a:solidFill>
                  <a:srgbClr val="555555"/>
                </a:solidFill>
              </a:rPr>
              <a:t>Explored</a:t>
            </a:r>
          </a:p>
          <a:p>
            <a:pPr>
              <a:spcBef>
                <a:spcPts val="1200"/>
              </a:spcBef>
            </a:pPr>
            <a:r>
              <a:rPr sz="1100">
                <a:solidFill>
                  <a:srgbClr val="2D2D2D"/>
                </a:solidFill>
              </a:rPr>
              <a:t>•  Investigated NYC construction data as enrichment</a:t>
            </a:r>
          </a:p>
          <a:p>
            <a:pPr>
              <a:spcBef>
                <a:spcPts val="400"/>
              </a:spcBef>
            </a:pPr>
            <a:r>
              <a:rPr sz="1100">
                <a:solidFill>
                  <a:srgbClr val="2D2D2D"/>
                </a:solidFill>
              </a:rPr>
              <a:t>•  [Why we moved on: data quality, coverage, or relevance]</a:t>
            </a:r>
          </a:p>
        </p:txBody>
      </p:sp>
      <p:sp>
        <p:nvSpPr>
          <p:cNvPr id="6" name="Rounded Rectangle 5"/>
          <p:cNvSpPr/>
          <p:nvPr/>
        </p:nvSpPr>
        <p:spPr>
          <a:xfrm>
            <a:off x="4200000" y="1000000"/>
            <a:ext cx="3500000" cy="2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Pattern B (ETL)</a:t>
            </a:r>
          </a:p>
          <a:p>
            <a:pPr algn="ctr">
              <a:spcBef>
                <a:spcPts val="800"/>
              </a:spcBef>
            </a:pPr>
            <a:r>
              <a:rPr sz="1200" i="1">
                <a:solidFill>
                  <a:srgbClr val="555555"/>
                </a:solidFill>
              </a:rPr>
              <a:t>Built and Tested</a:t>
            </a:r>
          </a:p>
          <a:p>
            <a:pPr>
              <a:spcBef>
                <a:spcPts val="1200"/>
              </a:spcBef>
            </a:pPr>
            <a:r>
              <a:rPr sz="1100">
                <a:solidFill>
                  <a:srgbClr val="2D2D2D"/>
                </a:solidFill>
              </a:rPr>
              <a:t>•  AWS Glue + PySpark for Silver layer cleaning</a:t>
            </a:r>
          </a:p>
          <a:p>
            <a:pPr>
              <a:spcBef>
                <a:spcPts val="400"/>
              </a:spcBef>
            </a:pPr>
            <a:r>
              <a:rPr sz="1100">
                <a:solidFill>
                  <a:srgbClr val="2D2D2D"/>
                </a:solidFill>
              </a:rPr>
              <a:t>•  DataFrame transformations for data quality</a:t>
            </a:r>
          </a:p>
          <a:p>
            <a:pPr>
              <a:spcBef>
                <a:spcPts val="400"/>
              </a:spcBef>
            </a:pPr>
            <a:r>
              <a:rPr sz="1100">
                <a:solidFill>
                  <a:srgbClr val="2D2D2D"/>
                </a:solidFill>
              </a:rPr>
              <a:t>•  [Additional Pattern B details]</a:t>
            </a:r>
          </a:p>
        </p:txBody>
      </p:sp>
      <p:sp>
        <p:nvSpPr>
          <p:cNvPr id="7" name="Rounded Rectangle 6"/>
          <p:cNvSpPr/>
          <p:nvPr/>
        </p:nvSpPr>
        <p:spPr>
          <a:xfrm>
            <a:off x="8000000" y="1000000"/>
            <a:ext cx="3500000" cy="2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Pattern A (ELT)</a:t>
            </a:r>
          </a:p>
          <a:p>
            <a:pPr algn="ctr">
              <a:spcBef>
                <a:spcPts val="800"/>
              </a:spcBef>
            </a:pPr>
            <a:r>
              <a:rPr sz="1200" b="1">
                <a:solidFill>
                  <a:srgbClr val="2E7D32"/>
                </a:solidFill>
              </a:rPr>
              <a:t>Selected</a:t>
            </a:r>
          </a:p>
          <a:p>
            <a:pPr>
              <a:spcBef>
                <a:spcPts val="1200"/>
              </a:spcBef>
            </a:pPr>
            <a:r>
              <a:rPr sz="1100">
                <a:solidFill>
                  <a:srgbClr val="2D2D2D"/>
                </a:solidFill>
              </a:rPr>
              <a:t>•  Snowflake + dbt, all SQL</a:t>
            </a:r>
          </a:p>
          <a:p>
            <a:pPr>
              <a:spcBef>
                <a:spcPts val="400"/>
              </a:spcBef>
            </a:pPr>
            <a:r>
              <a:rPr sz="1100">
                <a:solidFill>
                  <a:srgbClr val="2D2D2D"/>
                </a:solidFill>
              </a:rPr>
              <a:t>•  Full pipeline in ~6 min, 32 tests passing</a:t>
            </a:r>
          </a:p>
          <a:p>
            <a:pPr>
              <a:spcBef>
                <a:spcPts val="400"/>
              </a:spcBef>
            </a:pPr>
            <a:r>
              <a:rPr sz="1100">
                <a:solidFill>
                  <a:srgbClr val="2D2D2D"/>
                </a:solidFill>
              </a:rPr>
              <a:t>•  Idempotent, reproducible, tested</a:t>
            </a:r>
          </a:p>
        </p:txBody>
      </p:sp>
      <p:sp>
        <p:nvSpPr>
          <p:cNvPr id="8" name="TextBox 7"/>
          <p:cNvSpPr txBox="1"/>
          <p:nvPr/>
        </p:nvSpPr>
        <p:spPr>
          <a:xfrm>
            <a:off x="3700000" y="1800000"/>
            <a:ext cx="700000" cy="500000"/>
          </a:xfrm>
          <a:prstGeom prst="rect">
            <a:avLst/>
          </a:prstGeom>
          <a:noFill/>
        </p:spPr>
        <p:txBody>
          <a:bodyPr wrap="none">
            <a:spAutoFit/>
          </a:bodyPr>
          <a:lstStyle/>
          <a:p>
            <a:pPr algn="ctr"/>
            <a:r>
              <a:rPr sz="3200" b="1">
                <a:solidFill>
                  <a:srgbClr val="FE3082"/>
                </a:solidFill>
              </a:rPr>
              <a:t>→</a:t>
            </a:r>
          </a:p>
        </p:txBody>
      </p:sp>
      <p:sp>
        <p:nvSpPr>
          <p:cNvPr id="9" name="TextBox 8"/>
          <p:cNvSpPr txBox="1"/>
          <p:nvPr/>
        </p:nvSpPr>
        <p:spPr>
          <a:xfrm>
            <a:off x="7500000" y="1800000"/>
            <a:ext cx="700000" cy="500000"/>
          </a:xfrm>
          <a:prstGeom prst="rect">
            <a:avLst/>
          </a:prstGeom>
          <a:noFill/>
        </p:spPr>
        <p:txBody>
          <a:bodyPr wrap="none">
            <a:spAutoFit/>
          </a:bodyPr>
          <a:lstStyle/>
          <a:p>
            <a:pPr algn="ctr"/>
            <a:r>
              <a:rPr sz="3200" b="1">
                <a:solidFill>
                  <a:srgbClr val="FE3082"/>
                </a:solidFill>
              </a:rPr>
              <a:t>→</a:t>
            </a:r>
          </a:p>
        </p:txBody>
      </p:sp>
      <p:sp>
        <p:nvSpPr>
          <p:cNvPr id="10" name="Rounded Rectangle 9"/>
          <p:cNvSpPr/>
          <p:nvPr/>
        </p:nvSpPr>
        <p:spPr>
          <a:xfrm>
            <a:off x="400000" y="3500000"/>
            <a:ext cx="11400000" cy="1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E3082"/>
                </a:solidFill>
              </a:rPr>
              <a:t>Why We Chose Pattern A</a:t>
            </a:r>
          </a:p>
          <a:p>
            <a:pPr>
              <a:spcBef>
                <a:spcPts val="600"/>
              </a:spcBef>
            </a:pPr>
            <a:r>
              <a:rPr sz="1200">
                <a:solidFill>
                  <a:srgbClr val="2D2D2D"/>
                </a:solidFill>
              </a:rPr>
              <a:t>•  Strongest reliability guarantee within a one-week sprint (fewer moving parts, fewer failure modes)</a:t>
            </a:r>
          </a:p>
          <a:p>
            <a:pPr>
              <a:spcBef>
                <a:spcPts val="400"/>
              </a:spcBef>
            </a:pPr>
            <a:r>
              <a:rPr sz="1200">
                <a:solidFill>
                  <a:srgbClr val="2D2D2D"/>
                </a:solidFill>
              </a:rPr>
              <a:t>•  Team's SQL strength meant faster iteration and easier debugging</a:t>
            </a:r>
          </a:p>
          <a:p>
            <a:pPr>
              <a:spcBef>
                <a:spcPts val="400"/>
              </a:spcBef>
            </a:pPr>
            <a:r>
              <a:rPr sz="1200">
                <a:solidFill>
                  <a:srgbClr val="2D2D2D"/>
                </a:solidFill>
              </a:rPr>
              <a:t>•  All work from Pattern B exploration informed our data quality understanding</a:t>
            </a:r>
          </a:p>
        </p:txBody>
      </p:sp>
      <p:sp>
        <p:nvSpPr>
          <p:cNvPr id="11" name="Rounded Rectangle 10"/>
          <p:cNvSpPr/>
          <p:nvPr/>
        </p:nvSpPr>
        <p:spPr>
          <a:xfrm>
            <a:off x="400000" y="5000000"/>
            <a:ext cx="11400000" cy="1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D47A1"/>
                </a:solidFill>
              </a:rPr>
              <a:t>What the Exploration Taught Us</a:t>
            </a:r>
          </a:p>
          <a:p>
            <a:pPr>
              <a:spcBef>
                <a:spcPts val="600"/>
              </a:spcBef>
            </a:pPr>
            <a:r>
              <a:rPr sz="1200">
                <a:solidFill>
                  <a:srgbClr val="2D2D2D"/>
                </a:solidFill>
              </a:rPr>
              <a:t>•  [Insight from construction data exploration that influenced final approach]</a:t>
            </a:r>
          </a:p>
          <a:p>
            <a:pPr>
              <a:spcBef>
                <a:spcPts val="400"/>
              </a:spcBef>
            </a:pPr>
            <a:r>
              <a:rPr sz="1200">
                <a:solidFill>
                  <a:srgbClr val="2D2D2D"/>
                </a:solidFill>
              </a:rPr>
              <a:t>•  [Insight from Pattern B work, e.g., data quality issues discovered during Spark cleaning]</a:t>
            </a:r>
          </a:p>
          <a:p>
            <a:pPr>
              <a:spcBef>
                <a:spcPts val="400"/>
              </a:spcBef>
            </a:pPr>
            <a:r>
              <a:rPr sz="1200">
                <a:solidFill>
                  <a:srgbClr val="2D2D2D"/>
                </a:solidFill>
              </a:rPr>
              <a:t>•  [How exploring multiple paths made our final architecture decision more defensible]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t>Data Quality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Quality: What Was Wrong and What We Did</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000000"/>
            <a:ext cx="5400000" cy="1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Pipeline Reconciliation</a:t>
            </a:r>
          </a:p>
          <a:p>
            <a:pPr>
              <a:spcBef>
                <a:spcPts val="400"/>
              </a:spcBef>
            </a:pPr>
            <a:r>
              <a:rPr sz="1100">
                <a:solidFill>
                  <a:srgbClr val="2D2D2D"/>
                </a:solidFill>
              </a:rPr>
              <a:t>Rows in source files:  39,224,735</a:t>
            </a:r>
          </a:p>
          <a:p>
            <a:pPr>
              <a:spcBef>
                <a:spcPts val="400"/>
              </a:spcBef>
            </a:pPr>
            <a:r>
              <a:rPr sz="1100">
                <a:solidFill>
                  <a:srgbClr val="2D2D2D"/>
                </a:solidFill>
              </a:rPr>
              <a:t>Rows loaded to Bronze:  39,224,735 (0 lost)</a:t>
            </a:r>
          </a:p>
          <a:p>
            <a:pPr>
              <a:spcBef>
                <a:spcPts val="400"/>
              </a:spcBef>
            </a:pPr>
            <a:r>
              <a:rPr sz="1100">
                <a:solidFill>
                  <a:srgbClr val="2D2D2D"/>
                </a:solidFill>
              </a:rPr>
              <a:t>Rows in Silver:  39,224,735 (flagged, not removed)</a:t>
            </a:r>
          </a:p>
          <a:p>
            <a:pPr>
              <a:spcBef>
                <a:spcPts val="400"/>
              </a:spcBef>
            </a:pPr>
            <a:r>
              <a:rPr sz="1100">
                <a:solidFill>
                  <a:srgbClr val="2D2D2D"/>
                </a:solidFill>
              </a:rPr>
              <a:t>Rows in Gold (valid only):  38,053,445</a:t>
            </a:r>
          </a:p>
          <a:p>
            <a:pPr>
              <a:spcBef>
                <a:spcPts val="400"/>
              </a:spcBef>
            </a:pPr>
            <a:r>
              <a:rPr sz="1100">
                <a:solidFill>
                  <a:srgbClr val="2D2D2D"/>
                </a:solidFill>
              </a:rPr>
              <a:t>Rows flagged invalid:  1,171,290 (3.0%)</a:t>
            </a:r>
          </a:p>
        </p:txBody>
      </p:sp>
      <p:sp>
        <p:nvSpPr>
          <p:cNvPr id="6" name="Rounded Rectangle 5"/>
          <p:cNvSpPr/>
          <p:nvPr/>
        </p:nvSpPr>
        <p:spPr>
          <a:xfrm>
            <a:off x="6100000" y="1000000"/>
            <a:ext cx="5700000" cy="3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E3082"/>
                </a:solidFill>
              </a:rPr>
              <a:t>Top Defects Found</a:t>
            </a:r>
          </a:p>
          <a:p>
            <a:pPr>
              <a:spcBef>
                <a:spcPts val="500"/>
              </a:spcBef>
            </a:pPr>
            <a:r>
              <a:rPr sz="1100">
                <a:solidFill>
                  <a:srgbClr val="2D2D2D"/>
                </a:solidFill>
              </a:rPr>
              <a:t>•  Null/zero passenger_count: 9.2M (23%) - Kept (warn)</a:t>
            </a:r>
          </a:p>
          <a:p>
            <a:pPr>
              <a:spcBef>
                <a:spcPts val="500"/>
              </a:spcBef>
            </a:pPr>
            <a:r>
              <a:rPr sz="1100">
                <a:solidFill>
                  <a:srgbClr val="2D2D2D"/>
                </a:solidFill>
              </a:rPr>
              <a:t>•  Payment type 0 (undocumented): 9M (23%) - Kept (warn)</a:t>
            </a:r>
          </a:p>
          <a:p>
            <a:pPr>
              <a:spcBef>
                <a:spcPts val="500"/>
              </a:spcBef>
            </a:pPr>
            <a:r>
              <a:rPr sz="1100">
                <a:solidFill>
                  <a:srgbClr val="2D2D2D"/>
                </a:solidFill>
              </a:rPr>
              <a:t>•  Timestamp out of range: 702K (1.8%) - Flagged invalid</a:t>
            </a:r>
          </a:p>
          <a:p>
            <a:pPr>
              <a:spcBef>
                <a:spcPts val="500"/>
              </a:spcBef>
            </a:pPr>
            <a:r>
              <a:rPr sz="1100">
                <a:solidFill>
                  <a:srgbClr val="2D2D2D"/>
                </a:solidFill>
              </a:rPr>
              <a:t>•  Negative fare: 247K (0.6%) - Flagged invalid</a:t>
            </a:r>
          </a:p>
          <a:p>
            <a:pPr>
              <a:spcBef>
                <a:spcPts val="500"/>
              </a:spcBef>
            </a:pPr>
            <a:r>
              <a:rPr sz="1100">
                <a:solidFill>
                  <a:srgbClr val="2D2D2D"/>
                </a:solidFill>
              </a:rPr>
              <a:t>•  Distance &gt; 100 miles: 131K (0.3%) - Flagged invalid</a:t>
            </a:r>
          </a:p>
          <a:p>
            <a:pPr>
              <a:spcBef>
                <a:spcPts val="500"/>
              </a:spcBef>
            </a:pPr>
            <a:r>
              <a:rPr sz="1100">
                <a:solidFill>
                  <a:srgbClr val="2D2D2D"/>
                </a:solidFill>
              </a:rPr>
              <a:t>•  Dropoff before pickup: 87K (0.2%) - Flagged invalid</a:t>
            </a:r>
          </a:p>
        </p:txBody>
      </p:sp>
      <p:sp>
        <p:nvSpPr>
          <p:cNvPr id="7" name="Rounded Rectangle 6"/>
          <p:cNvSpPr/>
          <p:nvPr/>
        </p:nvSpPr>
        <p:spPr>
          <a:xfrm>
            <a:off x="400000" y="3100000"/>
            <a:ext cx="5400000" cy="11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E65100"/>
                </a:solidFill>
              </a:rPr>
              <a:t>The Cash Tip Trap</a:t>
            </a:r>
          </a:p>
          <a:p>
            <a:pPr>
              <a:spcBef>
                <a:spcPts val="400"/>
              </a:spcBef>
            </a:pPr>
            <a:r>
              <a:rPr sz="1100">
                <a:solidFill>
                  <a:srgbClr val="2D2D2D"/>
                </a:solidFill>
              </a:rPr>
              <a:t>tip_amount is recorded for credit card payments only. Cash tips appear as $0.00. Our tip analysis is limited to credit card transactions and we state this explicitly.</a:t>
            </a:r>
          </a:p>
        </p:txBody>
      </p:sp>
      <p:sp>
        <p:nvSpPr>
          <p:cNvPr id="8" name="Rounded Rectangle 7"/>
          <p:cNvSpPr/>
          <p:nvPr/>
        </p:nvSpPr>
        <p:spPr>
          <a:xfrm>
            <a:off x="400000" y="4500000"/>
            <a:ext cx="114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E7D32"/>
                </a:solidFill>
              </a:rPr>
              <a:t>Our Approach: Flag, Don't Delete</a:t>
            </a:r>
          </a:p>
          <a:p>
            <a:pPr>
              <a:spcBef>
                <a:spcPts val="400"/>
              </a:spcBef>
            </a:pPr>
            <a:r>
              <a:rPr sz="1200">
                <a:solidFill>
                  <a:srgbClr val="2D2D2D"/>
                </a:solidFill>
              </a:rPr>
              <a:t>Every row gets is_valid (boolean) + dq_flag_reason (which checks failed). Silver keeps all 39.2M rows. Gold filters to valid only. Full traceability preserved. Two defects found NOT in the data catalog: payment_type 0 and null passenger_count.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t>Year-over-Year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Year-over-Year Finding</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11400000" cy="1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2D2D2D"/>
                </a:solidFill>
              </a:rPr>
              <a:t>[STATE THE YEAR-OVER-YEAR FINDING HERE]</a:t>
            </a:r>
          </a:p>
          <a:p>
            <a:pPr algn="ctr"/>
            <a:r>
              <a:rPr sz="1300" i="1">
                <a:solidFill>
                  <a:srgbClr val="555555"/>
                </a:solidFill>
              </a:rPr>
              <a:t>e.g., During rain/snow events, outer-borough demand fell X% YoY while Manhattan held steady</a:t>
            </a:r>
          </a:p>
        </p:txBody>
      </p:sp>
      <p:sp>
        <p:nvSpPr>
          <p:cNvPr id="6" name="Rounded Rectangle 5"/>
          <p:cNvSpPr/>
          <p:nvPr/>
        </p:nvSpPr>
        <p:spPr>
          <a:xfrm>
            <a:off x="400000" y="2600000"/>
            <a:ext cx="54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D47A1"/>
                </a:solidFill>
              </a:rPr>
              <a:t>Is the comparison fair?</a:t>
            </a:r>
          </a:p>
          <a:p>
            <a:r>
              <a:rPr sz="1200">
                <a:solidFill>
                  <a:srgbClr val="2D2D2D"/>
                </a:solidFill>
              </a:rPr>
              <a:t>Same months (Jan-May), same vehicle types, same DQ filters applied to both years. Weather conditions matched on same hourly granularity.</a:t>
            </a:r>
          </a:p>
        </p:txBody>
      </p:sp>
      <p:sp>
        <p:nvSpPr>
          <p:cNvPr id="7" name="Rounded Rectangle 6"/>
          <p:cNvSpPr/>
          <p:nvPr/>
        </p:nvSpPr>
        <p:spPr>
          <a:xfrm>
            <a:off x="6100000" y="2600000"/>
            <a:ext cx="5700000" cy="1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E7D32"/>
                </a:solidFill>
              </a:rPr>
              <a:t>Could a DQ issue explain it?</a:t>
            </a:r>
          </a:p>
          <a:p>
            <a:r>
              <a:rPr sz="1200">
                <a:solidFill>
                  <a:srgbClr val="2D2D2D"/>
                </a:solidFill>
              </a:rPr>
              <a:t>[What we checked and ruled out: e.g., invalid rows distributed evenly across both years, no systematic bias]</a:t>
            </a:r>
          </a:p>
        </p:txBody>
      </p:sp>
      <p:sp>
        <p:nvSpPr>
          <p:cNvPr id="8" name="Rounded Rectangle 7"/>
          <p:cNvSpPr/>
          <p:nvPr/>
        </p:nvSpPr>
        <p:spPr>
          <a:xfrm>
            <a:off x="400000" y="4300000"/>
            <a:ext cx="5400000" cy="1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E65100"/>
                </a:solidFill>
              </a:rPr>
              <a:t>Is it large enough to be real?</a:t>
            </a:r>
          </a:p>
          <a:p>
            <a:r>
              <a:rPr sz="1200">
                <a:solidFill>
                  <a:srgbClr val="2D2D2D"/>
                </a:solidFill>
              </a:rPr>
              <a:t>[Evidence the change is not noise, or honest confidence statement]</a:t>
            </a:r>
          </a:p>
        </p:txBody>
      </p:sp>
      <p:sp>
        <p:nvSpPr>
          <p:cNvPr id="9" name="Rounded Rectangle 8"/>
          <p:cNvSpPr/>
          <p:nvPr/>
        </p:nvSpPr>
        <p:spPr>
          <a:xfrm>
            <a:off x="6100000" y="4300000"/>
            <a:ext cx="57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D47A1"/>
                </a:solidFill>
              </a:rPr>
              <a:t>So What?</a:t>
            </a:r>
          </a:p>
          <a:p>
            <a:r>
              <a:rPr sz="1200">
                <a:solidFill>
                  <a:srgbClr val="2D2D2D"/>
                </a:solidFill>
              </a:rPr>
              <a:t>[Business recommendation: e.g., stage more drivers in X borough during Y weather because 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2000" i="1">
                <a:solidFill>
                  <a:srgbClr val="555555"/>
                </a:solidFill>
              </a:rPr>
              <a:t>[Insert Tableau Dashboard Screenshot]</a:t>
            </a:r>
          </a:p>
          <a:p>
            <a:pPr algn="ctr">
              <a:spcBef>
                <a:spcPts val="1600"/>
              </a:spcBef>
            </a:pPr>
            <a:r>
              <a:rPr sz="1400">
                <a:solidFill>
                  <a:srgbClr val="2D2D2D"/>
                </a:solidFill>
              </a:rPr>
              <a:t>Connected to AMO_GOLD.MART_WEATHER_DEMAND (34,719 rows)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Supporting Analysis (duplicate as needed)</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800" i="1">
                <a:solidFill>
                  <a:srgbClr val="555555"/>
                </a:solidFill>
              </a:rPr>
              <a:t>[Additional charts / breakdowns from Tableau]</a:t>
            </a:r>
          </a:p>
          <a:p>
            <a:pPr algn="ctr">
              <a:spcBef>
                <a:spcPts val="1200"/>
              </a:spcBef>
            </a:pPr>
            <a:r>
              <a:rPr sz="1400">
                <a:solidFill>
                  <a:srgbClr val="2D2D2D"/>
                </a:solidFill>
              </a:rPr>
              <a:t>Revenue by weather, duration by borough, payment type splits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5</a:t>
            </a:r>
          </a:p>
        </p:txBody>
      </p:sp>
      <p:sp>
        <p:nvSpPr>
          <p:cNvPr id="4" name="Subtitle 3"/>
          <p:cNvSpPr>
            <a:spLocks noGrp="1"/>
          </p:cNvSpPr>
          <p:nvPr>
            <p:ph type="subTitle" idx="1"/>
          </p:nvPr>
        </p:nvSpPr>
        <p:spPr/>
        <p:txBody>
          <a:bodyPr/>
          <a:lstStyle/>
          <a:p>
            <a:r>
              <a:t>Technical Deep Dive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Decisions and Trade-offs</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000000"/>
            <a:ext cx="5400000" cy="2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dbt Model Layering</a:t>
            </a:r>
          </a:p>
          <a:p>
            <a:pPr>
              <a:spcBef>
                <a:spcPts val="500"/>
              </a:spcBef>
            </a:pPr>
            <a:r>
              <a:rPr sz="1100">
                <a:solidFill>
                  <a:srgbClr val="2D2D2D"/>
                </a:solidFill>
              </a:rPr>
              <a:t>•  Staging (stg_*): tables, not views. 39M rows too expensive to rebuild per query</a:t>
            </a:r>
          </a:p>
          <a:p>
            <a:pPr>
              <a:spcBef>
                <a:spcPts val="500"/>
              </a:spcBef>
            </a:pPr>
            <a:r>
              <a:rPr sz="1100">
                <a:solidFill>
                  <a:srgbClr val="2D2D2D"/>
                </a:solidFill>
              </a:rPr>
              <a:t>•  Fact (fct_trips): enriched with borough + weather, filtered to valid</a:t>
            </a:r>
          </a:p>
          <a:p>
            <a:pPr>
              <a:spcBef>
                <a:spcPts val="500"/>
              </a:spcBef>
            </a:pPr>
            <a:r>
              <a:rPr sz="1100">
                <a:solidFill>
                  <a:srgbClr val="2D2D2D"/>
                </a:solidFill>
              </a:rPr>
              <a:t>•  Mart (mart_weather_demand): pre-aggregated for Tableau (34K rows)</a:t>
            </a:r>
          </a:p>
          <a:p>
            <a:pPr>
              <a:spcBef>
                <a:spcPts val="500"/>
              </a:spcBef>
            </a:pPr>
            <a:r>
              <a:rPr sz="1100">
                <a:solidFill>
                  <a:srgbClr val="2D2D2D"/>
                </a:solidFill>
              </a:rPr>
              <a:t>•  Dimensions (dim_zones, dim_weather): lookup tables for drilldown</a:t>
            </a:r>
          </a:p>
        </p:txBody>
      </p:sp>
      <p:sp>
        <p:nvSpPr>
          <p:cNvPr id="6" name="Rounded Rectangle 5"/>
          <p:cNvSpPr/>
          <p:nvPr/>
        </p:nvSpPr>
        <p:spPr>
          <a:xfrm>
            <a:off x="6100000" y="1000000"/>
            <a:ext cx="5700000" cy="2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Testing Strategy</a:t>
            </a:r>
          </a:p>
          <a:p>
            <a:pPr>
              <a:spcBef>
                <a:spcPts val="500"/>
              </a:spcBef>
            </a:pPr>
            <a:r>
              <a:rPr sz="1100">
                <a:solidFill>
                  <a:srgbClr val="2D2D2D"/>
                </a:solidFill>
              </a:rPr>
              <a:t>•  32 automated dbt tests (31 pass, 1 expected warn)</a:t>
            </a:r>
          </a:p>
          <a:p>
            <a:pPr>
              <a:spcBef>
                <a:spcPts val="500"/>
              </a:spcBef>
            </a:pPr>
            <a:r>
              <a:rPr sz="1100">
                <a:solidFill>
                  <a:srgbClr val="2D2D2D"/>
                </a:solidFill>
              </a:rPr>
              <a:t>•  not_null on all key columns</a:t>
            </a:r>
          </a:p>
          <a:p>
            <a:pPr>
              <a:spcBef>
                <a:spcPts val="500"/>
              </a:spcBef>
            </a:pPr>
            <a:r>
              <a:rPr sz="1100">
                <a:solidFill>
                  <a:srgbClr val="2D2D2D"/>
                </a:solidFill>
              </a:rPr>
              <a:t>•  unique on dimension primary keys</a:t>
            </a:r>
          </a:p>
          <a:p>
            <a:pPr>
              <a:spcBef>
                <a:spcPts val="500"/>
              </a:spcBef>
            </a:pPr>
            <a:r>
              <a:rPr sz="1100">
                <a:solidFill>
                  <a:srgbClr val="2D2D2D"/>
                </a:solidFill>
              </a:rPr>
              <a:t>•  accepted_values on categorical columns</a:t>
            </a:r>
          </a:p>
          <a:p>
            <a:pPr>
              <a:spcBef>
                <a:spcPts val="500"/>
              </a:spcBef>
            </a:pPr>
            <a:r>
              <a:rPr sz="1100">
                <a:solidFill>
                  <a:srgbClr val="2D2D2D"/>
                </a:solidFill>
              </a:rPr>
              <a:t>•  relationships on zone foreign keys</a:t>
            </a:r>
          </a:p>
          <a:p>
            <a:pPr>
              <a:spcBef>
                <a:spcPts val="500"/>
              </a:spcBef>
            </a:pPr>
            <a:r>
              <a:rPr sz="1100">
                <a:solidFill>
                  <a:srgbClr val="2D2D2D"/>
                </a:solidFill>
              </a:rPr>
              <a:t>•  Warn severity for known issues (documents, doesn't block)</a:t>
            </a:r>
          </a:p>
        </p:txBody>
      </p:sp>
      <p:sp>
        <p:nvSpPr>
          <p:cNvPr id="7" name="Rounded Rectangle 6"/>
          <p:cNvSpPr/>
          <p:nvPr/>
        </p:nvSpPr>
        <p:spPr>
          <a:xfrm>
            <a:off x="400000" y="3500000"/>
            <a:ext cx="54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Orchestration</a:t>
            </a:r>
          </a:p>
          <a:p>
            <a:pPr>
              <a:spcBef>
                <a:spcPts val="500"/>
              </a:spcBef>
            </a:pPr>
            <a:r>
              <a:rPr sz="1100">
                <a:solidFill>
                  <a:srgbClr val="2D2D2D"/>
                </a:solidFill>
              </a:rPr>
              <a:t>•  Single Python script: python pipeline/orchestrate.py</a:t>
            </a:r>
          </a:p>
          <a:p>
            <a:pPr>
              <a:spcBef>
                <a:spcPts val="500"/>
              </a:spcBef>
            </a:pPr>
            <a:r>
              <a:rPr sz="1100">
                <a:solidFill>
                  <a:srgbClr val="2D2D2D"/>
                </a:solidFill>
              </a:rPr>
              <a:t>•  Runs end-to-end in ~6 minutes</a:t>
            </a:r>
          </a:p>
          <a:p>
            <a:pPr>
              <a:spcBef>
                <a:spcPts val="500"/>
              </a:spcBef>
            </a:pPr>
            <a:r>
              <a:rPr sz="1100">
                <a:solidFill>
                  <a:srgbClr val="2D2D2D"/>
                </a:solidFill>
              </a:rPr>
              <a:t>•  Idempotent: safe to re-run (CREATE OR REPLACE)</a:t>
            </a:r>
          </a:p>
          <a:p>
            <a:pPr>
              <a:spcBef>
                <a:spcPts val="500"/>
              </a:spcBef>
            </a:pPr>
            <a:r>
              <a:rPr sz="1100">
                <a:solidFill>
                  <a:srgbClr val="2D2D2D"/>
                </a:solidFill>
              </a:rPr>
              <a:t>•  7 steps: Bronze infra, load, weather, verify, dbt run, dbt test, summary</a:t>
            </a:r>
          </a:p>
          <a:p>
            <a:pPr>
              <a:spcBef>
                <a:spcPts val="500"/>
              </a:spcBef>
            </a:pPr>
            <a:r>
              <a:rPr sz="1100">
                <a:solidFill>
                  <a:srgbClr val="2D2D2D"/>
                </a:solidFill>
              </a:rPr>
              <a:t>•  Fails fast with clear error messages</a:t>
            </a:r>
          </a:p>
        </p:txBody>
      </p:sp>
      <p:sp>
        <p:nvSpPr>
          <p:cNvPr id="8" name="Rounded Rectangle 7"/>
          <p:cNvSpPr/>
          <p:nvPr/>
        </p:nvSpPr>
        <p:spPr>
          <a:xfrm>
            <a:off x="6100000" y="3500000"/>
            <a:ext cx="5700000" cy="2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E3082"/>
                </a:solidFill>
              </a:rPr>
              <a:t>Key Transformations</a:t>
            </a:r>
          </a:p>
          <a:p>
            <a:pPr>
              <a:spcBef>
                <a:spcPts val="500"/>
              </a:spcBef>
            </a:pPr>
            <a:r>
              <a:rPr sz="1100">
                <a:solidFill>
                  <a:srgbClr val="2D2D2D"/>
                </a:solidFill>
              </a:rPr>
              <a:t>•  Union Yellow + Green (tpep/lpep rename)</a:t>
            </a:r>
          </a:p>
          <a:p>
            <a:pPr>
              <a:spcBef>
                <a:spcPts val="500"/>
              </a:spcBef>
            </a:pPr>
            <a:r>
              <a:rPr sz="1100">
                <a:solidFill>
                  <a:srgbClr val="2D2D2D"/>
                </a:solidFill>
              </a:rPr>
              <a:t>•  DQ flagging: is_valid + dq_flag_reason</a:t>
            </a:r>
          </a:p>
          <a:p>
            <a:pPr>
              <a:spcBef>
                <a:spcPts val="500"/>
              </a:spcBef>
            </a:pPr>
            <a:r>
              <a:rPr sz="1100">
                <a:solidFill>
                  <a:srgbClr val="2D2D2D"/>
                </a:solidFill>
              </a:rPr>
              <a:t>•  Time derivation: hour, rush, night, weekend</a:t>
            </a:r>
          </a:p>
          <a:p>
            <a:pPr>
              <a:spcBef>
                <a:spcPts val="500"/>
              </a:spcBef>
            </a:pPr>
            <a:r>
              <a:rPr sz="1100">
                <a:solidFill>
                  <a:srgbClr val="2D2D2D"/>
                </a:solidFill>
              </a:rPr>
              <a:t>•  Weather join on pickup date + hour</a:t>
            </a:r>
          </a:p>
          <a:p>
            <a:pPr>
              <a:spcBef>
                <a:spcPts val="500"/>
              </a:spcBef>
            </a:pPr>
            <a:r>
              <a:rPr sz="1100">
                <a:solidFill>
                  <a:srgbClr val="2D2D2D"/>
                </a:solidFill>
              </a:rPr>
              <a:t>•  Borough join via zone lookup</a:t>
            </a:r>
          </a:p>
          <a:p>
            <a:pPr>
              <a:spcBef>
                <a:spcPts val="500"/>
              </a:spcBef>
            </a:pPr>
            <a:r>
              <a:rPr sz="1100">
                <a:solidFill>
                  <a:srgbClr val="2D2D2D"/>
                </a:solidFill>
              </a:rPr>
              <a:t>•  Revenue: all fee columns carried through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and Performance Rationale</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000000"/>
            <a:ext cx="5400000" cy="20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Warehouse Configuration</a:t>
            </a:r>
          </a:p>
          <a:p>
            <a:pPr>
              <a:spcBef>
                <a:spcPts val="600"/>
              </a:spcBef>
            </a:pPr>
            <a:r>
              <a:rPr sz="1200">
                <a:solidFill>
                  <a:srgbClr val="2D2D2D"/>
                </a:solidFill>
              </a:rPr>
              <a:t>•  Warehouse: COMPUTE_WH</a:t>
            </a:r>
          </a:p>
          <a:p>
            <a:pPr>
              <a:spcBef>
                <a:spcPts val="600"/>
              </a:spcBef>
            </a:pPr>
            <a:r>
              <a:rPr sz="1200">
                <a:solidFill>
                  <a:srgbClr val="2D2D2D"/>
                </a:solidFill>
              </a:rPr>
              <a:t>•  Size: [X-Small / Small]</a:t>
            </a:r>
          </a:p>
          <a:p>
            <a:pPr>
              <a:spcBef>
                <a:spcPts val="600"/>
              </a:spcBef>
            </a:pPr>
            <a:r>
              <a:rPr sz="1200">
                <a:solidFill>
                  <a:srgbClr val="2D2D2D"/>
                </a:solidFill>
              </a:rPr>
              <a:t>•  Auto-suspend: [X seconds]</a:t>
            </a:r>
          </a:p>
          <a:p>
            <a:pPr>
              <a:spcBef>
                <a:spcPts val="600"/>
              </a:spcBef>
            </a:pPr>
            <a:r>
              <a:rPr sz="1200">
                <a:solidFill>
                  <a:srgbClr val="2D2D2D"/>
                </a:solidFill>
              </a:rPr>
              <a:t>•  Tables: transient (no fail-safe cost)</a:t>
            </a:r>
          </a:p>
        </p:txBody>
      </p:sp>
      <p:sp>
        <p:nvSpPr>
          <p:cNvPr id="6" name="Rounded Rectangle 5"/>
          <p:cNvSpPr/>
          <p:nvPr/>
        </p:nvSpPr>
        <p:spPr>
          <a:xfrm>
            <a:off x="6100000" y="1000000"/>
            <a:ext cx="5700000" cy="20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Performance</a:t>
            </a:r>
          </a:p>
          <a:p>
            <a:pPr>
              <a:spcBef>
                <a:spcPts val="600"/>
              </a:spcBef>
            </a:pPr>
            <a:r>
              <a:rPr sz="1200">
                <a:solidFill>
                  <a:srgbClr val="2D2D2D"/>
                </a:solidFill>
              </a:rPr>
              <a:t>•  Full pipeline: ~6 min end-to-end</a:t>
            </a:r>
          </a:p>
          <a:p>
            <a:pPr>
              <a:spcBef>
                <a:spcPts val="600"/>
              </a:spcBef>
            </a:pPr>
            <a:r>
              <a:rPr sz="1200">
                <a:solidFill>
                  <a:srgbClr val="2D2D2D"/>
                </a:solidFill>
              </a:rPr>
              <a:t>•  Dashboard queries: &lt;1 sec (34K rows)</a:t>
            </a:r>
          </a:p>
          <a:p>
            <a:pPr>
              <a:spcBef>
                <a:spcPts val="600"/>
              </a:spcBef>
            </a:pPr>
            <a:r>
              <a:rPr sz="1200">
                <a:solidFill>
                  <a:srgbClr val="2D2D2D"/>
                </a:solidFill>
              </a:rPr>
              <a:t>•  dbt build (Silver + Gold): ~4 min</a:t>
            </a:r>
          </a:p>
          <a:p>
            <a:pPr>
              <a:spcBef>
                <a:spcPts val="600"/>
              </a:spcBef>
            </a:pPr>
            <a:r>
              <a:rPr sz="1200">
                <a:solidFill>
                  <a:srgbClr val="2D2D2D"/>
                </a:solidFill>
              </a:rPr>
              <a:t>•  COPY INTO: ~90 sec for 39M rows</a:t>
            </a:r>
          </a:p>
        </p:txBody>
      </p:sp>
      <p:sp>
        <p:nvSpPr>
          <p:cNvPr id="7" name="Rounded Rectangle 6"/>
          <p:cNvSpPr/>
          <p:nvPr/>
        </p:nvSpPr>
        <p:spPr>
          <a:xfrm>
            <a:off x="400000" y="33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At 10x the Data Volume</a:t>
            </a:r>
          </a:p>
          <a:p>
            <a:pPr>
              <a:spcBef>
                <a:spcPts val="500"/>
              </a:spcBef>
            </a:pPr>
            <a:r>
              <a:rPr sz="1200">
                <a:solidFill>
                  <a:srgbClr val="2D2D2D"/>
                </a:solidFill>
              </a:rPr>
              <a:t>•  Ingestion: switch to Snowpipe for continuous loading instead of batch COPY INTO</a:t>
            </a:r>
          </a:p>
          <a:p>
            <a:pPr>
              <a:spcBef>
                <a:spcPts val="500"/>
              </a:spcBef>
            </a:pPr>
            <a:r>
              <a:rPr sz="1200">
                <a:solidFill>
                  <a:srgbClr val="2D2D2D"/>
                </a:solidFill>
              </a:rPr>
              <a:t>•  Warehouse: scale up to Medium or use multi-cluster warehouse for concurrency</a:t>
            </a:r>
          </a:p>
          <a:p>
            <a:pPr>
              <a:spcBef>
                <a:spcPts val="500"/>
              </a:spcBef>
            </a:pPr>
            <a:r>
              <a:rPr sz="1200">
                <a:solidFill>
                  <a:srgbClr val="2D2D2D"/>
                </a:solidFill>
              </a:rPr>
              <a:t>•  Materialization: consider incremental models in dbt (append new data only, skip full rebuild)</a:t>
            </a:r>
          </a:p>
          <a:p>
            <a:pPr>
              <a:spcBef>
                <a:spcPts val="500"/>
              </a:spcBef>
            </a:pPr>
            <a:r>
              <a:rPr sz="1200">
                <a:solidFill>
                  <a:srgbClr val="2D2D2D"/>
                </a:solidFill>
              </a:rPr>
              <a:t>•  Storage: partition by year/month for query pruning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t>6</a:t>
            </a:r>
          </a:p>
        </p:txBody>
      </p:sp>
      <p:sp>
        <p:nvSpPr>
          <p:cNvPr id="4" name="Subtitle 3"/>
          <p:cNvSpPr>
            <a:spLocks noGrp="1"/>
          </p:cNvSpPr>
          <p:nvPr>
            <p:ph type="subTitle" idx="1"/>
          </p:nvPr>
        </p:nvSpPr>
        <p:spPr/>
        <p:txBody>
          <a:bodyPr/>
          <a:lstStyle/>
          <a:p>
            <a:r>
              <a:t>Future State and Recommendation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State Proposal</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2E7D32"/>
                </a:solidFill>
              </a:rPr>
              <a:t>Real-Time Ingestion</a:t>
            </a:r>
          </a:p>
          <a:p>
            <a:pPr>
              <a:spcBef>
                <a:spcPts val="1600"/>
              </a:spcBef>
            </a:pPr>
            <a:r>
              <a:rPr sz="1100" b="1">
                <a:solidFill>
                  <a:srgbClr val="2E7D32"/>
                </a:solidFill>
              </a:rPr>
              <a:t>What:</a:t>
            </a:r>
          </a:p>
          <a:p>
            <a:r>
              <a:rPr sz="1100">
                <a:solidFill>
                  <a:srgbClr val="2D2D2D"/>
                </a:solidFill>
              </a:rPr>
              <a:t>Snowpipe + streams for continuous loading</a:t>
            </a:r>
          </a:p>
          <a:p>
            <a:pPr>
              <a:spcBef>
                <a:spcPts val="1200"/>
              </a:spcBef>
            </a:pPr>
            <a:r>
              <a:rPr sz="1100" b="1">
                <a:solidFill>
                  <a:srgbClr val="2E7D32"/>
                </a:solidFill>
              </a:rPr>
              <a:t>Effort:</a:t>
            </a:r>
          </a:p>
          <a:p>
            <a:r>
              <a:rPr sz="1100">
                <a:solidFill>
                  <a:srgbClr val="2D2D2D"/>
                </a:solidFill>
              </a:rPr>
              <a:t>1-2 sprints</a:t>
            </a:r>
          </a:p>
          <a:p>
            <a:pPr>
              <a:spcBef>
                <a:spcPts val="1200"/>
              </a:spcBef>
            </a:pPr>
            <a:r>
              <a:rPr sz="1100" b="1">
                <a:solidFill>
                  <a:srgbClr val="2E7D32"/>
                </a:solidFill>
              </a:rPr>
              <a:t>Business Benefit:</a:t>
            </a:r>
          </a:p>
          <a:p>
            <a:r>
              <a:rPr sz="1100">
                <a:solidFill>
                  <a:srgbClr val="2D2D2D"/>
                </a:solidFill>
              </a:rPr>
              <a:t>Live demand monitoring during storms</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D47A1"/>
                </a:solidFill>
              </a:rPr>
              <a:t>ML Forecasting</a:t>
            </a:r>
          </a:p>
          <a:p>
            <a:pPr>
              <a:spcBef>
                <a:spcPts val="1600"/>
              </a:spcBef>
            </a:pPr>
            <a:r>
              <a:rPr sz="1100" b="1">
                <a:solidFill>
                  <a:srgbClr val="0D47A1"/>
                </a:solidFill>
              </a:rPr>
              <a:t>What:</a:t>
            </a:r>
          </a:p>
          <a:p>
            <a:r>
              <a:rPr sz="1100">
                <a:solidFill>
                  <a:srgbClr val="2D2D2D"/>
                </a:solidFill>
              </a:rPr>
              <a:t>Predict demand drops by borough before storms hit</a:t>
            </a:r>
          </a:p>
          <a:p>
            <a:pPr>
              <a:spcBef>
                <a:spcPts val="1200"/>
              </a:spcBef>
            </a:pPr>
            <a:r>
              <a:rPr sz="1100" b="1">
                <a:solidFill>
                  <a:srgbClr val="0D47A1"/>
                </a:solidFill>
              </a:rPr>
              <a:t>Effort:</a:t>
            </a:r>
          </a:p>
          <a:p>
            <a:r>
              <a:rPr sz="1100">
                <a:solidFill>
                  <a:srgbClr val="2D2D2D"/>
                </a:solidFill>
              </a:rPr>
              <a:t>2-3 sprints</a:t>
            </a:r>
          </a:p>
          <a:p>
            <a:pPr>
              <a:spcBef>
                <a:spcPts val="1200"/>
              </a:spcBef>
            </a:pPr>
            <a:r>
              <a:rPr sz="1100" b="1">
                <a:solidFill>
                  <a:srgbClr val="0D47A1"/>
                </a:solidFill>
              </a:rPr>
              <a:t>Business Benefit:</a:t>
            </a:r>
          </a:p>
          <a:p>
            <a:r>
              <a:rPr sz="1100">
                <a:solidFill>
                  <a:srgbClr val="2D2D2D"/>
                </a:solidFill>
              </a:rPr>
              <a:t>Proactive fleet positioning, fewer empty cabs</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E65100"/>
                </a:solidFill>
              </a:rPr>
              <a:t>Multi-City Expansion</a:t>
            </a:r>
          </a:p>
          <a:p>
            <a:pPr>
              <a:spcBef>
                <a:spcPts val="1600"/>
              </a:spcBef>
            </a:pPr>
            <a:r>
              <a:rPr sz="1100" b="1">
                <a:solidFill>
                  <a:srgbClr val="E65100"/>
                </a:solidFill>
              </a:rPr>
              <a:t>What:</a:t>
            </a:r>
          </a:p>
          <a:p>
            <a:r>
              <a:rPr sz="1100">
                <a:solidFill>
                  <a:srgbClr val="2D2D2D"/>
                </a:solidFill>
              </a:rPr>
              <a:t>Replicate pipeline for Chicago, Boston, etc.</a:t>
            </a:r>
          </a:p>
          <a:p>
            <a:pPr>
              <a:spcBef>
                <a:spcPts val="1200"/>
              </a:spcBef>
            </a:pPr>
            <a:r>
              <a:rPr sz="1100" b="1">
                <a:solidFill>
                  <a:srgbClr val="E65100"/>
                </a:solidFill>
              </a:rPr>
              <a:t>Effort:</a:t>
            </a:r>
          </a:p>
          <a:p>
            <a:r>
              <a:rPr sz="1100">
                <a:solidFill>
                  <a:srgbClr val="2D2D2D"/>
                </a:solidFill>
              </a:rPr>
              <a:t>3-4 sprints per city</a:t>
            </a:r>
          </a:p>
          <a:p>
            <a:pPr>
              <a:spcBef>
                <a:spcPts val="1200"/>
              </a:spcBef>
            </a:pPr>
            <a:r>
              <a:rPr sz="1100" b="1">
                <a:solidFill>
                  <a:srgbClr val="E65100"/>
                </a:solidFill>
              </a:rPr>
              <a:t>Business Benefit:</a:t>
            </a:r>
          </a:p>
          <a:p>
            <a:r>
              <a:rPr sz="1100">
                <a:solidFill>
                  <a:srgbClr val="2D2D2D"/>
                </a:solidFill>
              </a:rPr>
              <a:t>National weather-demand intelligence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D2D2D"/>
                </a:solidFill>
              </a:rPr>
              <a:t>Highest Impact: Real-Time Ingestion. Fleet operators need minute-level demand signals during active storms.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State Architecture</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00000" y="2500000"/>
            <a:ext cx="8000000" cy="2000000"/>
          </a:xfrm>
          <a:prstGeom prst="rect">
            <a:avLst/>
          </a:prstGeom>
          <a:noFill/>
        </p:spPr>
        <p:txBody>
          <a:bodyPr wrap="none">
            <a:spAutoFit/>
          </a:bodyPr>
          <a:lstStyle/>
          <a:p>
            <a:pPr algn="ctr"/>
            <a:r>
              <a:rPr sz="1800" i="1">
                <a:solidFill>
                  <a:srgbClr val="555555"/>
                </a:solidFill>
              </a:rPr>
              <a:t>[Insert Future State Architecture Diagram]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200000"/>
            <a:ext cx="11400000" cy="1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D47A1"/>
                </a:solidFill>
              </a:rPr>
              <a:t>[One clear recommendation tied to the finding]</a:t>
            </a:r>
          </a:p>
          <a:p>
            <a:pPr algn="ctr">
              <a:spcBef>
                <a:spcPts val="800"/>
              </a:spcBef>
            </a:pPr>
            <a:r>
              <a:rPr sz="1400" i="1">
                <a:solidFill>
                  <a:srgbClr val="555555"/>
                </a:solidFill>
              </a:rPr>
              <a:t>e.g., Pre-position 15% more vehicles in outer boroughs during forecasted rain events</a:t>
            </a:r>
          </a:p>
        </p:txBody>
      </p:sp>
      <p:sp>
        <p:nvSpPr>
          <p:cNvPr id="6" name="Rounded Rectangle 5"/>
          <p:cNvSpPr/>
          <p:nvPr/>
        </p:nvSpPr>
        <p:spPr>
          <a:xfrm>
            <a:off x="400000" y="3400000"/>
            <a:ext cx="54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E7D32"/>
                </a:solidFill>
              </a:rPr>
              <a:t>Actionable Next Step</a:t>
            </a:r>
          </a:p>
          <a:p>
            <a:pPr>
              <a:spcBef>
                <a:spcPts val="800"/>
              </a:spcBef>
            </a:pPr>
            <a:r>
              <a:rPr sz="1300">
                <a:solidFill>
                  <a:srgbClr val="2D2D2D"/>
                </a:solidFill>
              </a:rPr>
              <a:t>[What the client should do first]</a:t>
            </a:r>
          </a:p>
        </p:txBody>
      </p:sp>
      <p:sp>
        <p:nvSpPr>
          <p:cNvPr id="7" name="Rounded Rectangle 6"/>
          <p:cNvSpPr/>
          <p:nvPr/>
        </p:nvSpPr>
        <p:spPr>
          <a:xfrm>
            <a:off x="6100000" y="3400000"/>
            <a:ext cx="5700000" cy="15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E65100"/>
                </a:solidFill>
              </a:rPr>
              <a:t>Implementation Cost</a:t>
            </a:r>
          </a:p>
          <a:p>
            <a:pPr>
              <a:spcBef>
                <a:spcPts val="800"/>
              </a:spcBef>
            </a:pPr>
            <a:r>
              <a:rPr sz="1300">
                <a:solidFill>
                  <a:srgbClr val="2D2D2D"/>
                </a:solidFill>
              </a:rPr>
              <a:t>[What it would take: time, team, tools]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F5A6BA-5C40-4396-A321-3C576FF36A31}">
  <ds:schemaRefs>
    <ds:schemaRef ds:uri="http://schemas.microsoft.com/office/2006/metadata/properties"/>
    <ds:schemaRef ds:uri="http://schemas.microsoft.com/office/infopath/2007/PartnerControls"/>
    <ds:schemaRef ds:uri="842c473a-5317-4d13-ad87-86a2a47c9514"/>
    <ds:schemaRef ds:uri="65a51801-ec80-49bd-9bc3-86cb9f3d0aa5"/>
  </ds:schemaRefs>
</ds:datastoreItem>
</file>

<file path=customXml/itemProps2.xml><?xml version="1.0" encoding="utf-8"?>
<ds:datastoreItem xmlns:ds="http://schemas.openxmlformats.org/officeDocument/2006/customXml" ds:itemID="{4387F914-44F5-4DBF-AC00-AB7E9ECE043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42c473a-5317-4d13-ad87-86a2a47c9514"/>
    <ds:schemaRef ds:uri="65a51801-ec80-49bd-9bc3-86cb9f3d0aa5"/>
    <ds:schemaRef ds:uri="dca353f4-67a1-4cb1-9c7d-5d69236104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1E6C963-5293-43DA-A96C-045F7BFE166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1</TotalTime>
  <Words>1907</Words>
  <Application>Microsoft Office PowerPoint</Application>
  <PresentationFormat>Widescreen</PresentationFormat>
  <Paragraphs>297</Paragraphs>
  <Slides>32</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Calibri</vt:lpstr>
      <vt:lpstr>Aptos</vt:lpstr>
      <vt:lpstr>Trust Hartford Mono</vt:lpstr>
      <vt:lpstr>Trust Hartford Sans</vt:lpstr>
      <vt:lpstr>Trust Hartford Sans Light</vt:lpstr>
      <vt:lpstr>Trust Hartford Serif</vt:lpstr>
      <vt:lpstr>Arial</vt:lpstr>
      <vt:lpstr>Trust Hartford Serif XLight</vt:lpstr>
      <vt:lpstr>The Hartford Template Slides</vt:lpstr>
      <vt:lpstr>PowerPoint Presentation</vt:lpstr>
      <vt:lpstr>Template Slides</vt:lpstr>
      <vt:lpstr>Title and Divider Slides</vt:lpstr>
      <vt:lpstr>Content Slides</vt:lpstr>
      <vt:lpstr>Print Presentation Example</vt:lpstr>
      <vt:lpstr>Digital Presentation Example</vt:lpstr>
      <vt:lpstr>Color Option Examples</vt:lpstr>
      <vt:lpstr>Chart Templates</vt:lpstr>
      <vt:lpstr>Chart and Table Examples</vt:lpstr>
      <vt:lpstr>Financial Chart and Table Examples</vt:lpstr>
      <vt:lpstr>How to Add the New Financial Chart Colors</vt:lpstr>
      <vt:lpstr>Fonts</vt:lpstr>
      <vt:lpstr>Fonts</vt:lpstr>
      <vt:lpstr>Converting Slide Formats to Avoid Content Distortion</vt:lpstr>
      <vt:lpstr>Applying the Template to Existing Presentations</vt:lpstr>
      <vt:lpstr>Your presentation begins here.</vt:lpstr>
      <vt:lpstr>1</vt:lpstr>
      <vt:lpstr>2</vt:lpstr>
      <vt:lpstr>3</vt:lpstr>
      <vt:lpstr>4</vt:lpstr>
      <vt:lpstr>Title Slide for Reduced Ink Printing</vt:lpstr>
      <vt:lpstr>PowerPoint Presentation</vt:lpstr>
      <vt:lpstr>Agenda</vt:lpstr>
      <vt:lpstr>PowerPoint Presentation</vt:lpstr>
      <vt:lpstr>Sample Chart and Stats Callout</vt:lpstr>
      <vt:lpstr>Sample Pie Chart</vt:lpstr>
      <vt:lpstr>Sample Finance Pie Chart</vt:lpstr>
      <vt:lpstr>Sample Clustered Column and Line Chart</vt:lpstr>
      <vt:lpstr>Sample Line Chart</vt:lpstr>
      <vt:lpstr>Sample Tables </vt:lpstr>
      <vt:lpstr>Sample Tables </vt:lpstr>
      <vt:lpstr>Sample Icon Use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lastModifiedBy>Marin, Orlando (Applied AI and Analytics)</cp:lastModifiedBy>
  <cp:revision>1</cp:revision>
  <cp:lastPrinted>2024-04-30T20:31:00Z</cp:lastPrinted>
  <dcterms:created xsi:type="dcterms:W3CDTF">2026-07-23T20:23:29Z</dcterms:created>
  <dcterms:modified xsi:type="dcterms:W3CDTF">2026-07-23T20:29:41Z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