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06_0.xml" ContentType="application/vnd.ms-powerpoint.comments+xml"/>
  <Override PartName="/ppt/notesSlides/notesSlide8.xml" ContentType="application/vnd.openxmlformats-officedocument.presentationml.notesSlide+xml"/>
  <Override PartName="/ppt/comments/modernComment_10A_0.xml" ContentType="application/vnd.ms-powerpoint.comments+xml"/>
  <Override PartName="/ppt/notesSlides/notesSlide9.xml" ContentType="application/vnd.openxmlformats-officedocument.presentationml.notesSlide+xml"/>
  <Override PartName="/ppt/comments/modernComment_107_0.xml" ContentType="application/vnd.ms-powerpoint.comments+xml"/>
  <Override PartName="/ppt/notesSlides/notesSlide10.xml" ContentType="application/vnd.openxmlformats-officedocument.presentationml.notesSlide+xml"/>
  <Override PartName="/ppt/comments/modernComment_108_0.xml" ContentType="application/vnd.ms-powerpoint.comments+xml"/>
  <Override PartName="/ppt/notesSlides/notesSlide11.xml" ContentType="application/vnd.openxmlformats-officedocument.presentationml.notesSlide+xml"/>
  <Override PartName="/ppt/comments/modernComment_118_0.xml" ContentType="application/vnd.ms-powerpoint.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32"/>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90" r:id="rId20"/>
    <p:sldId id="291" r:id="rId21"/>
    <p:sldId id="292" r:id="rId22"/>
    <p:sldId id="269" r:id="rId23"/>
    <p:sldId id="288" r:id="rId24"/>
    <p:sldId id="295" r:id="rId25"/>
    <p:sldId id="267" r:id="rId26"/>
    <p:sldId id="275" r:id="rId27"/>
    <p:sldId id="296" r:id="rId28"/>
    <p:sldId id="278" r:id="rId29"/>
    <p:sldId id="279" r:id="rId30"/>
    <p:sldId id="297" r:id="rId31"/>
  </p:sldIdLst>
  <p:sldSz cx="12192000" cy="6858000"/>
  <p:notesSz cx="6858000" cy="9144000"/>
  <p:embeddedFontLst>
    <p:embeddedFont>
      <p:font typeface="Segoe UI" panose="020B0502040204020203" pitchFamily="34" charset="0"/>
      <p:regular r:id="rId33"/>
      <p:bold r:id="rId34"/>
      <p:italic r:id="rId35"/>
      <p:boldItalic r:id="rId36"/>
    </p:embeddedFont>
    <p:embeddedFont>
      <p:font typeface="Trust Hartford Sans" panose="020B0604020202020204" charset="0"/>
      <p:regular r:id="rId37"/>
      <p:bold r:id="rId38"/>
      <p:italic r:id="rId39"/>
      <p:boldItalic r:id="rId40"/>
    </p:embeddedFont>
    <p:embeddedFont>
      <p:font typeface="Trust Hartford Sans Light" panose="020B0604020202020204" charset="0"/>
      <p:regular r:id="rId41"/>
      <p:italic r:id="rId42"/>
    </p:embeddedFont>
    <p:embeddedFont>
      <p:font typeface="Trust Hartford Serif" panose="020B0604020202020204" charset="0"/>
      <p:regular r:id="rId43"/>
      <p:bold r:id="rId44"/>
      <p:italic r:id="rId45"/>
      <p:boldItalic r:id="rId46"/>
    </p:embeddedFont>
    <p:embeddedFont>
      <p:font typeface="Trust Hartford Serif XLight" panose="020B0604020202020204" charset="0"/>
      <p:regular r:id="rId47"/>
      <p:italic r:id="rId48"/>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2F3661C5-8049-9BED-8CCF-4D209391F3F6}" v="202" dt="2026-08-18T01:13:18.562"/>
    <p1510:client id="{55CEEAA3-0129-5D74-EA63-FF414F97CB10}" v="20" dt="2026-08-17T03:18:03.237"/>
    <p1510:client id="{BB6831CA-8D10-EC19-2E7C-59C49705195E}" v="2011" dt="2026-08-18T03:51:09.852"/>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7.fntdata"/><Relationship Id="rId21" Type="http://schemas.openxmlformats.org/officeDocument/2006/relationships/slide" Target="slides/slide17.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font" Target="fonts/font15.fntdata"/><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font" Target="fonts/font13.fntdata"/><Relationship Id="rId53" Type="http://schemas.microsoft.com/office/2015/10/relationships/revisionInfo" Target="revisionInfo.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12.fntdata"/><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3.fntdata"/><Relationship Id="rId43" Type="http://schemas.openxmlformats.org/officeDocument/2006/relationships/font" Target="fonts/font11.fntdata"/><Relationship Id="rId48" Type="http://schemas.openxmlformats.org/officeDocument/2006/relationships/font" Target="fonts/font16.fntdata"/><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font" Target="fonts/font14.fntdata"/><Relationship Id="rId20" Type="http://schemas.openxmlformats.org/officeDocument/2006/relationships/slide" Target="slides/slide16.xml"/><Relationship Id="rId41" Type="http://schemas.openxmlformats.org/officeDocument/2006/relationships/font" Target="fonts/font9.fntdata"/><Relationship Id="rId54"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4.fntdata"/><Relationship Id="rId49" Type="http://schemas.openxmlformats.org/officeDocument/2006/relationships/presProps" Target="presProp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and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555555"/>
                </a:solidFill>
              </a:rPr>
              <a:t>ORLANDO: The headline from our analysis that adverse weather doesn't change what a ride costs. Fares stay essentially flat across all boroughs regardless of conditions. What changes is how many rides happen, and that impact is not spread evenly. It concentrates in specific boroughs and specific hours.</a:t>
            </a:r>
            <a:br>
              <a:rPr lang="en-US" dirty="0">
                <a:cs typeface="+mn-lt"/>
              </a:rPr>
            </a:br>
            <a:r>
              <a:rPr lang="en-US" dirty="0">
                <a:solidFill>
                  <a:srgbClr val="555555"/>
                </a:solidFill>
              </a:rPr>
              <a:t> </a:t>
            </a:r>
            <a:br>
              <a:rPr lang="en-US" dirty="0">
                <a:cs typeface="+mn-lt"/>
              </a:rPr>
            </a:br>
            <a:r>
              <a:rPr lang="en-US" dirty="0">
                <a:solidFill>
                  <a:srgbClr val="555555"/>
                </a:solidFill>
              </a:rPr>
              <a:t>We analyzed over 38 million trips across 10 months and all five boroughs. The key insight is that each weather condition creates a different positioning opportunity.</a:t>
            </a:r>
            <a:br>
              <a:rPr lang="en-US" dirty="0">
                <a:cs typeface="+mn-lt"/>
              </a:rPr>
            </a:br>
            <a:r>
              <a:rPr lang="en-US" dirty="0">
                <a:solidFill>
                  <a:srgbClr val="555555"/>
                </a:solidFill>
              </a:rPr>
              <a:t> </a:t>
            </a:r>
            <a:br>
              <a:rPr lang="en-US" dirty="0">
                <a:cs typeface="+mn-lt"/>
              </a:rPr>
            </a:br>
            <a:r>
              <a:rPr lang="en-US" dirty="0">
                <a:solidFill>
                  <a:srgbClr val="555555"/>
                </a:solidFill>
              </a:rPr>
              <a:t>During rain, Brooklyn demand surges 27 percent and per-minute earnings rise 11 percent. During snow, per-minute earnings rise in every borough, from 8 percent in Manhattan to 29 percent in the Bronx. And during clear weather, drivers choose between Manhattan's taxi trip volume or Queens' 14 percent per-minute premium on longer trips.</a:t>
            </a:r>
            <a:endParaRPr lang="en-US" dirty="0"/>
          </a:p>
          <a:p>
            <a:pPr algn="ctr"/>
            <a:endParaRPr lang="en-US" i="1">
              <a:solidFill>
                <a:srgbClr val="555555"/>
              </a:solidFill>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we'll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and</a:t>
            </a:r>
            <a:r>
              <a:rPr lang="en-US"/>
              <a:t> </a:t>
            </a:r>
            <a:r>
              <a:rPr lang="en-US" b="1"/>
              <a:t>Green Taxi</a:t>
            </a:r>
            <a:r>
              <a:rPr lang="en-US"/>
              <a:t> data. </a:t>
            </a:r>
          </a:p>
          <a:p>
            <a:r>
              <a:rPr lang="en-US"/>
              <a:t>For context, 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 and we also </a:t>
            </a:r>
            <a:r>
              <a:rPr lang="en-US"/>
              <a:t>mapped </a:t>
            </a:r>
            <a:r>
              <a:rPr lang="en-US" b="1"/>
              <a:t>265 taxi zones</a:t>
            </a:r>
            <a:r>
              <a:rPr lang="en-US"/>
              <a:t> across the city.</a:t>
            </a:r>
          </a:p>
          <a:p>
            <a:endParaRPr lang="en-US"/>
          </a:p>
          <a:p>
            <a:r>
              <a:rPr lang="en-US"/>
              <a:t>In addition, as an external data source, we incorporated hourly weather data. This allowed us to connect weather patterns directly to taxi activity.</a:t>
            </a:r>
          </a:p>
          <a:p>
            <a:endParaRPr lang="en-US"/>
          </a:p>
          <a:p>
            <a:r>
              <a:rPr lang="en-US"/>
              <a:t>There </a:t>
            </a:r>
            <a:r>
              <a:rPr lang="en-US" i="1"/>
              <a:t>were </a:t>
            </a:r>
            <a:r>
              <a:rPr lang="en-US"/>
              <a:t>some schema challenges with the data, but we'll explore that later on in the presentation.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And to describe how we did this, 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MARYAM: “Building on the clustering analysis, we saw that weather wasn’t a major factor in defining the broader types of taxi zones, but it still mattered for day-to-day demand patterns. </a:t>
            </a:r>
          </a:p>
          <a:p>
            <a:endParaRPr lang="en-US"/>
          </a:p>
          <a:p>
            <a:r>
              <a:rPr lang="en-US"/>
              <a:t>So for the Tableau portion, we looked more closely at how taxi activity differed across the five boroughs, and how those patterns changed with adverse weather from 2025 to 2026.”</a:t>
            </a:r>
          </a:p>
          <a:p>
            <a:endParaRPr lang="en-US"/>
          </a:p>
          <a:p>
            <a:r>
              <a:rPr lang="en-US"/>
              <a:t>1. Overall Taxi Volume</a:t>
            </a:r>
          </a:p>
          <a:p>
            <a:r>
              <a:rPr lang="en-US"/>
              <a:t>“First, we wanted to establish a baseline independent of weather.</a:t>
            </a:r>
          </a:p>
          <a:p>
            <a:r>
              <a:rPr lang="en-US"/>
              <a:t>Overall taxi volume was essentially flat year over year. From January through May, total trips increased only about 0.8%, from 18.92 million in 2025 to 19.06 million in 2026.</a:t>
            </a:r>
          </a:p>
          <a:p>
            <a:endParaRPr lang="en-US"/>
          </a:p>
          <a:p>
            <a:r>
              <a:rPr lang="en-US"/>
              <a:t>But underneath that stable total, the boroughs behaved differently. Brooklyn and the Bronx both grew by around 40%, while Manhattan remained by far the largest market but declined slightly.</a:t>
            </a:r>
          </a:p>
          <a:p>
            <a:endParaRPr lang="en-US"/>
          </a:p>
          <a:p>
            <a:r>
              <a:rPr lang="en-US"/>
              <a:t>So what we’re seeing here is that the overall market stayed stable, but where that activity was occurring was already changing.”</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8554233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Annual Weather-Share Shift</a:t>
            </a:r>
          </a:p>
          <a:p>
            <a:r>
              <a:rPr lang="en-US"/>
              <a:t>“From there, we wanted to see whether adverse weather changed that geographic mix.</a:t>
            </a:r>
          </a:p>
          <a:p>
            <a:endParaRPr lang="en-US"/>
          </a:p>
          <a:p>
            <a:r>
              <a:rPr lang="en-US"/>
              <a:t>For this chart, zero means a borough’s share of the overall trip mix stayed about the same. A positive value means it made up more of the trip mix during adverse weather, and a negative value means it made up less.</a:t>
            </a:r>
          </a:p>
          <a:p>
            <a:endParaRPr lang="en-US"/>
          </a:p>
          <a:p>
            <a:r>
              <a:rPr lang="en-US"/>
              <a:t>The clearest year-over-year change is between Brooklyn and Manhattan.</a:t>
            </a:r>
          </a:p>
          <a:p>
            <a:endParaRPr lang="en-US"/>
          </a:p>
          <a:p>
            <a:r>
              <a:rPr lang="en-US"/>
              <a:t>Brooklyn’s adverse-weather share increased from about +0.2  in 2025 to +0.9 in 2026. Manhattan moved in the opposite direction, from about +0.7 to −0.5. Queens stayed negative in both years, although the decline became smaller.</a:t>
            </a:r>
          </a:p>
          <a:p>
            <a:endParaRPr lang="en-US"/>
          </a:p>
          <a:p>
            <a:r>
              <a:rPr lang="en-US"/>
              <a:t>So here we’re seeing that adverse-weather activity shifted relatively toward Brooklyn and away from Manhattan in 2026.</a:t>
            </a:r>
          </a:p>
          <a:p>
            <a:r>
              <a:rPr lang="en-US"/>
              <a:t>That tells us the geographic response to weather was not the same from one year to the next.”</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17</a:t>
            </a:fld>
            <a:endParaRPr lang="en-US"/>
          </a:p>
        </p:txBody>
      </p:sp>
    </p:spTree>
    <p:extLst>
      <p:ext uri="{BB962C8B-B14F-4D97-AF65-F5344CB8AC3E}">
        <p14:creationId xmlns:p14="http://schemas.microsoft.com/office/powerpoint/2010/main" val="9296536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 Monthly Heatmap</a:t>
            </a:r>
          </a:p>
          <a:p>
            <a:r>
              <a:rPr lang="en-US"/>
              <a:t>“The annual chart gives us the overall direction, but this heatmap shows that the pattern is much more dynamic month to month.</a:t>
            </a:r>
          </a:p>
          <a:p>
            <a:endParaRPr lang="en-US"/>
          </a:p>
          <a:p>
            <a:r>
              <a:rPr lang="en-US"/>
              <a:t>The interpretation is the same: positive means a borough represented a larger share of trips during adverse weather, negative means a smaller share, and values near zero mean there was very little shift.</a:t>
            </a:r>
          </a:p>
          <a:p>
            <a:endParaRPr lang="en-US"/>
          </a:p>
          <a:p>
            <a:r>
              <a:rPr lang="en-US"/>
              <a:t>A few broader patterns stand out.</a:t>
            </a:r>
          </a:p>
          <a:p>
            <a:r>
              <a:rPr lang="en-US"/>
              <a:t>Brooklyn is the most consistent in 2026 — it gains share during adverse weather in every month shown.</a:t>
            </a:r>
          </a:p>
          <a:p>
            <a:r>
              <a:rPr lang="en-US"/>
              <a:t>Manhattan is much more variable. It moves between gaining and losing share depending on the month, rather than showing one consistent response.</a:t>
            </a:r>
          </a:p>
          <a:p>
            <a:endParaRPr lang="en-US"/>
          </a:p>
          <a:p>
            <a:r>
              <a:rPr lang="en-US"/>
              <a:t>And Queens often moves in the opposite direction from Manhattan, which suggests adverse weather can redistribute activity between areas rather than affecting the whole city uniformly.</a:t>
            </a:r>
          </a:p>
          <a:p>
            <a:endParaRPr lang="en-US"/>
          </a:p>
          <a:p>
            <a:r>
              <a:rPr lang="en-US"/>
              <a:t>So what we’re seeing here is that weather’s effect depends not only on the borough, but also on when the weather occurs. The annual result is really the combination of several different monthly patterns.”</a:t>
            </a:r>
          </a:p>
          <a:p>
            <a:endParaRPr lang="en-US"/>
          </a:p>
          <a:p>
            <a:r>
              <a:rPr lang="en-US"/>
              <a:t>“Putting these three views together, the overall taxi market stayed fairly stable, but the geographic distribution underneath it changed — and adverse weather was associated with different borough-level patterns in 2025 and 2026. Namely, Brooklyn became noticeably more prominent during adverse weather in 2026, while Manhattan became much more variable.</a:t>
            </a:r>
          </a:p>
          <a:p>
            <a:endParaRPr lang="en-US"/>
          </a:p>
          <a:p>
            <a:r>
              <a:rPr lang="en-US"/>
              <a:t>So Tableau gives us the where of the story, which is that weather doesn’t affect every borough the same way, and those patterns can change over time.</a:t>
            </a:r>
          </a:p>
          <a:p>
            <a:r>
              <a:rPr lang="en-US"/>
              <a:t>From here, Orlando will take the analysis further into the why and when, including year-over-year demand, time of day, and specific weather types like rain versus snow.</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18</a:t>
            </a:fld>
            <a:endParaRPr lang="en-US"/>
          </a:p>
        </p:txBody>
      </p:sp>
    </p:spTree>
    <p:extLst>
      <p:ext uri="{BB962C8B-B14F-4D97-AF65-F5344CB8AC3E}">
        <p14:creationId xmlns:p14="http://schemas.microsoft.com/office/powerpoint/2010/main" val="32994852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19</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rPr lang="en-US"/>
              <a:t>This slide brings our main findings together into one story: the overall taxi market stayed fairly stable year-to-year, but the activity underneath the surface shifted in meaningful ways.</a:t>
            </a:r>
          </a:p>
          <a:p>
            <a:endParaRPr lang="en-US"/>
          </a:p>
          <a:p>
            <a:r>
              <a:rPr lang="en-US"/>
              <a:t>Growth was concentrated in Brooklyn and the Bronx, while Manhattan's share became more volatile, showing that demand is no longer moving uniformly across neighborhoods.</a:t>
            </a:r>
          </a:p>
          <a:p>
            <a:endParaRPr lang="en-US"/>
          </a:p>
          <a:p>
            <a:r>
              <a:rPr lang="en-US"/>
              <a:t>We also found that weather influenced rider behavior differently from one year to the next, reinforcing that past patterns are not always reliable predictors of future demand.</a:t>
            </a:r>
          </a:p>
          <a:p>
            <a:endParaRPr lang="en-US"/>
          </a:p>
          <a:p>
            <a:r>
              <a:rPr lang="en-US"/>
              <a:t>The largest impacts were tied to severe winter weather, and those effects were felt most during rush hour, when a large share of daily trips and revenue are typically generated.</a:t>
            </a:r>
          </a:p>
          <a:p>
            <a:endParaRPr lang="en-US" b="1"/>
          </a:p>
          <a:p>
            <a:r>
              <a:rPr lang="en-US"/>
              <a:t>When we looked beyond individual trips and weather events, a clearer pattern emerged in how different areas of the city generate demand. Taxi zones naturally fell into four distinct demand profiles, suggesting that where demand occurs matters more than short-term weather conditions.</a:t>
            </a:r>
          </a:p>
          <a:p>
            <a:endParaRPr lang="en-US"/>
          </a:p>
          <a:p>
            <a:r>
              <a:rPr lang="en-US"/>
              <a:t>Overall, while the taxi market remained stable at a citywide level, demand shifted across boroughs, weather impacts changed over time, and distinct travel patterns emerged that can help guide future operational and planning decisions.</a:t>
            </a:r>
          </a:p>
          <a:p>
            <a:endParaRPr lang="en-US"/>
          </a:p>
          <a:p>
            <a:endParaRPr lang="en-US"/>
          </a:p>
          <a:p>
            <a:endParaRPr lang="en-US"/>
          </a:p>
          <a:p>
            <a:endParaRPr lang="en-US">
              <a:cs typeface="+mn-lt"/>
            </a:endParaRPr>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rPr dirty="0"/>
              <a:t>ORLANDO: So what should taxi drivers do with this information? Our data supports three</a:t>
            </a:r>
            <a:r>
              <a:rPr lang="en-US" dirty="0"/>
              <a:t> </a:t>
            </a:r>
            <a:r>
              <a:rPr dirty="0"/>
              <a:t>recommendations.
First, when it rains, </a:t>
            </a:r>
            <a:r>
              <a:rPr lang="en-US" dirty="0"/>
              <a:t>focus on</a:t>
            </a:r>
            <a:r>
              <a:rPr dirty="0"/>
              <a:t> Brooklyn. Brooklyn is the only borough where both demand and earnings </a:t>
            </a:r>
            <a:r>
              <a:rPr lang="en-US" dirty="0"/>
              <a:t>per minute</a:t>
            </a:r>
            <a:r>
              <a:rPr dirty="0"/>
              <a:t> increase during rain. Demand </a:t>
            </a:r>
            <a:r>
              <a:rPr lang="en-US" dirty="0"/>
              <a:t>increases by </a:t>
            </a:r>
            <a:r>
              <a:rPr dirty="0"/>
              <a:t>27 percent, and per-minute earnings rise 11 percent. No other borough shows that combination.
Second, when it snows, stay on the road. This might sound counterintuitive because total trip volume drops during snow. But the drivers who remain available earn more per active minute of driving, in every single borough, ranging from 8 percent more in Manhattan to 29 percent more in the Bronx. In Manhattan, that's $1.52 per minute during clear weather rising to $1.64 during snow. </a:t>
            </a:r>
            <a:endParaRPr lang="en-US" dirty="0"/>
          </a:p>
          <a:p>
            <a:r>
              <a:rPr dirty="0"/>
              <a:t>
Third, during clear weather, which accounts for 94.5 percent of all operating hours, drivers have two strong options. Manhattan offers </a:t>
            </a:r>
            <a:r>
              <a:rPr lang="en-US" dirty="0"/>
              <a:t>the highest taxi trip demand</a:t>
            </a:r>
            <a:r>
              <a:t> at over 4,500 trips per hour, meaning minimal idle time between fares, at $1.52 per active minute.</a:t>
            </a:r>
            <a:r>
              <a:rPr lang="en-US" dirty="0"/>
              <a:t> </a:t>
            </a:r>
            <a:r>
              <a:t>Queens offers a 14 percent earnings premium at $1.73 per active minute, driven by longer trips averaging $58 per fare. For drivers who can stay busy in Queens, particularly with airport runs, the per-minute return is higher.</a:t>
            </a:r>
            <a:r>
              <a:rPr dirty="0"/>
              <a:t>
The bottom line is that each weather condition calls for a different strategy. Rain is an opportunity, snow rewards those who stay, and clear weather is about choosing between volume consistency in Manhattan or higher per-trip efficiency in Queens.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identified three potential next steps to build on this solution.</a:t>
            </a:r>
          </a:p>
          <a:p>
            <a:endParaRPr lang="en-US"/>
          </a:p>
          <a:p>
            <a:r>
              <a:rPr lang="en-US"/>
              <a:t>First, </a:t>
            </a:r>
            <a:r>
              <a:rPr lang="en-US" b="1"/>
              <a:t>real-time ingestion</a:t>
            </a:r>
            <a:r>
              <a:rPr lang="en-US"/>
              <a:t> would allow trip and weather data to flow continuously, giving operators a more up-to-date view of demand during storms.</a:t>
            </a:r>
          </a:p>
          <a:p>
            <a:endParaRPr lang="en-US"/>
          </a:p>
          <a:p>
            <a:r>
              <a:rPr lang="en-US"/>
              <a:t>Second, </a:t>
            </a:r>
            <a:r>
              <a:rPr lang="en-US" b="1"/>
              <a:t>machine learning forecasting</a:t>
            </a:r>
            <a:r>
              <a:rPr lang="en-US"/>
              <a:t> could help predict demand changes before weather events occur, enabling more proactive planning.</a:t>
            </a:r>
          </a:p>
          <a:p>
            <a:endParaRPr lang="en-US"/>
          </a:p>
          <a:p>
            <a:r>
              <a:rPr lang="en-US"/>
              <a:t>Third, as our current solution is </a:t>
            </a:r>
            <a:r>
              <a:rPr lang="en-US" b="1"/>
              <a:t>scalable, it </a:t>
            </a:r>
            <a:r>
              <a:rPr lang="en-US"/>
              <a:t>could be expanded to other cities with similar taxi and weather data.</a:t>
            </a:r>
          </a:p>
          <a:p>
            <a:endParaRPr lang="en-US"/>
          </a:p>
          <a:p>
            <a:r>
              <a:rPr lang="en-US" b="1"/>
              <a:t>Our top recommendation is real-time ingestion because it offers the greatest business value with the lowest implementation effort.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F0683-4C22-807D-01C2-7AD8957880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E61D8-0FB6-177F-8AFF-117CCCE831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DB6B24A-0F5A-C427-A64F-AA3D7326B018}"/>
              </a:ext>
            </a:extLst>
          </p:cNvPr>
          <p:cNvSpPr>
            <a:spLocks noGrp="1"/>
          </p:cNvSpPr>
          <p:nvPr>
            <p:ph type="body" sz="quarter" idx="3"/>
          </p:nvPr>
        </p:nvSpPr>
        <p:spPr/>
        <p:txBody>
          <a:bodyPr/>
          <a:lstStyle/>
          <a:p>
            <a:r>
              <a:rPr lang="en-US"/>
              <a:t>We identified three potential next steps to build on this solution.</a:t>
            </a:r>
            <a:endParaRPr lang="en-US" dirty="0"/>
          </a:p>
          <a:p>
            <a:endParaRPr lang="en-US" dirty="0"/>
          </a:p>
          <a:p>
            <a:r>
              <a:rPr lang="en-US"/>
              <a:t>First, real-time ingestion would allow trip and weather data to flow continuously, giving operators a more up-to-date view of demand during storms.</a:t>
            </a:r>
            <a:endParaRPr lang="en-US" dirty="0"/>
          </a:p>
          <a:p>
            <a:endParaRPr lang="en-US" dirty="0"/>
          </a:p>
          <a:p>
            <a:r>
              <a:rPr lang="en-US"/>
              <a:t>Second, machine learning forecasting could help predict demand changes before weather events occur, enabling more proactive planning.</a:t>
            </a:r>
            <a:endParaRPr lang="en-US" dirty="0"/>
          </a:p>
          <a:p>
            <a:endParaRPr lang="en-US" dirty="0"/>
          </a:p>
          <a:p>
            <a:r>
              <a:rPr lang="en-US"/>
              <a:t>Third, we would expand the analysis itself. Our current dataset covers January – May. A full year of data would show how these patterns hold across all seasons. We'd also incorporate rideshare data from Uber and Lyft. This would help us answer questions that we can't answer with taxi and weather data alone such as: are taxis gaining or losing market share during storms when rideshare apps show surge pricing?</a:t>
            </a:r>
            <a:endParaRPr lang="en-US" dirty="0"/>
          </a:p>
          <a:p>
            <a:endParaRPr lang="en-US" dirty="0"/>
          </a:p>
          <a:p>
            <a:r>
              <a:rPr lang="en-US"/>
              <a:t>Our top recommendation is real-time ingestion because it offers the greatest business value with the lowest implementation effort.</a:t>
            </a:r>
            <a:endParaRPr lang="en-US" dirty="0"/>
          </a:p>
          <a:p>
            <a:endParaRPr/>
          </a:p>
        </p:txBody>
      </p:sp>
      <p:sp>
        <p:nvSpPr>
          <p:cNvPr id="4" name="Slide Number Placeholder 3">
            <a:extLst>
              <a:ext uri="{FF2B5EF4-FFF2-40B4-BE49-F238E27FC236}">
                <a16:creationId xmlns:a16="http://schemas.microsoft.com/office/drawing/2014/main" id="{A8F95100-89C7-20E7-1AC6-3CCA41067F3B}"/>
              </a:ext>
            </a:extLst>
          </p:cNvPr>
          <p:cNvSpPr>
            <a:spLocks noGrp="1"/>
          </p:cNvSpPr>
          <p:nvPr>
            <p:ph type="sldNum" sz="quarter" idx="5"/>
          </p:nvPr>
        </p:nvSpPr>
        <p:spPr/>
      </p:sp>
    </p:spTree>
    <p:extLst>
      <p:ext uri="{BB962C8B-B14F-4D97-AF65-F5344CB8AC3E}">
        <p14:creationId xmlns:p14="http://schemas.microsoft.com/office/powerpoint/2010/main" val="3871931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A_0.xml"/><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7_0.xml"/><Relationship Id="rId2" Type="http://schemas.openxmlformats.org/officeDocument/2006/relationships/notesSlide" Target="../notesSlides/notesSlide9.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microsoft.com/office/2018/10/relationships/comments" Target="../comments/modernComment_108_0.xml"/><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microsoft.com/office/2018/10/relationships/comments" Target="../comments/modernComment_118_0.xml"/><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3.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3" Type="http://schemas.openxmlformats.org/officeDocument/2006/relationships/hyperlink" Target="https://public.tableau.com/app/profile/ariana.lopez8837/viz/clusteringcapstone/Dashboard1" TargetMode="External"/><Relationship Id="rId7"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1.xml"/><Relationship Id="rId6" Type="http://schemas.openxmlformats.org/officeDocument/2006/relationships/image" Target="../media/image8.png"/><Relationship Id="rId5" Type="http://schemas.openxmlformats.org/officeDocument/2006/relationships/hyperlink" Target="https://nyc-taxi-capstone.streamlit.app/" TargetMode="External"/><Relationship Id="rId4" Type="http://schemas.openxmlformats.org/officeDocument/2006/relationships/hyperlink" Target="https://public.tableau.com/views/amd_gold_vizs/Dashboard1?:language=en-US&amp;:sid=&amp;:redirect=auth&amp;:display_count=n&amp;:origin=viz_share_link"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dirty="0">
                <a:solidFill>
                  <a:srgbClr val="8B0138"/>
                </a:solidFill>
              </a:rPr>
              <a:t>Weather doesn't change what a ride costs. It changes how many rides happen, and that impact is </a:t>
            </a:r>
            <a:r>
              <a:rPr lang="en-US" sz="1900" b="1">
                <a:solidFill>
                  <a:srgbClr val="8B0138"/>
                </a:solidFill>
              </a:rPr>
              <a:t>concentrated</a:t>
            </a:r>
            <a:r>
              <a:rPr lang="en-US" sz="1900" b="1" dirty="0">
                <a:solidFill>
                  <a:srgbClr val="8B0138"/>
                </a:solidFill>
              </a:rPr>
              <a:t> in the hours and boroughs that matter most.</a:t>
            </a:r>
            <a:endParaRPr lang="en-US" dirty="0" err="1"/>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During rain, prioritize Brooklyn where demand and earnings both surge. During snow, per-minute </a:t>
            </a:r>
            <a:r>
              <a:rPr lang="en-US" dirty="0">
                <a:solidFill>
                  <a:srgbClr val="2D805D"/>
                </a:solidFill>
              </a:rPr>
              <a:t>earnings rise 8-29% across all boroughs. During clear weather, choose Manhattan for volume or Queens for per-trip returns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Adverse Weather's Impact on NYC Taxi Demand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Key Findings</a:t>
            </a:r>
            <a:endParaRPr lang="en-US">
              <a:solidFill>
                <a:schemeClr val="accent1">
                  <a:lumMod val="76000"/>
                </a:schemeClr>
              </a:solidFill>
            </a:endParaRPr>
          </a:p>
          <a:p>
            <a:pPr>
              <a:lnSpc>
                <a:spcPct val="150000"/>
              </a:lnSpc>
            </a:pPr>
            <a:endParaRPr lang="en-US" sz="1400" b="1">
              <a:solidFill>
                <a:schemeClr val="accent1">
                  <a:lumMod val="76000"/>
                </a:schemeClr>
              </a:solidFill>
            </a:endParaRPr>
          </a:p>
          <a:p>
            <a:pPr>
              <a:lnSpc>
                <a:spcPct val="150000"/>
              </a:lnSpc>
            </a:pPr>
            <a:r>
              <a:rPr lang="en-US" sz="1400" b="1">
                <a:solidFill>
                  <a:schemeClr val="accent1">
                    <a:lumMod val="76000"/>
                  </a:schemeClr>
                </a:solidFill>
              </a:rPr>
              <a:t>Fewer Trips Per Hour</a:t>
            </a:r>
            <a:endParaRPr lang="en-US">
              <a:solidFill>
                <a:schemeClr val="accent1">
                  <a:lumMod val="76000"/>
                </a:schemeClr>
              </a:solidFill>
            </a:endParaRPr>
          </a:p>
          <a:p>
            <a:pPr marL="285750" indent="-285750">
              <a:lnSpc>
                <a:spcPct val="150000"/>
              </a:lnSpc>
              <a:buFont typeface="Arial"/>
              <a:buChar char="•"/>
            </a:pPr>
            <a:r>
              <a:rPr lang="en-US" sz="1400">
                <a:solidFill>
                  <a:schemeClr val="accent1">
                    <a:lumMod val="76000"/>
                  </a:schemeClr>
                </a:solidFill>
              </a:rPr>
              <a:t>Most boroughs see reduced trip volume during adverse weather</a:t>
            </a:r>
          </a:p>
          <a:p>
            <a:pPr>
              <a:lnSpc>
                <a:spcPct val="150000"/>
              </a:lnSpc>
            </a:pPr>
            <a:r>
              <a:rPr lang="en-US" sz="1400" b="1">
                <a:solidFill>
                  <a:schemeClr val="accent1">
                    <a:lumMod val="76000"/>
                  </a:schemeClr>
                </a:solidFill>
              </a:rPr>
              <a:t>Shorter Distances</a:t>
            </a:r>
          </a:p>
          <a:p>
            <a:pPr marL="285750" indent="-285750">
              <a:lnSpc>
                <a:spcPct val="150000"/>
              </a:lnSpc>
              <a:buFont typeface="Arial"/>
              <a:buChar char="•"/>
            </a:pPr>
            <a:r>
              <a:rPr lang="en-US" sz="1400">
                <a:solidFill>
                  <a:schemeClr val="accent1">
                    <a:lumMod val="76000"/>
                  </a:schemeClr>
                </a:solidFill>
              </a:rPr>
              <a:t>Riders take shorter trips during bad weather, suggesting that quicker, nearby rides replace longer commutes</a:t>
            </a:r>
          </a:p>
          <a:p>
            <a:pPr>
              <a:lnSpc>
                <a:spcPct val="150000"/>
              </a:lnSpc>
            </a:pPr>
            <a:r>
              <a:rPr lang="en-US" sz="1400" b="1">
                <a:solidFill>
                  <a:schemeClr val="accent1">
                    <a:lumMod val="76000"/>
                  </a:schemeClr>
                </a:solidFill>
              </a:rPr>
              <a:t>Fares Stay Flat</a:t>
            </a:r>
          </a:p>
          <a:p>
            <a:pPr marL="285750" indent="-285750">
              <a:lnSpc>
                <a:spcPct val="150000"/>
              </a:lnSpc>
              <a:buFont typeface="Arial"/>
              <a:buChar char="•"/>
            </a:pPr>
            <a:r>
              <a:rPr lang="en-US" sz="1400">
                <a:solidFill>
                  <a:schemeClr val="accent1">
                    <a:lumMod val="76000"/>
                  </a:schemeClr>
                </a:solidFill>
              </a:rPr>
              <a:t>Average fares barely change across all boroughs</a:t>
            </a:r>
          </a:p>
          <a:p>
            <a:pPr>
              <a:lnSpc>
                <a:spcPct val="150000"/>
              </a:lnSpc>
            </a:pPr>
            <a:r>
              <a:rPr lang="en-US" sz="1400" b="1">
                <a:solidFill>
                  <a:schemeClr val="accent1">
                    <a:lumMod val="76000"/>
                  </a:schemeClr>
                </a:solidFill>
              </a:rPr>
              <a:t>Takeaway</a:t>
            </a:r>
          </a:p>
          <a:p>
            <a:pPr marL="285750" indent="-285750">
              <a:lnSpc>
                <a:spcPct val="150000"/>
              </a:lnSpc>
              <a:buFont typeface="Arial"/>
              <a:buChar char="•"/>
            </a:pPr>
            <a:r>
              <a:rPr lang="en-US" sz="1400">
                <a:solidFill>
                  <a:schemeClr val="accent1">
                    <a:lumMod val="76000"/>
                  </a:schemeClr>
                </a:solidFill>
              </a:rPr>
              <a:t>The business risk is fewer rides, not less expensive ones</a:t>
            </a: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7C04A6E-3186-5F42-0950-2063610D5B5D}"/>
              </a:ext>
            </a:extLst>
          </p:cNvPr>
          <p:cNvSpPr>
            <a:spLocks noGrp="1"/>
          </p:cNvSpPr>
          <p:nvPr>
            <p:ph type="title"/>
          </p:nvPr>
        </p:nvSpPr>
        <p:spPr/>
        <p:txBody>
          <a:bodyPr/>
          <a:lstStyle/>
          <a:p>
            <a:r>
              <a:rPr lang="en-US"/>
              <a:t>YoY Trip Analysis – Viz 1</a:t>
            </a:r>
          </a:p>
        </p:txBody>
      </p:sp>
      <p:sp>
        <p:nvSpPr>
          <p:cNvPr id="2" name="Slide Number Placeholder 1">
            <a:extLst>
              <a:ext uri="{FF2B5EF4-FFF2-40B4-BE49-F238E27FC236}">
                <a16:creationId xmlns:a16="http://schemas.microsoft.com/office/drawing/2014/main" id="{A2248BA3-980B-DFC4-4E02-CA187B096B7A}"/>
              </a:ext>
            </a:extLst>
          </p:cNvPr>
          <p:cNvSpPr>
            <a:spLocks noGrp="1"/>
          </p:cNvSpPr>
          <p:nvPr>
            <p:ph type="sldNum" sz="quarter" idx="12"/>
          </p:nvPr>
        </p:nvSpPr>
        <p:spPr/>
        <p:txBody>
          <a:bodyPr/>
          <a:lstStyle/>
          <a:p>
            <a:fld id="{0B1B59A6-B74A-41AA-9EF6-238F4BE8BA53}" type="slidenum">
              <a:rPr lang="en-CA" smtClean="0"/>
              <a:t>16</a:t>
            </a:fld>
            <a:endParaRPr lang="en-CA"/>
          </a:p>
        </p:txBody>
      </p:sp>
      <p:sp>
        <p:nvSpPr>
          <p:cNvPr id="6" name="Rectangle 5">
            <a:extLst>
              <a:ext uri="{FF2B5EF4-FFF2-40B4-BE49-F238E27FC236}">
                <a16:creationId xmlns:a16="http://schemas.microsoft.com/office/drawing/2014/main" id="{77EFC999-AC8D-E157-FB7C-C7A2DFDCC26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a:extLst>
              <a:ext uri="{FF2B5EF4-FFF2-40B4-BE49-F238E27FC236}">
                <a16:creationId xmlns:a16="http://schemas.microsoft.com/office/drawing/2014/main" id="{01AA00B1-B7F5-FC4C-BF74-8D55DCDE8904}"/>
              </a:ext>
            </a:extLst>
          </p:cNvPr>
          <p:cNvPicPr>
            <a:picLocks noChangeAspect="1"/>
          </p:cNvPicPr>
          <p:nvPr/>
        </p:nvPicPr>
        <p:blipFill>
          <a:blip r:embed="rId3"/>
          <a:stretch>
            <a:fillRect/>
          </a:stretch>
        </p:blipFill>
        <p:spPr>
          <a:xfrm>
            <a:off x="542440" y="1254920"/>
            <a:ext cx="11107119" cy="499392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0093253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6ED96A-F540-A3F2-3701-FC7677A35049}"/>
              </a:ext>
            </a:extLst>
          </p:cNvPr>
          <p:cNvSpPr>
            <a:spLocks noGrp="1"/>
          </p:cNvSpPr>
          <p:nvPr>
            <p:ph type="title"/>
          </p:nvPr>
        </p:nvSpPr>
        <p:spPr/>
        <p:txBody>
          <a:bodyPr/>
          <a:lstStyle/>
          <a:p>
            <a:r>
              <a:rPr lang="en-US"/>
              <a:t>YoY Trip Analysis – Viz 2 </a:t>
            </a:r>
          </a:p>
        </p:txBody>
      </p:sp>
      <p:sp>
        <p:nvSpPr>
          <p:cNvPr id="2" name="Slide Number Placeholder 1">
            <a:extLst>
              <a:ext uri="{FF2B5EF4-FFF2-40B4-BE49-F238E27FC236}">
                <a16:creationId xmlns:a16="http://schemas.microsoft.com/office/drawing/2014/main" id="{0ED4BDA0-653A-93DA-4353-062B6E334D56}"/>
              </a:ext>
            </a:extLst>
          </p:cNvPr>
          <p:cNvSpPr>
            <a:spLocks noGrp="1"/>
          </p:cNvSpPr>
          <p:nvPr>
            <p:ph type="sldNum" sz="quarter" idx="12"/>
          </p:nvPr>
        </p:nvSpPr>
        <p:spPr/>
        <p:txBody>
          <a:bodyPr/>
          <a:lstStyle/>
          <a:p>
            <a:fld id="{0B1B59A6-B74A-41AA-9EF6-238F4BE8BA53}" type="slidenum">
              <a:rPr lang="en-CA" smtClean="0"/>
              <a:t>17</a:t>
            </a:fld>
            <a:endParaRPr lang="en-CA"/>
          </a:p>
        </p:txBody>
      </p:sp>
      <p:pic>
        <p:nvPicPr>
          <p:cNvPr id="3" name="Picture 2">
            <a:extLst>
              <a:ext uri="{FF2B5EF4-FFF2-40B4-BE49-F238E27FC236}">
                <a16:creationId xmlns:a16="http://schemas.microsoft.com/office/drawing/2014/main" id="{4CF22242-9A3A-A866-18D4-52100E3A8BBD}"/>
              </a:ext>
            </a:extLst>
          </p:cNvPr>
          <p:cNvPicPr>
            <a:picLocks noChangeAspect="1"/>
          </p:cNvPicPr>
          <p:nvPr/>
        </p:nvPicPr>
        <p:blipFill>
          <a:blip r:embed="rId3"/>
          <a:stretch>
            <a:fillRect/>
          </a:stretch>
        </p:blipFill>
        <p:spPr>
          <a:xfrm>
            <a:off x="180813" y="1418494"/>
            <a:ext cx="11830373" cy="440045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Rectangle 5">
            <a:extLst>
              <a:ext uri="{FF2B5EF4-FFF2-40B4-BE49-F238E27FC236}">
                <a16:creationId xmlns:a16="http://schemas.microsoft.com/office/drawing/2014/main" id="{DC769C55-90F0-78DA-92EB-9410A65AF76E}"/>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75371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1E5F39A-AF42-CB1A-1C42-FE15BA749B81}"/>
              </a:ext>
            </a:extLst>
          </p:cNvPr>
          <p:cNvSpPr>
            <a:spLocks noGrp="1"/>
          </p:cNvSpPr>
          <p:nvPr>
            <p:ph type="title"/>
          </p:nvPr>
        </p:nvSpPr>
        <p:spPr/>
        <p:txBody>
          <a:bodyPr/>
          <a:lstStyle/>
          <a:p>
            <a:r>
              <a:rPr lang="en-US"/>
              <a:t>YoY Trip Analysis – Viz 3 </a:t>
            </a:r>
          </a:p>
        </p:txBody>
      </p:sp>
      <p:sp>
        <p:nvSpPr>
          <p:cNvPr id="2" name="Slide Number Placeholder 1">
            <a:extLst>
              <a:ext uri="{FF2B5EF4-FFF2-40B4-BE49-F238E27FC236}">
                <a16:creationId xmlns:a16="http://schemas.microsoft.com/office/drawing/2014/main" id="{D334E3A9-6C4C-B378-7B7F-7E90ABEDD2B1}"/>
              </a:ext>
            </a:extLst>
          </p:cNvPr>
          <p:cNvSpPr>
            <a:spLocks noGrp="1"/>
          </p:cNvSpPr>
          <p:nvPr>
            <p:ph type="sldNum" sz="quarter" idx="12"/>
          </p:nvPr>
        </p:nvSpPr>
        <p:spPr/>
        <p:txBody>
          <a:bodyPr/>
          <a:lstStyle/>
          <a:p>
            <a:fld id="{0B1B59A6-B74A-41AA-9EF6-238F4BE8BA53}" type="slidenum">
              <a:rPr lang="en-CA" smtClean="0"/>
              <a:t>18</a:t>
            </a:fld>
            <a:endParaRPr lang="en-CA"/>
          </a:p>
        </p:txBody>
      </p:sp>
      <p:pic>
        <p:nvPicPr>
          <p:cNvPr id="3" name="Picture 2">
            <a:extLst>
              <a:ext uri="{FF2B5EF4-FFF2-40B4-BE49-F238E27FC236}">
                <a16:creationId xmlns:a16="http://schemas.microsoft.com/office/drawing/2014/main" id="{65285807-1DB9-7D15-6409-8B9E45C6D843}"/>
              </a:ext>
            </a:extLst>
          </p:cNvPr>
          <p:cNvPicPr>
            <a:picLocks noChangeAspect="1"/>
          </p:cNvPicPr>
          <p:nvPr/>
        </p:nvPicPr>
        <p:blipFill>
          <a:blip r:embed="rId3"/>
          <a:stretch>
            <a:fillRect/>
          </a:stretch>
        </p:blipFill>
        <p:spPr>
          <a:xfrm>
            <a:off x="242404" y="1719829"/>
            <a:ext cx="11707193" cy="381871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Rectangle 5">
            <a:extLst>
              <a:ext uri="{FF2B5EF4-FFF2-40B4-BE49-F238E27FC236}">
                <a16:creationId xmlns:a16="http://schemas.microsoft.com/office/drawing/2014/main" id="{2966BC5A-67FF-2C92-D56A-8D9E8A3F77D4}"/>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2261603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hlinkClick r:id="rId3"/>
              </a:rPr>
              <a:t>BigQuery ML Results</a:t>
            </a:r>
            <a:endParaRPr lang="en-US"/>
          </a:p>
          <a:p>
            <a:pPr algn="ctr"/>
            <a:r>
              <a:rPr lang="en-US" sz="1600" b="1">
                <a:solidFill>
                  <a:srgbClr val="0D47A1"/>
                </a:solidFill>
                <a:hlinkClick r:id="rId4"/>
              </a:rPr>
              <a:t>YoY Trip Analysis</a:t>
            </a:r>
            <a:endParaRPr lang="en-US" sz="1600" b="1">
              <a:solidFill>
                <a:srgbClr val="0D47A1"/>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5"/>
              </a:rPr>
              <a:t>Additional</a:t>
            </a:r>
            <a:r>
              <a:rPr lang="en-US" sz="1600" b="1">
                <a:solidFill>
                  <a:srgbClr val="2E7D32"/>
                </a:solidFill>
                <a:hlinkClick r:id="rId5">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6"/>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7"/>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rPr lang="en-US"/>
              <a:t>Summary Of Our Findings</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A7660FCA-5E1F-DA41-ACA6-2C09D31755CC}"/>
              </a:ext>
            </a:extLst>
          </p:cNvPr>
          <p:cNvSpPr/>
          <p:nvPr/>
        </p:nvSpPr>
        <p:spPr>
          <a:xfrm>
            <a:off x="297780" y="1137172"/>
            <a:ext cx="3755195" cy="5525802"/>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endParaRPr lang="en-US" sz="1600" b="1">
              <a:solidFill>
                <a:srgbClr val="0D47A1"/>
              </a:solidFill>
            </a:endParaRPr>
          </a:p>
          <a:p>
            <a:pPr algn="ctr">
              <a:lnSpc>
                <a:spcPct val="150000"/>
              </a:lnSpc>
            </a:pPr>
            <a:r>
              <a:rPr lang="en-US" sz="1400" b="1">
                <a:solidFill>
                  <a:srgbClr val="0D47A1"/>
                </a:solidFill>
              </a:rPr>
              <a:t>Stable Overall Market</a:t>
            </a:r>
            <a:endParaRPr lang="en-US" sz="1400">
              <a:solidFill>
                <a:srgbClr val="FFFFFF"/>
              </a:solidFill>
            </a:endParaRPr>
          </a:p>
          <a:p>
            <a:pPr algn="ctr">
              <a:lnSpc>
                <a:spcPct val="150000"/>
              </a:lnSpc>
            </a:pPr>
            <a:r>
              <a:rPr lang="en-US" sz="1400">
                <a:solidFill>
                  <a:srgbClr val="0D47A1"/>
                </a:solidFill>
              </a:rPr>
              <a:t>Jan-May trips rose just 0.8% despite ~40% growth in Brooklyn and the Bronx.</a:t>
            </a:r>
            <a:endParaRPr lang="en-US" sz="1400"/>
          </a:p>
          <a:p>
            <a:pPr algn="ctr">
              <a:lnSpc>
                <a:spcPct val="150000"/>
              </a:lnSpc>
            </a:pPr>
            <a:endParaRPr lang="en-US" sz="1400" b="1">
              <a:solidFill>
                <a:srgbClr val="0D47A1"/>
              </a:solidFill>
            </a:endParaRPr>
          </a:p>
          <a:p>
            <a:pPr algn="ctr">
              <a:lnSpc>
                <a:spcPct val="150000"/>
              </a:lnSpc>
            </a:pPr>
            <a:r>
              <a:rPr lang="en-US" sz="1400" b="1">
                <a:solidFill>
                  <a:srgbClr val="0D47A1"/>
                </a:solidFill>
              </a:rPr>
              <a:t>Major Brooklyn/Manhattan Weather Shift </a:t>
            </a:r>
            <a:endParaRPr lang="en-US" sz="1400"/>
          </a:p>
          <a:p>
            <a:pPr algn="ctr">
              <a:lnSpc>
                <a:spcPct val="150000"/>
              </a:lnSpc>
            </a:pPr>
            <a:r>
              <a:rPr lang="en-US" sz="1400">
                <a:solidFill>
                  <a:srgbClr val="0D47A1"/>
                </a:solidFill>
              </a:rPr>
              <a:t>Brooklyn: +0.2 -&gt; +0.8 pp; Manhattan: +0.7 -&gt; -0.5 pp; Queens:  -0.8 -&gt; -0.4 pp</a:t>
            </a:r>
            <a:endParaRPr lang="en-US" sz="1400"/>
          </a:p>
          <a:p>
            <a:pPr algn="ctr">
              <a:lnSpc>
                <a:spcPct val="150000"/>
              </a:lnSpc>
            </a:pPr>
            <a:endParaRPr lang="en-US" sz="1400">
              <a:solidFill>
                <a:srgbClr val="0D47A1"/>
              </a:solidFill>
            </a:endParaRPr>
          </a:p>
          <a:p>
            <a:pPr algn="ctr">
              <a:lnSpc>
                <a:spcPct val="150000"/>
              </a:lnSpc>
            </a:pPr>
            <a:r>
              <a:rPr lang="en-US" sz="1400" b="1">
                <a:solidFill>
                  <a:srgbClr val="0D47A1"/>
                </a:solidFill>
              </a:rPr>
              <a:t>Strong Month-to-Month Variability </a:t>
            </a:r>
            <a:endParaRPr lang="en-US" sz="1400"/>
          </a:p>
          <a:p>
            <a:pPr algn="ctr">
              <a:lnSpc>
                <a:spcPct val="150000"/>
              </a:lnSpc>
            </a:pPr>
            <a:r>
              <a:rPr lang="en-US" sz="1400">
                <a:solidFill>
                  <a:srgbClr val="0D47A1"/>
                </a:solidFill>
              </a:rPr>
              <a:t>Brooklyn gained share in all five 2026 months, while Manhattan ranged from –3.0 to +1.8 pp.</a:t>
            </a:r>
            <a:endParaRPr lang="en-US" sz="1400"/>
          </a:p>
        </p:txBody>
      </p:sp>
      <p:sp>
        <p:nvSpPr>
          <p:cNvPr id="7" name="Rounded Rectangle 5">
            <a:extLst>
              <a:ext uri="{FF2B5EF4-FFF2-40B4-BE49-F238E27FC236}">
                <a16:creationId xmlns:a16="http://schemas.microsoft.com/office/drawing/2014/main" id="{263C5470-B92A-0F96-3093-1CEA8BE8D80F}"/>
              </a:ext>
            </a:extLst>
          </p:cNvPr>
          <p:cNvSpPr/>
          <p:nvPr/>
        </p:nvSpPr>
        <p:spPr>
          <a:xfrm>
            <a:off x="4222879" y="1109293"/>
            <a:ext cx="3748539" cy="5551609"/>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400" b="1">
                <a:solidFill>
                  <a:srgbClr val="2E7D32"/>
                </a:solidFill>
              </a:rPr>
              <a:t>Weather's demand impact flipped YoY</a:t>
            </a:r>
            <a:endParaRPr lang="en-US"/>
          </a:p>
          <a:p>
            <a:pPr algn="ctr">
              <a:lnSpc>
                <a:spcPct val="150000"/>
              </a:lnSpc>
            </a:pPr>
            <a:r>
              <a:rPr lang="en-US" sz="1400">
                <a:solidFill>
                  <a:srgbClr val="2E7D32"/>
                </a:solidFill>
              </a:rPr>
              <a:t>In 2025, adverse weather increased taxi demand, while in 2026, it decreased. The relationship between weather and demand is not static.</a:t>
            </a:r>
          </a:p>
          <a:p>
            <a:pPr algn="ctr">
              <a:lnSpc>
                <a:spcPct val="150000"/>
              </a:lnSpc>
            </a:pPr>
            <a:endParaRPr lang="en-US" sz="1400">
              <a:solidFill>
                <a:srgbClr val="2E7D32"/>
              </a:solidFill>
            </a:endParaRPr>
          </a:p>
          <a:p>
            <a:pPr algn="ctr">
              <a:lnSpc>
                <a:spcPct val="150000"/>
              </a:lnSpc>
            </a:pPr>
            <a:r>
              <a:rPr lang="en-US" sz="1400" b="1">
                <a:solidFill>
                  <a:srgbClr val="2E7D32"/>
                </a:solidFill>
              </a:rPr>
              <a:t>Snow drives the drop, while rain still boosts ridership</a:t>
            </a:r>
          </a:p>
          <a:p>
            <a:pPr algn="ctr">
              <a:lnSpc>
                <a:spcPct val="150000"/>
              </a:lnSpc>
            </a:pPr>
            <a:r>
              <a:rPr lang="en-US" sz="1400">
                <a:solidFill>
                  <a:srgbClr val="2E7D32"/>
                </a:solidFill>
              </a:rPr>
              <a:t>The YoY shift is explained by 2026's more severe snow season.</a:t>
            </a:r>
          </a:p>
          <a:p>
            <a:pPr algn="ctr">
              <a:lnSpc>
                <a:spcPct val="150000"/>
              </a:lnSpc>
            </a:pPr>
            <a:endParaRPr lang="en-US" sz="1400">
              <a:solidFill>
                <a:srgbClr val="2E7D32"/>
              </a:solidFill>
            </a:endParaRPr>
          </a:p>
          <a:p>
            <a:pPr algn="ctr">
              <a:lnSpc>
                <a:spcPct val="150000"/>
              </a:lnSpc>
            </a:pPr>
            <a:r>
              <a:rPr lang="en-US" sz="1400" b="1">
                <a:solidFill>
                  <a:srgbClr val="2E7D32"/>
                </a:solidFill>
              </a:rPr>
              <a:t>Revenue losses concentrate during rush hour</a:t>
            </a:r>
          </a:p>
          <a:p>
            <a:pPr algn="ctr">
              <a:lnSpc>
                <a:spcPct val="150000"/>
              </a:lnSpc>
            </a:pPr>
            <a:r>
              <a:rPr lang="en-US" sz="1400">
                <a:solidFill>
                  <a:srgbClr val="2E7D32"/>
                </a:solidFill>
              </a:rPr>
              <a:t>The business impact of adverse weather is not evenly </a:t>
            </a:r>
            <a:r>
              <a:rPr lang="en-US" sz="1400" err="1">
                <a:solidFill>
                  <a:srgbClr val="2E7D32"/>
                </a:solidFill>
              </a:rPr>
              <a:t>distrubuted</a:t>
            </a:r>
            <a:r>
              <a:rPr lang="en-US" sz="1400">
                <a:solidFill>
                  <a:srgbClr val="2E7D32"/>
                </a:solidFill>
              </a:rPr>
              <a:t>. It's heavily weighted toward high-demand windows</a:t>
            </a:r>
          </a:p>
        </p:txBody>
      </p:sp>
      <p:sp>
        <p:nvSpPr>
          <p:cNvPr id="9" name="Rounded Rectangle 6">
            <a:extLst>
              <a:ext uri="{FF2B5EF4-FFF2-40B4-BE49-F238E27FC236}">
                <a16:creationId xmlns:a16="http://schemas.microsoft.com/office/drawing/2014/main" id="{C008DA0C-DB66-90B0-5F75-5B6648E67009}"/>
              </a:ext>
            </a:extLst>
          </p:cNvPr>
          <p:cNvSpPr/>
          <p:nvPr/>
        </p:nvSpPr>
        <p:spPr>
          <a:xfrm>
            <a:off x="8293073" y="1134392"/>
            <a:ext cx="3404708" cy="5398484"/>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400" b="1">
                <a:solidFill>
                  <a:srgbClr val="E65100"/>
                </a:solidFill>
                <a:latin typeface="Trust Hartford Sans"/>
                <a:cs typeface="Segoe UI"/>
              </a:rPr>
              <a:t>Taxi zones naturally grouped into four distinct patterns</a:t>
            </a:r>
            <a:r>
              <a:rPr lang="en-US" sz="1400">
                <a:solidFill>
                  <a:srgbClr val="E65100"/>
                </a:solidFill>
                <a:latin typeface="Trust Hartford Sans"/>
                <a:cs typeface="Segoe UI"/>
              </a:rPr>
              <a:t> nightlife/weekend areas, commuter-focused zones, high-demand core zones, and mixed-demand areas.</a:t>
            </a:r>
            <a:endParaRPr lang="en-US" sz="1400">
              <a:latin typeface="Trust Hartford Sans"/>
            </a:endParaRPr>
          </a:p>
          <a:p>
            <a:pPr algn="ctr">
              <a:lnSpc>
                <a:spcPct val="150000"/>
              </a:lnSpc>
            </a:pPr>
            <a:endParaRPr lang="en-US" sz="1400">
              <a:solidFill>
                <a:srgbClr val="E65100"/>
              </a:solidFill>
              <a:latin typeface="Trust Hartford Sans"/>
              <a:cs typeface="Segoe UI"/>
            </a:endParaRPr>
          </a:p>
          <a:p>
            <a:pPr algn="ctr">
              <a:lnSpc>
                <a:spcPct val="150000"/>
              </a:lnSpc>
            </a:pPr>
            <a:r>
              <a:rPr lang="en-US" sz="1400" b="1">
                <a:solidFill>
                  <a:srgbClr val="E65100"/>
                </a:solidFill>
                <a:latin typeface="Trust Hartford Sans"/>
                <a:cs typeface="Segoe UI"/>
              </a:rPr>
              <a:t>Demand patterns were a stronger differentiator than weather</a:t>
            </a:r>
            <a:endParaRPr lang="en-US" sz="1400">
              <a:solidFill>
                <a:srgbClr val="FFFFFF"/>
              </a:solidFill>
              <a:latin typeface="Trust Hartford Sans"/>
              <a:cs typeface="Segoe UI"/>
            </a:endParaRPr>
          </a:p>
          <a:p>
            <a:pPr algn="ctr">
              <a:lnSpc>
                <a:spcPct val="150000"/>
              </a:lnSpc>
            </a:pPr>
            <a:r>
              <a:rPr lang="en-US" sz="1400">
                <a:solidFill>
                  <a:srgbClr val="E65100"/>
                </a:solidFill>
                <a:latin typeface="Trust Hartford Sans"/>
                <a:cs typeface="Segoe UI"/>
              </a:rPr>
              <a:t> adverse weather exposure had little impact on cluster formation.</a:t>
            </a:r>
            <a:endParaRPr lang="en-US" sz="1400">
              <a:latin typeface="Trust Hartford Sans"/>
            </a:endParaRPr>
          </a:p>
          <a:p>
            <a:pPr algn="ctr">
              <a:lnSpc>
                <a:spcPct val="150000"/>
              </a:lnSpc>
            </a:pPr>
            <a:endParaRPr lang="en-US" sz="1400">
              <a:solidFill>
                <a:srgbClr val="E65100"/>
              </a:solidFill>
              <a:latin typeface="Trust Hartford Sans"/>
              <a:cs typeface="Segoe UI"/>
            </a:endParaRPr>
          </a:p>
          <a:p>
            <a:pPr algn="ctr">
              <a:lnSpc>
                <a:spcPct val="150000"/>
              </a:lnSpc>
            </a:pPr>
            <a:r>
              <a:rPr lang="en-US" sz="1400" b="1">
                <a:solidFill>
                  <a:srgbClr val="E65100"/>
                </a:solidFill>
                <a:latin typeface="Trust Hartford Sans"/>
                <a:cs typeface="Segoe UI"/>
              </a:rPr>
              <a:t>Clustering can support smarter operations</a:t>
            </a:r>
            <a:endParaRPr lang="en-US" sz="1400">
              <a:solidFill>
                <a:srgbClr val="FFFFFF"/>
              </a:solidFill>
              <a:latin typeface="Trust Hartford Sans"/>
              <a:cs typeface="Segoe UI"/>
            </a:endParaRPr>
          </a:p>
          <a:p>
            <a:pPr algn="ctr">
              <a:lnSpc>
                <a:spcPct val="150000"/>
              </a:lnSpc>
            </a:pPr>
            <a:r>
              <a:rPr lang="en-US" sz="1400">
                <a:solidFill>
                  <a:srgbClr val="E65100"/>
                </a:solidFill>
                <a:latin typeface="Trust Hartford Sans"/>
                <a:cs typeface="Segoe UI"/>
              </a:rPr>
              <a:t> zone-specific insights can help guide driver allocation, service planning, and demand forecasting.</a:t>
            </a:r>
            <a:endParaRPr lang="en-US" sz="1400">
              <a:latin typeface="Trust Hartford Sans"/>
            </a:endParaRPr>
          </a:p>
          <a:p>
            <a:endParaRPr lang="en-US" sz="1600" b="1">
              <a:solidFill>
                <a:srgbClr val="E65100"/>
              </a:solidFill>
            </a:endParaRPr>
          </a:p>
        </p:txBody>
      </p:sp>
    </p:spTree>
    <p:extLst>
      <p:ext uri="{BB962C8B-B14F-4D97-AF65-F5344CB8AC3E}">
        <p14:creationId xmlns:p14="http://schemas.microsoft.com/office/powerpoint/2010/main" val="35802478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r>
              <a:rPr lang="en-US"/>
              <a:t> (NEW VERSION)</a:t>
            </a:r>
            <a:endParaRP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35424" y="1000000"/>
            <a:ext cx="3664576" cy="4554611"/>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180000" tIns="180000" rIns="180000" bIns="90000" rtlCol="0" anchor="t"/>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dirty="0">
                <a:solidFill>
                  <a:srgbClr val="2D805D"/>
                </a:solidFill>
                <a:latin typeface="Trust Hartford Sans"/>
              </a:rPr>
              <a:t>Brooklyn demand surges +27% during rain (188 → 238 trips/</a:t>
            </a:r>
            <a:r>
              <a:rPr sz="1400" b="0" dirty="0" err="1">
                <a:solidFill>
                  <a:srgbClr val="2D805D"/>
                </a:solidFill>
                <a:latin typeface="Trust Hartford Sans"/>
              </a:rPr>
              <a:t>hr</a:t>
            </a:r>
            <a:r>
              <a:rPr sz="1400" b="0" dirty="0">
                <a:solidFill>
                  <a:srgbClr val="2D805D"/>
                </a:solidFill>
                <a:latin typeface="Trust Hartford Sans"/>
              </a:rPr>
              <a:t>)</a:t>
            </a:r>
          </a:p>
          <a:p>
            <a:pPr>
              <a:spcBef>
                <a:spcPts val="600"/>
              </a:spcBef>
            </a:pPr>
            <a:r>
              <a:rPr sz="1400" b="0">
                <a:solidFill>
                  <a:srgbClr val="2D805D"/>
                </a:solidFill>
                <a:latin typeface="Trust Hartford Sans"/>
              </a:rPr>
              <a:t>Per-minute earnings rise +11% ($1.14 → $1.26/min)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55461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180000" tIns="180000" rIns="180000" bIns="90000" rtlCol="0" anchor="t"/>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(+8% to +29%)</a:t>
            </a:r>
          </a:p>
          <a:p>
            <a:pPr>
              <a:spcBef>
                <a:spcPts val="600"/>
              </a:spcBef>
            </a:pPr>
            <a:r>
              <a:rPr sz="1400" b="0">
                <a:solidFill>
                  <a:srgbClr val="2F63AF"/>
                </a:solidFill>
                <a:latin typeface="Trust Hartford Sans"/>
              </a:rPr>
              <a:t>Manhattan: $1.52/min clear → $1.64/min snow (+8%)</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7" name="Rounded Rectangle 6"/>
          <p:cNvSpPr/>
          <p:nvPr/>
        </p:nvSpPr>
        <p:spPr>
          <a:xfrm>
            <a:off x="8200000" y="1000000"/>
            <a:ext cx="3535424" cy="455461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180000" tIns="180000" rIns="180000" bIns="90000" rtlCol="0" anchor="t"/>
          <a:lstStyle/>
          <a:p>
            <a:pPr algn="ctr"/>
            <a:r>
              <a:rPr sz="1600" b="1">
                <a:solidFill>
                  <a:srgbClr val="E65100"/>
                </a:solidFill>
                <a:latin typeface="Trust Hartford Sans"/>
              </a:rPr>
              <a:t>Clear Weather: Manhattan or Queens</a:t>
            </a:r>
          </a:p>
          <a:p>
            <a:pPr>
              <a:spcBef>
                <a:spcPts val="1200"/>
              </a:spcBef>
            </a:pPr>
            <a:r>
              <a:rPr sz="1400" b="1">
                <a:solidFill>
                  <a:srgbClr val="E65100"/>
                </a:solidFill>
                <a:latin typeface="Trust Hartford Sans"/>
              </a:rPr>
              <a:t>Manhattan: Volume</a:t>
            </a:r>
          </a:p>
          <a:p>
            <a:pPr>
              <a:spcBef>
                <a:spcPts val="400"/>
              </a:spcBef>
            </a:pPr>
            <a:r>
              <a:rPr sz="1400" b="0" dirty="0">
                <a:solidFill>
                  <a:srgbClr val="E65100"/>
                </a:solidFill>
                <a:latin typeface="Trust Hartford Sans"/>
              </a:rPr>
              <a:t>4,539 trips/</a:t>
            </a:r>
            <a:r>
              <a:rPr sz="1400" b="0" dirty="0" err="1">
                <a:solidFill>
                  <a:srgbClr val="E65100"/>
                </a:solidFill>
                <a:latin typeface="Trust Hartford Sans"/>
              </a:rPr>
              <a:t>hr</a:t>
            </a:r>
            <a:r>
              <a:rPr sz="1400" b="0" dirty="0">
                <a:solidFill>
                  <a:srgbClr val="E65100"/>
                </a:solidFill>
                <a:latin typeface="Trust Hartford Sans"/>
              </a:rPr>
              <a:t>, $1.52/min earnings</a:t>
            </a:r>
          </a:p>
          <a:p>
            <a:pPr>
              <a:spcBef>
                <a:spcPts val="400"/>
              </a:spcBef>
            </a:pPr>
            <a:r>
              <a:rPr sz="1400" b="0">
                <a:solidFill>
                  <a:srgbClr val="E65100"/>
                </a:solidFill>
                <a:latin typeface="Trust Hartford Sans"/>
              </a:rPr>
              <a:t>Minimal idle time between fares</a:t>
            </a:r>
          </a:p>
          <a:p>
            <a:pPr>
              <a:spcBef>
                <a:spcPts val="1200"/>
              </a:spcBef>
            </a:pPr>
            <a:r>
              <a:rPr sz="1400" b="1">
                <a:solidFill>
                  <a:srgbClr val="E65100"/>
                </a:solidFill>
                <a:latin typeface="Trust Hartford Sans"/>
              </a:rPr>
              <a:t>Queens: Efficiency</a:t>
            </a:r>
          </a:p>
          <a:p>
            <a:pPr>
              <a:spcBef>
                <a:spcPts val="400"/>
              </a:spcBef>
            </a:pPr>
            <a:r>
              <a:rPr sz="1400" b="0">
                <a:solidFill>
                  <a:srgbClr val="E65100"/>
                </a:solidFill>
                <a:latin typeface="Trust Hartford Sans"/>
              </a:rPr>
              <a:t>$58 avg fare, $1.73/min earnings (+14% over Manhattan)</a:t>
            </a:r>
          </a:p>
          <a:p>
            <a:pPr>
              <a:spcBef>
                <a:spcPts val="400"/>
              </a:spcBef>
            </a:pPr>
            <a:r>
              <a:rPr sz="1400" b="0">
                <a:solidFill>
                  <a:srgbClr val="E65100"/>
                </a:solidFill>
                <a:latin typeface="Trust Hartford Sans"/>
              </a:rPr>
              <a:t>Longer trips with higher per-minute return</a:t>
            </a:r>
          </a:p>
          <a:p>
            <a:pPr>
              <a:spcBef>
                <a:spcPts val="1200"/>
              </a:spcBef>
            </a:pPr>
            <a:r>
              <a:rPr sz="1400" b="1">
                <a:solidFill>
                  <a:srgbClr val="E65100"/>
                </a:solidFill>
                <a:latin typeface="Trust Hartford Sans"/>
              </a:rPr>
              <a:t>Why It Matters</a:t>
            </a:r>
          </a:p>
          <a:p>
            <a:pPr>
              <a:spcBef>
                <a:spcPts val="400"/>
              </a:spcBef>
            </a:pPr>
            <a:r>
              <a:rPr sz="1400" b="0">
                <a:solidFill>
                  <a:srgbClr val="E65100"/>
                </a:solidFill>
                <a:latin typeface="Trust Hartford Sans"/>
              </a:rPr>
              <a:t>94.5% of hours are clear. Manhattan guarantees volume; Queens rewards drivers who stay busy with airport and cross-borough runs.</a:t>
            </a:r>
          </a:p>
        </p:txBody>
      </p:sp>
      <p:sp>
        <p:nvSpPr>
          <p:cNvPr id="9" name="Rounded Rectangle 7">
            <a:extLst>
              <a:ext uri="{FF2B5EF4-FFF2-40B4-BE49-F238E27FC236}">
                <a16:creationId xmlns:a16="http://schemas.microsoft.com/office/drawing/2014/main" id="{0E9EF528-C2C7-860F-5D34-A626759A64E1}"/>
              </a:ext>
            </a:extLst>
          </p:cNvPr>
          <p:cNvSpPr/>
          <p:nvPr/>
        </p:nvSpPr>
        <p:spPr>
          <a:xfrm>
            <a:off x="327858" y="5710076"/>
            <a:ext cx="11400000" cy="86870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Each weather condition calls for a different positioning strategy. Rain is an opportunity, snow rewards persistence, and clear weather is about volume consistency</a:t>
            </a:r>
            <a:endParaRPr lang="en-US"/>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42446281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nSpc>
                <a:spcPct val="150000"/>
              </a:lnSpc>
            </a:pPr>
            <a:r>
              <a:rPr lang="en-US" sz="1400" b="1">
                <a:solidFill>
                  <a:srgbClr val="2D805D"/>
                </a:solidFill>
                <a:latin typeface="Trust Hartford Sans"/>
                <a:cs typeface="Segoe UI"/>
              </a:rPr>
              <a:t>What We Would Do</a:t>
            </a:r>
          </a:p>
          <a:p>
            <a:pP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nSpc>
                <a:spcPct val="150000"/>
              </a:lnSpc>
            </a:pPr>
            <a:endParaRPr lang="en-US" sz="1400">
              <a:solidFill>
                <a:srgbClr val="2D805D"/>
              </a:solidFill>
              <a:latin typeface="Trust Hartford Sans"/>
              <a:cs typeface="Segoe UI"/>
            </a:endParaRPr>
          </a:p>
          <a:p>
            <a:pPr>
              <a:lnSpc>
                <a:spcPct val="150000"/>
              </a:lnSpc>
            </a:pPr>
            <a:r>
              <a:rPr lang="en-US" sz="1400" b="1">
                <a:solidFill>
                  <a:srgbClr val="2D805D"/>
                </a:solidFill>
                <a:latin typeface="Trust Hartford Sans"/>
                <a:cs typeface="Segoe UI"/>
              </a:rPr>
              <a:t>Business Benefit</a:t>
            </a:r>
          </a:p>
          <a:p>
            <a:pP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sz="1600" b="1">
                <a:solidFill>
                  <a:srgbClr val="0D47A1"/>
                </a:solidFill>
              </a:rPr>
              <a:t>ML Forecasting</a:t>
            </a:r>
            <a:endParaRPr lang="en-US" sz="1600" b="1">
              <a:solidFill>
                <a:srgbClr val="0D47A1"/>
              </a:solidFill>
            </a:endParaRPr>
          </a:p>
          <a:p>
            <a:pPr>
              <a:lnSpc>
                <a:spcPct val="150000"/>
              </a:lnSpc>
              <a:spcBef>
                <a:spcPts val="1600"/>
              </a:spcBef>
            </a:pPr>
            <a:r>
              <a:rPr lang="en-US" sz="1400" b="1">
                <a:solidFill>
                  <a:srgbClr val="0D47A1"/>
                </a:solidFill>
              </a:rPr>
              <a:t>What We Would Do</a:t>
            </a:r>
          </a:p>
          <a:p>
            <a:pPr>
              <a:lnSpc>
                <a:spcPct val="150000"/>
              </a:lnSpc>
              <a:spcBef>
                <a:spcPts val="1600"/>
              </a:spcBef>
            </a:pPr>
            <a:r>
              <a:rPr lang="en-US" sz="1400">
                <a:solidFill>
                  <a:srgbClr val="0D47A1"/>
                </a:solidFill>
              </a:rPr>
              <a:t>Predict demand changes before weather events occur</a:t>
            </a:r>
          </a:p>
          <a:p>
            <a:pPr>
              <a:lnSpc>
                <a:spcPct val="150000"/>
              </a:lnSpc>
              <a:spcBef>
                <a:spcPts val="1600"/>
              </a:spcBef>
            </a:pPr>
            <a:r>
              <a:rPr lang="en-US" sz="1400" b="1">
                <a:solidFill>
                  <a:srgbClr val="0D47A1"/>
                </a:solidFill>
              </a:rPr>
              <a:t>Business Benefit</a:t>
            </a:r>
          </a:p>
          <a:p>
            <a:pPr>
              <a:lnSpc>
                <a:spcPct val="150000"/>
              </a:lnSpc>
              <a:spcBef>
                <a:spcPts val="1600"/>
              </a:spcBef>
            </a:pPr>
            <a:r>
              <a:rPr lang="en-US" sz="1400">
                <a:solidFill>
                  <a:srgbClr val="0D47A1"/>
                </a:solidFill>
              </a:rPr>
              <a:t>Improve driver positioning and reduce idle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Multi-City Expansion</a:t>
            </a:r>
            <a:endParaRPr lang="en-US"/>
          </a:p>
          <a:p>
            <a:pPr>
              <a:lnSpc>
                <a:spcPct val="150000"/>
              </a:lnSpc>
              <a:spcBef>
                <a:spcPts val="1600"/>
              </a:spcBef>
            </a:pPr>
            <a:r>
              <a:rPr lang="en-US" sz="1400" b="1">
                <a:solidFill>
                  <a:schemeClr val="accent1">
                    <a:lumMod val="76000"/>
                  </a:schemeClr>
                </a:solidFill>
              </a:rPr>
              <a:t>What We Would Do</a:t>
            </a:r>
          </a:p>
          <a:p>
            <a:pPr>
              <a:lnSpc>
                <a:spcPct val="150000"/>
              </a:lnSpc>
            </a:pPr>
            <a:r>
              <a:rPr lang="en-US" sz="1400">
                <a:solidFill>
                  <a:schemeClr val="accent1">
                    <a:lumMod val="76000"/>
                  </a:schemeClr>
                </a:solidFill>
              </a:rPr>
              <a:t>Extend the solution to additional cities</a:t>
            </a:r>
          </a:p>
          <a:p>
            <a:pPr>
              <a:lnSpc>
                <a:spcPct val="150000"/>
              </a:lnSpc>
            </a:pPr>
            <a:endParaRPr lang="en-US" sz="1400">
              <a:solidFill>
                <a:schemeClr val="accent1">
                  <a:lumMod val="76000"/>
                </a:schemeClr>
              </a:solidFill>
            </a:endParaRPr>
          </a:p>
          <a:p>
            <a:pPr>
              <a:lnSpc>
                <a:spcPct val="150000"/>
              </a:lnSpc>
              <a:spcBef>
                <a:spcPts val="1200"/>
              </a:spcBef>
            </a:pPr>
            <a:r>
              <a:rPr lang="en-US" sz="1400" b="1">
                <a:solidFill>
                  <a:schemeClr val="accent1">
                    <a:lumMod val="76000"/>
                  </a:schemeClr>
                </a:solidFill>
              </a:rPr>
              <a:t>Business Benefit</a:t>
            </a:r>
          </a:p>
          <a:p>
            <a:pPr>
              <a:lnSpc>
                <a:spcPct val="150000"/>
              </a:lnSpc>
            </a:pPr>
            <a:r>
              <a:rPr lang="en-US" sz="1400">
                <a:solidFill>
                  <a:schemeClr val="accent1">
                    <a:lumMod val="76000"/>
                  </a:schemeClr>
                </a:solidFill>
              </a:rPr>
              <a:t>Enable broader demand and weather insights across markets</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8BB032-CE03-E52B-76A7-48F4466789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DA317-BCD4-C76E-6A4B-A8C1FF7A736C}"/>
              </a:ext>
            </a:extLst>
          </p:cNvPr>
          <p:cNvSpPr>
            <a:spLocks noGrp="1"/>
          </p:cNvSpPr>
          <p:nvPr>
            <p:ph type="title"/>
          </p:nvPr>
        </p:nvSpPr>
        <p:spPr/>
        <p:txBody>
          <a:bodyPr/>
          <a:lstStyle/>
          <a:p>
            <a:r>
              <a:t>Future State Proposal</a:t>
            </a:r>
            <a:r>
              <a:rPr lang="en-US"/>
              <a:t> (NEW VERSION)</a:t>
            </a:r>
            <a:endParaRPr/>
          </a:p>
        </p:txBody>
      </p:sp>
      <p:sp>
        <p:nvSpPr>
          <p:cNvPr id="4" name="Rectangle 3">
            <a:extLst>
              <a:ext uri="{FF2B5EF4-FFF2-40B4-BE49-F238E27FC236}">
                <a16:creationId xmlns:a16="http://schemas.microsoft.com/office/drawing/2014/main" id="{9DB44B19-575B-FBB3-9824-14C85B56DFED}"/>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89DA5DC1-E241-9A1B-2E93-AD5B71A5AE55}"/>
              </a:ext>
            </a:extLst>
          </p:cNvPr>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nSpc>
                <a:spcPct val="150000"/>
              </a:lnSpc>
            </a:pPr>
            <a:r>
              <a:rPr lang="en-US" sz="1400" b="1">
                <a:solidFill>
                  <a:srgbClr val="2D805D"/>
                </a:solidFill>
                <a:latin typeface="Trust Hartford Sans"/>
                <a:cs typeface="Segoe UI"/>
              </a:rPr>
              <a:t>What We Would Do</a:t>
            </a:r>
          </a:p>
          <a:p>
            <a:pP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nSpc>
                <a:spcPct val="150000"/>
              </a:lnSpc>
            </a:pPr>
            <a:endParaRPr lang="en-US" sz="1400">
              <a:solidFill>
                <a:srgbClr val="2D805D"/>
              </a:solidFill>
              <a:latin typeface="Trust Hartford Sans"/>
              <a:cs typeface="Segoe UI"/>
            </a:endParaRPr>
          </a:p>
          <a:p>
            <a:pPr>
              <a:lnSpc>
                <a:spcPct val="150000"/>
              </a:lnSpc>
            </a:pPr>
            <a:r>
              <a:rPr lang="en-US" sz="1400" b="1">
                <a:solidFill>
                  <a:srgbClr val="2D805D"/>
                </a:solidFill>
                <a:latin typeface="Trust Hartford Sans"/>
                <a:cs typeface="Segoe UI"/>
              </a:rPr>
              <a:t>Business Benefit</a:t>
            </a:r>
          </a:p>
          <a:p>
            <a:pP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a:extLst>
              <a:ext uri="{FF2B5EF4-FFF2-40B4-BE49-F238E27FC236}">
                <a16:creationId xmlns:a16="http://schemas.microsoft.com/office/drawing/2014/main" id="{70EF69A8-C0A7-A9C6-031D-7DA653A58E90}"/>
              </a:ext>
            </a:extLst>
          </p:cNvPr>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sz="1600" b="1">
                <a:solidFill>
                  <a:srgbClr val="0D47A1"/>
                </a:solidFill>
              </a:rPr>
              <a:t>ML Forecasting</a:t>
            </a:r>
            <a:endParaRPr lang="en-US" sz="1600" b="1">
              <a:solidFill>
                <a:srgbClr val="0D47A1"/>
              </a:solidFill>
            </a:endParaRPr>
          </a:p>
          <a:p>
            <a:pPr>
              <a:lnSpc>
                <a:spcPct val="150000"/>
              </a:lnSpc>
              <a:spcBef>
                <a:spcPts val="1600"/>
              </a:spcBef>
            </a:pPr>
            <a:r>
              <a:rPr lang="en-US" sz="1400" b="1">
                <a:solidFill>
                  <a:srgbClr val="0D47A1"/>
                </a:solidFill>
              </a:rPr>
              <a:t>What We Would Do</a:t>
            </a:r>
          </a:p>
          <a:p>
            <a:pPr>
              <a:lnSpc>
                <a:spcPct val="150000"/>
              </a:lnSpc>
              <a:spcBef>
                <a:spcPts val="1600"/>
              </a:spcBef>
            </a:pPr>
            <a:r>
              <a:rPr lang="en-US" sz="1400">
                <a:solidFill>
                  <a:srgbClr val="0D47A1"/>
                </a:solidFill>
              </a:rPr>
              <a:t>Predict demand changes before weather events occur</a:t>
            </a:r>
          </a:p>
          <a:p>
            <a:pPr>
              <a:lnSpc>
                <a:spcPct val="150000"/>
              </a:lnSpc>
              <a:spcBef>
                <a:spcPts val="1600"/>
              </a:spcBef>
            </a:pPr>
            <a:r>
              <a:rPr lang="en-US" sz="1400" b="1">
                <a:solidFill>
                  <a:srgbClr val="0D47A1"/>
                </a:solidFill>
              </a:rPr>
              <a:t>Business Benefit</a:t>
            </a:r>
          </a:p>
          <a:p>
            <a:pPr>
              <a:lnSpc>
                <a:spcPct val="150000"/>
              </a:lnSpc>
              <a:spcBef>
                <a:spcPts val="1600"/>
              </a:spcBef>
            </a:pPr>
            <a:r>
              <a:rPr lang="en-US" sz="1400">
                <a:solidFill>
                  <a:srgbClr val="0D47A1"/>
                </a:solidFill>
              </a:rPr>
              <a:t>Improve driver positioning and reduce idle time</a:t>
            </a:r>
          </a:p>
        </p:txBody>
      </p:sp>
      <p:sp>
        <p:nvSpPr>
          <p:cNvPr id="7" name="Rounded Rectangle 6">
            <a:extLst>
              <a:ext uri="{FF2B5EF4-FFF2-40B4-BE49-F238E27FC236}">
                <a16:creationId xmlns:a16="http://schemas.microsoft.com/office/drawing/2014/main" id="{231C1158-05C1-84CE-6FE5-05344DDA41DE}"/>
              </a:ext>
            </a:extLst>
          </p:cNvPr>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Expanded Analysis</a:t>
            </a:r>
            <a:endParaRPr lang="en-US">
              <a:solidFill>
                <a:schemeClr val="accent1">
                  <a:lumMod val="76000"/>
                </a:schemeClr>
              </a:solidFill>
            </a:endParaRPr>
          </a:p>
          <a:p>
            <a:pPr>
              <a:lnSpc>
                <a:spcPct val="150000"/>
              </a:lnSpc>
              <a:spcBef>
                <a:spcPts val="1600"/>
              </a:spcBef>
            </a:pPr>
            <a:r>
              <a:rPr lang="en-US" sz="1400" b="1">
                <a:solidFill>
                  <a:schemeClr val="accent1">
                    <a:lumMod val="76000"/>
                  </a:schemeClr>
                </a:solidFill>
              </a:rPr>
              <a:t>What We Would Do</a:t>
            </a:r>
          </a:p>
          <a:p>
            <a:pPr>
              <a:lnSpc>
                <a:spcPct val="150000"/>
              </a:lnSpc>
            </a:pPr>
            <a:r>
              <a:rPr lang="en-US" sz="1400">
                <a:solidFill>
                  <a:schemeClr val="accent1">
                    <a:lumMod val="76000"/>
                  </a:schemeClr>
                </a:solidFill>
              </a:rPr>
              <a:t>Extend to full-year data for seasonal patterns</a:t>
            </a:r>
          </a:p>
          <a:p>
            <a:pPr>
              <a:lnSpc>
                <a:spcPct val="150000"/>
              </a:lnSpc>
            </a:pPr>
            <a:r>
              <a:rPr lang="en-US" sz="1400" dirty="0">
                <a:solidFill>
                  <a:schemeClr val="accent1">
                    <a:lumMod val="76000"/>
                  </a:schemeClr>
                </a:solidFill>
              </a:rPr>
              <a:t>Incorporate Uber/Lyft to compare surge </a:t>
            </a:r>
            <a:r>
              <a:rPr lang="en-US" sz="1400">
                <a:solidFill>
                  <a:schemeClr val="accent1">
                    <a:lumMod val="76000"/>
                  </a:schemeClr>
                </a:solidFill>
              </a:rPr>
              <a:t>pricing during adverse weather</a:t>
            </a:r>
            <a:endParaRPr lang="en-US">
              <a:solidFill>
                <a:schemeClr val="accent1">
                  <a:lumMod val="76000"/>
                </a:schemeClr>
              </a:solidFill>
            </a:endParaRPr>
          </a:p>
          <a:p>
            <a:pPr>
              <a:lnSpc>
                <a:spcPct val="150000"/>
              </a:lnSpc>
              <a:spcBef>
                <a:spcPts val="1200"/>
              </a:spcBef>
            </a:pPr>
            <a:r>
              <a:rPr lang="en-US" sz="1400" b="1">
                <a:solidFill>
                  <a:schemeClr val="accent1">
                    <a:lumMod val="76000"/>
                  </a:schemeClr>
                </a:solidFill>
              </a:rPr>
              <a:t>Business Benefit</a:t>
            </a:r>
          </a:p>
          <a:p>
            <a:pPr>
              <a:lnSpc>
                <a:spcPct val="150000"/>
              </a:lnSpc>
            </a:pPr>
            <a:r>
              <a:rPr lang="en-US" sz="1400">
                <a:solidFill>
                  <a:schemeClr val="accent1">
                    <a:lumMod val="76000"/>
                  </a:schemeClr>
                </a:solidFill>
              </a:rPr>
              <a:t>Understand how demand shifts across all </a:t>
            </a:r>
            <a:r>
              <a:rPr lang="en-US" sz="1400" dirty="0">
                <a:solidFill>
                  <a:schemeClr val="accent1">
                    <a:lumMod val="76000"/>
                  </a:schemeClr>
                </a:solidFill>
              </a:rPr>
              <a:t>seasons and how rideshare surge pricing competes with taxis</a:t>
            </a:r>
          </a:p>
        </p:txBody>
      </p:sp>
      <p:sp>
        <p:nvSpPr>
          <p:cNvPr id="8" name="Rounded Rectangle 7">
            <a:extLst>
              <a:ext uri="{FF2B5EF4-FFF2-40B4-BE49-F238E27FC236}">
                <a16:creationId xmlns:a16="http://schemas.microsoft.com/office/drawing/2014/main" id="{42C90B95-04F1-69FF-ECD5-5BCF17A08476}"/>
              </a:ext>
            </a:extLst>
          </p:cNvPr>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Tree>
    <p:extLst>
      <p:ext uri="{BB962C8B-B14F-4D97-AF65-F5344CB8AC3E}">
        <p14:creationId xmlns:p14="http://schemas.microsoft.com/office/powerpoint/2010/main" val="11047917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r>
              <a:rPr lang="en-US"/>
              <a:t> (NEW VERSION)</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00000"/>
            <a:ext cx="3755195" cy="42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180000" tIns="180000" rIns="180000" bIns="90000" rtlCol="0" anchor="ctr"/>
          <a:lstStyle/>
          <a:p>
            <a:pPr algn="ctr"/>
            <a:r>
              <a:rPr sz="1600" b="1">
                <a:solidFill>
                  <a:srgbClr val="0D47A1"/>
                </a:solidFill>
                <a:latin typeface="Trust Hartford Sans"/>
              </a:rPr>
              <a:t>Where We Used AI</a:t>
            </a:r>
          </a:p>
          <a:p>
            <a:pPr>
              <a:spcBef>
                <a:spcPts val="1200"/>
              </a:spcBef>
            </a:pPr>
            <a:r>
              <a:rPr sz="1400" b="0">
                <a:solidFill>
                  <a:srgbClr val="2F63AF"/>
                </a:solidFill>
                <a:latin typeface="Trust Hartford Sans"/>
              </a:rPr>
              <a:t>Pipeline development and SQL transformations</a:t>
            </a:r>
          </a:p>
          <a:p>
            <a:pPr>
              <a:spcBef>
                <a:spcPts val="800"/>
              </a:spcBef>
            </a:pPr>
            <a:r>
              <a:rPr sz="1400" b="0">
                <a:solidFill>
                  <a:srgbClr val="2F63AF"/>
                </a:solidFill>
                <a:latin typeface="Trust Hartford Sans"/>
              </a:rPr>
              <a:t>Streamlit visualizations and chart logic</a:t>
            </a:r>
          </a:p>
          <a:p>
            <a:pPr>
              <a:spcBef>
                <a:spcPts val="800"/>
              </a:spcBef>
            </a:pPr>
            <a:r>
              <a:rPr sz="1400" b="0">
                <a:solidFill>
                  <a:srgbClr val="2F63AF"/>
                </a:solidFill>
                <a:latin typeface="Trust Hartford Sans"/>
              </a:rPr>
              <a:t>Data analysis and revenue calculations</a:t>
            </a:r>
          </a:p>
          <a:p>
            <a:pPr>
              <a:spcBef>
                <a:spcPts val="800"/>
              </a:spcBef>
            </a:pPr>
            <a:r>
              <a:rPr sz="1400" b="0">
                <a:solidFill>
                  <a:srgbClr val="2F63AF"/>
                </a:solidFill>
                <a:latin typeface="Trust Hartford Sans"/>
              </a:rPr>
              <a:t>Presentation content and speaker notes</a:t>
            </a:r>
          </a:p>
        </p:txBody>
      </p:sp>
      <p:sp>
        <p:nvSpPr>
          <p:cNvPr id="6" name="Rounded Rectangle 5"/>
          <p:cNvSpPr/>
          <p:nvPr/>
        </p:nvSpPr>
        <p:spPr>
          <a:xfrm>
            <a:off x="4222879" y="1200000"/>
            <a:ext cx="3748539" cy="42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180000" tIns="180000" rIns="180000" bIns="90000" rtlCol="0" anchor="ctr"/>
          <a:lstStyle/>
          <a:p>
            <a:pPr algn="ctr"/>
            <a:r>
              <a:rPr sz="1600" b="1">
                <a:solidFill>
                  <a:srgbClr val="2E7D32"/>
                </a:solidFill>
                <a:latin typeface="Trust Hartford Sans"/>
              </a:rPr>
              <a:t>How We Verified</a:t>
            </a:r>
          </a:p>
          <a:p>
            <a:pPr>
              <a:spcBef>
                <a:spcPts val="1200"/>
              </a:spcBef>
            </a:pPr>
            <a:r>
              <a:rPr sz="1400" b="0">
                <a:solidFill>
                  <a:srgbClr val="2D805D"/>
                </a:solidFill>
                <a:latin typeface="Trust Hartford Sans"/>
              </a:rPr>
              <a:t>Ran full pipeline end-to-end and reconciled row counts against source</a:t>
            </a:r>
          </a:p>
          <a:p>
            <a:pPr>
              <a:spcBef>
                <a:spcPts val="800"/>
              </a:spcBef>
            </a:pPr>
            <a:r>
              <a:rPr sz="1400" b="0">
                <a:solidFill>
                  <a:srgbClr val="2D805D"/>
                </a:solidFill>
                <a:latin typeface="Trust Hartford Sans"/>
              </a:rPr>
              <a:t>Cross-checked all calculations against raw data and Tableau results</a:t>
            </a:r>
          </a:p>
          <a:p>
            <a:pPr>
              <a:spcBef>
                <a:spcPts val="800"/>
              </a:spcBef>
            </a:pPr>
            <a:r>
              <a:rPr sz="1400" b="0">
                <a:solidFill>
                  <a:srgbClr val="2D805D"/>
                </a:solidFill>
                <a:latin typeface="Trust Hartford Sans"/>
              </a:rPr>
              <a:t>Reviewed and revised all generated content before committing</a:t>
            </a:r>
          </a:p>
          <a:p>
            <a:pPr>
              <a:spcBef>
                <a:spcPts val="800"/>
              </a:spcBef>
            </a:pPr>
            <a:r>
              <a:rPr sz="1400" b="0">
                <a:solidFill>
                  <a:srgbClr val="2D805D"/>
                </a:solidFill>
                <a:latin typeface="Trust Hartford Sans"/>
              </a:rPr>
              <a:t>Every number on every slide traces back to a verifiable query</a:t>
            </a:r>
          </a:p>
        </p:txBody>
      </p:sp>
      <p:sp>
        <p:nvSpPr>
          <p:cNvPr id="7" name="Rounded Rectangle 6"/>
          <p:cNvSpPr/>
          <p:nvPr/>
        </p:nvSpPr>
        <p:spPr>
          <a:xfrm>
            <a:off x="8293073" y="1200000"/>
            <a:ext cx="3404708" cy="42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180000" tIns="180000" rIns="180000" bIns="90000" rtlCol="0" anchor="ctr"/>
          <a:lstStyle/>
          <a:p>
            <a:pPr algn="ctr"/>
            <a:r>
              <a:rPr sz="1600" b="1">
                <a:solidFill>
                  <a:srgbClr val="E65100"/>
                </a:solidFill>
                <a:latin typeface="Trust Hartford Sans"/>
              </a:rPr>
              <a:t>What We Corrected</a:t>
            </a:r>
          </a:p>
          <a:p>
            <a:pPr>
              <a:spcBef>
                <a:spcPts val="1200"/>
              </a:spcBef>
            </a:pPr>
            <a:r>
              <a:rPr sz="1400" b="0">
                <a:solidFill>
                  <a:srgbClr val="E65100"/>
                </a:solidFill>
                <a:latin typeface="Trust Hartford Sans"/>
              </a:rPr>
              <a:t>Fare calculations initially included tips, inflating averages. Caught and corrected.</a:t>
            </a:r>
          </a:p>
          <a:p>
            <a:pPr>
              <a:spcBef>
                <a:spcPts val="800"/>
              </a:spcBef>
            </a:pPr>
            <a:r>
              <a:rPr sz="1400" b="0">
                <a:solidFill>
                  <a:srgbClr val="E65100"/>
                </a:solidFill>
                <a:latin typeface="Trust Hartford Sans"/>
              </a:rPr>
              <a:t>Hourly earnings used an unverifiable utilization assumption. Replaced with $/active-minute.</a:t>
            </a:r>
          </a:p>
          <a:p>
            <a:pPr>
              <a:spcBef>
                <a:spcPts val="800"/>
              </a:spcBef>
            </a:pPr>
            <a:r>
              <a:rPr sz="1400" b="0">
                <a:solidFill>
                  <a:srgbClr val="E65100"/>
                </a:solidFill>
                <a:latin typeface="Trust Hartford Sans"/>
              </a:rPr>
              <a:t>Initial summary slide was descriptive. Reworked to be prescriptive with data-backed actions.</a:t>
            </a:r>
          </a:p>
        </p:txBody>
      </p:sp>
      <p:sp>
        <p:nvSpPr>
          <p:cNvPr id="10" name="Rounded Rectangle 7">
            <a:extLst>
              <a:ext uri="{FF2B5EF4-FFF2-40B4-BE49-F238E27FC236}">
                <a16:creationId xmlns:a16="http://schemas.microsoft.com/office/drawing/2014/main" id="{F2410AF6-9EB2-2CEF-008B-BAD12806E71A}"/>
              </a:ext>
            </a:extLst>
          </p:cNvPr>
          <p:cNvSpPr/>
          <p:nvPr/>
        </p:nvSpPr>
        <p:spPr>
          <a:xfrm>
            <a:off x="400000" y="572929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300" b="1">
                <a:solidFill>
                  <a:srgbClr val="8B0138"/>
                </a:solidFill>
              </a:rPr>
              <a:t>AI accelerated development. Human judgement drove each analytical decision and verified all output.</a:t>
            </a:r>
            <a:endParaRPr lang="en-US"/>
          </a:p>
        </p:txBody>
      </p:sp>
    </p:spTree>
    <p:extLst>
      <p:ext uri="{BB962C8B-B14F-4D97-AF65-F5344CB8AC3E}">
        <p14:creationId xmlns:p14="http://schemas.microsoft.com/office/powerpoint/2010/main" val="4173668478"/>
      </p:ext>
    </p:extLst>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27</Slides>
  <Notes>25</Notes>
  <HiddenSlides>7</HiddenSlides>
  <ScaleCrop>false</ScaleCrop>
  <HeadingPairs>
    <vt:vector size="4" baseType="variant">
      <vt:variant>
        <vt:lpstr>Theme</vt:lpstr>
      </vt:variant>
      <vt:variant>
        <vt:i4>1</vt:i4>
      </vt:variant>
      <vt:variant>
        <vt:lpstr>Slide Titles</vt:lpstr>
      </vt:variant>
      <vt:variant>
        <vt:i4>27</vt:i4>
      </vt:variant>
    </vt:vector>
  </HeadingPairs>
  <TitlesOfParts>
    <vt:vector size="28"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Adverse Weather's Impact on NYC Taxi Demand</vt:lpstr>
      <vt:lpstr>YoY Trip Analysis – Viz 1</vt:lpstr>
      <vt:lpstr>YoY Trip Analysis – Viz 2 </vt:lpstr>
      <vt:lpstr>YoY Trip Analysis – Viz 3 </vt:lpstr>
      <vt:lpstr>Visualizations</vt:lpstr>
      <vt:lpstr>Summary Of Our Findings</vt:lpstr>
      <vt:lpstr>Summary and Recommendation (NEW VERSION)</vt:lpstr>
      <vt:lpstr>4</vt:lpstr>
      <vt:lpstr>Future State Proposal</vt:lpstr>
      <vt:lpstr>Future State Proposal (NEW VERSION)</vt:lpstr>
      <vt:lpstr>Thank You</vt:lpstr>
      <vt:lpstr>AI Use Disclosure</vt:lpstr>
      <vt:lpstr>AI Use Disclosure (NEW VERSION)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1328</cp:revision>
  <cp:lastPrinted>2024-04-30T20:31:00Z</cp:lastPrinted>
  <dcterms:created xsi:type="dcterms:W3CDTF">2026-07-23T20:23:29Z</dcterms:created>
  <dcterms:modified xsi:type="dcterms:W3CDTF">2026-08-18T03:52:00Z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