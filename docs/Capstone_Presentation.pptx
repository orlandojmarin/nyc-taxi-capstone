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1800000"/>
            <a:ext cx="105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>
                <a:solidFill>
                  <a:srgbClr val="2D2D2D"/>
                </a:solidFill>
              </a:rPr>
              <a:t>NYC Taxi Data Platform</a:t>
            </a:r>
          </a:p>
          <a:p>
            <a:pPr>
              <a:spcBef>
                <a:spcPts val="1200"/>
              </a:spcBef>
            </a:pPr>
            <a:r>
              <a:rPr sz="2000" i="1">
                <a:solidFill>
                  <a:srgbClr val="555555"/>
                </a:solidFill>
              </a:rPr>
              <a:t>How does adverse weather affect taxi demand across NYC boroughs?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4500000"/>
            <a:ext cx="10500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E3082"/>
                </a:solidFill>
              </a:rPr>
              <a:t>Team AMO</a:t>
            </a:r>
          </a:p>
          <a:p>
            <a:r>
              <a:rPr sz="1600">
                <a:solidFill>
                  <a:srgbClr val="2D2D2D"/>
                </a:solidFill>
              </a:rPr>
              <a:t>Maryam Choudhury, Ariana Lopez, Orlando Marin</a:t>
            </a:r>
          </a:p>
          <a:p>
            <a:r>
              <a:rPr sz="1400">
                <a:solidFill>
                  <a:srgbClr val="555555"/>
                </a:solidFill>
              </a:rPr>
              <a:t>August 19,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8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Topics of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120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0">
                <a:solidFill>
                  <a:srgbClr val="FE3082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000" y="13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The Finding and 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205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0">
                <a:solidFill>
                  <a:srgbClr val="FE3082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000" y="220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Data and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290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0">
                <a:solidFill>
                  <a:srgbClr val="FE3082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000" y="30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Data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000" y="375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0">
                <a:solidFill>
                  <a:srgbClr val="FE3082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000" y="390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Year-over-Year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00" y="460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0">
                <a:solidFill>
                  <a:srgbClr val="FE3082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000" y="47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Technical Deep Dive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000" y="545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0">
                <a:solidFill>
                  <a:srgbClr val="FE3082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000" y="560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Future State and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000000"/>
            <a:ext cx="2000000" cy="2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0" b="1">
                <a:solidFill>
                  <a:srgbClr val="FE3082"/>
                </a:solidFill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0" y="2800000"/>
            <a:ext cx="8000000" cy="1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2D2D2D"/>
                </a:solidFill>
              </a:rPr>
              <a:t>The Finding and
Why It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Headline Finding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100000"/>
            <a:ext cx="11400000" cy="14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D2D2D"/>
                </a:solidFill>
              </a:rPr>
              <a:t>[STATE THE YEAR-OVER-YEAR FINDING IN ONE SENTENCE]</a:t>
            </a:r>
          </a:p>
          <a:p>
            <a:pPr algn="ctr"/>
            <a:r>
              <a:rPr sz="1400" i="1">
                <a:solidFill>
                  <a:srgbClr val="555555"/>
                </a:solidFill>
              </a:rPr>
              <a:t>e.g., During adverse weather, trips dropped X% in outer boroughs but only Y% in Manhattan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28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38M+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Trip Records Analyzed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0000" y="28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10 months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Jan-May 2025 vs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00000" y="28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5 boroughs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Weather Impact Compared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4600000"/>
            <a:ext cx="11400000" cy="10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Key Insight: [One sentence connecting the finding to a business recommendation]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The Business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100000"/>
            <a:ext cx="11400000" cy="12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D47A1"/>
                </a:solidFill>
              </a:rPr>
              <a:t>How does adverse weather affect taxi demand across NYC boroughs,</a:t>
            </a:r>
          </a:p>
          <a:p>
            <a:pPr algn="ctr"/>
            <a:r>
              <a:rPr sz="2000" b="1">
                <a:solidFill>
                  <a:srgbClr val="0D47A1"/>
                </a:solidFill>
              </a:rPr>
              <a:t>and how did those patterns shift between 2025 and 2026?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2600000"/>
            <a:ext cx="5400000" cy="22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Why It Matters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Fleet operators need to know where demand drops during storms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Surge pricing decisions depend on weather sensitivity by zone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NYC TLC planning benefits from quantified weather impact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2600000"/>
            <a:ext cx="5700000" cy="22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Scope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Yellow + Green taxi, Jan-May 2025 vs Jan-May 2026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39.2 million trip records from S3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Weather enrichment: hourly NYC conditions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265 taxi zones mapped to 5 boroughs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5100000"/>
            <a:ext cx="11400000" cy="10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D2D2D"/>
                </a:solidFill>
              </a:rPr>
              <a:t>How We Know We Answered It: </a:t>
            </a:r>
            <a:r>
              <a:rPr sz="1400">
                <a:solidFill>
                  <a:srgbClr val="2D2D2D"/>
                </a:solidFill>
              </a:rPr>
              <a:t>Pre-aggregated mart (34,719 rows) with trip counts, revenue, and duration by borough, weather, and year. Same months, same filters, fair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000000"/>
            <a:ext cx="2000000" cy="2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0" b="1">
                <a:solidFill>
                  <a:srgbClr val="FE3082"/>
                </a:solidFill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0" y="2800000"/>
            <a:ext cx="8000000" cy="1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2D2D2D"/>
                </a:solidFill>
              </a:rPr>
              <a:t>Data and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The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100000"/>
            <a:ext cx="5400000" cy="3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What We Were Given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20 Parquet files in S3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Yellow taxi: 38,759,706 rows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Green taxi: 465,029 rows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Taxi zone lookup: 265 zones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Date range: Jan-May 2025 and Jan-May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00000" y="1100000"/>
            <a:ext cx="5700000" cy="15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What We Added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Open-Meteo Historical Weather API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Hourly NYC conditions: 7,248 records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Temperature, precipitation, wind, weather codes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2900000"/>
            <a:ext cx="5700000" cy="17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Schema Challenges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Yellow: tpep_* timestamps; Green: lpep_*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Green has ehail_fee, trip_type; no airport_fee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cbd_congestion_fee added Jan 2025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Case-sensitive columns from INFER_SCHEMA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50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39,224,735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Total Trip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0000" y="50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7,248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Weather Hours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00000" y="50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265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Taxi Zones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555555"/>
                </a:solidFill>
              </a:rPr>
              <a:t>[Insert Architecture Diagram: Capstone_Architecture_PatternA.drawio]</a:t>
            </a:r>
          </a:p>
          <a:p>
            <a:pPr algn="ctr">
              <a:spcBef>
                <a:spcPts val="2000"/>
              </a:spcBef>
            </a:pPr>
            <a:r>
              <a:rPr sz="1600" b="1">
                <a:solidFill>
                  <a:srgbClr val="2D2D2D"/>
                </a:solidFill>
              </a:rPr>
              <a:t>S3 RAW  →  Snowflake Bronze  →  dbt Silver  →  dbt Gold  →  Tableau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Architecture Decision: Pattern A (ELT)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100000"/>
            <a:ext cx="5400000" cy="2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Why We Chose It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Team is strongest in SQL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Fewest moving parts for a one-week sprint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All transforms tested and version-controlled (dbt)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Snowflake handles 39M rows natively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Full pipeline re-runs in ~6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00000" y="1100000"/>
            <a:ext cx="5700000" cy="2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What We Gave Up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No Spark/Glue experience demonstrated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No DataFrames or distributed compute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Less tooling breadth on resume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If data exceeded Snowflake limits, would need rework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3800000"/>
            <a:ext cx="11400000" cy="2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Key Design Decisions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Tables (not views) for staging: 39M rows too expensive to rebuild on every dashboard query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Flag DQ issues, don't delete: preserves traceability, Gold filters with WHERE is_valid = TRUE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Weather join on date + hour: matches trip pickup timestamp granularity (100% match rate)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Single orchestration script: one command runs everything, idempotent, fails fast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000000"/>
            <a:ext cx="2000000" cy="2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0" b="1">
                <a:solidFill>
                  <a:srgbClr val="FE3082"/>
                </a:solidFill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0" y="2800000"/>
            <a:ext cx="8000000" cy="1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2D2D2D"/>
                </a:solidFill>
              </a:rPr>
              <a:t>Data Quality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D2D2D"/>
                </a:solidFill>
              </a:rPr>
              <a:t>Data Quality: What Was Wrong and What We Did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000000"/>
            <a:ext cx="5400000" cy="18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Pipeline Reconciliation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in source files:  39,224,735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loaded to Bronze:  39,224,735 (0 lost)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in Silver:  39,224,735 (flagged, not removed)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in Gold (valid only):  38,053,445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flagged invalid:  1,171,290 (3.0%)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00000" y="1000000"/>
            <a:ext cx="5700000" cy="32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E3082"/>
                </a:solidFill>
              </a:rPr>
              <a:t>Top Defects Found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Null/zero passenger_count: 9.2M (23%) - Kept (warn)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Payment type 0 (undocumented): 9M (23%) - Kept (warn)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Timestamp out of range: 702K (1.8%) - Flagged invalid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Negative fare: 247K (0.6%) - Flagged invalid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Distance &gt; 100 miles: 131K (0.3%) - Flagged invalid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Dropoff before pickup: 87K (0.2%) - Flagged invalid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3100000"/>
            <a:ext cx="5400000" cy="11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The Cash Tip Trap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tip_amount is recorded for credit card payments only. Cash tips appear as $0.00. Our tip analysis is limited to credit card transactions and we state this explicitly.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4500000"/>
            <a:ext cx="11400000" cy="15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E7D32"/>
                </a:solidFill>
              </a:rPr>
              <a:t>Our Approach: Flag, Don't Delete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D2D2D"/>
                </a:solidFill>
              </a:rPr>
              <a:t>Every row gets is_valid (boolean) + dq_flag_reason (which checks failed). Silver keeps all 39.2M rows. Gold filters to valid only. Full traceability preserved: we can report exact counts per defect. Two defects found that are NOT in the data catalog: payment_type 0 and null passenger_count.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000000"/>
            <a:ext cx="2000000" cy="2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0" b="1">
                <a:solidFill>
                  <a:srgbClr val="FE3082"/>
                </a:solidFill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0" y="2800000"/>
            <a:ext cx="8000000" cy="1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2D2D2D"/>
                </a:solidFill>
              </a:rPr>
              <a:t>Year-over-Year Analysis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Year-over-Year Finding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100000"/>
            <a:ext cx="11400000" cy="12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D2D2D"/>
                </a:solidFill>
              </a:rPr>
              <a:t>[STATE THE YEAR-OVER-YEAR FINDING HERE]</a:t>
            </a:r>
          </a:p>
          <a:p>
            <a:pPr algn="ctr"/>
            <a:r>
              <a:rPr sz="1300" i="1">
                <a:solidFill>
                  <a:srgbClr val="555555"/>
                </a:solidFill>
              </a:rPr>
              <a:t>e.g., During rain/snow events, outer-borough demand fell X% YoY while Manhattan held steady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2600000"/>
            <a:ext cx="54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D47A1"/>
                </a:solidFill>
              </a:rPr>
              <a:t>Is the comparison fair?</a:t>
            </a:r>
          </a:p>
          <a:p>
            <a:r>
              <a:rPr sz="1200">
                <a:solidFill>
                  <a:srgbClr val="2D2D2D"/>
                </a:solidFill>
              </a:rPr>
              <a:t>Same months (Jan-May), same vehicle types, same DQ filters applied to both years. Weather conditions matched on same hourly granularity.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2600000"/>
            <a:ext cx="5700000" cy="1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E7D32"/>
                </a:solidFill>
              </a:rPr>
              <a:t>Could a DQ issue explain it?</a:t>
            </a:r>
          </a:p>
          <a:p>
            <a:r>
              <a:rPr sz="1200">
                <a:solidFill>
                  <a:srgbClr val="2D2D2D"/>
                </a:solidFill>
              </a:rPr>
              <a:t>[What we checked and ruled out: e.g., invalid rows distributed evenly across both years, no systematic bias]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4300000"/>
            <a:ext cx="5400000" cy="1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Is it large enough to be real?</a:t>
            </a:r>
          </a:p>
          <a:p>
            <a:r>
              <a:rPr sz="1200">
                <a:solidFill>
                  <a:srgbClr val="2D2D2D"/>
                </a:solidFill>
              </a:rPr>
              <a:t>[Evidence the change is not noise, or honest confidence statement]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0000" y="4300000"/>
            <a:ext cx="57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D47A1"/>
                </a:solidFill>
              </a:rPr>
              <a:t>So What?</a:t>
            </a:r>
          </a:p>
          <a:p>
            <a:r>
              <a:rPr sz="1200">
                <a:solidFill>
                  <a:srgbClr val="2D2D2D"/>
                </a:solidFill>
              </a:rPr>
              <a:t>[Business recommendation: e.g., stage more drivers in X borough during Y weather because Z]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555555"/>
                </a:solidFill>
              </a:rPr>
              <a:t>[Insert Tableau Dashboard Screenshot]</a:t>
            </a:r>
          </a:p>
          <a:p>
            <a:pPr algn="ctr">
              <a:spcBef>
                <a:spcPts val="1600"/>
              </a:spcBef>
            </a:pPr>
            <a:r>
              <a:rPr sz="1400">
                <a:solidFill>
                  <a:srgbClr val="2D2D2D"/>
                </a:solidFill>
              </a:rPr>
              <a:t>Connected to AMO_GOLD.MART_WEATHER_DEMAND (34,719 rows)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Supporting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555555"/>
                </a:solidFill>
              </a:rPr>
              <a:t>[Additional charts / breakdowns from Tableau]</a:t>
            </a:r>
          </a:p>
          <a:p>
            <a:pPr algn="ctr">
              <a:spcBef>
                <a:spcPts val="1200"/>
              </a:spcBef>
            </a:pPr>
            <a:r>
              <a:rPr sz="1400">
                <a:solidFill>
                  <a:srgbClr val="2D2D2D"/>
                </a:solidFill>
              </a:rPr>
              <a:t>Revenue by weather, duration by borough, payment type splits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000000"/>
            <a:ext cx="2000000" cy="2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0" b="1">
                <a:solidFill>
                  <a:srgbClr val="FE3082"/>
                </a:solidFill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0" y="2800000"/>
            <a:ext cx="8000000" cy="1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2D2D2D"/>
                </a:solidFill>
              </a:rPr>
              <a:t>Technical Deep Dive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D2D2D"/>
                </a:solidFill>
              </a:rPr>
              <a:t>Technical Decisions and Trade-offs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000000"/>
            <a:ext cx="5400000" cy="22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dbt Model Layering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Staging (stg_*): tables, not views. 39M rows too expensive to rebuild per query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Fact (fct_trips): enriched with borough + weather, filtered to 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Mart (mart_weather_demand): pre-aggregated for Tableau (34K rows)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Dimensions (dim_zones, dim_weather): lookup tables for drilldown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00000" y="1000000"/>
            <a:ext cx="5700000" cy="22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Testing Strategy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32 automated dbt tests (31 pass, 1 expected warn)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not_null on all key columns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unique on dimension primary keys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accepted_values on categorical columns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relationships on zone foreign keys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Warn severity for known issues (documents, doesn't block)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3500000"/>
            <a:ext cx="5400000" cy="2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Orchestration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Single Python script: python pipeline/orchestrate.py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Runs end-to-end in ~6 minutes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Idempotent: safe to re-run (CREATE OR REPLACE)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7 steps: Bronze infra, load, weather, verify, dbt run, dbt test, summary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Fails fast with clear error messages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0000" y="3500000"/>
            <a:ext cx="5700000" cy="24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E3082"/>
                </a:solidFill>
              </a:rPr>
              <a:t>Key Transformations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Union Yellow + Green (tpep/lpep rename)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DQ flagging: is_valid + dq_flag_reason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Time derivation: hour, rush, night, weekend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Weather join on pickup date + hour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Borough join via zone lookup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Revenue: all fee columns carried through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D2D2D"/>
                </a:solidFill>
              </a:rPr>
              <a:t>Cost and Performance Rationale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000000"/>
            <a:ext cx="5400000" cy="20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Warehouse Configuration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Warehouse: COMPUTE_WH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Size: [X-Small / Small]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Auto-suspend: [X seconds]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Tables: transient (no fail-safe cost)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00000" y="1000000"/>
            <a:ext cx="5700000" cy="20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Performance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Full pipeline: ~6 min end-to-end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Dashboard queries: &lt;1 sec (34K rows)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dbt build (Silver + Gold): ~4 min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COPY INTO: ~90 sec for 39M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3300000"/>
            <a:ext cx="11400000" cy="20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At 10x the Data Volume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Ingestion: switch to Snowpipe for continuous loading instead of batch COPY INTO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Warehouse: scale up to Medium or use multi-cluster warehouse for concurrency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Materialization: consider incremental models in dbt (append new data only, skip full rebuild)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Storage: partition by year/month for query pruning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000000"/>
            <a:ext cx="2000000" cy="2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0" b="1">
                <a:solidFill>
                  <a:srgbClr val="FE3082"/>
                </a:solidFill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0" y="2800000"/>
            <a:ext cx="8000000" cy="1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2D2D2D"/>
                </a:solidFill>
              </a:rPr>
              <a:t>Future State and
Recommendation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Future State Proposal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000000"/>
            <a:ext cx="3600000" cy="48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Real-Time Ingestion</a:t>
            </a:r>
          </a:p>
          <a:p>
            <a:pPr>
              <a:spcBef>
                <a:spcPts val="1600"/>
              </a:spcBef>
            </a:pPr>
            <a:r>
              <a:rPr sz="1100" b="1">
                <a:solidFill>
                  <a:srgbClr val="2E7D32"/>
                </a:solidFill>
              </a:rPr>
              <a:t>What:</a:t>
            </a:r>
          </a:p>
          <a:p>
            <a:r>
              <a:rPr sz="1100">
                <a:solidFill>
                  <a:srgbClr val="2D2D2D"/>
                </a:solidFill>
              </a:rPr>
              <a:t>Snowpipe + streams for continuous loading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2E7D32"/>
                </a:solidFill>
              </a:rPr>
              <a:t>Effort:</a:t>
            </a:r>
          </a:p>
          <a:p>
            <a:r>
              <a:rPr sz="1100">
                <a:solidFill>
                  <a:srgbClr val="2D2D2D"/>
                </a:solidFill>
              </a:rPr>
              <a:t>1-2 sprints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2E7D32"/>
                </a:solidFill>
              </a:rPr>
              <a:t>Business Benefit:</a:t>
            </a:r>
          </a:p>
          <a:p>
            <a:r>
              <a:rPr sz="1100">
                <a:solidFill>
                  <a:srgbClr val="2D2D2D"/>
                </a:solidFill>
              </a:rPr>
              <a:t>Live demand monitoring during storms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00000" y="1000000"/>
            <a:ext cx="3600000" cy="48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ML Forecasting</a:t>
            </a:r>
          </a:p>
          <a:p>
            <a:pPr>
              <a:spcBef>
                <a:spcPts val="1600"/>
              </a:spcBef>
            </a:pPr>
            <a:r>
              <a:rPr sz="1100" b="1">
                <a:solidFill>
                  <a:srgbClr val="0D47A1"/>
                </a:solidFill>
              </a:rPr>
              <a:t>What:</a:t>
            </a:r>
          </a:p>
          <a:p>
            <a:r>
              <a:rPr sz="1100">
                <a:solidFill>
                  <a:srgbClr val="2D2D2D"/>
                </a:solidFill>
              </a:rPr>
              <a:t>Predict demand drops by borough before storms hit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D47A1"/>
                </a:solidFill>
              </a:rPr>
              <a:t>Effort:</a:t>
            </a:r>
          </a:p>
          <a:p>
            <a:r>
              <a:rPr sz="1100">
                <a:solidFill>
                  <a:srgbClr val="2D2D2D"/>
                </a:solidFill>
              </a:rPr>
              <a:t>2-3 sprints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D47A1"/>
                </a:solidFill>
              </a:rPr>
              <a:t>Business Benefit:</a:t>
            </a:r>
          </a:p>
          <a:p>
            <a:r>
              <a:rPr sz="1100">
                <a:solidFill>
                  <a:srgbClr val="2D2D2D"/>
                </a:solidFill>
              </a:rPr>
              <a:t>Proactive fleet positioning, fewer empty cabs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00000" y="1000000"/>
            <a:ext cx="3600000" cy="48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Multi-City Expansion</a:t>
            </a:r>
          </a:p>
          <a:p>
            <a:pPr>
              <a:spcBef>
                <a:spcPts val="1600"/>
              </a:spcBef>
            </a:pPr>
            <a:r>
              <a:rPr sz="1100" b="1">
                <a:solidFill>
                  <a:srgbClr val="E65100"/>
                </a:solidFill>
              </a:rPr>
              <a:t>What:</a:t>
            </a:r>
          </a:p>
          <a:p>
            <a:r>
              <a:rPr sz="1100">
                <a:solidFill>
                  <a:srgbClr val="2D2D2D"/>
                </a:solidFill>
              </a:rPr>
              <a:t>Replicate pipeline for Chicago, Boston, etc.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E65100"/>
                </a:solidFill>
              </a:rPr>
              <a:t>Effort:</a:t>
            </a:r>
          </a:p>
          <a:p>
            <a:r>
              <a:rPr sz="1100">
                <a:solidFill>
                  <a:srgbClr val="2D2D2D"/>
                </a:solidFill>
              </a:rPr>
              <a:t>3-4 sprints per city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E65100"/>
                </a:solidFill>
              </a:rPr>
              <a:t>Business Benefit:</a:t>
            </a:r>
          </a:p>
          <a:p>
            <a:r>
              <a:rPr sz="1100">
                <a:solidFill>
                  <a:srgbClr val="2D2D2D"/>
                </a:solidFill>
              </a:rPr>
              <a:t>National weather-demand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6000000"/>
            <a:ext cx="11400000" cy="6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D2D2D"/>
                </a:solidFill>
              </a:rPr>
              <a:t>Highest Impact: Real-Time Ingestion. Fleet operators need minute-level demand signals during active storms.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Future State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555555"/>
                </a:solidFill>
              </a:rPr>
              <a:t>[Insert Future State Architecture Diagram]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Recommendation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200000"/>
            <a:ext cx="11400000" cy="18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D47A1"/>
                </a:solidFill>
              </a:rPr>
              <a:t>[One clear recommendation tied to the finding]</a:t>
            </a:r>
          </a:p>
          <a:p>
            <a:pPr algn="ctr">
              <a:spcBef>
                <a:spcPts val="800"/>
              </a:spcBef>
            </a:pPr>
            <a:r>
              <a:rPr sz="1400" i="1">
                <a:solidFill>
                  <a:srgbClr val="555555"/>
                </a:solidFill>
              </a:rPr>
              <a:t>e.g., Pre-position 15% more vehicles in outer boroughs during forecasted rain events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3400000"/>
            <a:ext cx="5400000" cy="15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E7D32"/>
                </a:solidFill>
              </a:rPr>
              <a:t>Actionable Next Step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[What the client should do first]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3400000"/>
            <a:ext cx="5700000" cy="15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Implementation Cost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[What it would take: time, team, tools]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0000"/>
            <a:ext cx="12192000" cy="15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0"/>
            <a:ext cx="105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2D2D2D"/>
                </a:solidFill>
              </a:rPr>
              <a:t>Thank You</a:t>
            </a:r>
          </a:p>
          <a:p>
            <a:pPr algn="ctr">
              <a:spcBef>
                <a:spcPts val="2400"/>
              </a:spcBef>
            </a:pPr>
            <a:r>
              <a:rPr sz="2800">
                <a:solidFill>
                  <a:srgbClr val="FE3082"/>
                </a:solidFill>
              </a:rPr>
              <a:t>Questions?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2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D2D2D"/>
                </a:solidFill>
              </a:rPr>
              <a:t>AI Use Disclosure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100000"/>
            <a:ext cx="11400000" cy="5000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  Where We Used AI                    What For                              What We Verified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1650000"/>
            <a:ext cx="11400000" cy="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D2D2D"/>
                </a:solidFill>
              </a:rPr>
              <a:t>  [Tool]                                        [Purpose]                                    [Verification]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2200000"/>
            <a:ext cx="11400000" cy="500000"/>
          </a:xfrm>
          <a:prstGeom prst="round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D2D2D"/>
                </a:solidFill>
              </a:rPr>
              <a:t>  [Tool]                                        [Purpose]                                    [Verification]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2750000"/>
            <a:ext cx="11400000" cy="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D2D2D"/>
                </a:solidFill>
              </a:rPr>
              <a:t>  [Tool]                                        [Purpose]                                    [Verification]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3600000"/>
            <a:ext cx="11400000" cy="20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What We Rejected or Corrected From AI Suggestions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D2D"/>
                </a:solidFill>
              </a:rPr>
              <a:t>[Describe corrections made, things that required manual verification, etc.]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