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3" r:id="rId4"/>
  </p:sldMasterIdLst>
  <p:notesMasterIdLst>
    <p:notesMasterId r:id="rId37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26"/>
    <p:sldId id="267" r:id="rId25"/>
    <p:sldId id="268" r:id="rId24"/>
    <p:sldId id="269" r:id="rId23"/>
    <p:sldId id="270" r:id="rId22"/>
    <p:sldId id="271" r:id="rId21"/>
    <p:sldId id="272" r:id="rId20"/>
    <p:sldId id="273" r:id="rId19"/>
    <p:sldId id="274" r:id="rId18"/>
    <p:sldId id="275" r:id="rId17"/>
    <p:sldId id="276" r:id="rId16"/>
    <p:sldId id="277" r:id="rId15"/>
    <p:sldId id="278" r:id="rId14"/>
    <p:sldId id="279" r:id="rId13"/>
  </p:sldIdLst>
  <p:sldSz cx="12192000" cy="6858000"/>
  <p:notesSz cx="6858000" cy="9144000"/>
  <p:embeddedFontLst>
    <p:embeddedFont>
      <p:font typeface="Trust Hartford Mono" pitchFamily="50" charset="0"/>
      <p:regular r:id="rId38"/>
      <p:bold r:id="rId39"/>
      <p:italic r:id="rId40"/>
      <p:boldItalic r:id="rId41"/>
    </p:embeddedFont>
    <p:embeddedFont>
      <p:font typeface="Trust Hartford Sans" pitchFamily="50" charset="0"/>
      <p:regular r:id="rId42"/>
      <p:bold r:id="rId43"/>
      <p:italic r:id="rId44"/>
      <p:boldItalic r:id="rId45"/>
    </p:embeddedFont>
    <p:embeddedFont>
      <p:font typeface="Trust Hartford Sans Light" pitchFamily="50" charset="0"/>
      <p:regular r:id="rId46"/>
      <p:italic r:id="rId47"/>
    </p:embeddedFont>
    <p:embeddedFont>
      <p:font typeface="Trust Hartford Serif" pitchFamily="50" charset="0"/>
      <p:regular r:id="rId48"/>
      <p:bold r:id="rId49"/>
      <p:italic r:id="rId50"/>
      <p:boldItalic r:id="rId51"/>
    </p:embeddedFont>
    <p:embeddedFont>
      <p:font typeface="Trust Hartford Serif XLight" pitchFamily="50" charset="0"/>
      <p:regular r:id="rId52"/>
      <p:italic r:id="rId53"/>
    </p:embeddedFont>
  </p:embeddedFontLst>
  <p:defaultTextStyle>
    <a:defPPr>
      <a:defRPr lang="en-US"/>
    </a:defPPr>
    <a:lvl1pPr marL="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14874C-4B50-8014-91A3-463629EBBE24}" name="Klim, Jamie (Enterprise Marketing)" initials="" userId="S::James.Klim@thehartford.com::ad579b43-3ce8-40d5-ae4c-10bb8498a6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5DF"/>
    <a:srgbClr val="FE3082"/>
    <a:srgbClr val="73A2C2"/>
    <a:srgbClr val="8F96AD"/>
    <a:srgbClr val="C7CBD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74A2FF2-876A-4A6F-922C-DD539E22E740}">
  <a:tblStyle styleId="{F74A2FF2-876A-4A6F-922C-DD539E22E740}" styleName="The Hartford Table Styl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tx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13C4D0A-429A-40B9-85B9-7F5FD54E15C4}" styleName="The Hartford Table Styl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bg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F9F6A034-655A-47D2-A762-C7606B091322}" styleName="The Hartford Table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6" autoAdjust="0"/>
    <p:restoredTop sz="96301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8.xml"/><Relationship Id="rId20" Type="http://schemas.openxmlformats.org/officeDocument/2006/relationships/slide" Target="slides/slide17.xml"/><Relationship Id="rId21" Type="http://schemas.openxmlformats.org/officeDocument/2006/relationships/slide" Target="slides/slide16.xml"/><Relationship Id="rId22" Type="http://schemas.openxmlformats.org/officeDocument/2006/relationships/slide" Target="slides/slide15.xml"/><Relationship Id="rId23" Type="http://schemas.openxmlformats.org/officeDocument/2006/relationships/slide" Target="slides/slide14.xml"/><Relationship Id="rId24" Type="http://schemas.openxmlformats.org/officeDocument/2006/relationships/slide" Target="slides/slide13.xml"/><Relationship Id="rId25" Type="http://schemas.openxmlformats.org/officeDocument/2006/relationships/slide" Target="slides/slide12.xml"/><Relationship Id="rId26" Type="http://schemas.openxmlformats.org/officeDocument/2006/relationships/slide" Target="slides/slide1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6" Type="http://schemas.openxmlformats.org/officeDocument/2006/relationships/font" Target="fonts/font9.fntdata"/><Relationship Id="rId47" Type="http://schemas.openxmlformats.org/officeDocument/2006/relationships/font" Target="fonts/font10.fntdata"/><Relationship Id="rId48" Type="http://schemas.openxmlformats.org/officeDocument/2006/relationships/font" Target="fonts/font11.fntdata"/><Relationship Id="rId49" Type="http://schemas.openxmlformats.org/officeDocument/2006/relationships/font" Target="fonts/font12.fntdata"/><Relationship Id="rId50" Type="http://schemas.openxmlformats.org/officeDocument/2006/relationships/font" Target="fonts/font13.fntdata"/><Relationship Id="rId51" Type="http://schemas.openxmlformats.org/officeDocument/2006/relationships/font" Target="fonts/font14.fntdata"/><Relationship Id="rId52" Type="http://schemas.openxmlformats.org/officeDocument/2006/relationships/font" Target="fonts/font15.fntdata"/><Relationship Id="rId53" Type="http://schemas.openxmlformats.org/officeDocument/2006/relationships/font" Target="fonts/font16.fntdata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95900D-F12B-44FC-9687-D94AAC84787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66933-377C-4AC7-AB6F-0438E161D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47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-9144" y="1014984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2338332"/>
          </a:xfrm>
        </p:spPr>
        <p:txBody>
          <a:bodyPr anchor="t" anchorCtr="0">
            <a:spAutoFit/>
          </a:bodyPr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331CF39C-A66D-C7F1-A529-D4B354335236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bg1"/>
                </a:solidFill>
              </a:rPr>
              <a:t>© 2026 The Hartford</a:t>
            </a:r>
            <a:endParaRPr lang="en-CA" sz="5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118464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tx2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97956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F1C735B7-8481-62FC-BF08-EDE946399CF8}"/>
              </a:ext>
            </a:extLst>
          </p:cNvPr>
          <p:cNvSpPr/>
          <p:nvPr userDrawn="1"/>
        </p:nvSpPr>
        <p:spPr>
          <a:xfrm>
            <a:off x="7809491" y="-9144"/>
            <a:ext cx="4382510" cy="6876288"/>
          </a:xfrm>
          <a:prstGeom prst="rect">
            <a:avLst/>
          </a:prstGeom>
          <a:solidFill>
            <a:schemeClr val="bg1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0" y="0"/>
            <a:ext cx="7817301" cy="6876288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4544568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2413" y="1266825"/>
            <a:ext cx="6291072" cy="431596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B3ABB18D-F104-EA7B-8FDA-7044647E2369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787679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Lar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9144" y="1014984"/>
            <a:ext cx="12207240" cy="585216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4060209"/>
            <a:ext cx="8193024" cy="1605321"/>
          </a:xfrm>
        </p:spPr>
        <p:txBody>
          <a:bodyPr anchor="b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5530"/>
            <a:ext cx="4379976" cy="282690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6D4A4A16-65BF-C7C6-0906-0A3A83C0ABDF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389557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861FFE4-4E43-4713-813A-0DAF9AE2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230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000000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08E74E92-0105-2629-2700-A469D18B06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1342C42-3386-CF2B-F48F-64BF5C03BD6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3A182900-B29A-8975-E83F-9A4CB6BE0A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182152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6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68226E32-7671-2EEA-4968-48495929914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969EC5CE-87AC-AED2-33E0-01D0E152E0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73C08BC6-C335-5F49-53AE-5A301BBC125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2497182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30FAF86B-4E49-B75F-62EE-93D1CAC4D4DA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FE308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6380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3E1843C9-8396-98D1-936A-19CA1CF6EA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7682E16-7F7C-0AC6-E655-F664800CCC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C374B29D-12BF-4A64-844B-94423BFBBD3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911294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0" y="1005840"/>
            <a:ext cx="12207240" cy="5852160"/>
          </a:xfrm>
          <a:prstGeom prst="rect">
            <a:avLst/>
          </a:prstGeom>
          <a:solidFill>
            <a:srgbClr val="EAE5DF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D06E3603-D17B-BB78-0AAD-1CE1E49BB5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D291AD73-4314-3218-8409-1F65EF63A5F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A767656C-D477-09DA-30A3-B5ECF3E71BB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3937439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5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4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4" hidden="1">
            <a:extLst>
              <a:ext uri="{FF2B5EF4-FFF2-40B4-BE49-F238E27FC236}">
                <a16:creationId xmlns:a16="http://schemas.microsoft.com/office/drawing/2014/main" id="{AA23FF5A-06A2-055F-DA6D-D2D17589D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5" hidden="1">
            <a:extLst>
              <a:ext uri="{FF2B5EF4-FFF2-40B4-BE49-F238E27FC236}">
                <a16:creationId xmlns:a16="http://schemas.microsoft.com/office/drawing/2014/main" id="{0D307FFC-4500-17A0-46BF-FE089E05E78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97454CBC-B355-69E9-CBEA-612E308DF85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962900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6D83-BB70-49AB-BC44-801646DE8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C58F-8883-4B64-915B-599721E6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8193024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E14BD53-CB03-4E8A-BD70-E6FB80F54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38002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DBB1C-A9EF-DAE0-11AE-65366164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173D2-691F-C1A6-428C-0D01945A09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91072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981527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8492F97-92F8-20F8-00BB-E9BD6972F89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66928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73D2F27-D700-CBBA-59A7-E59114C4F62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291867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4201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566928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69BCF-89CC-495E-BB4D-B7C17F10C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74327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4249539-7309-53CA-83C2-E24EC1C7717E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8181726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93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C7A69BD-4F3D-CA03-42E4-8A8EDC5D4F75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66928" y="126187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CB44951-A185-95B8-0E3F-26D343020BC1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66928" y="3004045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AEA9B09-0448-7261-D8A5-C1EB7AF72AF7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66928" y="473659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8870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6CDEC52-F600-0269-4368-DD9444773D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6060" y="365126"/>
            <a:ext cx="5459439" cy="424412"/>
          </a:xfrm>
        </p:spPr>
        <p:txBody>
          <a:bodyPr/>
          <a:lstStyle>
            <a:lvl1pPr marL="118872" indent="-118872">
              <a:defRPr>
                <a:solidFill>
                  <a:srgbClr val="000000"/>
                </a:solidFill>
              </a:defRPr>
            </a:lvl1pPr>
          </a:lstStyle>
          <a:p>
            <a:r>
              <a:rPr lang="en-CA" dirty="0"/>
              <a:t>“</a:t>
            </a:r>
            <a:r>
              <a:rPr lang="en-US" dirty="0"/>
              <a:t>Quotation”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993DBCC-185E-416E-B7BD-18744CEB050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74646" y="2854018"/>
            <a:ext cx="5340381" cy="186526"/>
          </a:xfrm>
        </p:spPr>
        <p:txBody>
          <a:bodyPr>
            <a:spAutoFit/>
          </a:bodyPr>
          <a:lstStyle>
            <a:lvl1pPr marL="0" indent="0">
              <a:spcAft>
                <a:spcPts val="0"/>
              </a:spcAft>
              <a:buNone/>
              <a:defRPr sz="12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— Attribution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9E747D10-7BBB-4A01-8B0C-E01972CC50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86503" y="-9144"/>
            <a:ext cx="5916912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216E81AB-9F50-4889-B893-55C34359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804C3198-7A9B-44D5-BEDF-235235F889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A6DBBAA9-92F7-4B04-B157-6831738AC82A}" type="datetime4">
              <a:rPr lang="en-US" smtClean="0"/>
              <a:t>July 23, 2026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05632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5329427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0" y="-9144"/>
            <a:ext cx="5916915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D231B04-DB95-5111-5DBD-92A3D6728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29426" cy="954107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886695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6F9773E-9A42-DC45-0E44-5A2A136F206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4365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6508C5-76DF-5EFA-3933-CD90B1B9D7F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427293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0397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Numbered Points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76072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F5EA95-00CC-B3FD-3442-8121D31164BB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25150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BD1469E-14AA-D9D8-06F2-FE414A59E73D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576072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76C5B92-C1FA-7596-79D8-7E05E4D9BA53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3425150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03844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D3A6E-7CF8-4BC2-A0EB-FA90FCA21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8E4A003-1EAA-47A9-9AAC-94B864F536D1}"/>
              </a:ext>
            </a:extLst>
          </p:cNvPr>
          <p:cNvSpPr>
            <a:spLocks noGrp="1"/>
          </p:cNvSpPr>
          <p:nvPr>
            <p:ph type="tbl" idx="1"/>
          </p:nvPr>
        </p:nvSpPr>
        <p:spPr>
          <a:xfrm>
            <a:off x="576072" y="1600200"/>
            <a:ext cx="11044428" cy="352958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2DD8E0E-D906-4051-A76A-02442FC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7356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5" y="1600200"/>
            <a:ext cx="11040880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26921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4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8" name="Chart Placeholder 3">
            <a:extLst>
              <a:ext uri="{FF2B5EF4-FFF2-40B4-BE49-F238E27FC236}">
                <a16:creationId xmlns:a16="http://schemas.microsoft.com/office/drawing/2014/main" id="{0EE9AC9D-70EA-AA85-CBE6-23C5257EB501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153810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37474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94764-B876-42DD-B472-BDC2CC61E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9D22D01-6D3C-4EFB-B1F4-AED8B951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0809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4BB9D9-8ECA-4A10-B219-3433124D1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4456C-1FCF-4CED-BB81-08069A400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4365" y="1243584"/>
            <a:ext cx="8193024" cy="124925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05F7A51-81ED-4EE1-B1B5-D78F6FA1B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5244" y="6491950"/>
            <a:ext cx="437707" cy="18288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rgbClr val="FE3082"/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8CBA7-4B79-B1CD-65D4-67FA9B0D9D9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494088" y="6703060"/>
            <a:ext cx="52197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© 2026 The Hartford. Classification: Non-Confidential. No part of this document may be reproduced, published, or used without the permission of The Hartford.</a:t>
            </a:r>
          </a:p>
        </p:txBody>
      </p:sp>
    </p:spTree>
    <p:extLst>
      <p:ext uri="{BB962C8B-B14F-4D97-AF65-F5344CB8AC3E}">
        <p14:creationId xmlns:p14="http://schemas.microsoft.com/office/powerpoint/2010/main" val="2771823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98" r:id="rId2"/>
    <p:sldLayoutId id="2147483700" r:id="rId3"/>
    <p:sldLayoutId id="2147483699" r:id="rId4"/>
    <p:sldLayoutId id="2147483680" r:id="rId5"/>
    <p:sldLayoutId id="2147483676" r:id="rId6"/>
    <p:sldLayoutId id="2147483701" r:id="rId7"/>
    <p:sldLayoutId id="2147483702" r:id="rId8"/>
    <p:sldLayoutId id="2147483703" r:id="rId9"/>
    <p:sldLayoutId id="2147483704" r:id="rId10"/>
    <p:sldLayoutId id="2147483675" r:id="rId11"/>
    <p:sldLayoutId id="2147483677" r:id="rId12"/>
    <p:sldLayoutId id="2147483705" r:id="rId13"/>
    <p:sldLayoutId id="2147483706" r:id="rId14"/>
    <p:sldLayoutId id="2147483707" r:id="rId15"/>
    <p:sldLayoutId id="2147483682" r:id="rId16"/>
    <p:sldLayoutId id="2147483710" r:id="rId17"/>
    <p:sldLayoutId id="2147483711" r:id="rId18"/>
    <p:sldLayoutId id="2147483712" r:id="rId19"/>
    <p:sldLayoutId id="2147483696" r:id="rId20"/>
    <p:sldLayoutId id="2147483708" r:id="rId21"/>
    <p:sldLayoutId id="2147483709" r:id="rId22"/>
    <p:sldLayoutId id="2147483679" r:id="rId23"/>
  </p:sldLayoutIdLst>
  <p:hf hdr="0" dt="0"/>
  <p:txStyles>
    <p:titleStyle>
      <a:lvl1pPr algn="l" defTabSz="914400" rtl="0" eaLnBrk="1" latinLnBrk="0" hangingPunct="1">
        <a:lnSpc>
          <a:spcPct val="98000"/>
        </a:lnSpc>
        <a:spcBef>
          <a:spcPct val="0"/>
        </a:spcBef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800" b="0" kern="1200">
          <a:solidFill>
            <a:srgbClr val="000000"/>
          </a:solidFill>
          <a:latin typeface="+mn-lt"/>
          <a:ea typeface="+mn-ea"/>
          <a:cs typeface="+mn-cs"/>
        </a:defRPr>
      </a:lvl1pPr>
      <a:lvl2pPr marL="341313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2pPr>
      <a:lvl3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»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1200"/>
        </a:spcAft>
        <a:buFont typeface="Trust Hartford Sans Light" pitchFamily="50" charset="0"/>
        <a:buChar char="»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800100" indent="-227013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—"/>
        <a:defRPr sz="1400" kern="1200">
          <a:solidFill>
            <a:srgbClr val="000000"/>
          </a:solidFill>
          <a:latin typeface="+mn-lt"/>
          <a:ea typeface="+mn-ea"/>
          <a:cs typeface="+mn-cs"/>
        </a:defRPr>
      </a:lvl5pPr>
      <a:lvl6pPr marL="566928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6pPr>
      <a:lvl7pPr marL="78638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7pPr>
      <a:lvl8pPr marL="96926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8pPr>
      <a:lvl9pPr marL="1188720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60">
          <p15:clr>
            <a:srgbClr val="F26B43"/>
          </p15:clr>
        </p15:guide>
        <p15:guide id="3" pos="3720">
          <p15:clr>
            <a:srgbClr val="F26B43"/>
          </p15:clr>
        </p15:guide>
        <p15:guide id="4" pos="7320">
          <p15:clr>
            <a:srgbClr val="F26B43"/>
          </p15:clr>
        </p15:guide>
        <p15:guide id="5" orient="horz" pos="3840">
          <p15:clr>
            <a:srgbClr val="F26B43"/>
          </p15:clr>
        </p15:guide>
        <p15:guide id="6" orient="horz" pos="798">
          <p15:clr>
            <a:srgbClr val="F26B43"/>
          </p15:clr>
        </p15:guide>
        <p15:guide id="7" pos="39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NYC Taxi Data Platform</a:t>
            </a:r>
          </a:p>
          <a:p>
            <a:r>
              <a:rPr sz="1800" i="1"/>
              <a:t>How does adverse weather affect taxi demand across NYC boroughs?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AMO: Maryam Choudhury, Ariana Lopez, Orlando Marin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 of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0000" y="12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000" y="13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The Finding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20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000" y="22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and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29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000" y="30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37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000" y="39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Year-over-Year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00" y="46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000" y="4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Technical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00" y="54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000" y="56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Future State and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Finding and Why It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Headline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IN ONE SENTENCE]</a:t>
            </a:r>
          </a:p>
          <a:p>
            <a:pPr algn="ctr"/>
            <a:r>
              <a:rPr sz="1400" i="1">
                <a:solidFill>
                  <a:srgbClr val="555555"/>
                </a:solidFill>
              </a:rPr>
              <a:t>e.g., During adverse weather, trips dropped X% in outer boroughs but only Y% in Manhattan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38M+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Trip Records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10 months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Jan-May 2025 vs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5 boroughs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Impact Compared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4600000"/>
            <a:ext cx="11400000" cy="1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Key Insight: [One sentence connecting the finding to a business recommendation]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D47A1"/>
                </a:solidFill>
              </a:rPr>
              <a:t>How does adverse weather affect taxi demand across NYC boroughs,</a:t>
            </a:r>
          </a:p>
          <a:p>
            <a:pPr algn="ctr"/>
            <a:r>
              <a:rPr sz="2000" b="1">
                <a:solidFill>
                  <a:srgbClr val="0D47A1"/>
                </a:solidFill>
              </a:rPr>
              <a:t>and how did those patterns shift between 2025 and 2026?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600000"/>
            <a:ext cx="54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Why It Matters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Fleet operators need to know where demand drops during storms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Surge pricing decisions depend on weather sensitivity by zone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NYC TLC planning benefits from quantified weather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6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Scope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Yellow + Green taxi, Jan-May 2025 vs Jan-May 2026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39.2 million trip records from S3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Weather enrichment: hourly NYC conditions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265 taxi zones mapped to 5 boroughs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5100000"/>
            <a:ext cx="11400000" cy="10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D2D2D"/>
                </a:solidFill>
              </a:rPr>
              <a:t>How We Know We Answered It: </a:t>
            </a:r>
            <a:r>
              <a:rPr sz="1400">
                <a:solidFill>
                  <a:srgbClr val="2D2D2D"/>
                </a:solidFill>
              </a:rPr>
              <a:t>Pre-aggregated mart (34,719 rows) with trip counts, revenue, and duration by borough, weather, and year. Same months, same filters, fair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and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5400000" cy="3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What We Were Given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20 Parquet files in S3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Yellow taxi: 38,759,706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Green taxi: 465,029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Taxi zone lookup: 265 zones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Date range: Jan-May 2025 and Jan-May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100000"/>
            <a:ext cx="57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What We Added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Open-Meteo Historical Weather API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Hourly NYC conditions: 7,248 records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Temperature, precipitation, wind, weather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900000"/>
            <a:ext cx="5700000" cy="17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Schema Challenges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Yellow: tpep_* timestamps; Green: lpep_*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Green has ehail_fee, trip_type; no airport_fee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cbd_congestion_fee added Jan 2025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Case-sensitive columns from INFER_SCHEMA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39,224,735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Total Trip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7,248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265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Taxi Zones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Architecture Diagram: Capstone_Architecture_PatternA.drawio]</a:t>
            </a:r>
          </a:p>
          <a:p>
            <a:pPr algn="ctr">
              <a:spcBef>
                <a:spcPts val="2000"/>
              </a:spcBef>
            </a:pPr>
            <a:r>
              <a:rPr sz="1600" b="1">
                <a:solidFill>
                  <a:srgbClr val="2D2D2D"/>
                </a:solidFill>
              </a:rPr>
              <a:t>S3 RAW  →  Snowflake Bronze  →  dbt Silver  →  dbt Gold  →  Tableau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Decision: Pattern A (ELT)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54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Why We Chose It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Team is strongest in SQL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Fewest moving parts for a one-week sprint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All transforms tested and version-controlled (dbt)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Snowflake handles 39M rows natively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Full pipeline re-runs in ~6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100000"/>
            <a:ext cx="57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What We Gave Up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Spark/Glue experience demonstrated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DataFrames or distributed compute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Less tooling breadth on resume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If data exceeded Snowflake limits, would need rework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800000"/>
            <a:ext cx="11400000" cy="2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Key Design Decisions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 (not views) for staging: 39M rows too expensive to rebuild on every dashboard query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Flag DQ issues, don't delete: preserves traceability, Gold filters with WHERE is_valid = TRUE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Weather join on date + hour: matches trip pickup timestamp granularity (100% match rate)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Single orchestration script: one command runs everything, idempotent, fails fast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Quality: What Was Wrong and What We Did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Pipeline Reconciliation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source files:  39,224,735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loaded to Bronze:  39,224,735 (0 lost)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Silver:  39,224,735 (flagged, not removed)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Gold (valid only):  38,053,445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flagged invalid:  1,171,290 (3.0%)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3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Top Defects Found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Null/zero passenger_count: 9.2M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Payment type 0 (undocumented): 9M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Timestamp out of range: 702K (1.8%)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Negative fare: 247K (0.6%)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Distance &gt; 100 miles: 131K (0.3%)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Dropoff before pickup: 87K (0.2%) - Flagged invalid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100000"/>
            <a:ext cx="5400000" cy="11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The Cash Tip Trap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tip_amount is recorded for credit card payments only. Cash tips appear as $0.00. Our tip analysis is limited to credit card transactions and we state this explicitly.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4500000"/>
            <a:ext cx="11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Our Approach: Flag, Don't Delete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Every row gets is_valid (boolean) + dq_flag_reason (which checks failed). Silver keeps all 39.2M rows. Gold filters to valid only. Full traceability preserved. Two defects found NOT in the data catalog: payment_type 0 and null passenger_count.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Year-over-Year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Year-over-Year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HERE]</a:t>
            </a:r>
          </a:p>
          <a:p>
            <a:pPr algn="ctr"/>
            <a:r>
              <a:rPr sz="1300" i="1">
                <a:solidFill>
                  <a:srgbClr val="555555"/>
                </a:solidFill>
              </a:rPr>
              <a:t>e.g., During rain/snow events, outer-borough demand fell X% YoY while Manhattan held steady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600000"/>
            <a:ext cx="54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Is the comparison fair?</a:t>
            </a:r>
          </a:p>
          <a:p>
            <a:r>
              <a:rPr sz="1200">
                <a:solidFill>
                  <a:srgbClr val="2D2D2D"/>
                </a:solidFill>
              </a:rPr>
              <a:t>Same months (Jan-May), same vehicle types, same DQ filters applied to both years. Weather conditions matched on same hourly granularity.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600000"/>
            <a:ext cx="5700000" cy="1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Could a DQ issue explain it?</a:t>
            </a:r>
          </a:p>
          <a:p>
            <a:r>
              <a:rPr sz="1200">
                <a:solidFill>
                  <a:srgbClr val="2D2D2D"/>
                </a:solidFill>
              </a:rPr>
              <a:t>[What we checked and ruled out: e.g., invalid rows distributed evenly across both years, no systematic bias]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4300000"/>
            <a:ext cx="5400000" cy="1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Is it large enough to be real?</a:t>
            </a:r>
          </a:p>
          <a:p>
            <a:r>
              <a:rPr sz="1200">
                <a:solidFill>
                  <a:srgbClr val="2D2D2D"/>
                </a:solidFill>
              </a:rPr>
              <a:t>[Evidence the change is not noise, or honest confidence statement]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0000" y="4300000"/>
            <a:ext cx="57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So What?</a:t>
            </a:r>
          </a:p>
          <a:p>
            <a:r>
              <a:rPr sz="1200">
                <a:solidFill>
                  <a:srgbClr val="2D2D2D"/>
                </a:solidFill>
              </a:rPr>
              <a:t>[Business recommendation: e.g., stage more drivers in X borough during Y weather because Z]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555555"/>
                </a:solidFill>
              </a:rPr>
              <a:t>[Insert Tableau Dashboard Screenshot]</a:t>
            </a:r>
          </a:p>
          <a:p>
            <a:pPr algn="ctr">
              <a:spcBef>
                <a:spcPts val="1600"/>
              </a:spcBef>
            </a:pPr>
            <a:r>
              <a:rPr sz="1400">
                <a:solidFill>
                  <a:srgbClr val="2D2D2D"/>
                </a:solidFill>
              </a:rPr>
              <a:t>Connected to AMO_GOLD.MART_WEATHER_DEMAND (34,719 rows)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[Additional charts / breakdowns from Tableau]</a:t>
            </a:r>
          </a:p>
          <a:p>
            <a:pPr algn="ctr">
              <a:spcBef>
                <a:spcPts val="1200"/>
              </a:spcBef>
            </a:pPr>
            <a:r>
              <a:rPr sz="1400">
                <a:solidFill>
                  <a:srgbClr val="2D2D2D"/>
                </a:solidFill>
              </a:rPr>
              <a:t>Revenue by weather, duration by borough, payment type splits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Deep Dive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Decisions and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2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dbt Model Layering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Staging (stg_*): tables, not views. 39M rows too expensive to rebuild per query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Fact (fct_trips): enriched with borough + weather, filtered to 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Mart (mart_weather_demand): pre-aggregated for Tableau (34K rows)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Dimensions (dim_zones, dim_weather): lookup tables for drilldown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Testing Strategy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32 automated dbt tests (31 pass, 1 expected 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not_null on all key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unique on dimension primary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accepted_values on categorical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relationships on zone foreign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Warn severity for known issues (documents, doesn't block)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500000"/>
            <a:ext cx="54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Orchestration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Single Python script: python pipeline/orchestrate.py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Runs end-to-end in ~6 minutes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Idempotent: safe to re-run (CREATE OR REPLACE)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7 steps: Bronze infra, load, weather, verify, dbt run, dbt test, summary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Fails fast with clear error messages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0000" y="3500000"/>
            <a:ext cx="5700000" cy="2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Key Transformations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Union Yellow + Green (tpep/lpep rename)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DQ flagging: is_valid + dq_flag_reason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 derivation: hour, rush, night, weekend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Weather join on pickup date + hour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Borough join via zone lookup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Revenue: all fee columns carried through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and Performance 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20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Warehouse Configuration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Warehouse: COMPUTE_WH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Size: [X-Small / Small]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Auto-suspend: [X seconds]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Tables: transient (no fail-safe cost)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2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Performance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Full pipeline: ~6 min end-to-end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Dashboard queries: &lt;1 sec (34K rows)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dbt build (Silver + Gold): ~4 min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COPY INTO: ~90 sec for 39M rows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3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At 10x the Data Volume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Ingestion: switch to Snowpipe for continuous loading instead of batch COPY INTO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Warehouse: scale up to Medium or use multi-cluster warehouse for concurrency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Materialization: consider incremental models in dbt (append new data only, skip full rebuild)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Storage: partition by year/month for query pruning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Future State and Recommendation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3600000" cy="48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Real-Time Ingestion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2E7D32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Snowpipe + streams for continuous loading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1-2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Live demand monitoring during storms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0000" y="1000000"/>
            <a:ext cx="3600000" cy="4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ML Forecasting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0D47A1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Predict demand drops by borough before storms hit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2-3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Proactive fleet positioning, fewer empty cabs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000" y="1000000"/>
            <a:ext cx="3600000" cy="48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Multi-City Expansion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E65100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Replicate pipeline for Chicago, Boston, etc.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3-4 sprints per city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National weather-demand intelligence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6000000"/>
            <a:ext cx="11400000" cy="6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D2D2D"/>
                </a:solidFill>
              </a:rPr>
              <a:t>Highest Impact: Real-Time Ingestion. Fleet operators need minute-level demand signals during active storms.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Future State Architecture Diagram]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200000"/>
            <a:ext cx="11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D47A1"/>
                </a:solidFill>
              </a:rPr>
              <a:t>[One clear recommendation tied to the finding]</a:t>
            </a:r>
          </a:p>
          <a:p>
            <a:pPr algn="ctr">
              <a:spcBef>
                <a:spcPts val="800"/>
              </a:spcBef>
            </a:pPr>
            <a:r>
              <a:rPr sz="1400" i="1">
                <a:solidFill>
                  <a:srgbClr val="555555"/>
                </a:solidFill>
              </a:rPr>
              <a:t>e.g., Pre-position 15% more vehicles in outer boroughs during forecasted rain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400000"/>
            <a:ext cx="5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Actionable Next Step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the client should do first]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3400000"/>
            <a:ext cx="5700000" cy="15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Implementation Cost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it would take: time, team, tools]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Use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5000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  Where We Used AI                    What For                              What We Verified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16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2200000"/>
            <a:ext cx="11400000" cy="50000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27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36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What We Rejected or Corrected From AI Suggestions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D2D"/>
                </a:solidFill>
              </a:rPr>
              <a:t>[Describe corrections made, things that required manual verification, etc.]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Hartford Template Slides">
  <a:themeElements>
    <a:clrScheme name="HIG Theme Colors">
      <a:dk1>
        <a:sysClr val="windowText" lastClr="000000"/>
      </a:dk1>
      <a:lt1>
        <a:srgbClr val="FFFFFF"/>
      </a:lt1>
      <a:dk2>
        <a:srgbClr val="75013F"/>
      </a:dk2>
      <a:lt2>
        <a:srgbClr val="FE3082"/>
      </a:lt2>
      <a:accent1>
        <a:srgbClr val="BF4A24"/>
      </a:accent1>
      <a:accent2>
        <a:srgbClr val="7A9900"/>
      </a:accent2>
      <a:accent3>
        <a:srgbClr val="367A3D"/>
      </a:accent3>
      <a:accent4>
        <a:srgbClr val="12543D"/>
      </a:accent4>
      <a:accent5>
        <a:srgbClr val="818284"/>
      </a:accent5>
      <a:accent6>
        <a:srgbClr val="1C2E5E"/>
      </a:accent6>
      <a:hlink>
        <a:srgbClr val="0D5996"/>
      </a:hlink>
      <a:folHlink>
        <a:srgbClr val="000000"/>
      </a:folHlink>
    </a:clrScheme>
    <a:fontScheme name="The Hartford Fonts">
      <a:majorFont>
        <a:latin typeface="Trust Hartford Serif"/>
        <a:ea typeface=""/>
        <a:cs typeface=""/>
      </a:majorFont>
      <a:minorFont>
        <a:latin typeface="Trust Hartford Sans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65000"/>
          </a:schemeClr>
        </a:solidFill>
      </a:fillStyleLst>
      <a:lnStyleLst>
        <a:ln w="3175" cap="flat" cmpd="sng" algn="ctr">
          <a:solidFill>
            <a:schemeClr val="phClr">
              <a:shade val="65000"/>
            </a:schemeClr>
          </a:solidFill>
          <a:prstDash val="solid"/>
        </a:ln>
        <a:ln w="3175" cap="flat" cmpd="sng" algn="ctr">
          <a:solidFill>
            <a:schemeClr val="phClr"/>
          </a:solidFill>
          <a:prstDash val="solid"/>
        </a:ln>
        <a:ln w="0" cap="flat" cmpd="sng" algn="ctr">
          <a:noFill/>
        </a:ln>
      </a:lnStyleLst>
      <a:effectStyleLst>
        <a:effectStyle>
          <a:effectLst>
            <a:blur/>
          </a:effectLst>
        </a:effectStyle>
        <a:effectStyle>
          <a:effectLst>
            <a:blur/>
          </a:effectLst>
        </a:effectStyle>
        <a:effectStyle>
          <a:effectLst>
            <a:fillOverlay blend="darken">
              <a:solidFill>
                <a:schemeClr val="phClr">
                  <a:shade val="30000"/>
                </a:schemeClr>
              </a:solidFill>
            </a:fillOverlay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Burgundy">
      <a:srgbClr val="75013F"/>
    </a:custClr>
    <a:custClr name="Pink">
      <a:srgbClr val="FE3082"/>
    </a:custClr>
    <a:custClr name="Tan">
      <a:srgbClr val="EBE5DF"/>
    </a:custClr>
    <a:custClr name="Tangerine">
      <a:srgbClr val="F59900"/>
    </a:custClr>
    <a:custClr name="Burnt Orange">
      <a:srgbClr val="BF4A24"/>
    </a:custClr>
    <a:custClr name="Yellow Green">
      <a:srgbClr val="7A9900"/>
    </a:custClr>
    <a:custClr name="Dark Yellow Green">
      <a:srgbClr val="367A3D"/>
    </a:custClr>
    <a:custClr name="Green">
      <a:srgbClr val="3DA373"/>
    </a:custClr>
    <a:custClr name="Dark Green">
      <a:srgbClr val="12543D"/>
    </a:custClr>
    <a:custClr name="Light Blue">
      <a:srgbClr val="73A3C2"/>
    </a:custClr>
    <a:custClr name="Dark Blue">
      <a:srgbClr val="1C2E5E"/>
    </a:custClr>
    <a:custClr name="Grey">
      <a:srgbClr val="808080"/>
    </a:custClr>
  </a:custClrLst>
  <a:extLst>
    <a:ext uri="{05A4C25C-085E-4340-85A3-A5531E510DB2}">
      <thm15:themeFamily xmlns:thm15="http://schemas.microsoft.com/office/thememl/2012/main" name="HIG_Widescreen_Template_FINAL.pptx" id="{CD353832-D829-4280-89A1-06AFFF1CC76B}" vid="{3B90B76E-4DE7-4C57-AA79-D886034896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42c473a-5317-4d13-ad87-86a2a47c9514">
      <Terms xmlns="http://schemas.microsoft.com/office/infopath/2007/PartnerControls"/>
    </lcf76f155ced4ddcb4097134ff3c332f>
    <TaxCatchAll xmlns="65a51801-ec80-49bd-9bc3-86cb9f3d0a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9D4D9C6D7EB3A45BA07DDCE137F3A77" ma:contentTypeVersion="16" ma:contentTypeDescription="Create a new document." ma:contentTypeScope="" ma:versionID="80a29a38a3811a9c8488ec60c8ebf733">
  <xsd:schema xmlns:xsd="http://www.w3.org/2001/XMLSchema" xmlns:xs="http://www.w3.org/2001/XMLSchema" xmlns:p="http://schemas.microsoft.com/office/2006/metadata/properties" xmlns:ns2="842c473a-5317-4d13-ad87-86a2a47c9514" xmlns:ns3="65a51801-ec80-49bd-9bc3-86cb9f3d0aa5" xmlns:ns4="dca353f4-67a1-4cb1-9c7d-5d6923610443" targetNamespace="http://schemas.microsoft.com/office/2006/metadata/properties" ma:root="true" ma:fieldsID="d5f0f043c1799197e3af8cd28bdc65c6" ns2:_="" ns3:_="" ns4:_="">
    <xsd:import namespace="842c473a-5317-4d13-ad87-86a2a47c9514"/>
    <xsd:import namespace="65a51801-ec80-49bd-9bc3-86cb9f3d0aa5"/>
    <xsd:import namespace="dca353f4-67a1-4cb1-9c7d-5d69236104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4:SharedWithUsers" minOccurs="0"/>
                <xsd:element ref="ns4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2c473a-5317-4d13-ad87-86a2a47c95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0c56ab5-1ab2-4a8e-bda2-ee42cffeb21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51801-ec80-49bd-9bc3-86cb9f3d0aa5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b53f09ee-0b74-43df-b2fc-a7c8c11a9fab}" ma:internalName="TaxCatchAll" ma:showField="CatchAllData" ma:web="dca353f4-67a1-4cb1-9c7d-5d69236104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a353f4-67a1-4cb1-9c7d-5d6923610443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F5A6BA-5C40-4396-A321-3C576FF36A31}">
  <ds:schemaRefs>
    <ds:schemaRef ds:uri="http://schemas.microsoft.com/office/2006/metadata/properties"/>
    <ds:schemaRef ds:uri="http://schemas.microsoft.com/office/infopath/2007/PartnerControls"/>
    <ds:schemaRef ds:uri="842c473a-5317-4d13-ad87-86a2a47c9514"/>
    <ds:schemaRef ds:uri="65a51801-ec80-49bd-9bc3-86cb9f3d0aa5"/>
  </ds:schemaRefs>
</ds:datastoreItem>
</file>

<file path=customXml/itemProps2.xml><?xml version="1.0" encoding="utf-8"?>
<ds:datastoreItem xmlns:ds="http://schemas.openxmlformats.org/officeDocument/2006/customXml" ds:itemID="{4387F914-44F5-4DBF-AC00-AB7E9ECE04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2c473a-5317-4d13-ad87-86a2a47c9514"/>
    <ds:schemaRef ds:uri="65a51801-ec80-49bd-9bc3-86cb9f3d0aa5"/>
    <ds:schemaRef ds:uri="dca353f4-67a1-4cb1-9c7d-5d69236104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1E6C963-5293-43DA-A96C-045F7BFE166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</TotalTime>
  <Words>1907</Words>
  <Application>Microsoft Office PowerPoint</Application>
  <PresentationFormat>Widescreen</PresentationFormat>
  <Paragraphs>297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1" baseType="lpstr">
      <vt:lpstr>Calibri</vt:lpstr>
      <vt:lpstr>Aptos</vt:lpstr>
      <vt:lpstr>Trust Hartford Mono</vt:lpstr>
      <vt:lpstr>Trust Hartford Sans</vt:lpstr>
      <vt:lpstr>Trust Hartford Sans Light</vt:lpstr>
      <vt:lpstr>Trust Hartford Serif</vt:lpstr>
      <vt:lpstr>Arial</vt:lpstr>
      <vt:lpstr>Trust Hartford Serif XLight</vt:lpstr>
      <vt:lpstr>The Hartford Template Slides</vt:lpstr>
      <vt:lpstr>PowerPoint Presentation</vt:lpstr>
      <vt:lpstr>Template Slides</vt:lpstr>
      <vt:lpstr>Title and Divider Slides</vt:lpstr>
      <vt:lpstr>Content Slides</vt:lpstr>
      <vt:lpstr>Print Presentation Example</vt:lpstr>
      <vt:lpstr>Digital Presentation Example</vt:lpstr>
      <vt:lpstr>Color Option Examples</vt:lpstr>
      <vt:lpstr>Chart Templates</vt:lpstr>
      <vt:lpstr>Chart and Table Examples</vt:lpstr>
      <vt:lpstr>Financial Chart and Table Examples</vt:lpstr>
      <vt:lpstr>How to Add the New Financial Chart Colors</vt:lpstr>
      <vt:lpstr>Fonts</vt:lpstr>
      <vt:lpstr>Fonts</vt:lpstr>
      <vt:lpstr>Converting Slide Formats to Avoid Content Distortion</vt:lpstr>
      <vt:lpstr>Applying the Template to Existing Presentations</vt:lpstr>
      <vt:lpstr>Your presentation begins here.</vt:lpstr>
      <vt:lpstr>1</vt:lpstr>
      <vt:lpstr>2</vt:lpstr>
      <vt:lpstr>3</vt:lpstr>
      <vt:lpstr>4</vt:lpstr>
      <vt:lpstr>Title Slide for Reduced Ink Printing</vt:lpstr>
      <vt:lpstr>PowerPoint Presentation</vt:lpstr>
      <vt:lpstr>Agenda</vt:lpstr>
      <vt:lpstr>PowerPoint Presentation</vt:lpstr>
      <vt:lpstr>Sample Chart and Stats Callout</vt:lpstr>
      <vt:lpstr>Sample Pie Chart</vt:lpstr>
      <vt:lpstr>Sample Finance Pie Chart</vt:lpstr>
      <vt:lpstr>Sample Clustered Column and Line Chart</vt:lpstr>
      <vt:lpstr>Sample Line Chart</vt:lpstr>
      <vt:lpstr>Sample Tables </vt:lpstr>
      <vt:lpstr>Sample Tables </vt:lpstr>
      <vt:lpstr>Sample Icon 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Marin, Orlando (Applied AI and Analytics)</dc:creator>
  <cp:keywords/>
  <dc:description>Version 1.2
25-BD-2785360 Brand Refresh - HIG Master Template - Widescreen PPT FINAL</dc:description>
  <cp:lastModifiedBy>Marin, Orlando (Applied AI and Analytics)</cp:lastModifiedBy>
  <cp:revision>1</cp:revision>
  <cp:lastPrinted>2024-04-30T20:31:00Z</cp:lastPrinted>
  <dcterms:created xsi:type="dcterms:W3CDTF">2026-07-23T20:23:29Z</dcterms:created>
  <dcterms:modified xsi:type="dcterms:W3CDTF">2026-07-23T20:29:41Z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927861f-9136-4b0c-8ea1-6998fc0dabd0_Enabled">
    <vt:lpwstr>true</vt:lpwstr>
  </property>
  <property fmtid="{D5CDD505-2E9C-101B-9397-08002B2CF9AE}" pid="3" name="MSIP_Label_d927861f-9136-4b0c-8ea1-6998fc0dabd0_SetDate">
    <vt:lpwstr>2026-07-23T20:28:35Z</vt:lpwstr>
  </property>
  <property fmtid="{D5CDD505-2E9C-101B-9397-08002B2CF9AE}" pid="4" name="MSIP_Label_d927861f-9136-4b0c-8ea1-6998fc0dabd0_Method">
    <vt:lpwstr>Privileged</vt:lpwstr>
  </property>
  <property fmtid="{D5CDD505-2E9C-101B-9397-08002B2CF9AE}" pid="5" name="MSIP_Label_d927861f-9136-4b0c-8ea1-6998fc0dabd0_Name">
    <vt:lpwstr>NC - Show Footer</vt:lpwstr>
  </property>
  <property fmtid="{D5CDD505-2E9C-101B-9397-08002B2CF9AE}" pid="6" name="MSIP_Label_d927861f-9136-4b0c-8ea1-6998fc0dabd0_SiteId">
    <vt:lpwstr>a311fc62-83f4-45f0-9502-1bb2247d4c8d</vt:lpwstr>
  </property>
  <property fmtid="{D5CDD505-2E9C-101B-9397-08002B2CF9AE}" pid="7" name="MSIP_Label_d927861f-9136-4b0c-8ea1-6998fc0dabd0_ActionId">
    <vt:lpwstr>6e341894-8460-4288-9635-75af306aec01</vt:lpwstr>
  </property>
  <property fmtid="{D5CDD505-2E9C-101B-9397-08002B2CF9AE}" pid="8" name="MSIP_Label_d927861f-9136-4b0c-8ea1-6998fc0dabd0_ContentBits">
    <vt:lpwstr>2</vt:lpwstr>
  </property>
  <property fmtid="{D5CDD505-2E9C-101B-9397-08002B2CF9AE}" pid="9" name="MSIP_Label_d927861f-9136-4b0c-8ea1-6998fc0dabd0_Tag">
    <vt:lpwstr>10, 0, 1, 1</vt:lpwstr>
  </property>
  <property fmtid="{D5CDD505-2E9C-101B-9397-08002B2CF9AE}" pid="10" name="ClassificationContentMarkingFooterLocations">
    <vt:lpwstr>The Hartford Template Slides:5</vt:lpwstr>
  </property>
  <property fmtid="{D5CDD505-2E9C-101B-9397-08002B2CF9AE}" pid="11" name="ClassificationContentMarkingFooterText">
    <vt:lpwstr>© 2026 The Hartford. Classification: Non-Confidential. No part of this document may be reproduced, published, or used without the permission of The Hartford.</vt:lpwstr>
  </property>
</Properties>
</file>