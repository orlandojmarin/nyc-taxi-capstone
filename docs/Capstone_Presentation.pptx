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106_0.xml" ContentType="application/vnd.ms-powerpoint.comments+xml"/>
  <Override PartName="/ppt/comments/modernComment_118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73" r:id="rId4"/>
  </p:sldMasterIdLst>
  <p:notesMasterIdLst>
    <p:notesMasterId r:id="rId30"/>
  </p:notesMasterIdLst>
  <p:sldIdLst>
    <p:sldId id="256" r:id="rId5"/>
    <p:sldId id="257" r:id="rId6"/>
    <p:sldId id="258" r:id="rId7"/>
    <p:sldId id="259" r:id="rId8"/>
    <p:sldId id="260" r:id="rId9"/>
    <p:sldId id="261" r:id="rId10"/>
    <p:sldId id="262" r:id="rId11"/>
    <p:sldId id="280" r:id="rId12"/>
    <p:sldId id="264" r:id="rId13"/>
    <p:sldId id="263" r:id="rId14"/>
    <p:sldId id="265" r:id="rId15"/>
    <p:sldId id="266" r:id="rId16"/>
    <p:sldId id="267" r:id="rId17"/>
    <p:sldId id="268" r:id="rId18"/>
    <p:sldId id="269" r:id="rId19"/>
    <p:sldId id="270" r:id="rId20"/>
    <p:sldId id="271" r:id="rId21"/>
    <p:sldId id="272" r:id="rId22"/>
    <p:sldId id="273" r:id="rId23"/>
    <p:sldId id="286" r:id="rId48"/>
    <p:sldId id="287" r:id="rId49"/>
    <p:sldId id="288" r:id="rId50"/>
    <p:sldId id="289" r:id="rId51"/>
    <p:sldId id="274" r:id="rId24"/>
    <p:sldId id="275" r:id="rId25"/>
    <p:sldId id="276" r:id="rId26"/>
    <p:sldId id="277" r:id="rId27"/>
    <p:sldId id="278" r:id="rId28"/>
    <p:sldId id="279" r:id="rId29"/>
    <p:sldId id="281" r:id="rId43"/>
    <p:sldId id="282" r:id="rId44"/>
    <p:sldId id="283" r:id="rId45"/>
    <p:sldId id="284" r:id="rId46"/>
    <p:sldId id="285" r:id="rId47"/>
  </p:sldIdLst>
  <p:sldSz cx="12192000" cy="6858000"/>
  <p:notesSz cx="6858000" cy="9144000"/>
  <p:embeddedFontLst>
    <p:embeddedFont>
      <p:font typeface="Trust Hartford Sans" panose="020B0604020202020204" charset="0"/>
      <p:regular r:id="rId31"/>
      <p:bold r:id="rId32"/>
      <p:italic r:id="rId33"/>
      <p:boldItalic r:id="rId34"/>
    </p:embeddedFont>
    <p:embeddedFont>
      <p:font typeface="Trust Hartford Sans Light" panose="020B0604020202020204" charset="0"/>
      <p:regular r:id="rId35"/>
      <p:italic r:id="rId36"/>
    </p:embeddedFont>
  </p:embeddedFontLst>
  <p:defaultTex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14874C-4B50-8014-91A3-463629EBBE24}" name="Klim, Jamie (Enterprise Marketing)" initials="" userId="S::James.Klim@thehartford.com::ad579b43-3ce8-40d5-ae4c-10bb8498a6fa" providerId="AD"/>
  <p188:author id="{4FB9D2F5-E275-8295-0520-7EF5F7DC6A9A}" name="Lopez, Ariana (PI Data Analytics)" initials="LA" userId="S::ariana.lopez@thehartford.com::a8ee6070-ce53-4799-bf07-949fe8488c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5DF"/>
    <a:srgbClr val="FE3082"/>
    <a:srgbClr val="73A2C2"/>
    <a:srgbClr val="8F96AD"/>
    <a:srgbClr val="C7CBD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C9CE4-B0C3-B77A-31AC-13E34A8815F4}" v="43" dt="2026-08-13T11:37:50.296"/>
    <p1510:client id="{8B7E71A9-1771-D9B2-96AE-83B92B3BA484}" v="17" dt="2026-08-12T21:09:30.276"/>
    <p1510:client id="{E59587EE-3263-6923-8ADE-D4C835675346}" v="835" dt="2026-08-12T21:00:56.250"/>
  </p1510:revLst>
</p1510:revInfo>
</file>

<file path=ppt/tableStyles.xml><?xml version="1.0" encoding="utf-8"?>
<a:tblStyleLst xmlns:a="http://schemas.openxmlformats.org/drawingml/2006/main" def="{F74A2FF2-876A-4A6F-922C-DD539E22E740}">
  <a:tblStyle styleId="{F74A2FF2-876A-4A6F-922C-DD539E22E740}" styleName="The Hartford Table Style 1">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tx2"/>
          </a:solidFill>
        </a:fill>
      </a:tcStyle>
    </a:firstRow>
    <a:neCell>
      <a:tcStyle>
        <a:tcBdr/>
      </a:tcStyle>
    </a:neCell>
    <a:nwCell>
      <a:tcStyle>
        <a:tcBdr/>
      </a:tcStyle>
    </a:nwCell>
  </a:tblStyle>
  <a:tblStyle styleId="{613C4D0A-429A-40B9-85B9-7F5FD54E15C4}" styleName="The Hartford Table Style 2">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bg2"/>
          </a:solidFill>
        </a:fill>
      </a:tcStyle>
    </a:firstRow>
    <a:neCell>
      <a:tcStyle>
        <a:tcBdr/>
      </a:tcStyle>
    </a:neCell>
    <a:nwCell>
      <a:tcStyle>
        <a:tcBdr/>
      </a:tcStyle>
    </a:nwCell>
  </a:tblStyle>
  <a:tblStyle styleId="{F9F6A034-655A-47D2-A762-C7606B091322}" styleName="The Hartford Table Style 3">
    <a:wholeTbl>
      <a:tcTxStyle>
        <a:fontRef idx="minor">
          <a:scrgbClr r="0" g="0" b="0"/>
        </a:fontRef>
        <a:schemeClr val="tx1"/>
      </a:tcTxStyle>
      <a:tcStyle>
        <a:tcBdr>
          <a:left>
            <a:ln w="12700" cmpd="sng">
              <a:solidFill>
                <a:schemeClr val="bg1"/>
              </a:solidFill>
            </a:ln>
          </a:left>
          <a:right>
            <a:ln w="12700" cmpd="sng">
              <a:solidFill>
                <a:schemeClr val="bg1"/>
              </a:solidFill>
            </a:ln>
          </a:right>
          <a:top>
            <a:ln w="12700" cmpd="sng">
              <a:solidFill>
                <a:schemeClr val="bg1"/>
              </a:solidFill>
            </a:ln>
          </a:top>
          <a:bottom>
            <a:ln w="12700" cmpd="sng">
              <a:solidFill>
                <a:schemeClr val="bg1"/>
              </a:solidFill>
            </a:ln>
          </a:bottom>
          <a:insideH>
            <a:ln w="12700" cmpd="sng">
              <a:solidFill>
                <a:schemeClr val="bg1"/>
              </a:solidFill>
            </a:ln>
          </a:insideH>
          <a:insideV>
            <a:ln w="12700" cmpd="sng">
              <a:solidFill>
                <a:schemeClr val="bg1"/>
              </a:solidFill>
            </a:ln>
          </a:insideV>
        </a:tcBdr>
        <a:fill>
          <a:noFill/>
        </a:fill>
      </a:tcStyle>
    </a:wholeTbl>
    <a:band1H>
      <a:tcStyle>
        <a:tcBdr/>
        <a:fill>
          <a:solidFill>
            <a:srgbClr val="EAE5DF"/>
          </a:solidFill>
        </a:fill>
      </a:tcStyle>
    </a:band1H>
    <a:band2H>
      <a:tcStyle>
        <a:tcBdr/>
        <a:fill>
          <a:solidFill>
            <a:srgbClr val="EAE5DF"/>
          </a:solidFill>
        </a:fill>
      </a:tcStyle>
    </a:band2H>
    <a:band1V>
      <a:tcStyle>
        <a:tcBdr/>
      </a:tcStyle>
    </a:band1V>
    <a:band2V>
      <a:tcStyle>
        <a:tcBdr/>
      </a:tcStyle>
    </a:band2V>
    <a:lastCol>
      <a:tcStyle>
        <a:tcBdr/>
      </a:tcStyle>
    </a:lastCol>
    <a:firstCol>
      <a:tcTxStyle b="on">
        <a:fontRef idx="minor">
          <a:prstClr val="black"/>
        </a:fontRef>
        <a:schemeClr val="dk1"/>
      </a:tcTxStyle>
      <a:tcStyle>
        <a:tcBdr/>
      </a:tcStyle>
    </a:firstCol>
    <a:lastRow>
      <a:tcStyle>
        <a:tcBdr/>
      </a:tcStyle>
    </a:lastRow>
    <a:seCell>
      <a:tcStyle>
        <a:tcBdr/>
      </a:tcStyle>
    </a:seCell>
    <a:swCell>
      <a:tcStyle>
        <a:tcBdr/>
      </a:tcStyle>
    </a:swCell>
    <a:firstRow>
      <a:tcTxStyle b="on">
        <a:fontRef idx="minor">
          <a:prstClr val="white"/>
        </a:fontRef>
        <a:schemeClr val="bg1"/>
      </a:tcTxStyle>
      <a:tcStyle>
        <a:tcBdr/>
        <a:fill>
          <a:solidFill>
            <a:schemeClr val="dk1"/>
          </a:solidFill>
        </a:fill>
      </a:tcStyle>
    </a:firstRow>
    <a:neCell>
      <a:tcStyle>
        <a:tcBdr/>
      </a:tcStyle>
    </a:neCell>
    <a:nwCell>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6" autoAdjust="0"/>
    <p:restoredTop sz="96301"/>
  </p:normalViewPr>
  <p:slideViewPr>
    <p:cSldViewPr snapToGrid="0" showGuides="1">
      <p:cViewPr varScale="1">
        <p:scale>
          <a:sx n="111" d="100"/>
          <a:sy n="111" d="100"/>
        </p:scale>
        <p:origin x="594"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2" d="100"/>
        <a:sy n="82"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notesMaster" Target="notesMasters/notes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 Id="rId42" Type="http://schemas.microsoft.com/office/2018/10/relationships/authors" Target="authors.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47" Type="http://schemas.openxmlformats.org/officeDocument/2006/relationships/slide" Target="slides/slide30.xml"/><Relationship Id="rId48" Type="http://schemas.openxmlformats.org/officeDocument/2006/relationships/slide" Target="slides/slide31.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s>
</file>

<file path=ppt/comments/modernComment_106_0.xml><?xml version="1.0" encoding="utf-8"?>
<p188:cmLst xmlns:a="http://schemas.openxmlformats.org/drawingml/2006/main" xmlns:r="http://schemas.openxmlformats.org/officeDocument/2006/relationships" xmlns:p188="http://schemas.microsoft.com/office/powerpoint/2018/8/main">
  <p188:cm id="{764ACCF1-B4E5-4CBF-8B5A-D438CA0144DD}" authorId="{4FB9D2F5-E275-8295-0520-7EF5F7DC6A9A}" created="2026-08-12T20:24:21.438">
    <ac:txMkLst xmlns:ac="http://schemas.microsoft.com/office/drawing/2013/main/command">
      <pc:docMk xmlns:pc="http://schemas.microsoft.com/office/powerpoint/2013/main/command"/>
      <pc:sldMk xmlns:pc="http://schemas.microsoft.com/office/powerpoint/2013/main/command" cId="0" sldId="262"/>
      <ac:spMk id="2" creationId="{00000000-0000-0000-0000-000000000000}"/>
      <ac:txMk cp="7" len="1">
        <ac:context len="9" hash="3791145224"/>
      </ac:txMk>
    </ac:txMkLst>
    <p188:pos x="1338146" y="139390"/>
    <p188:txBody>
      <a:bodyPr/>
      <a:lstStyle/>
      <a:p>
        <a:r>
          <a:rPr lang="en-US"/>
          <a:t>Speaker comments done</a:t>
        </a:r>
      </a:p>
    </p188:txBody>
  </p188:cm>
</p188:cmLst>
</file>

<file path=ppt/comments/modernComment_118_0.xml><?xml version="1.0" encoding="utf-8"?>
<p188:cmLst xmlns:a="http://schemas.openxmlformats.org/drawingml/2006/main" xmlns:r="http://schemas.openxmlformats.org/officeDocument/2006/relationships" xmlns:p188="http://schemas.microsoft.com/office/powerpoint/2018/8/main">
  <p188:cm id="{4FEB0A86-9A76-498F-9545-55B209DAD8AF}" authorId="{4FB9D2F5-E275-8295-0520-7EF5F7DC6A9A}" created="2026-08-12T21:09:19.150">
    <ac:txMkLst xmlns:ac="http://schemas.microsoft.com/office/drawing/2013/main/command">
      <pc:docMk xmlns:pc="http://schemas.microsoft.com/office/powerpoint/2013/main/command"/>
      <pc:sldMk xmlns:pc="http://schemas.microsoft.com/office/powerpoint/2013/main/command" cId="0" sldId="280"/>
      <ac:spMk id="2" creationId="{00000000-0000-0000-0000-000000000000}"/>
      <ac:txMk cp="16" len="1">
        <ac:context len="18" hash="164583436"/>
      </ac:txMk>
    </ac:txMkLst>
    <p188:pos x="3910641" y="316301"/>
    <p188:txBody>
      <a:bodyPr/>
      <a:lstStyle/>
      <a:p>
        <a:r>
          <a:rPr lang="en-US"/>
          <a:t>Speaker notes done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95900D-F12B-44FC-9687-D94AAC847878}" type="datetimeFigureOut">
              <a:rPr lang="en-US" smtClean="0"/>
              <a:t>8/13/2026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66933-377C-4AC7-AB6F-0438E161DC72}" type="slidenum">
              <a:rPr lang="en-US" smtClean="0"/>
              <a:t>‹#›</a:t>
            </a:fld>
            <a:endParaRPr lang="en-US"/>
          </a:p>
        </p:txBody>
      </p:sp>
    </p:spTree>
    <p:extLst>
      <p:ext uri="{BB962C8B-B14F-4D97-AF65-F5344CB8AC3E}">
        <p14:creationId xmlns:p14="http://schemas.microsoft.com/office/powerpoint/2010/main" val="3930147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We are Team AMO. Our project answers a simple but important question: when the weather turns bad in New York City, what happens to taxi demand, and has that pattern changed over the past year?</a:t>
            </a:r>
            <a:br/>
            <a:br/>
            <a:r>
              <a:t>We analyzed over 38 million taxi trips across ten months, enriched them with hourly weather data, and built a pipeline that anyone on the team can re-run with a single command. Here is what we found.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will start with our headline finding, then walk you through how we got there: the data, our architecture, what was wrong with the data and how we handled it, our year-over-year analysis, the technical decisions behind it all, and finally where we would take this next.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start with the result and why it matters to anyone running a taxi fleet in New York City.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question is specific and measurable: how does adverse weather, meaning rain, snow, or high wind, affect taxi demand across different boroughs, and did that relationship shift between 2025 and 2026?</a:t>
            </a:r>
            <a:br/>
            <a:br/>
            <a:r>
              <a:t>This matters because fleet operators make real-time decisions about where to position drivers. If rain cuts demand by 20 percent in the Bronx but only 5 percent in Manhattan, that changes where you send your cars during a storm.</a:t>
            </a:r>
            <a:br/>
            <a:br/>
            <a:r>
              <a:t>We scoped this to Yellow and Green taxi trips from January through May in both years, giving us an apples-to-apples seasonal comparison. Our answer lives in a single pre-aggregated table with about 35,000 rows that any dashboard can query instantly.</a:t>
            </a:r>
          </a:p>
          <a:p/>
          <a:p>
            <a:r>
              <a:t>--- NEW VERSION NOTES ---</a:t>
            </a:r>
          </a:p>
          <a:p>
            <a:r>
              <a:t>RECOMMENDED UPDATE: The pre-aggregated mart (mart_weather_demand) has 30,251 rows (not 34,719). This powers both dashboards.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us talk about what we were given and how we built the pipeline.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Before we get into what we built, I want to briefly explain the data we were working with.</a:t>
            </a:r>
          </a:p>
          <a:p>
            <a:endParaRPr lang="en-US" dirty="0"/>
          </a:p>
          <a:p>
            <a:r>
              <a:rPr lang="en-US"/>
              <a:t>Our primary dataset comes from New York City taxi trips. The easiest way to think about it is that each row represents a single taxi ride, from pickup to dropoff. For every trip, we have information such as when the ride happened, how far the passenger traveled, how much they paid, and where the trip started and ended.</a:t>
            </a:r>
          </a:p>
          <a:p>
            <a:endParaRPr lang="en-US" dirty="0"/>
          </a:p>
          <a:p>
            <a:r>
              <a:rPr lang="en-US"/>
              <a:t>We were provided with two types of taxi data: Yellow Taxi trips and Green Taxi trips. Yellow taxis are the traditional NYC taxis that most people picture and operate throughout the city. Green taxis primarily serve areas outside Manhattan's central business districts, which is why they represent a much smaller portion of the data.</a:t>
            </a:r>
          </a:p>
          <a:p>
            <a:endParaRPr lang="en-US" dirty="0"/>
          </a:p>
          <a:p>
            <a:r>
              <a:rPr lang="en-US"/>
              <a:t>In total, our raw data contains approximately 38.8 million Yellow Taxi trips and about 465,000 Green Taxi trips. The data covers January through May of both 2025 and 2026.</a:t>
            </a:r>
          </a:p>
          <a:p>
            <a:endParaRPr lang="en-US" dirty="0"/>
          </a:p>
          <a:p>
            <a:r>
              <a:rPr lang="en-US"/>
              <a:t>One challenge we ran into is that the trip data doesn't contain borough names or neighborhood names directly. Instead, it uses numeric location IDs. To make the data more meaningful, we used NYC's taxi zone lookup table, which maps those IDs to one of 265 taxi zones across the city. That allowed us to understand where trips were occurring and connect them to specific boroughs.</a:t>
            </a:r>
          </a:p>
          <a:p>
            <a:endParaRPr lang="en-US" dirty="0"/>
          </a:p>
          <a:p>
            <a:r>
              <a:rPr lang="en-US" dirty="0"/>
              <a:t>To add more context, we also brought in historical weather data covering the same time period. This dataset contains hourly observations such as temperature, precipitation, wind speed, and overall weather conditions. By combining weather and taxi activity, we were to able explore how different weather conditions may influence travel patterns across the city.</a:t>
            </a:r>
          </a:p>
          <a:p>
            <a:endParaRPr lang="en-US" dirty="0"/>
          </a:p>
          <a:p>
            <a:r>
              <a:rPr lang="en-US" dirty="0"/>
              <a:t>Before any analysis could happen, we spent significant time cleaning and preparing the data. The Yellow and Green Taxi datasets were not structured exactly the same way. Some columns had different names, some fields only existed in one dataset, and there were differences in formatting that needed to be standardized. We aligned the datasets into a consistent structure so they could be analyzed together as a single source.</a:t>
            </a:r>
          </a:p>
          <a:p>
            <a:endParaRPr lang="en-US" dirty="0"/>
          </a:p>
          <a:p>
            <a:r>
              <a:rPr lang="en-US"/>
              <a:t>After cleaning and combining everything, our final dataset contains more than 39 million taxi trips, over 7,200 hourly weather records, and all 265 NYC taxi zones. This provided a large and diverse dataset that allowed us to explore transportation patterns across both time and location.</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One thing we wanted to highlight is that this project wasn't a straight line from start to finish.</a:t>
            </a:r>
          </a:p>
          <a:p>
            <a:endParaRPr lang="en-US" dirty="0"/>
          </a:p>
          <a:p>
            <a:r>
              <a:rPr lang="en-US"/>
              <a:t>Like most real-world data projects, some of our most valuable learning came from ideas that didn't work.</a:t>
            </a:r>
          </a:p>
          <a:p>
            <a:endParaRPr lang="en-US" dirty="0"/>
          </a:p>
          <a:p>
            <a:r>
              <a:rPr lang="en-US"/>
              <a:t>The first path we explored involved New York City permit and construction data. At first, it sounded like a perfect addition. We thought construction activity might help explain changes in taxi demand, delays, or traffic patterns throughout the city.</a:t>
            </a:r>
          </a:p>
          <a:p>
            <a:endParaRPr lang="en-US" dirty="0"/>
          </a:p>
          <a:p>
            <a:r>
              <a:rPr lang="en-US"/>
              <a:t>But once we started working with the data, we discovered a problem.</a:t>
            </a:r>
          </a:p>
          <a:p>
            <a:endParaRPr lang="en-US" dirty="0"/>
          </a:p>
          <a:p>
            <a:r>
              <a:rPr lang="en-US" dirty="0"/>
              <a:t>Our taxi dataset tells us where a trip starts and where it ends, but it doesn't tell us the route the taxi actually took. That meant we couldn't confidently determine whether a taxi ever encountered a construction site during the trip.</a:t>
            </a:r>
          </a:p>
          <a:p>
            <a:endParaRPr lang="en-US" dirty="0"/>
          </a:p>
          <a:p>
            <a:r>
              <a:rPr lang="en-US" dirty="0"/>
              <a:t>At that point we had a choice: make assumptions and force the analysis, or acknowledge the limitation and move on. We chose to move on. While the idea was interesting, we couldn't support it with the data we had available.</a:t>
            </a:r>
          </a:p>
          <a:p>
            <a:endParaRPr lang="en-US" dirty="0"/>
          </a:p>
          <a:p>
            <a:r>
              <a:rPr lang="en-US"/>
              <a:t>The second path we explored was our technical architecture.</a:t>
            </a:r>
          </a:p>
          <a:p>
            <a:endParaRPr lang="en-US" dirty="0"/>
          </a:p>
          <a:p>
            <a:r>
              <a:rPr lang="en-US" dirty="0"/>
              <a:t>Early in the project, we experimented with building part of the pipeline using AWS Glue and </a:t>
            </a:r>
            <a:r>
              <a:rPr lang="en-US" dirty="0" err="1"/>
              <a:t>PySpark</a:t>
            </a:r>
            <a:r>
              <a:rPr lang="en-US" dirty="0"/>
              <a:t>. The goal was to compare a more traditional ETL approach against the architecture we ultimately selected.</a:t>
            </a:r>
          </a:p>
          <a:p>
            <a:endParaRPr lang="en-US" dirty="0"/>
          </a:p>
          <a:p>
            <a:r>
              <a:rPr lang="en-US"/>
              <a:t>We were able to get pieces of it working, but we quickly realized that we were spending more time building and troubleshooting infrastructure than generating insights from the data.</a:t>
            </a:r>
          </a:p>
          <a:p>
            <a:endParaRPr lang="en-US" dirty="0"/>
          </a:p>
          <a:p>
            <a:r>
              <a:rPr lang="en-US"/>
              <a:t>The approach wasn't necessarily wrong, but for our project's timeline it wasn't the right fit. We ultimately decided to focus our efforts on the solution that would let us spend more time analyzing data and less time maintaining the pipeline.</a:t>
            </a:r>
          </a:p>
          <a:p>
            <a:endParaRPr lang="en-US" dirty="0"/>
          </a:p>
          <a:p>
            <a:r>
              <a:rPr lang="en-US" dirty="0"/>
              <a:t>Looking back, both of these paths were valuable even though neither became part of the final product.</a:t>
            </a:r>
          </a:p>
          <a:p>
            <a:endParaRPr lang="en-US" dirty="0"/>
          </a:p>
          <a:p>
            <a:r>
              <a:rPr lang="en-US"/>
              <a:t>The construction data taught us that not every enrichment source can be meaningfully connected to a dataset.</a:t>
            </a:r>
          </a:p>
          <a:p>
            <a:endParaRPr lang="en-US" dirty="0"/>
          </a:p>
          <a:p>
            <a:r>
              <a:rPr lang="en-US"/>
              <a:t>The AWS approach taught us the importance of balancing technical possibilities against project constraints like time, complexity, and maintainability.</a:t>
            </a:r>
          </a:p>
          <a:p>
            <a:endParaRPr lang="en-US" dirty="0"/>
          </a:p>
          <a:p>
            <a:r>
              <a:rPr lang="en-US"/>
              <a:t>Those lessons helped us make better decisions and ultimately shaped the solution you'll see in the next few slides.</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chose Pattern A, the warehouse-centric ELT approach. All transformation happens inside Snowflake using dbt.</a:t>
            </a:r>
            <a:br/>
            <a:br/>
            <a:r>
              <a:t>The main reasons: our team is strongest in SQL, we had one week, and this approach has the fewest things that can break. Snowflake handles 39 million rows without us managing memory or clusters, and dbt gives us automated testing and version control on every transformation.</a:t>
            </a:r>
            <a:br/>
            <a:br/>
            <a:r>
              <a:t>What we gave up is Spark experience and distributed compute. If our data were ten times larger or streaming, we would need a different approach, and we address that in our future state proposal.</a:t>
            </a:r>
            <a:br/>
            <a:br/>
            <a:r>
              <a:t>The key design decisions are listed here: we use tables instead of views because 39 million rows is too expensive to rebuild on every query, we flag data quality issues rather than deleting them, and we join weather on the exact hour of each trip pickup.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end-to-end pipeline. Data flows left to right.</a:t>
            </a:r>
            <a:br/>
            <a:br/>
            <a:r>
              <a:t>Raw Parquet files sit in S3. We load them unchanged into Snowflake Bronze, which is our landing zone. No transformations happen here, just a faithful copy of the source.</a:t>
            </a:r>
            <a:br/>
            <a:br/>
            <a:r>
              <a:t>From Bronze, dbt builds our Silver layer: one unified trips table with data quality flags, plus clean zone and weather tables. Nothing is deleted in Silver; bad records are flagged but kept for traceability.</a:t>
            </a:r>
            <a:br/>
            <a:br/>
            <a:r>
              <a:t>Silver feeds into Gold, where we filter to valid records only, join trips to boroughs and weather conditions, and aggregate into a small, fast table designed for dashboard consumption.</a:t>
            </a:r>
            <a:br/>
            <a:br/>
            <a:r>
              <a:t>The whole thing runs with one command in about six minutes and is safe to re-run at any time.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data quality. This is where trust in our findings gets built or lost.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loaded 39.2 million rows into Bronze and lost zero in the process. That exact reconciliation is the first thing we verified.</a:t>
            </a:r>
            <a:br/>
            <a:br/>
            <a:r>
              <a:t>In Silver, we flagged about 1.17 million rows as invalid, which is 3 percent of the total. These include trips with timestamps outside our study window, negative fares, distances over 100 miles, and trips where the dropoff happened before the pickup. We keep these flagged rows in Silver for traceability but filter them out in Gold.</a:t>
            </a:r>
            <a:br/>
            <a:br/>
            <a:r>
              <a:t>We also found two issues not listed in the data catalog. First, over 9 million trips have a payment type of zero, which is undocumented. Second, 9.2 million trips have null or zero passenger count. We kept both of these because they do not invalidate the trip itself, but we flag them and note the limitation.</a:t>
            </a:r>
            <a:br/>
            <a:br/>
            <a:r>
              <a:t>The cash tip trap is important to call out. Tip amounts are only recorded for credit card payments. Cash tips show as zero. This means any tip analysis we do only reflects credit card transactions, and we state that explicitly wherever tips appear in our findings.</a:t>
            </a:r>
            <a:br/>
            <a:br/>
            <a:r>
              <a:t>Our philosophy is flag, do not delete. Every row gets a validity flag and a reason field listing which checks failed. This lets us report exact counts, show our reasoning, and still filter cleanly in the final layer.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clean, validated data in hand, here is what we found when comparing 2025 to 2026.</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look under the hood at the technical decisions that make this pipeline reliable and reproducible.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dbt project has four model layers. Staging tables clean and conform the raw data. The fact table enriches valid trips with borough names and weather. The mart pre-aggregates for the dashboard. And dimension tables provide lookup data for drilldowns.</a:t>
            </a:r>
            <a:br/>
            <a:br/>
            <a:r>
              <a:t>We have 32 automated tests that run every time we build. These check that key columns are never null, that dimension keys are unique, that categorical values are within expected ranges, and that foreign key relationships hold. One test intentionally warns rather than fails: it documents that payment type zero exists but does not block the pipeline.</a:t>
            </a:r>
            <a:br/>
            <a:br/>
            <a:r>
              <a:t>Orchestration is a single Python script. It creates the Bronze infrastructure, loads data from S3, fetches weather from the API, verifies row counts, runs dbt to build all models, and then runs all tests. End to end, about six minutes. If anything fails, it stops immediately with a clear message.</a:t>
            </a:r>
            <a:br/>
            <a:br/>
            <a:r>
              <a:t>The key transformations include unioning Yellow and Green taxi data with their different column names, adding data quality flags, deriving time-based features like rush hour and weekend indicators, and joining to weather and zone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cost and performance: our pipeline runs on a shared Snowflake warehouse. The full rebuild takes about six minutes, and most of that is the dbt build processing 39 million rows through Silver and Gold.</a:t>
            </a:r>
            <a:br/>
            <a:br/>
            <a:r>
              <a:t>Dashboard queries against our mart table return in under one second because it is only 35,000 pre-aggregated rows. We designed it this way specifically so that Tableau never needs to scan the full 38 million row fact table.</a:t>
            </a:r>
            <a:br/>
            <a:br/>
            <a:r>
              <a:t>If we scaled this to ten times the data volume, we would make three changes. First, switch from batch loading to Snowpipe for continuous ingestion. Second, move to incremental dbt models that append new data rather than rebuilding everything. Third, scale the warehouse up or use multi-cluster for concurrent users. The architecture supports all of these without a redesign.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where we would take this next and what we recommend.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see three natural next steps.</a:t>
            </a:r>
            <a:br/>
            <a:br/>
            <a:r>
              <a:t>The highest impact is real-time ingestion. Right now our pipeline runs on demand. With Snowpipe and streams, new trip data would flow in continuously, giving fleet operators live demand signals during active storms rather than waiting for a batch.</a:t>
            </a:r>
            <a:br/>
            <a:br/>
            <a:r>
              <a:t>Second, we could add machine learning forecasting to predict demand drops by borough before a storm hits, rather than just reporting what happened after the fact.</a:t>
            </a:r>
            <a:br/>
            <a:br/>
            <a:r>
              <a:t>Third, this pipeline is designed to be replicable. The same architecture could serve Chicago, Boston, or any city with similar taxi and weather data. Each new city would take a few sprints to onboard.</a:t>
            </a:r>
            <a:br/>
            <a:br/>
            <a:r>
              <a:t>The highest impact for the least effort is real-time ingestion, so that is what we would prioritize.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adverse weather measurably changes taxi demand, and that impact varies by borough and has shifted year over year. Our pipeline is reproducible, tested, and ready for production use.</a:t>
            </a:r>
            <a:br/>
            <a:br/>
            <a:r>
              <a:t>We are happy to take your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RECOMMENDED CONTENT FOR THIS SLIDE:</a:t>
            </a:r>
          </a:p>
          <a:p>
            <a:r>
              <a:t>Headline Finding: In 2025, adverse weather increased taxi demand in Manhattan (+15.6%) and Brooklyn (+20.6%) as riders switched to cabs. By 2026, that pattern reversed: adverse weather now suppresses demand across all boroughs (Manhattan -18.4%, Brooklyn -9.7%, Queens -24.3%).</a:t>
            </a:r>
          </a:p>
          <a:p/>
          <a:p>
            <a:r>
              <a:t>Stat cards: 38M+ trip records | 10 months (Jan-May 2025 vs 2026) | 5 boroughs compared</a:t>
            </a:r>
          </a:p>
          <a:p/>
          <a:p>
            <a:r>
              <a:t>Key Insight: A single rush-hour storm-hour now costs more in lost revenue than several off-peak storm-hours combined. Pre-positioning vehicles is the highest-value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RECOMMENDED CONTENT FOR THIS SLIDE:</a:t>
            </a:r>
          </a:p>
          <a:p>
            <a:r>
              <a:t>Year-over-Year Finding: During daytime hours in 2025, adverse weather INCREASED taxi demand in Manhattan (+15.6%) and Brooklyn (+20.6%) as riders switched from walking/transit to cabs. In 2026, that same weather DECREASED demand everywhere: Manhattan -18.4%, Brooklyn -9.7%, Queens -24.3%, Bronx -24.1%.</a:t>
            </a:r>
          </a:p>
          <a:p/>
          <a:p>
            <a:r>
              <a:t>Root cause: Snow severity more than doubled. Total snowfall: 11.6 in (2025) vs. 25.2 in (2026). Snow hours: 84 vs. 133. Snow drove demand down -31.3% in Manhattan and -31.4% in Queens in 2026. Rain still boosts demand in both years (Manhattan +22.6% in 2025, +11.6% in 2026).</a:t>
            </a:r>
          </a:p>
          <a:p/>
          <a:p>
            <a:r>
              <a:t>Is the comparison fair? Same months (Jan-May), same vehicle types, same DQ filters. 3.0% flagged invalid in both years, no systematic bias.</a:t>
            </a:r>
          </a:p>
          <a:p/>
          <a:p>
            <a:r>
              <a:t>So What? Pre-position vehicles before forecasted snow. Rain = revenue opportunity (more riders). Snow = risk requiring proactive fleet response, especially during rush hours.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RECOMMENDED: In the new version, the Streamlit dashboard (interactive, 6 visualizations, deployed on Streamlit Community Cloud) should appear before the Tableau dashboard in this section. See duplicated slides added after this section for the recommended version.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RECOMMENDED CONTENT FOR THIS SLIDE:</a:t>
            </a:r>
          </a:p>
          <a:p>
            <a:r>
              <a:t>Recommendation: Implement a storm-response protocol. Pre-position 15-20% more vehicles in Manhattan and Brooklyn when snow is forecasted, with priority during rush hours (7-10 AM, 4-7 PM).</a:t>
            </a:r>
          </a:p>
          <a:p/>
          <a:p>
            <a:r>
              <a:t>Key distinction: Rain remains a revenue OPPORTUNITY (demand increases +11-22%). Snow is the RISK (demand drops -19% to -31%), and that risk grows with storm severity.</a:t>
            </a:r>
          </a:p>
          <a:p/>
          <a:p>
            <a:r>
              <a:t>Actionable Next Step: Integrate hourly weather forecasts into dispatch systems. Trigger pre-positioning 2 hours before snow onset. Track revenue-per-storm-hour as the improvement KPI.</a:t>
            </a:r>
          </a:p>
          <a:p/>
          <a:p>
            <a:r>
              <a:t>Implementation Cost: 1-2 sprint integration. Weather API ($0), Snowpipe for real-time data (included in Snowflake), alerting logic (1 engineer, 2 weeks).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the recommended replacement for the Headline Finding slide. The numbers come directly from the Streamlit dashboard analysis of mart_weather_demand (30,251 rows). In 2025, rain and snow made people switch to taxis (positive demand effect). In 2026, snow became severe enough that people stayed home (negative demand effect). The dollar impact concentrates during rush hour.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the recommended replacement for the Business Question slide. The only change from Ariana's version is the corrected row count: 30,251 (not 34,719). The mart_weather_demand table is the single source for both Streamlit and Tableau dashboards.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the recommended replacement for the Year-over-Year Finding slide. All numbers come directly from the Streamlit dashboard. The key story: rain makes people switch to taxis (positive), but snow in 2026 was severe enough to suppress trips entirely (negative). This is not a behavioral mystery, it is a weather severity story.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Streamlit slide should appear BEFORE the Tableau dashboard slide in the Year-over-Year Analysis section. The Streamlit app tells the analytical story progressively through 6 charts. It connects to Snowflake directly with a 10-minute cache, falls back to CSV for demos. Deployed via CI/CD: push to orlando triggers GitHub Action that syncs to main, Streamlit Community Cloud auto-deploys from main.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the recommended replacement for the Recommendation slide. It ties directly to the finding: snow drives rush-hour revenue losses, so the fix is operational pre-positioning. Rain is an opportunity, not a risk. The cost is minimal because the infrastructure already exists in our pipeline.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This is a NEW section. Beyond the core deliverables, we completed three bonus extensions: a deployed Streamlit dashboard, K-Means clustering using BigQuery ML, and a single-command pipeline orchestration script. All three are genuinely integrated into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These extensions earn up to 5 bonus points per the rubric. They are not side projects. The Streamlit app queries AMO_GOLD.MART_WEATHER_DEMAND (same table Tableau connects to), the BigQuery ML model was trained on the same aggregated data, and the orchestration script is what builds everything from scratch in 6 minutes.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Ariana built this in BigQuery ML, demonstrating multi-cloud capability. The clustering found four distinct trip behavior segments, but weather was NOT a differentiator between clusters. This independently confirms our main analysis: weather affects how many trips happen, not what those trips look like. We chose k=4 over k=6 because the two extra clusters in k=6 were harder to explain to stakeholders despite marginally better DBI score (1.40 vs 1.42).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 VERSION NOTES ---</a:t>
            </a:r>
          </a:p>
          <a:p>
            <a:r>
              <a:t>The orchestration script makes the pipeline production-ready. It runs all seven stages, verifies each before proceeding, and prints a final summary. If anything fails, it stops immediately. The script is also living documentation: reading it top to bottom tells you exactly how data flows from S3 to Gold. Runtime is approximately 6 minutes, mostly dbt processing 39 million rows.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CF625AB5-078E-84D7-9A5B-1CF2CBF82760}"/>
              </a:ext>
            </a:extLst>
          </p:cNvPr>
          <p:cNvSpPr/>
          <p:nvPr/>
        </p:nvSpPr>
        <p:spPr>
          <a:xfrm>
            <a:off x="-9144" y="1014984"/>
            <a:ext cx="12207240" cy="5852160"/>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6858000" cy="2338332"/>
          </a:xfrm>
        </p:spPr>
        <p:txBody>
          <a:bodyPr anchor="t" anchorCtr="0">
            <a:spAutoFit/>
          </a:bodyPr>
          <a:lstStyle>
            <a:lvl1pPr algn="l">
              <a:lnSpc>
                <a:spcPct val="83000"/>
              </a:lnSpc>
              <a:defRPr sz="6000" spc="-10" baseline="0">
                <a:solidFill>
                  <a:schemeClr val="bg1"/>
                </a:solidFill>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7">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331CF39C-A66D-C7F1-A529-D4B354335236}"/>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bg1"/>
                </a:solidFill>
              </a:rPr>
              <a:t>© 2026 The Hartford</a:t>
            </a:r>
            <a:endParaRPr lang="en-CA" sz="550" dirty="0">
              <a:solidFill>
                <a:schemeClr val="bg1"/>
              </a:solidFill>
            </a:endParaRPr>
          </a:p>
        </p:txBody>
      </p:sp>
    </p:spTree>
    <p:extLst>
      <p:ext uri="{BB962C8B-B14F-4D97-AF65-F5344CB8AC3E}">
        <p14:creationId xmlns:p14="http://schemas.microsoft.com/office/powerpoint/2010/main" val="3169118464"/>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for Print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6858000" cy="3813048"/>
          </a:xfrm>
        </p:spPr>
        <p:txBody>
          <a:bodyPr anchor="t" anchorCtr="0"/>
          <a:lstStyle>
            <a:lvl1pPr algn="l">
              <a:lnSpc>
                <a:spcPct val="83000"/>
              </a:lnSpc>
              <a:defRPr sz="6000" spc="-10" baseline="0">
                <a:solidFill>
                  <a:schemeClr val="tx2"/>
                </a:solidFill>
                <a:latin typeface="Trust Hartford Serif XLight" pitchFamily="50" charset="0"/>
              </a:defRPr>
            </a:lvl1pPr>
          </a:lstStyle>
          <a:p>
            <a:r>
              <a:rPr lang="en-US"/>
              <a:t>Click to edit Master title style</a:t>
            </a:r>
            <a:endParaRPr lang="en-CA" dirty="0"/>
          </a:p>
        </p:txBody>
      </p:sp>
      <p:sp>
        <p:nvSpPr>
          <p:cNvPr id="3" name="Subtitle 2">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4"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5"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6">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Tree>
    <p:extLst>
      <p:ext uri="{BB962C8B-B14F-4D97-AF65-F5344CB8AC3E}">
        <p14:creationId xmlns:p14="http://schemas.microsoft.com/office/powerpoint/2010/main" val="2665097956"/>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F1C735B7-8481-62FC-BF08-EDE946399CF8}"/>
              </a:ext>
            </a:extLst>
          </p:cNvPr>
          <p:cNvSpPr/>
          <p:nvPr userDrawn="1"/>
        </p:nvSpPr>
        <p:spPr>
          <a:xfrm>
            <a:off x="7809491" y="-9144"/>
            <a:ext cx="4382510" cy="6876288"/>
          </a:xfrm>
          <a:prstGeom prst="rect">
            <a:avLst/>
          </a:prstGeom>
          <a:solidFill>
            <a:schemeClr val="bg1"/>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11" name="Rectangle 1">
            <a:extLst>
              <a:ext uri="{FF2B5EF4-FFF2-40B4-BE49-F238E27FC236}">
                <a16:creationId xmlns:a16="http://schemas.microsoft.com/office/drawing/2014/main" id="{CF625AB5-078E-84D7-9A5B-1CF2CBF82760}"/>
              </a:ext>
            </a:extLst>
          </p:cNvPr>
          <p:cNvSpPr/>
          <p:nvPr/>
        </p:nvSpPr>
        <p:spPr>
          <a:xfrm>
            <a:off x="0" y="0"/>
            <a:ext cx="7817301" cy="6876288"/>
          </a:xfrm>
          <a:prstGeom prst="rect">
            <a:avLst/>
          </a:prstGeom>
          <a:solidFill>
            <a:schemeClr val="tx2"/>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1328600"/>
            <a:ext cx="4544568" cy="3813048"/>
          </a:xfrm>
        </p:spPr>
        <p:txBody>
          <a:bodyPr anchor="t" anchorCtr="0"/>
          <a:lstStyle>
            <a:lvl1pPr algn="l">
              <a:lnSpc>
                <a:spcPct val="83000"/>
              </a:lnSpc>
              <a:defRPr sz="6000" spc="-10" baseline="0">
                <a:solidFill>
                  <a:schemeClr val="bg1"/>
                </a:solidFill>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8463"/>
            <a:ext cx="4572000" cy="279757"/>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sp>
        <p:nvSpPr>
          <p:cNvPr id="12" name="Picture Placeholder 7">
            <a:extLst>
              <a:ext uri="{FF2B5EF4-FFF2-40B4-BE49-F238E27FC236}">
                <a16:creationId xmlns:a16="http://schemas.microsoft.com/office/drawing/2014/main" id="{63D65320-DE59-204A-D895-8D8CAAFA0CE4}"/>
              </a:ext>
            </a:extLst>
          </p:cNvPr>
          <p:cNvSpPr>
            <a:spLocks noGrp="1"/>
          </p:cNvSpPr>
          <p:nvPr>
            <p:ph type="pic" sz="quarter" idx="13"/>
          </p:nvPr>
        </p:nvSpPr>
        <p:spPr>
          <a:xfrm>
            <a:off x="5332413" y="1266825"/>
            <a:ext cx="6291072" cy="4315968"/>
          </a:xfrm>
          <a:solidFill>
            <a:schemeClr val="bg1">
              <a:lumMod val="95000"/>
            </a:schemeClr>
          </a:solidFill>
        </p:spPr>
        <p:txBody>
          <a:bodyPr/>
          <a:lstStyle/>
          <a:p>
            <a:r>
              <a:rPr lang="en-US"/>
              <a:t>Click icon to add picture</a:t>
            </a:r>
          </a:p>
        </p:txBody>
      </p:sp>
      <p:pic>
        <p:nvPicPr>
          <p:cNvPr id="10" name="Picture 8">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B3ABB18D-F104-EA7B-8FDA-7044647E2369}"/>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tx1"/>
                </a:solidFill>
              </a:rPr>
              <a:t>© 2026 The Hartford</a:t>
            </a:r>
            <a:endParaRPr lang="en-CA" sz="550" dirty="0">
              <a:solidFill>
                <a:schemeClr val="tx1"/>
              </a:solidFill>
            </a:endParaRPr>
          </a:p>
        </p:txBody>
      </p:sp>
    </p:spTree>
    <p:extLst>
      <p:ext uri="{BB962C8B-B14F-4D97-AF65-F5344CB8AC3E}">
        <p14:creationId xmlns:p14="http://schemas.microsoft.com/office/powerpoint/2010/main" val="4105787679"/>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Large Picture">
    <p:spTree>
      <p:nvGrpSpPr>
        <p:cNvPr id="1" name=""/>
        <p:cNvGrpSpPr/>
        <p:nvPr/>
      </p:nvGrpSpPr>
      <p:grpSpPr>
        <a:xfrm>
          <a:off x="0" y="0"/>
          <a:ext cx="0" cy="0"/>
          <a:chOff x="0" y="0"/>
          <a:chExt cx="0" cy="0"/>
        </a:xfrm>
      </p:grpSpPr>
      <p:sp>
        <p:nvSpPr>
          <p:cNvPr id="12" name="Picture Placeholder 1">
            <a:extLst>
              <a:ext uri="{FF2B5EF4-FFF2-40B4-BE49-F238E27FC236}">
                <a16:creationId xmlns:a16="http://schemas.microsoft.com/office/drawing/2014/main" id="{63D65320-DE59-204A-D895-8D8CAAFA0CE4}"/>
              </a:ext>
            </a:extLst>
          </p:cNvPr>
          <p:cNvSpPr>
            <a:spLocks noGrp="1"/>
          </p:cNvSpPr>
          <p:nvPr>
            <p:ph type="pic" sz="quarter" idx="13"/>
          </p:nvPr>
        </p:nvSpPr>
        <p:spPr>
          <a:xfrm>
            <a:off x="-9144" y="1014984"/>
            <a:ext cx="12207240" cy="5852160"/>
          </a:xfrm>
          <a:solidFill>
            <a:schemeClr val="bg1">
              <a:lumMod val="95000"/>
            </a:schemeClr>
          </a:solidFill>
        </p:spPr>
        <p:txBody>
          <a:bodyPr/>
          <a:lstStyle/>
          <a:p>
            <a:r>
              <a:rPr lang="en-US"/>
              <a:t>Click icon to add picture</a:t>
            </a:r>
            <a:endParaRPr lang="en-US" dirty="0"/>
          </a:p>
        </p:txBody>
      </p:sp>
      <p:sp>
        <p:nvSpPr>
          <p:cNvPr id="2" name="Title 2">
            <a:extLst>
              <a:ext uri="{FF2B5EF4-FFF2-40B4-BE49-F238E27FC236}">
                <a16:creationId xmlns:a16="http://schemas.microsoft.com/office/drawing/2014/main" id="{952A2DE5-96D0-4A4F-B73B-1FB010E91E35}"/>
              </a:ext>
            </a:extLst>
          </p:cNvPr>
          <p:cNvSpPr>
            <a:spLocks noGrp="1"/>
          </p:cNvSpPr>
          <p:nvPr>
            <p:ph type="ctrTitle"/>
          </p:nvPr>
        </p:nvSpPr>
        <p:spPr>
          <a:xfrm>
            <a:off x="574675" y="4060209"/>
            <a:ext cx="8193024" cy="1605321"/>
          </a:xfrm>
        </p:spPr>
        <p:txBody>
          <a:bodyPr anchor="b" anchorCtr="0"/>
          <a:lstStyle>
            <a:lvl1pPr algn="l">
              <a:lnSpc>
                <a:spcPct val="83000"/>
              </a:lnSpc>
              <a:defRPr sz="6000" spc="-10" baseline="0">
                <a:solidFill>
                  <a:schemeClr val="bg1"/>
                </a:solidFill>
                <a:effectLst>
                  <a:outerShdw blurRad="38100" dist="38100" dir="2700000" algn="tl">
                    <a:srgbClr val="000000">
                      <a:alpha val="43137"/>
                    </a:srgbClr>
                  </a:outerShdw>
                </a:effectLst>
                <a:latin typeface="Trust Hartford Serif XLight" pitchFamily="50" charset="0"/>
              </a:defRPr>
            </a:lvl1pPr>
          </a:lstStyle>
          <a:p>
            <a:r>
              <a:rPr lang="en-US"/>
              <a:t>Click to edit Master title style</a:t>
            </a:r>
            <a:endParaRPr lang="en-CA" dirty="0"/>
          </a:p>
        </p:txBody>
      </p:sp>
      <p:sp>
        <p:nvSpPr>
          <p:cNvPr id="3" name="Subtitle 3">
            <a:extLst>
              <a:ext uri="{FF2B5EF4-FFF2-40B4-BE49-F238E27FC236}">
                <a16:creationId xmlns:a16="http://schemas.microsoft.com/office/drawing/2014/main" id="{D4718C5F-E009-48BF-9E7D-1C9D59D01771}"/>
              </a:ext>
            </a:extLst>
          </p:cNvPr>
          <p:cNvSpPr>
            <a:spLocks noGrp="1"/>
          </p:cNvSpPr>
          <p:nvPr>
            <p:ph type="subTitle" idx="1"/>
          </p:nvPr>
        </p:nvSpPr>
        <p:spPr>
          <a:xfrm>
            <a:off x="574674" y="5665530"/>
            <a:ext cx="4379976" cy="282690"/>
          </a:xfrm>
        </p:spPr>
        <p:txBody>
          <a:bodyPr anchor="b" anchorCtr="0">
            <a:spAutoFit/>
          </a:bodyPr>
          <a:lstStyle>
            <a:lvl1pPr>
              <a:defRPr sz="1800">
                <a:solidFill>
                  <a:srgbClr val="FE3082"/>
                </a:solidFill>
              </a:defRPr>
            </a:lvl1pPr>
          </a:lstStyle>
          <a:p>
            <a:r>
              <a:rPr lang="en-US"/>
              <a:t>Click to edit Master subtitle style</a:t>
            </a:r>
            <a:endParaRPr lang="en-CA" dirty="0"/>
          </a:p>
        </p:txBody>
      </p:sp>
      <p:sp>
        <p:nvSpPr>
          <p:cNvPr id="5" name="Footer Placeholder 5" hidden="1">
            <a:extLst>
              <a:ext uri="{FF2B5EF4-FFF2-40B4-BE49-F238E27FC236}">
                <a16:creationId xmlns:a16="http://schemas.microsoft.com/office/drawing/2014/main" id="{8A820423-7534-4A26-9335-0AE0D83805D8}"/>
              </a:ext>
            </a:extLst>
          </p:cNvPr>
          <p:cNvSpPr>
            <a:spLocks noGrp="1"/>
          </p:cNvSpPr>
          <p:nvPr>
            <p:ph type="ftr" sz="quarter" idx="11"/>
          </p:nvPr>
        </p:nvSpPr>
        <p:spPr>
          <a:xfrm>
            <a:off x="-18288" y="6876288"/>
            <a:ext cx="9144" cy="9144"/>
          </a:xfrm>
          <a:prstGeom prst="rect">
            <a:avLst/>
          </a:prstGeom>
        </p:spPr>
        <p:txBody>
          <a:bodyPr/>
          <a:lstStyle>
            <a:lvl1pPr>
              <a:defRPr sz="100">
                <a:solidFill>
                  <a:schemeClr val="bg1">
                    <a:lumMod val="95000"/>
                  </a:schemeClr>
                </a:solidFill>
              </a:defRPr>
            </a:lvl1pPr>
          </a:lstStyle>
          <a:p>
            <a:r>
              <a:rPr lang="en-US"/>
              <a:t>© 2025 The Hartford. Confidential. No part of this document may be reproduced, published or posted without the permission of The Hartford.</a:t>
            </a:r>
            <a:endParaRPr lang="en-CA" dirty="0"/>
          </a:p>
        </p:txBody>
      </p:sp>
      <p:sp>
        <p:nvSpPr>
          <p:cNvPr id="6" name="Slide Number Placeholder 6" hidden="1">
            <a:extLst>
              <a:ext uri="{FF2B5EF4-FFF2-40B4-BE49-F238E27FC236}">
                <a16:creationId xmlns:a16="http://schemas.microsoft.com/office/drawing/2014/main" id="{DB5852C0-F1AF-4C19-9089-80744E475712}"/>
              </a:ext>
            </a:extLst>
          </p:cNvPr>
          <p:cNvSpPr>
            <a:spLocks noGrp="1"/>
          </p:cNvSpPr>
          <p:nvPr>
            <p:ph type="sldNum" sz="quarter" idx="12"/>
          </p:nvPr>
        </p:nvSpPr>
        <p:spPr>
          <a:xfrm>
            <a:off x="12207240" y="6876288"/>
            <a:ext cx="9144" cy="9144"/>
          </a:xfrm>
        </p:spPr>
        <p:txBody>
          <a:bodyPr/>
          <a:lstStyle>
            <a:lvl1pPr>
              <a:defRPr sz="100">
                <a:solidFill>
                  <a:schemeClr val="bg1">
                    <a:lumMod val="95000"/>
                  </a:schemeClr>
                </a:solidFill>
              </a:defRPr>
            </a:lvl1pPr>
          </a:lstStyle>
          <a:p>
            <a:fld id="{0B1B59A6-B74A-41AA-9EF6-238F4BE8BA53}" type="slidenum">
              <a:rPr lang="en-CA" smtClean="0"/>
              <a:pPr/>
              <a:t>‹#›</a:t>
            </a:fld>
            <a:endParaRPr lang="en-CA"/>
          </a:p>
        </p:txBody>
      </p:sp>
      <p:pic>
        <p:nvPicPr>
          <p:cNvPr id="10" name="Picture 7">
            <a:extLst>
              <a:ext uri="{FF2B5EF4-FFF2-40B4-BE49-F238E27FC236}">
                <a16:creationId xmlns:a16="http://schemas.microsoft.com/office/drawing/2014/main" id="{5D3FCD0E-D48F-4AB1-87CA-EC160DAF7E2A}"/>
              </a:ext>
            </a:extLst>
          </p:cNvPr>
          <p:cNvPicPr>
            <a:picLocks noChangeAspect="1"/>
          </p:cNvPicPr>
          <p:nvPr/>
        </p:nvPicPr>
        <p:blipFill>
          <a:blip r:embed="rId2"/>
          <a:stretch>
            <a:fillRect/>
          </a:stretch>
        </p:blipFill>
        <p:spPr>
          <a:xfrm>
            <a:off x="8492679" y="195696"/>
            <a:ext cx="3132582" cy="612648"/>
          </a:xfrm>
          <a:prstGeom prst="rect">
            <a:avLst/>
          </a:prstGeom>
        </p:spPr>
      </p:pic>
      <p:sp>
        <p:nvSpPr>
          <p:cNvPr id="4" name="Footer Placeholder 5">
            <a:extLst>
              <a:ext uri="{FF2B5EF4-FFF2-40B4-BE49-F238E27FC236}">
                <a16:creationId xmlns:a16="http://schemas.microsoft.com/office/drawing/2014/main" id="{6D4A4A16-65BF-C7C6-0906-0A3A83C0ABDF}"/>
              </a:ext>
            </a:extLst>
          </p:cNvPr>
          <p:cNvSpPr txBox="1">
            <a:spLocks/>
          </p:cNvSpPr>
          <p:nvPr userDrawn="1"/>
        </p:nvSpPr>
        <p:spPr>
          <a:xfrm>
            <a:off x="10890250" y="6665595"/>
            <a:ext cx="827086" cy="182880"/>
          </a:xfrm>
          <a:prstGeom prst="rect">
            <a:avLst/>
          </a:prstGeom>
        </p:spPr>
        <p:txBody>
          <a:bodyPr/>
          <a:lstStyle>
            <a:defPPr>
              <a:defRPr lang="en-US"/>
            </a:defPPr>
            <a:lvl1pPr marL="0" algn="l" defTabSz="914400" rtl="0" eaLnBrk="1" fontAlgn="ctr" latinLnBrk="0" hangingPunct="1">
              <a:defRPr sz="1800" kern="1200">
                <a:solidFill>
                  <a:schemeClr val="tx1"/>
                </a:solidFill>
                <a:latin typeface="+mn-lt"/>
                <a:ea typeface="+mn-ea"/>
                <a:cs typeface="+mn-cs"/>
              </a:defRPr>
            </a:lvl1pPr>
            <a:lvl2pPr marL="457200" algn="l" defTabSz="914400" rtl="0" eaLnBrk="1" fontAlgn="ctr" latinLnBrk="0" hangingPunct="1">
              <a:defRPr sz="1800" kern="1200">
                <a:solidFill>
                  <a:schemeClr val="tx1"/>
                </a:solidFill>
                <a:latin typeface="+mn-lt"/>
                <a:ea typeface="+mn-ea"/>
                <a:cs typeface="+mn-cs"/>
              </a:defRPr>
            </a:lvl2pPr>
            <a:lvl3pPr marL="914400" algn="l" defTabSz="914400" rtl="0" eaLnBrk="1" fontAlgn="ctr" latinLnBrk="0" hangingPunct="1">
              <a:defRPr sz="1800" kern="1200">
                <a:solidFill>
                  <a:schemeClr val="tx1"/>
                </a:solidFill>
                <a:latin typeface="+mn-lt"/>
                <a:ea typeface="+mn-ea"/>
                <a:cs typeface="+mn-cs"/>
              </a:defRPr>
            </a:lvl3pPr>
            <a:lvl4pPr marL="1371600" algn="l" defTabSz="914400" rtl="0" eaLnBrk="1" fontAlgn="ctr" latinLnBrk="0" hangingPunct="1">
              <a:defRPr sz="1800" kern="1200">
                <a:solidFill>
                  <a:schemeClr val="tx1"/>
                </a:solidFill>
                <a:latin typeface="+mn-lt"/>
                <a:ea typeface="+mn-ea"/>
                <a:cs typeface="+mn-cs"/>
              </a:defRPr>
            </a:lvl4pPr>
            <a:lvl5pPr marL="1828800" algn="l" defTabSz="914400" rtl="0" eaLnBrk="1" fontAlgn="ctr" latinLnBrk="0" hangingPunct="1">
              <a:defRPr sz="1800" kern="1200">
                <a:solidFill>
                  <a:schemeClr val="tx1"/>
                </a:solidFill>
                <a:latin typeface="+mn-lt"/>
                <a:ea typeface="+mn-ea"/>
                <a:cs typeface="+mn-cs"/>
              </a:defRPr>
            </a:lvl5pPr>
            <a:lvl6pPr marL="2286000" algn="l" defTabSz="914400" rtl="0" eaLnBrk="1" fontAlgn="ctr" latinLnBrk="0" hangingPunct="1">
              <a:defRPr sz="1800" kern="1200">
                <a:solidFill>
                  <a:schemeClr val="tx1"/>
                </a:solidFill>
                <a:latin typeface="+mn-lt"/>
                <a:ea typeface="+mn-ea"/>
                <a:cs typeface="+mn-cs"/>
              </a:defRPr>
            </a:lvl6pPr>
            <a:lvl7pPr marL="2743200" algn="l" defTabSz="914400" rtl="0" eaLnBrk="1" fontAlgn="ctr" latinLnBrk="0" hangingPunct="1">
              <a:defRPr sz="1800" kern="1200">
                <a:solidFill>
                  <a:schemeClr val="tx1"/>
                </a:solidFill>
                <a:latin typeface="+mn-lt"/>
                <a:ea typeface="+mn-ea"/>
                <a:cs typeface="+mn-cs"/>
              </a:defRPr>
            </a:lvl7pPr>
            <a:lvl8pPr marL="3200400" algn="l" defTabSz="914400" rtl="0" eaLnBrk="1" fontAlgn="ctr" latinLnBrk="0" hangingPunct="1">
              <a:defRPr sz="1800" kern="1200">
                <a:solidFill>
                  <a:schemeClr val="tx1"/>
                </a:solidFill>
                <a:latin typeface="+mn-lt"/>
                <a:ea typeface="+mn-ea"/>
                <a:cs typeface="+mn-cs"/>
              </a:defRPr>
            </a:lvl8pPr>
            <a:lvl9pPr marL="3657600" algn="l" defTabSz="914400" rtl="0" eaLnBrk="1" fontAlgn="ctr" latinLnBrk="0" hangingPunct="1">
              <a:defRPr sz="1800" kern="1200">
                <a:solidFill>
                  <a:schemeClr val="tx1"/>
                </a:solidFill>
                <a:latin typeface="+mn-lt"/>
                <a:ea typeface="+mn-ea"/>
                <a:cs typeface="+mn-cs"/>
              </a:defRPr>
            </a:lvl9pPr>
          </a:lstStyle>
          <a:p>
            <a:pPr algn="r"/>
            <a:r>
              <a:rPr lang="en-US" sz="550" dirty="0">
                <a:solidFill>
                  <a:schemeClr val="tx1"/>
                </a:solidFill>
              </a:rPr>
              <a:t>© 2026 The Hartford</a:t>
            </a:r>
            <a:endParaRPr lang="en-CA" sz="550" dirty="0">
              <a:solidFill>
                <a:schemeClr val="tx1"/>
              </a:solidFill>
            </a:endParaRPr>
          </a:p>
        </p:txBody>
      </p:sp>
    </p:spTree>
    <p:extLst>
      <p:ext uri="{BB962C8B-B14F-4D97-AF65-F5344CB8AC3E}">
        <p14:creationId xmlns:p14="http://schemas.microsoft.com/office/powerpoint/2010/main" val="3801389557"/>
      </p:ext>
    </p:extLst>
  </p:cSld>
  <p:clrMapOvr>
    <a:masterClrMapping/>
  </p:clrMapOvr>
  <p:hf sldNum="0" hdr="0" ftr="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A861FFE4-4E43-4713-813A-0DAF9AE24455}"/>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17023000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userDrawn="1"/>
        </p:nvSpPr>
        <p:spPr>
          <a:xfrm>
            <a:off x="-9144" y="1015253"/>
            <a:ext cx="12207240" cy="5852160"/>
          </a:xfrm>
          <a:prstGeom prst="rect">
            <a:avLst/>
          </a:prstGeom>
          <a:solidFill>
            <a:srgbClr val="000000"/>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08E74E92-0105-2629-2700-A469D18B0653}"/>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51342C42-3386-CF2B-F48F-64BF5C03BD69}"/>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3A182900-B29A-8975-E83F-9A4CB6BE0A15}"/>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221821525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p:nvSpPr>
        <p:spPr>
          <a:xfrm>
            <a:off x="-9144" y="1015253"/>
            <a:ext cx="12207240" cy="5852160"/>
          </a:xfrm>
          <a:prstGeom prst="rect">
            <a:avLst/>
          </a:prstGeom>
          <a:solidFill>
            <a:schemeClr val="tx2"/>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dirty="0"/>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6"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68226E32-7671-2EEA-4968-484959299148}"/>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969EC5CE-87AC-AED2-33E0-01D0E152E074}"/>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73C08BC6-C335-5F49-53AE-5A301BBC125F}"/>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402497182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Slide 3">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0FAF86B-4E49-B75F-62EE-93D1CAC4D4DA}"/>
              </a:ext>
            </a:extLst>
          </p:cNvPr>
          <p:cNvSpPr/>
          <p:nvPr userDrawn="1"/>
        </p:nvSpPr>
        <p:spPr>
          <a:xfrm>
            <a:off x="-9144" y="1015253"/>
            <a:ext cx="12207240" cy="5852160"/>
          </a:xfrm>
          <a:prstGeom prst="rect">
            <a:avLst/>
          </a:prstGeom>
          <a:solidFill>
            <a:srgbClr val="FE3082"/>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6380" cy="3960700"/>
          </a:xfrm>
        </p:spPr>
        <p:txBody>
          <a:bodyPr anchor="t" anchorCtr="0">
            <a:spAutoFit/>
          </a:bodyPr>
          <a:lstStyle>
            <a:lvl1pPr>
              <a:lnSpc>
                <a:spcPct val="85000"/>
              </a:lnSpc>
              <a:defRPr sz="29000" b="0">
                <a:solidFill>
                  <a:schemeClr val="bg1"/>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chemeClr val="tx1"/>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3E1843C9-8396-98D1-936A-19CA1CF6EA2B}"/>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57682E16-7F7C-0AC6-E655-F664800CCC4A}"/>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C374B29D-12BF-4A64-844B-94423BFBBD31}"/>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239112944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4">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FD406D62-F299-1872-4AE3-14E1BFF9D604}"/>
              </a:ext>
            </a:extLst>
          </p:cNvPr>
          <p:cNvSpPr/>
          <p:nvPr userDrawn="1"/>
        </p:nvSpPr>
        <p:spPr>
          <a:xfrm>
            <a:off x="0" y="1005840"/>
            <a:ext cx="12207240" cy="5852160"/>
          </a:xfrm>
          <a:prstGeom prst="rect">
            <a:avLst/>
          </a:prstGeom>
          <a:solidFill>
            <a:srgbClr val="EAE5DF"/>
          </a:solidFill>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8" name="Text Placeholder 2">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4"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3">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rgbClr val="000000"/>
                </a:solidFill>
                <a:latin typeface="Trust Hartford Serif XLight" pitchFamily="50" charset="0"/>
              </a:defRPr>
            </a:lvl1pPr>
          </a:lstStyle>
          <a:p>
            <a:r>
              <a:rPr lang="en-CA" dirty="0"/>
              <a:t>#</a:t>
            </a:r>
          </a:p>
        </p:txBody>
      </p:sp>
      <p:sp>
        <p:nvSpPr>
          <p:cNvPr id="3" name="Subtitle 4">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5"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1" name="Slide Number Placeholder 50" hidden="1">
            <a:extLst>
              <a:ext uri="{FF2B5EF4-FFF2-40B4-BE49-F238E27FC236}">
                <a16:creationId xmlns:a16="http://schemas.microsoft.com/office/drawing/2014/main" id="{D06E3603-D17B-BB78-0AAD-1CE1E49BB5E8}"/>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6" hidden="1">
            <a:extLst>
              <a:ext uri="{FF2B5EF4-FFF2-40B4-BE49-F238E27FC236}">
                <a16:creationId xmlns:a16="http://schemas.microsoft.com/office/drawing/2014/main" id="{D291AD73-4314-3218-8409-1F65EF63A5F4}"/>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7" hidden="1">
            <a:extLst>
              <a:ext uri="{FF2B5EF4-FFF2-40B4-BE49-F238E27FC236}">
                <a16:creationId xmlns:a16="http://schemas.microsoft.com/office/drawing/2014/main" id="{A767656C-D477-09DA-30A3-B5ECF3E71BB4}"/>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40393743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Slide for Printing">
    <p:spTree>
      <p:nvGrpSpPr>
        <p:cNvPr id="1" name=""/>
        <p:cNvGrpSpPr/>
        <p:nvPr/>
      </p:nvGrpSpPr>
      <p:grpSpPr>
        <a:xfrm>
          <a:off x="0" y="0"/>
          <a:ext cx="0" cy="0"/>
          <a:chOff x="0" y="0"/>
          <a:chExt cx="0" cy="0"/>
        </a:xfrm>
      </p:grpSpPr>
      <p:sp>
        <p:nvSpPr>
          <p:cNvPr id="8" name="Text Placeholder 1">
            <a:extLst>
              <a:ext uri="{FF2B5EF4-FFF2-40B4-BE49-F238E27FC236}">
                <a16:creationId xmlns:a16="http://schemas.microsoft.com/office/drawing/2014/main" id="{8F0BA69F-D87F-8D85-070C-BB932B2FD7CD}"/>
              </a:ext>
            </a:extLst>
          </p:cNvPr>
          <p:cNvSpPr>
            <a:spLocks noGrp="1"/>
          </p:cNvSpPr>
          <p:nvPr>
            <p:ph type="body" sz="quarter" idx="13" hasCustomPrompt="1"/>
          </p:nvPr>
        </p:nvSpPr>
        <p:spPr>
          <a:xfrm>
            <a:off x="574675" y="338329"/>
            <a:ext cx="8229600" cy="435184"/>
          </a:xfrm>
        </p:spPr>
        <p:txBody>
          <a:bodyPr>
            <a:spAutoFit/>
          </a:bodyPr>
          <a:lstStyle>
            <a:lvl1pPr>
              <a:defRPr sz="2800" b="0">
                <a:solidFill>
                  <a:srgbClr val="000000"/>
                </a:solidFill>
                <a:latin typeface="+mj-lt"/>
              </a:defRPr>
            </a:lvl1pPr>
          </a:lstStyle>
          <a:p>
            <a:pPr lvl="0"/>
            <a:r>
              <a:rPr lang="en-US" dirty="0"/>
              <a:t>Chapter or Section Name</a:t>
            </a:r>
          </a:p>
        </p:txBody>
      </p:sp>
      <p:sp>
        <p:nvSpPr>
          <p:cNvPr id="2" name="Title 2">
            <a:extLst>
              <a:ext uri="{FF2B5EF4-FFF2-40B4-BE49-F238E27FC236}">
                <a16:creationId xmlns:a16="http://schemas.microsoft.com/office/drawing/2014/main" id="{A7248638-2A09-4E41-9F6A-2878A8C1D57B}"/>
              </a:ext>
            </a:extLst>
          </p:cNvPr>
          <p:cNvSpPr>
            <a:spLocks noGrp="1"/>
          </p:cNvSpPr>
          <p:nvPr>
            <p:ph type="title" hasCustomPrompt="1"/>
          </p:nvPr>
        </p:nvSpPr>
        <p:spPr>
          <a:xfrm>
            <a:off x="566928" y="1481328"/>
            <a:ext cx="5323205" cy="3960700"/>
          </a:xfrm>
        </p:spPr>
        <p:txBody>
          <a:bodyPr anchor="t" anchorCtr="0">
            <a:spAutoFit/>
          </a:bodyPr>
          <a:lstStyle>
            <a:lvl1pPr>
              <a:lnSpc>
                <a:spcPct val="85000"/>
              </a:lnSpc>
              <a:defRPr sz="29000" b="0">
                <a:solidFill>
                  <a:srgbClr val="000000"/>
                </a:solidFill>
                <a:latin typeface="Trust Hartford Serif XLight" pitchFamily="50" charset="0"/>
              </a:defRPr>
            </a:lvl1pPr>
          </a:lstStyle>
          <a:p>
            <a:r>
              <a:rPr lang="en-CA" dirty="0"/>
              <a:t>#</a:t>
            </a:r>
          </a:p>
        </p:txBody>
      </p:sp>
      <p:sp>
        <p:nvSpPr>
          <p:cNvPr id="3" name="Subtitle 3">
            <a:extLst>
              <a:ext uri="{FF2B5EF4-FFF2-40B4-BE49-F238E27FC236}">
                <a16:creationId xmlns:a16="http://schemas.microsoft.com/office/drawing/2014/main" id="{E83D32E6-2865-49FB-B6C0-5018A69B26FC}"/>
              </a:ext>
            </a:extLst>
          </p:cNvPr>
          <p:cNvSpPr>
            <a:spLocks noGrp="1"/>
          </p:cNvSpPr>
          <p:nvPr>
            <p:ph type="subTitle" idx="1"/>
          </p:nvPr>
        </p:nvSpPr>
        <p:spPr>
          <a:xfrm>
            <a:off x="574675" y="5883644"/>
            <a:ext cx="5323204" cy="276999"/>
          </a:xfrm>
        </p:spPr>
        <p:txBody>
          <a:bodyPr anchor="b" anchorCtr="0"/>
          <a:lstStyle>
            <a:lvl1pPr>
              <a:defRPr>
                <a:solidFill>
                  <a:srgbClr val="FE3082"/>
                </a:solidFill>
              </a:defRPr>
            </a:lvl1pPr>
          </a:lstStyle>
          <a:p>
            <a:pPr lvl="0"/>
            <a:r>
              <a:rPr lang="en-US"/>
              <a:t>Click to edit Master subtitle style</a:t>
            </a:r>
            <a:endParaRPr lang="en-US" dirty="0"/>
          </a:p>
        </p:txBody>
      </p:sp>
      <p:sp>
        <p:nvSpPr>
          <p:cNvPr id="10" name="Slide Number Placeholder 4" hidden="1">
            <a:extLst>
              <a:ext uri="{FF2B5EF4-FFF2-40B4-BE49-F238E27FC236}">
                <a16:creationId xmlns:a16="http://schemas.microsoft.com/office/drawing/2014/main" id="{AA23FF5A-06A2-055F-DA6D-D2D17589DFBF}"/>
              </a:ext>
            </a:extLst>
          </p:cNvPr>
          <p:cNvSpPr>
            <a:spLocks noGrp="1"/>
          </p:cNvSpPr>
          <p:nvPr>
            <p:ph type="sldNum" sz="quarter" idx="16"/>
          </p:nvPr>
        </p:nvSpPr>
        <p:spPr/>
        <p:txBody>
          <a:bodyPr/>
          <a:lstStyle/>
          <a:p>
            <a:fld id="{0B1B59A6-B74A-41AA-9EF6-238F4BE8BA53}" type="slidenum">
              <a:rPr lang="en-CA" smtClean="0"/>
              <a:pPr/>
              <a:t>‹#›</a:t>
            </a:fld>
            <a:endParaRPr lang="en-CA" dirty="0"/>
          </a:p>
        </p:txBody>
      </p:sp>
      <p:sp>
        <p:nvSpPr>
          <p:cNvPr id="9" name="Footer Placeholder 5" hidden="1">
            <a:extLst>
              <a:ext uri="{FF2B5EF4-FFF2-40B4-BE49-F238E27FC236}">
                <a16:creationId xmlns:a16="http://schemas.microsoft.com/office/drawing/2014/main" id="{0D307FFC-4500-17A0-46BF-FE089E05E789}"/>
              </a:ext>
            </a:extLst>
          </p:cNvPr>
          <p:cNvSpPr>
            <a:spLocks noGrp="1"/>
          </p:cNvSpPr>
          <p:nvPr>
            <p:ph type="ftr" sz="quarter" idx="15"/>
          </p:nvPr>
        </p:nvSpPr>
        <p:spPr>
          <a:xfrm>
            <a:off x="1140614" y="6475278"/>
            <a:ext cx="8665372" cy="182880"/>
          </a:xfrm>
          <a:prstGeom prst="rect">
            <a:avLst/>
          </a:prstGeom>
        </p:spPr>
        <p:txBody>
          <a:bodyPr/>
          <a:lstStyle/>
          <a:p>
            <a:r>
              <a:rPr lang="en-US"/>
              <a:t>© 2025 The Hartford. Confidential. No part of this document may be reproduced, published or posted without the permission of The Hartford.</a:t>
            </a:r>
            <a:endParaRPr lang="en-CA" dirty="0"/>
          </a:p>
        </p:txBody>
      </p:sp>
      <p:sp>
        <p:nvSpPr>
          <p:cNvPr id="7" name="Date Placeholder 6" hidden="1">
            <a:extLst>
              <a:ext uri="{FF2B5EF4-FFF2-40B4-BE49-F238E27FC236}">
                <a16:creationId xmlns:a16="http://schemas.microsoft.com/office/drawing/2014/main" id="{97454CBC-B355-69E9-CBEA-612E308DF85D}"/>
              </a:ext>
            </a:extLst>
          </p:cNvPr>
          <p:cNvSpPr>
            <a:spLocks noGrp="1"/>
          </p:cNvSpPr>
          <p:nvPr>
            <p:ph type="dt" sz="half" idx="14"/>
          </p:nvPr>
        </p:nvSpPr>
        <p:spPr>
          <a:xfrm>
            <a:off x="9805986" y="6491950"/>
            <a:ext cx="1809562" cy="182880"/>
          </a:xfrm>
          <a:prstGeom prst="rect">
            <a:avLst/>
          </a:prstGeom>
        </p:spPr>
        <p:txBody>
          <a:bodyPr/>
          <a:lstStyle/>
          <a:p>
            <a:fld id="{EE7E93DF-E629-4F24-B358-5ECA3F0CD87D}" type="datetime4">
              <a:rPr lang="en-US" smtClean="0"/>
              <a:pPr/>
              <a:t>August 13, 2026</a:t>
            </a:fld>
            <a:endParaRPr lang="en-CA" dirty="0"/>
          </a:p>
        </p:txBody>
      </p:sp>
    </p:spTree>
    <p:extLst>
      <p:ext uri="{BB962C8B-B14F-4D97-AF65-F5344CB8AC3E}">
        <p14:creationId xmlns:p14="http://schemas.microsoft.com/office/powerpoint/2010/main" val="356962900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One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46D83-BB70-49AB-BC44-801646DE8B6A}"/>
              </a:ext>
            </a:extLst>
          </p:cNvPr>
          <p:cNvSpPr>
            <a:spLocks noGrp="1"/>
          </p:cNvSpPr>
          <p:nvPr>
            <p:ph type="title"/>
          </p:nvPr>
        </p:nvSpPr>
        <p:spPr/>
        <p:txBody>
          <a:bodyPr/>
          <a:lstStyle/>
          <a:p>
            <a:r>
              <a:rPr lang="en-US"/>
              <a:t>Click to edit Master title style</a:t>
            </a:r>
            <a:endParaRPr lang="en-CA" dirty="0"/>
          </a:p>
        </p:txBody>
      </p:sp>
      <p:sp>
        <p:nvSpPr>
          <p:cNvPr id="3" name="Content Placeholder 2">
            <a:extLst>
              <a:ext uri="{FF2B5EF4-FFF2-40B4-BE49-F238E27FC236}">
                <a16:creationId xmlns:a16="http://schemas.microsoft.com/office/drawing/2014/main" id="{1201C58F-8883-4B64-915B-599721E644EE}"/>
              </a:ext>
            </a:extLst>
          </p:cNvPr>
          <p:cNvSpPr>
            <a:spLocks noGrp="1"/>
          </p:cNvSpPr>
          <p:nvPr>
            <p:ph idx="1"/>
          </p:nvPr>
        </p:nvSpPr>
        <p:spPr>
          <a:xfrm>
            <a:off x="574365" y="1243584"/>
            <a:ext cx="8193024"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3">
            <a:extLst>
              <a:ext uri="{FF2B5EF4-FFF2-40B4-BE49-F238E27FC236}">
                <a16:creationId xmlns:a16="http://schemas.microsoft.com/office/drawing/2014/main" id="{1E14BD53-CB03-4E8A-BD70-E6FB80F54A7E}"/>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563800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8229600" cy="424412"/>
          </a:xfrm>
        </p:spPr>
        <p:txBody>
          <a:bodyPr/>
          <a:lstStyle/>
          <a:p>
            <a:r>
              <a:rPr lang="en-US"/>
              <a:t>Click to edit Master title style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3" name="Content Placeholder 2">
            <a:extLst>
              <a:ext uri="{FF2B5EF4-FFF2-40B4-BE49-F238E27FC236}">
                <a16:creationId xmlns:a16="http://schemas.microsoft.com/office/drawing/2014/main" id="{420DBB1C-A9EF-DAE0-11AE-653661648FF8}"/>
              </a:ext>
            </a:extLst>
          </p:cNvPr>
          <p:cNvSpPr>
            <a:spLocks noGrp="1"/>
          </p:cNvSpPr>
          <p:nvPr>
            <p:ph idx="1"/>
          </p:nvPr>
        </p:nvSpPr>
        <p:spPr>
          <a:xfrm>
            <a:off x="574365" y="1243584"/>
            <a:ext cx="5330952"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37B173D2-691F-C1A6-428C-0D01945A09EA}"/>
              </a:ext>
            </a:extLst>
          </p:cNvPr>
          <p:cNvSpPr>
            <a:spLocks noGrp="1"/>
          </p:cNvSpPr>
          <p:nvPr>
            <p:ph idx="13"/>
          </p:nvPr>
        </p:nvSpPr>
        <p:spPr>
          <a:xfrm>
            <a:off x="6291072" y="1243584"/>
            <a:ext cx="5330952" cy="1246495"/>
          </a:xfrm>
        </p:spPr>
        <p:txBody>
          <a:bodyPr/>
          <a:lstStyle>
            <a:lvl1pPr>
              <a:spcAft>
                <a:spcPts val="600"/>
              </a:spcAft>
              <a:defRPr sz="1800"/>
            </a:lvl1pPr>
            <a:lvl2pPr>
              <a:spcAft>
                <a:spcPts val="600"/>
              </a:spcAft>
              <a:defRPr>
                <a:solidFill>
                  <a:srgbClr val="000000"/>
                </a:solidFill>
              </a:defRPr>
            </a:lvl2pPr>
            <a:lvl3pPr marL="514350" indent="-173038">
              <a:spcAft>
                <a:spcPts val="600"/>
              </a:spcAft>
              <a:buFont typeface="Trust Hartford Sans" pitchFamily="50" charset="0"/>
              <a:buChar char="»"/>
              <a:defRPr sz="1600">
                <a:solidFill>
                  <a:srgbClr val="000000"/>
                </a:solidFill>
              </a:defRPr>
            </a:lvl3pPr>
            <a:lvl4pPr marL="800100" indent="-227013">
              <a:spcAft>
                <a:spcPts val="600"/>
              </a:spcAft>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98152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8229600" cy="424412"/>
          </a:xfrm>
        </p:spPr>
        <p:txBody>
          <a:bodyPr/>
          <a:lstStyle/>
          <a:p>
            <a:r>
              <a:rPr lang="en-US"/>
              <a:t>Click to edit Master title style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Text Placeholder 2">
            <a:extLst>
              <a:ext uri="{FF2B5EF4-FFF2-40B4-BE49-F238E27FC236}">
                <a16:creationId xmlns:a16="http://schemas.microsoft.com/office/drawing/2014/main" id="{B8492F97-92F8-20F8-00BB-E9BD6972F89D}"/>
              </a:ext>
            </a:extLst>
          </p:cNvPr>
          <p:cNvSpPr>
            <a:spLocks noGrp="1"/>
          </p:cNvSpPr>
          <p:nvPr>
            <p:ph idx="13" hasCustomPrompt="1"/>
          </p:nvPr>
        </p:nvSpPr>
        <p:spPr>
          <a:xfrm>
            <a:off x="566928" y="1261872"/>
            <a:ext cx="5321808" cy="1553952"/>
          </a:xfrm>
          <a:prstGeom prst="rect">
            <a:avLst/>
          </a:prstGeom>
          <a:ln w="19050">
            <a:solidFill>
              <a:srgbClr val="FE3082"/>
            </a:solidFill>
          </a:ln>
        </p:spPr>
        <p:txBody>
          <a:bodyPr vert="horz" wrap="square" lIns="237744" tIns="219456" rIns="219456" bIns="219456" rtlCol="0">
            <a:spAutoFit/>
          </a:bodyPr>
          <a:lstStyle>
            <a:lvl5pPr marL="573087" indent="0">
              <a:buNone/>
              <a:defRPr/>
            </a:lvl5pPr>
          </a:lstStyle>
          <a:p>
            <a:pPr lvl="0"/>
            <a:r>
              <a:rPr lang="en-US" dirty="0"/>
              <a:t>Click to edit Master text styles</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E73D2F27-D700-CBBA-59A7-E59114C4F622}"/>
              </a:ext>
            </a:extLst>
          </p:cNvPr>
          <p:cNvSpPr>
            <a:spLocks noGrp="1"/>
          </p:cNvSpPr>
          <p:nvPr>
            <p:ph idx="14" hasCustomPrompt="1"/>
          </p:nvPr>
        </p:nvSpPr>
        <p:spPr>
          <a:xfrm>
            <a:off x="6291867" y="1261872"/>
            <a:ext cx="5321808" cy="1553952"/>
          </a:xfrm>
          <a:prstGeom prst="rect">
            <a:avLst/>
          </a:prstGeom>
          <a:ln w="19050">
            <a:solidFill>
              <a:srgbClr val="FE3082"/>
            </a:solidFill>
          </a:ln>
        </p:spPr>
        <p:txBody>
          <a:bodyPr vert="horz" wrap="square" lIns="237744" tIns="219456" rIns="219456" bIns="219456" rtlCol="0">
            <a:spAutoFit/>
          </a:bodyPr>
          <a:lstStyle>
            <a:lvl5pPr marL="573087" indent="0">
              <a:buNone/>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542011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3" y="360233"/>
            <a:ext cx="8229600" cy="424412"/>
          </a:xfrm>
        </p:spPr>
        <p:txBody>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1BC7FDE2-4874-4984-957C-A70C053DC5B3}"/>
              </a:ext>
            </a:extLst>
          </p:cNvPr>
          <p:cNvSpPr>
            <a:spLocks noGrp="1"/>
          </p:cNvSpPr>
          <p:nvPr>
            <p:ph type="body" sz="half" idx="1"/>
          </p:nvPr>
        </p:nvSpPr>
        <p:spPr>
          <a:xfrm>
            <a:off x="566928"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EEF69BCF-89CC-495E-BB4D-B7C17F10C804}"/>
              </a:ext>
            </a:extLst>
          </p:cNvPr>
          <p:cNvSpPr>
            <a:spLocks noGrp="1"/>
          </p:cNvSpPr>
          <p:nvPr>
            <p:ph type="body" sz="half" idx="2"/>
          </p:nvPr>
        </p:nvSpPr>
        <p:spPr>
          <a:xfrm>
            <a:off x="4374327"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8" name="Text Placeholder 4">
            <a:extLst>
              <a:ext uri="{FF2B5EF4-FFF2-40B4-BE49-F238E27FC236}">
                <a16:creationId xmlns:a16="http://schemas.microsoft.com/office/drawing/2014/main" id="{34249539-7309-53CA-83C2-E24EC1C7717E}"/>
              </a:ext>
            </a:extLst>
          </p:cNvPr>
          <p:cNvSpPr>
            <a:spLocks noGrp="1"/>
          </p:cNvSpPr>
          <p:nvPr>
            <p:ph type="body" sz="half" idx="13"/>
          </p:nvPr>
        </p:nvSpPr>
        <p:spPr>
          <a:xfrm>
            <a:off x="8181726" y="1261872"/>
            <a:ext cx="3438144"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319309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Text Stacke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p:txBody>
          <a:bodyPr/>
          <a:lstStyle/>
          <a:p>
            <a:r>
              <a:rPr lang="en-US"/>
              <a:t>Click to edit Master title style</a:t>
            </a:r>
            <a:endParaRPr lang="en-CA"/>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Text Placeholder 2">
            <a:extLst>
              <a:ext uri="{FF2B5EF4-FFF2-40B4-BE49-F238E27FC236}">
                <a16:creationId xmlns:a16="http://schemas.microsoft.com/office/drawing/2014/main" id="{BC7A69BD-4F3D-CA03-42E4-8A8EDC5D4F75}"/>
              </a:ext>
            </a:extLst>
          </p:cNvPr>
          <p:cNvSpPr>
            <a:spLocks noGrp="1"/>
          </p:cNvSpPr>
          <p:nvPr>
            <p:ph type="body" sz="half" idx="14"/>
          </p:nvPr>
        </p:nvSpPr>
        <p:spPr>
          <a:xfrm>
            <a:off x="566928" y="1261872"/>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6" name="Text Placeholder 2">
            <a:extLst>
              <a:ext uri="{FF2B5EF4-FFF2-40B4-BE49-F238E27FC236}">
                <a16:creationId xmlns:a16="http://schemas.microsoft.com/office/drawing/2014/main" id="{2CB44951-A185-95B8-0E3F-26D343020BC1}"/>
              </a:ext>
            </a:extLst>
          </p:cNvPr>
          <p:cNvSpPr>
            <a:spLocks noGrp="1"/>
          </p:cNvSpPr>
          <p:nvPr>
            <p:ph type="body" sz="half" idx="15"/>
          </p:nvPr>
        </p:nvSpPr>
        <p:spPr>
          <a:xfrm>
            <a:off x="566928" y="3004045"/>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
        <p:nvSpPr>
          <p:cNvPr id="9" name="Text Placeholder 2">
            <a:extLst>
              <a:ext uri="{FF2B5EF4-FFF2-40B4-BE49-F238E27FC236}">
                <a16:creationId xmlns:a16="http://schemas.microsoft.com/office/drawing/2014/main" id="{9AEA9B09-0448-7261-D8A5-C1EB7AF72AF7}"/>
              </a:ext>
            </a:extLst>
          </p:cNvPr>
          <p:cNvSpPr>
            <a:spLocks noGrp="1"/>
          </p:cNvSpPr>
          <p:nvPr>
            <p:ph type="body" sz="half" idx="16"/>
          </p:nvPr>
        </p:nvSpPr>
        <p:spPr>
          <a:xfrm>
            <a:off x="566928" y="4736592"/>
            <a:ext cx="11055096" cy="1079655"/>
          </a:xfrm>
          <a:noFill/>
          <a:ln w="19050">
            <a:solidFill>
              <a:srgbClr val="FE3082"/>
            </a:solidFill>
            <a:miter lim="800000"/>
          </a:ln>
        </p:spPr>
        <p:style>
          <a:lnRef idx="2">
            <a:schemeClr val="accent2"/>
          </a:lnRef>
          <a:fillRef idx="1">
            <a:schemeClr val="lt1"/>
          </a:fillRef>
          <a:effectRef idx="0">
            <a:schemeClr val="accent2"/>
          </a:effectRef>
          <a:fontRef idx="minor">
            <a:schemeClr val="dk1"/>
          </a:fontRef>
        </p:style>
        <p:txBody>
          <a:bodyPr lIns="237744" tIns="219456" rIns="219456" bIns="219456"/>
          <a:lstStyle>
            <a:lvl1pPr>
              <a:spcAft>
                <a:spcPts val="600"/>
              </a:spcAft>
              <a:defRPr>
                <a:solidFill>
                  <a:srgbClr val="000000"/>
                </a:solidFill>
              </a:defRPr>
            </a:lvl1pPr>
            <a:lvl2pPr>
              <a:lnSpc>
                <a:spcPct val="100000"/>
              </a:lnSpc>
              <a:spcAft>
                <a:spcPts val="600"/>
              </a:spcAft>
              <a:defRPr>
                <a:solidFill>
                  <a:srgbClr val="000000"/>
                </a:solidFill>
                <a:latin typeface="Trust Hartford Sans Light" pitchFamily="50" charset="0"/>
              </a:defRPr>
            </a:lvl2pPr>
            <a:lvl3pPr marL="0" indent="0">
              <a:lnSpc>
                <a:spcPct val="104000"/>
              </a:lnSpc>
              <a:spcAft>
                <a:spcPts val="1200"/>
              </a:spcAft>
              <a:buFontTx/>
              <a:buNone/>
              <a:defRPr sz="1200">
                <a:solidFill>
                  <a:srgbClr val="000000"/>
                </a:solidFill>
              </a:defRPr>
            </a:lvl3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88701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CDEC52-F600-0269-4368-DD9444773D88}"/>
              </a:ext>
            </a:extLst>
          </p:cNvPr>
          <p:cNvSpPr>
            <a:spLocks noGrp="1"/>
          </p:cNvSpPr>
          <p:nvPr>
            <p:ph type="title" hasCustomPrompt="1"/>
          </p:nvPr>
        </p:nvSpPr>
        <p:spPr>
          <a:xfrm>
            <a:off x="446060" y="365126"/>
            <a:ext cx="5459439" cy="424412"/>
          </a:xfrm>
        </p:spPr>
        <p:txBody>
          <a:bodyPr/>
          <a:lstStyle>
            <a:lvl1pPr marL="118872" indent="-118872">
              <a:defRPr>
                <a:solidFill>
                  <a:srgbClr val="000000"/>
                </a:solidFill>
              </a:defRPr>
            </a:lvl1pPr>
          </a:lstStyle>
          <a:p>
            <a:r>
              <a:rPr lang="en-CA" dirty="0"/>
              <a:t>“</a:t>
            </a:r>
            <a:r>
              <a:rPr lang="en-US" dirty="0"/>
              <a:t>Quotation”</a:t>
            </a:r>
          </a:p>
        </p:txBody>
      </p:sp>
      <p:sp>
        <p:nvSpPr>
          <p:cNvPr id="4" name="Text Placeholder 2">
            <a:extLst>
              <a:ext uri="{FF2B5EF4-FFF2-40B4-BE49-F238E27FC236}">
                <a16:creationId xmlns:a16="http://schemas.microsoft.com/office/drawing/2014/main" id="{C993DBCC-185E-416E-B7BD-18744CEB0507}"/>
              </a:ext>
            </a:extLst>
          </p:cNvPr>
          <p:cNvSpPr>
            <a:spLocks noGrp="1"/>
          </p:cNvSpPr>
          <p:nvPr>
            <p:ph type="body" sz="half" idx="2" hasCustomPrompt="1"/>
          </p:nvPr>
        </p:nvSpPr>
        <p:spPr>
          <a:xfrm>
            <a:off x="574646" y="2854018"/>
            <a:ext cx="5340381" cy="186526"/>
          </a:xfrm>
        </p:spPr>
        <p:txBody>
          <a:bodyPr>
            <a:spAutoFit/>
          </a:bodyPr>
          <a:lstStyle>
            <a:lvl1pPr marL="0" indent="0">
              <a:spcAft>
                <a:spcPts val="0"/>
              </a:spcAft>
              <a:buNone/>
              <a:defRPr sz="12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 Attribution</a:t>
            </a:r>
          </a:p>
        </p:txBody>
      </p:sp>
      <p:sp>
        <p:nvSpPr>
          <p:cNvPr id="3" name="Picture Placeholder 3">
            <a:extLst>
              <a:ext uri="{FF2B5EF4-FFF2-40B4-BE49-F238E27FC236}">
                <a16:creationId xmlns:a16="http://schemas.microsoft.com/office/drawing/2014/main" id="{9E747D10-7BBB-4A01-8B0C-E01972CC50A4}"/>
              </a:ext>
            </a:extLst>
          </p:cNvPr>
          <p:cNvSpPr>
            <a:spLocks noGrp="1"/>
          </p:cNvSpPr>
          <p:nvPr>
            <p:ph type="pic" idx="1"/>
          </p:nvPr>
        </p:nvSpPr>
        <p:spPr>
          <a:xfrm>
            <a:off x="6286503" y="-9144"/>
            <a:ext cx="5916912"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4">
            <a:extLst>
              <a:ext uri="{FF2B5EF4-FFF2-40B4-BE49-F238E27FC236}">
                <a16:creationId xmlns:a16="http://schemas.microsoft.com/office/drawing/2014/main" id="{216E81AB-9F50-4889-B893-55C34359097E}"/>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6" hidden="1">
            <a:extLst>
              <a:ext uri="{FF2B5EF4-FFF2-40B4-BE49-F238E27FC236}">
                <a16:creationId xmlns:a16="http://schemas.microsoft.com/office/drawing/2014/main" id="{804C3198-7A9B-44D5-BEDF-235235F88953}"/>
              </a:ext>
            </a:extLst>
          </p:cNvPr>
          <p:cNvSpPr>
            <a:spLocks noGrp="1"/>
          </p:cNvSpPr>
          <p:nvPr>
            <p:ph type="dt" sz="half" idx="10"/>
          </p:nvPr>
        </p:nvSpPr>
        <p:spPr>
          <a:xfrm>
            <a:off x="9805986" y="6491950"/>
            <a:ext cx="1809562" cy="182880"/>
          </a:xfrm>
          <a:prstGeom prst="rect">
            <a:avLst/>
          </a:prstGeom>
        </p:spPr>
        <p:txBody>
          <a:bodyPr/>
          <a:lstStyle/>
          <a:p>
            <a:fld id="{A6DBBAA9-92F7-4B04-B157-6831738AC82A}" type="datetime4">
              <a:rPr lang="en-US" smtClean="0"/>
              <a:t>August 13, 2026</a:t>
            </a:fld>
            <a:endParaRPr lang="en-CA"/>
          </a:p>
        </p:txBody>
      </p:sp>
    </p:spTree>
    <p:extLst>
      <p:ext uri="{BB962C8B-B14F-4D97-AF65-F5344CB8AC3E}">
        <p14:creationId xmlns:p14="http://schemas.microsoft.com/office/powerpoint/2010/main" val="2370563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4" y="360233"/>
            <a:ext cx="5329427" cy="424412"/>
          </a:xfrm>
        </p:spPr>
        <p:txBody>
          <a:bodyPr/>
          <a:lstStyle/>
          <a:p>
            <a:r>
              <a:rPr lang="en-US"/>
              <a:t>Click to edit Master title style</a:t>
            </a:r>
            <a:endParaRPr lang="en-CA" dirty="0"/>
          </a:p>
        </p:txBody>
      </p:sp>
      <p:sp>
        <p:nvSpPr>
          <p:cNvPr id="10" name="Picture Placeholder 3">
            <a:extLst>
              <a:ext uri="{FF2B5EF4-FFF2-40B4-BE49-F238E27FC236}">
                <a16:creationId xmlns:a16="http://schemas.microsoft.com/office/drawing/2014/main" id="{C1D4DCB7-987B-31A3-0F8D-41041DF92F5A}"/>
              </a:ext>
            </a:extLst>
          </p:cNvPr>
          <p:cNvSpPr>
            <a:spLocks noGrp="1"/>
          </p:cNvSpPr>
          <p:nvPr>
            <p:ph type="pic" idx="13"/>
          </p:nvPr>
        </p:nvSpPr>
        <p:spPr>
          <a:xfrm>
            <a:off x="6286500" y="-9144"/>
            <a:ext cx="5916915"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4">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6"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AD231B04-DB95-5111-5DBD-92A3D6728554}"/>
              </a:ext>
            </a:extLst>
          </p:cNvPr>
          <p:cNvSpPr>
            <a:spLocks noGrp="1"/>
          </p:cNvSpPr>
          <p:nvPr>
            <p:ph idx="1"/>
          </p:nvPr>
        </p:nvSpPr>
        <p:spPr>
          <a:xfrm>
            <a:off x="574365" y="1243584"/>
            <a:ext cx="5329426" cy="954107"/>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88669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5" y="360233"/>
            <a:ext cx="5330952" cy="424412"/>
          </a:xfrm>
        </p:spPr>
        <p:txBody>
          <a:bodyPr/>
          <a:lstStyle/>
          <a:p>
            <a:r>
              <a:rPr lang="en-US"/>
              <a:t>Click to edit Master title style</a:t>
            </a:r>
            <a:endParaRPr lang="en-CA" dirty="0"/>
          </a:p>
        </p:txBody>
      </p:sp>
      <p:sp>
        <p:nvSpPr>
          <p:cNvPr id="10" name="Picture Placeholder 4">
            <a:extLst>
              <a:ext uri="{FF2B5EF4-FFF2-40B4-BE49-F238E27FC236}">
                <a16:creationId xmlns:a16="http://schemas.microsoft.com/office/drawing/2014/main" id="{C1D4DCB7-987B-31A3-0F8D-41041DF92F5A}"/>
              </a:ext>
            </a:extLst>
          </p:cNvPr>
          <p:cNvSpPr>
            <a:spLocks noGrp="1"/>
          </p:cNvSpPr>
          <p:nvPr>
            <p:ph type="pic" idx="13"/>
          </p:nvPr>
        </p:nvSpPr>
        <p:spPr>
          <a:xfrm>
            <a:off x="6286502" y="-9144"/>
            <a:ext cx="5916913"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7"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D6F9773E-9A42-DC45-0E44-5A2A136F206B}"/>
              </a:ext>
            </a:extLst>
          </p:cNvPr>
          <p:cNvSpPr>
            <a:spLocks noGrp="1"/>
          </p:cNvSpPr>
          <p:nvPr>
            <p:ph idx="15"/>
          </p:nvPr>
        </p:nvSpPr>
        <p:spPr>
          <a:xfrm>
            <a:off x="574365" y="1243584"/>
            <a:ext cx="2478024" cy="1231106"/>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166508C5-76DF-5EFA-3933-CD90B1B9D7F0}"/>
              </a:ext>
            </a:extLst>
          </p:cNvPr>
          <p:cNvSpPr>
            <a:spLocks noGrp="1"/>
          </p:cNvSpPr>
          <p:nvPr>
            <p:ph idx="16"/>
          </p:nvPr>
        </p:nvSpPr>
        <p:spPr>
          <a:xfrm>
            <a:off x="3427293" y="1243584"/>
            <a:ext cx="2478024" cy="1231106"/>
          </a:xfrm>
        </p:spPr>
        <p:txBody>
          <a:bodyPr/>
          <a:lstStyle>
            <a:lvl1pPr>
              <a:defRPr sz="1800"/>
            </a:lvl1pPr>
            <a:lvl2pPr>
              <a:spcAft>
                <a:spcPts val="600"/>
              </a:spcAft>
              <a:defRPr>
                <a:solidFill>
                  <a:srgbClr val="000000"/>
                </a:solidFill>
              </a:defRPr>
            </a:lvl2pPr>
            <a:lvl3pPr marL="514350" indent="-173038">
              <a:buFont typeface="Trust Hartford Sans" pitchFamily="50" charset="0"/>
              <a:buChar char="»"/>
              <a:defRPr sz="1600">
                <a:solidFill>
                  <a:srgbClr val="000000"/>
                </a:solidFill>
              </a:defRPr>
            </a:lvl3pPr>
            <a:lvl4pPr marL="800100" indent="-227013">
              <a:buFont typeface="Trust Hartford Sans" pitchFamily="50" charset="0"/>
              <a:buChar char="—"/>
              <a:defRPr sz="1400">
                <a:solidFill>
                  <a:srgbClr val="000000"/>
                </a:solidFill>
              </a:defRPr>
            </a:lvl4pPr>
            <a:lvl5pPr marL="800100" indent="0">
              <a:buNone/>
              <a:defRPr/>
            </a:lvl5pPr>
            <a:lvl6pPr marL="1141413" indent="0">
              <a:defRPr/>
            </a:lvl6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60397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Numbered Points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18DA2-AAE8-4B6F-B4D9-2F1E68B87E4B}"/>
              </a:ext>
            </a:extLst>
          </p:cNvPr>
          <p:cNvSpPr>
            <a:spLocks noGrp="1"/>
          </p:cNvSpPr>
          <p:nvPr>
            <p:ph type="title"/>
          </p:nvPr>
        </p:nvSpPr>
        <p:spPr>
          <a:xfrm>
            <a:off x="574365" y="360233"/>
            <a:ext cx="5330952" cy="424412"/>
          </a:xfrm>
        </p:spPr>
        <p:txBody>
          <a:bodyPr/>
          <a:lstStyle/>
          <a:p>
            <a:r>
              <a:rPr lang="en-US"/>
              <a:t>Click to edit Master title style</a:t>
            </a:r>
            <a:endParaRPr lang="en-CA" dirty="0"/>
          </a:p>
        </p:txBody>
      </p:sp>
      <p:sp>
        <p:nvSpPr>
          <p:cNvPr id="3" name="Content Placeholder 2">
            <a:extLst>
              <a:ext uri="{FF2B5EF4-FFF2-40B4-BE49-F238E27FC236}">
                <a16:creationId xmlns:a16="http://schemas.microsoft.com/office/drawing/2014/main" id="{1BC7FDE2-4874-4984-957C-A70C053DC5B3}"/>
              </a:ext>
            </a:extLst>
          </p:cNvPr>
          <p:cNvSpPr>
            <a:spLocks noGrp="1"/>
          </p:cNvSpPr>
          <p:nvPr>
            <p:ph sz="half" idx="1" hasCustomPrompt="1"/>
          </p:nvPr>
        </p:nvSpPr>
        <p:spPr>
          <a:xfrm>
            <a:off x="576072" y="1243584"/>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100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0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10" name="Picture Placeholder 4">
            <a:extLst>
              <a:ext uri="{FF2B5EF4-FFF2-40B4-BE49-F238E27FC236}">
                <a16:creationId xmlns:a16="http://schemas.microsoft.com/office/drawing/2014/main" id="{C1D4DCB7-987B-31A3-0F8D-41041DF92F5A}"/>
              </a:ext>
            </a:extLst>
          </p:cNvPr>
          <p:cNvSpPr>
            <a:spLocks noGrp="1"/>
          </p:cNvSpPr>
          <p:nvPr>
            <p:ph type="pic" idx="13"/>
          </p:nvPr>
        </p:nvSpPr>
        <p:spPr>
          <a:xfrm>
            <a:off x="6286502" y="-9144"/>
            <a:ext cx="5916913" cy="6876288"/>
          </a:xfrm>
          <a:solidFill>
            <a:schemeClr val="bg1">
              <a:lumMod val="95000"/>
            </a:schemeClr>
          </a:solidFill>
        </p:spPr>
        <p:txBody>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CA" dirty="0"/>
          </a:p>
        </p:txBody>
      </p:sp>
      <p:sp>
        <p:nvSpPr>
          <p:cNvPr id="7" name="Slide Number Placeholder 5">
            <a:extLst>
              <a:ext uri="{FF2B5EF4-FFF2-40B4-BE49-F238E27FC236}">
                <a16:creationId xmlns:a16="http://schemas.microsoft.com/office/drawing/2014/main" id="{5D500DE7-045D-4A18-8256-BE411146E636}"/>
              </a:ext>
            </a:extLst>
          </p:cNvPr>
          <p:cNvSpPr>
            <a:spLocks noGrp="1"/>
          </p:cNvSpPr>
          <p:nvPr>
            <p:ph type="sldNum" sz="quarter" idx="12"/>
          </p:nvPr>
        </p:nvSpPr>
        <p:spPr/>
        <p:txBody>
          <a:bodyPr/>
          <a:lstStyle/>
          <a:p>
            <a:fld id="{0B1B59A6-B74A-41AA-9EF6-238F4BE8BA53}" type="slidenum">
              <a:rPr lang="en-CA" smtClean="0"/>
              <a:t>‹#›</a:t>
            </a:fld>
            <a:endParaRPr lang="en-CA"/>
          </a:p>
        </p:txBody>
      </p:sp>
      <p:sp>
        <p:nvSpPr>
          <p:cNvPr id="5" name="Date Placeholder 7" hidden="1">
            <a:extLst>
              <a:ext uri="{FF2B5EF4-FFF2-40B4-BE49-F238E27FC236}">
                <a16:creationId xmlns:a16="http://schemas.microsoft.com/office/drawing/2014/main" id="{7C1CF5EF-6CDE-4837-9334-DEC1BCC59990}"/>
              </a:ext>
            </a:extLst>
          </p:cNvPr>
          <p:cNvSpPr>
            <a:spLocks noGrp="1"/>
          </p:cNvSpPr>
          <p:nvPr>
            <p:ph type="dt" sz="half" idx="10"/>
          </p:nvPr>
        </p:nvSpPr>
        <p:spPr>
          <a:xfrm>
            <a:off x="9805986" y="6491950"/>
            <a:ext cx="1809562" cy="182880"/>
          </a:xfrm>
          <a:prstGeom prst="rect">
            <a:avLst/>
          </a:prstGeom>
        </p:spPr>
        <p:txBody>
          <a:bodyPr/>
          <a:lstStyle/>
          <a:p>
            <a:fld id="{2C55AB44-A465-440F-B1AF-326DFCED3A38}" type="datetime4">
              <a:rPr lang="en-US" smtClean="0"/>
              <a:t>August 13, 2026</a:t>
            </a:fld>
            <a:endParaRPr lang="en-CA"/>
          </a:p>
        </p:txBody>
      </p:sp>
      <p:sp>
        <p:nvSpPr>
          <p:cNvPr id="6" name="Content Placeholder 2">
            <a:extLst>
              <a:ext uri="{FF2B5EF4-FFF2-40B4-BE49-F238E27FC236}">
                <a16:creationId xmlns:a16="http://schemas.microsoft.com/office/drawing/2014/main" id="{EAF5EA95-00CC-B3FD-3442-8121D31164BB}"/>
              </a:ext>
            </a:extLst>
          </p:cNvPr>
          <p:cNvSpPr>
            <a:spLocks noGrp="1"/>
          </p:cNvSpPr>
          <p:nvPr>
            <p:ph sz="half" idx="17" hasCustomPrompt="1"/>
          </p:nvPr>
        </p:nvSpPr>
        <p:spPr>
          <a:xfrm>
            <a:off x="3425150" y="1243584"/>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100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0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2BD1469E-14AA-D9D8-06F2-FE414A59E73D}"/>
              </a:ext>
            </a:extLst>
          </p:cNvPr>
          <p:cNvSpPr>
            <a:spLocks noGrp="1"/>
          </p:cNvSpPr>
          <p:nvPr>
            <p:ph sz="half" idx="18" hasCustomPrompt="1"/>
          </p:nvPr>
        </p:nvSpPr>
        <p:spPr>
          <a:xfrm>
            <a:off x="576072" y="3890531"/>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96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4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
        <p:nvSpPr>
          <p:cNvPr id="9" name="Content Placeholder 2">
            <a:extLst>
              <a:ext uri="{FF2B5EF4-FFF2-40B4-BE49-F238E27FC236}">
                <a16:creationId xmlns:a16="http://schemas.microsoft.com/office/drawing/2014/main" id="{E76C5B92-C1FA-7596-79D8-7E05E4D9BA53}"/>
              </a:ext>
            </a:extLst>
          </p:cNvPr>
          <p:cNvSpPr>
            <a:spLocks noGrp="1"/>
          </p:cNvSpPr>
          <p:nvPr>
            <p:ph sz="half" idx="19" hasCustomPrompt="1"/>
          </p:nvPr>
        </p:nvSpPr>
        <p:spPr>
          <a:xfrm>
            <a:off x="3425150" y="3890531"/>
            <a:ext cx="2478024" cy="1454565"/>
          </a:xfrm>
        </p:spPr>
        <p:txBody>
          <a:bodyPr/>
          <a:lstStyle>
            <a:lvl1pPr>
              <a:lnSpc>
                <a:spcPct val="91000"/>
              </a:lnSpc>
              <a:spcAft>
                <a:spcPts val="0"/>
              </a:spcAft>
              <a:defRPr sz="7200" b="0">
                <a:solidFill>
                  <a:srgbClr val="FE3082"/>
                </a:solidFill>
                <a:latin typeface="Trust Hartford Serif XLight" pitchFamily="50" charset="0"/>
              </a:defRPr>
            </a:lvl1pPr>
            <a:lvl2pPr marL="9525" indent="0">
              <a:lnSpc>
                <a:spcPct val="96000"/>
              </a:lnSpc>
              <a:spcAft>
                <a:spcPts val="600"/>
              </a:spcAft>
              <a:buFont typeface="Arial" panose="020B0604020202020204" pitchFamily="34" charset="0"/>
              <a:buNone/>
              <a:tabLst/>
              <a:defRPr sz="1200" b="1" spc="-10" baseline="0">
                <a:solidFill>
                  <a:srgbClr val="000000"/>
                </a:solidFill>
                <a:latin typeface="+mn-lt"/>
              </a:defRPr>
            </a:lvl2pPr>
            <a:lvl3pPr marL="9525" indent="0">
              <a:lnSpc>
                <a:spcPct val="104000"/>
              </a:lnSpc>
              <a:spcAft>
                <a:spcPts val="600"/>
              </a:spcAft>
              <a:buFont typeface="Arial" panose="020B0604020202020204" pitchFamily="34" charset="0"/>
              <a:buNone/>
              <a:tabLst/>
              <a:defRPr sz="1200">
                <a:solidFill>
                  <a:srgbClr val="000000"/>
                </a:solidFill>
                <a:latin typeface="+mn-lt"/>
              </a:defRPr>
            </a:lvl3pPr>
          </a:lstStyle>
          <a:p>
            <a:pPr lvl="0"/>
            <a:r>
              <a:rPr lang="en-US" dirty="0"/>
              <a:t>#</a:t>
            </a:r>
          </a:p>
          <a:p>
            <a:pPr lvl="1"/>
            <a:r>
              <a:rPr lang="en-US" dirty="0"/>
              <a:t>Second level</a:t>
            </a:r>
          </a:p>
          <a:p>
            <a:pPr lvl="2"/>
            <a:r>
              <a:rPr lang="en-US" dirty="0"/>
              <a:t>Third level</a:t>
            </a:r>
          </a:p>
        </p:txBody>
      </p:sp>
    </p:spTree>
    <p:extLst>
      <p:ext uri="{BB962C8B-B14F-4D97-AF65-F5344CB8AC3E}">
        <p14:creationId xmlns:p14="http://schemas.microsoft.com/office/powerpoint/2010/main" val="2740384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D3A6E-7CF8-4BC2-A0EB-FA90FCA21BE5}"/>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Table Placeholder 2">
            <a:extLst>
              <a:ext uri="{FF2B5EF4-FFF2-40B4-BE49-F238E27FC236}">
                <a16:creationId xmlns:a16="http://schemas.microsoft.com/office/drawing/2014/main" id="{08E4A003-1EAA-47A9-9AAC-94B864F536D1}"/>
              </a:ext>
            </a:extLst>
          </p:cNvPr>
          <p:cNvSpPr>
            <a:spLocks noGrp="1"/>
          </p:cNvSpPr>
          <p:nvPr>
            <p:ph type="tbl" idx="1"/>
          </p:nvPr>
        </p:nvSpPr>
        <p:spPr>
          <a:xfrm>
            <a:off x="576072" y="1600200"/>
            <a:ext cx="11044428" cy="3529584"/>
          </a:xfrm>
        </p:spPr>
        <p:txBody>
          <a:bodyPr/>
          <a:lstStyle/>
          <a:p>
            <a:r>
              <a:rPr lang="en-US"/>
              <a:t>Click icon to add table</a:t>
            </a:r>
            <a:endParaRPr lang="en-CA" dirty="0"/>
          </a:p>
        </p:txBody>
      </p:sp>
      <p:sp>
        <p:nvSpPr>
          <p:cNvPr id="6" name="Slide Number Placeholder 3">
            <a:extLst>
              <a:ext uri="{FF2B5EF4-FFF2-40B4-BE49-F238E27FC236}">
                <a16:creationId xmlns:a16="http://schemas.microsoft.com/office/drawing/2014/main" id="{32DD8E0E-D906-4051-A76A-02442FC1BE0A}"/>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4737356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5638-9DCB-4A4B-A17A-9B653075388E}"/>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Chart Placeholder 2">
            <a:extLst>
              <a:ext uri="{FF2B5EF4-FFF2-40B4-BE49-F238E27FC236}">
                <a16:creationId xmlns:a16="http://schemas.microsoft.com/office/drawing/2014/main" id="{D4523EDA-C4FA-4F10-8196-8DE4BF36E8D0}"/>
              </a:ext>
            </a:extLst>
          </p:cNvPr>
          <p:cNvSpPr>
            <a:spLocks noGrp="1"/>
          </p:cNvSpPr>
          <p:nvPr>
            <p:ph type="chart" idx="1"/>
          </p:nvPr>
        </p:nvSpPr>
        <p:spPr>
          <a:xfrm>
            <a:off x="574365" y="1600200"/>
            <a:ext cx="11040880" cy="4320443"/>
          </a:xfrm>
        </p:spPr>
        <p:txBody>
          <a:bodyPr/>
          <a:lstStyle/>
          <a:p>
            <a:r>
              <a:rPr lang="en-US"/>
              <a:t>Click icon to add chart</a:t>
            </a:r>
            <a:endParaRPr lang="en-CA" dirty="0"/>
          </a:p>
        </p:txBody>
      </p:sp>
      <p:sp>
        <p:nvSpPr>
          <p:cNvPr id="6" name="Slide Number Placeholder 3">
            <a:extLst>
              <a:ext uri="{FF2B5EF4-FFF2-40B4-BE49-F238E27FC236}">
                <a16:creationId xmlns:a16="http://schemas.microsoft.com/office/drawing/2014/main" id="{1CF895C5-5776-4C7F-AE1B-8503F6652A5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4426921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Two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D5638-9DCB-4A4B-A17A-9B653075388E}"/>
              </a:ext>
            </a:extLst>
          </p:cNvPr>
          <p:cNvSpPr>
            <a:spLocks noGrp="1"/>
          </p:cNvSpPr>
          <p:nvPr>
            <p:ph type="title"/>
          </p:nvPr>
        </p:nvSpPr>
        <p:spPr>
          <a:xfrm>
            <a:off x="574365" y="360232"/>
            <a:ext cx="8229600" cy="424412"/>
          </a:xfrm>
        </p:spPr>
        <p:txBody>
          <a:bodyPr/>
          <a:lstStyle/>
          <a:p>
            <a:r>
              <a:rPr lang="en-US"/>
              <a:t>Click to edit Master title style</a:t>
            </a:r>
            <a:endParaRPr lang="en-CA" dirty="0"/>
          </a:p>
        </p:txBody>
      </p:sp>
      <p:sp>
        <p:nvSpPr>
          <p:cNvPr id="3" name="Chart Placeholder 2">
            <a:extLst>
              <a:ext uri="{FF2B5EF4-FFF2-40B4-BE49-F238E27FC236}">
                <a16:creationId xmlns:a16="http://schemas.microsoft.com/office/drawing/2014/main" id="{D4523EDA-C4FA-4F10-8196-8DE4BF36E8D0}"/>
              </a:ext>
            </a:extLst>
          </p:cNvPr>
          <p:cNvSpPr>
            <a:spLocks noGrp="1"/>
          </p:cNvSpPr>
          <p:nvPr>
            <p:ph type="chart" idx="1"/>
          </p:nvPr>
        </p:nvSpPr>
        <p:spPr>
          <a:xfrm>
            <a:off x="574364" y="1600200"/>
            <a:ext cx="5460675" cy="4320443"/>
          </a:xfrm>
        </p:spPr>
        <p:txBody>
          <a:bodyPr/>
          <a:lstStyle/>
          <a:p>
            <a:r>
              <a:rPr lang="en-US"/>
              <a:t>Click icon to add chart</a:t>
            </a:r>
            <a:endParaRPr lang="en-CA" dirty="0"/>
          </a:p>
        </p:txBody>
      </p:sp>
      <p:sp>
        <p:nvSpPr>
          <p:cNvPr id="8" name="Chart Placeholder 3">
            <a:extLst>
              <a:ext uri="{FF2B5EF4-FFF2-40B4-BE49-F238E27FC236}">
                <a16:creationId xmlns:a16="http://schemas.microsoft.com/office/drawing/2014/main" id="{0EE9AC9D-70EA-AA85-CBE6-23C5257EB501}"/>
              </a:ext>
            </a:extLst>
          </p:cNvPr>
          <p:cNvSpPr>
            <a:spLocks noGrp="1"/>
          </p:cNvSpPr>
          <p:nvPr>
            <p:ph type="chart" idx="13"/>
          </p:nvPr>
        </p:nvSpPr>
        <p:spPr>
          <a:xfrm>
            <a:off x="6153810" y="1600200"/>
            <a:ext cx="5460675" cy="4320443"/>
          </a:xfrm>
        </p:spPr>
        <p:txBody>
          <a:bodyPr/>
          <a:lstStyle/>
          <a:p>
            <a:r>
              <a:rPr lang="en-US"/>
              <a:t>Click icon to add chart</a:t>
            </a:r>
            <a:endParaRPr lang="en-CA" dirty="0"/>
          </a:p>
        </p:txBody>
      </p:sp>
      <p:sp>
        <p:nvSpPr>
          <p:cNvPr id="6" name="Slide Number Placeholder 4">
            <a:extLst>
              <a:ext uri="{FF2B5EF4-FFF2-40B4-BE49-F238E27FC236}">
                <a16:creationId xmlns:a16="http://schemas.microsoft.com/office/drawing/2014/main" id="{1CF895C5-5776-4C7F-AE1B-8503F6652A5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8374745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94764-B876-42DD-B472-BDC2CC61EBD1}"/>
              </a:ext>
            </a:extLst>
          </p:cNvPr>
          <p:cNvSpPr>
            <a:spLocks noGrp="1"/>
          </p:cNvSpPr>
          <p:nvPr>
            <p:ph type="title"/>
          </p:nvPr>
        </p:nvSpPr>
        <p:spPr>
          <a:xfrm>
            <a:off x="574363" y="360233"/>
            <a:ext cx="8229600" cy="424412"/>
          </a:xfrm>
        </p:spPr>
        <p:txBody>
          <a:bodyPr/>
          <a:lstStyle/>
          <a:p>
            <a:r>
              <a:rPr lang="en-US"/>
              <a:t>Click to edit Master title style</a:t>
            </a:r>
            <a:endParaRPr lang="en-CA" dirty="0"/>
          </a:p>
        </p:txBody>
      </p:sp>
      <p:sp>
        <p:nvSpPr>
          <p:cNvPr id="5" name="Slide Number Placeholder 2">
            <a:extLst>
              <a:ext uri="{FF2B5EF4-FFF2-40B4-BE49-F238E27FC236}">
                <a16:creationId xmlns:a16="http://schemas.microsoft.com/office/drawing/2014/main" id="{49D22D01-6D3C-4EFB-B1F4-AED8B951CB86}"/>
              </a:ext>
            </a:extLst>
          </p:cNvPr>
          <p:cNvSpPr>
            <a:spLocks noGrp="1"/>
          </p:cNvSpPr>
          <p:nvPr>
            <p:ph type="sldNum" sz="quarter" idx="12"/>
          </p:nvPr>
        </p:nvSpPr>
        <p:spPr/>
        <p:txBody>
          <a:bodyPr/>
          <a:lstStyle/>
          <a:p>
            <a:fld id="{0B1B59A6-B74A-41AA-9EF6-238F4BE8BA53}" type="slidenum">
              <a:rPr lang="en-CA" smtClean="0"/>
              <a:t>‹#›</a:t>
            </a:fld>
            <a:endParaRPr lang="en-CA"/>
          </a:p>
        </p:txBody>
      </p:sp>
    </p:spTree>
    <p:extLst>
      <p:ext uri="{BB962C8B-B14F-4D97-AF65-F5344CB8AC3E}">
        <p14:creationId xmlns:p14="http://schemas.microsoft.com/office/powerpoint/2010/main" val="27408097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4BB9D9-8ECA-4A10-B219-3433124D18AA}"/>
              </a:ext>
            </a:extLst>
          </p:cNvPr>
          <p:cNvSpPr>
            <a:spLocks noGrp="1"/>
          </p:cNvSpPr>
          <p:nvPr>
            <p:ph type="title"/>
          </p:nvPr>
        </p:nvSpPr>
        <p:spPr>
          <a:xfrm>
            <a:off x="574363" y="360233"/>
            <a:ext cx="8229600" cy="424412"/>
          </a:xfrm>
          <a:prstGeom prst="rect">
            <a:avLst/>
          </a:prstGeom>
        </p:spPr>
        <p:txBody>
          <a:bodyPr vert="horz" lIns="0" tIns="0" rIns="0" bIns="0" rtlCol="0" anchor="t" anchorCtr="0">
            <a:spAutoFit/>
          </a:bodyPr>
          <a:lstStyle/>
          <a:p>
            <a:r>
              <a:rPr lang="en-US"/>
              <a:t>Click to edit Master title style</a:t>
            </a:r>
            <a:endParaRPr lang="en-CA" dirty="0"/>
          </a:p>
        </p:txBody>
      </p:sp>
      <p:sp>
        <p:nvSpPr>
          <p:cNvPr id="3" name="Text Placeholder 2">
            <a:extLst>
              <a:ext uri="{FF2B5EF4-FFF2-40B4-BE49-F238E27FC236}">
                <a16:creationId xmlns:a16="http://schemas.microsoft.com/office/drawing/2014/main" id="{2104456C-1FCF-4CED-BB81-08069A400A53}"/>
              </a:ext>
            </a:extLst>
          </p:cNvPr>
          <p:cNvSpPr>
            <a:spLocks noGrp="1"/>
          </p:cNvSpPr>
          <p:nvPr>
            <p:ph type="body" idx="1"/>
          </p:nvPr>
        </p:nvSpPr>
        <p:spPr>
          <a:xfrm>
            <a:off x="574365" y="1243584"/>
            <a:ext cx="8193024" cy="1249253"/>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4"/>
            <a:r>
              <a:rPr lang="en-US" dirty="0"/>
              <a:t>Fourth</a:t>
            </a:r>
          </a:p>
        </p:txBody>
      </p:sp>
      <p:sp>
        <p:nvSpPr>
          <p:cNvPr id="6" name="Slide Number Placeholder 3">
            <a:extLst>
              <a:ext uri="{FF2B5EF4-FFF2-40B4-BE49-F238E27FC236}">
                <a16:creationId xmlns:a16="http://schemas.microsoft.com/office/drawing/2014/main" id="{405F7A51-81ED-4EE1-B1B5-D78F6FA1BC73}"/>
              </a:ext>
            </a:extLst>
          </p:cNvPr>
          <p:cNvSpPr>
            <a:spLocks noGrp="1"/>
          </p:cNvSpPr>
          <p:nvPr>
            <p:ph type="sldNum" sz="quarter" idx="4"/>
          </p:nvPr>
        </p:nvSpPr>
        <p:spPr>
          <a:xfrm>
            <a:off x="11615244" y="6491950"/>
            <a:ext cx="437707" cy="182880"/>
          </a:xfrm>
          <a:prstGeom prst="rect">
            <a:avLst/>
          </a:prstGeom>
        </p:spPr>
        <p:txBody>
          <a:bodyPr vert="horz" lIns="0" tIns="0" rIns="0" bIns="0" rtlCol="0" anchor="b" anchorCtr="0"/>
          <a:lstStyle>
            <a:lvl1pPr algn="l">
              <a:defRPr sz="1000" b="1">
                <a:solidFill>
                  <a:srgbClr val="FE3082"/>
                </a:solidFill>
              </a:defRPr>
            </a:lvl1pPr>
          </a:lstStyle>
          <a:p>
            <a:fld id="{0B1B59A6-B74A-41AA-9EF6-238F4BE8BA53}" type="slidenum">
              <a:rPr lang="en-CA" smtClean="0"/>
              <a:pPr/>
              <a:t>‹#›</a:t>
            </a:fld>
            <a:endParaRPr lang="en-CA" dirty="0"/>
          </a:p>
        </p:txBody>
      </p:sp>
      <p:sp>
        <p:nvSpPr>
          <p:cNvPr id="5" name="TextBox 4">
            <a:extLst>
              <a:ext uri="{FF2B5EF4-FFF2-40B4-BE49-F238E27FC236}">
                <a16:creationId xmlns:a16="http://schemas.microsoft.com/office/drawing/2014/main" id="{C338CBA7-4B79-B1CD-65D4-67FA9B0D9D97}"/>
              </a:ext>
            </a:extLst>
          </p:cNvPr>
          <p:cNvSpPr txBox="1"/>
          <p:nvPr>
            <p:extLst>
              <p:ext uri="{1162E1C5-73C7-4A58-AE30-91384D911F3F}">
                <p184:classification xmlns:p184="http://schemas.microsoft.com/office/powerpoint/2018/4/main" val="ftr"/>
              </p:ext>
            </p:extLst>
          </p:nvPr>
        </p:nvSpPr>
        <p:spPr>
          <a:xfrm>
            <a:off x="3494088" y="6703060"/>
            <a:ext cx="5219700" cy="91440"/>
          </a:xfrm>
          <a:prstGeom prst="rect">
            <a:avLst/>
          </a:prstGeom>
        </p:spPr>
        <p:txBody>
          <a:bodyPr horzOverflow="overflow" lIns="0" tIns="0" rIns="0" bIns="0">
            <a:spAutoFit/>
          </a:bodyPr>
          <a:lstStyle/>
          <a:p>
            <a:pPr algn="l"/>
            <a:r>
              <a:rPr lang="en-US" sz="600">
                <a:solidFill>
                  <a:srgbClr val="000000">
                    <a:alpha val="50000"/>
                  </a:srgbClr>
                </a:solidFill>
                <a:latin typeface="Aptos" panose="020B0004020202020204" pitchFamily="34" charset="0"/>
              </a:rPr>
              <a:t>© 2026 The Hartford. Classification: Non-Confidential. No part of this document may be reproduced, published, or used without the permission of The Hartford.</a:t>
            </a:r>
          </a:p>
        </p:txBody>
      </p:sp>
    </p:spTree>
    <p:extLst>
      <p:ext uri="{BB962C8B-B14F-4D97-AF65-F5344CB8AC3E}">
        <p14:creationId xmlns:p14="http://schemas.microsoft.com/office/powerpoint/2010/main" val="2771823229"/>
      </p:ext>
    </p:extLst>
  </p:cSld>
  <p:clrMap bg1="lt1" tx1="dk1" bg2="lt2" tx2="dk2" accent1="accent1" accent2="accent2" accent3="accent3" accent4="accent4" accent5="accent5" accent6="accent6" hlink="hlink" folHlink="folHlink"/>
  <p:sldLayoutIdLst>
    <p:sldLayoutId id="2147483674" r:id="rId1"/>
    <p:sldLayoutId id="2147483698" r:id="rId2"/>
    <p:sldLayoutId id="2147483700" r:id="rId3"/>
    <p:sldLayoutId id="2147483699" r:id="rId4"/>
    <p:sldLayoutId id="2147483680" r:id="rId5"/>
    <p:sldLayoutId id="2147483676" r:id="rId6"/>
    <p:sldLayoutId id="2147483701" r:id="rId7"/>
    <p:sldLayoutId id="2147483702" r:id="rId8"/>
    <p:sldLayoutId id="2147483703" r:id="rId9"/>
    <p:sldLayoutId id="2147483704" r:id="rId10"/>
    <p:sldLayoutId id="2147483675" r:id="rId11"/>
    <p:sldLayoutId id="2147483677" r:id="rId12"/>
    <p:sldLayoutId id="2147483705" r:id="rId13"/>
    <p:sldLayoutId id="2147483706" r:id="rId14"/>
    <p:sldLayoutId id="2147483707" r:id="rId15"/>
    <p:sldLayoutId id="2147483682" r:id="rId16"/>
    <p:sldLayoutId id="2147483710" r:id="rId17"/>
    <p:sldLayoutId id="2147483711" r:id="rId18"/>
    <p:sldLayoutId id="2147483712" r:id="rId19"/>
    <p:sldLayoutId id="2147483696" r:id="rId20"/>
    <p:sldLayoutId id="2147483708" r:id="rId21"/>
    <p:sldLayoutId id="2147483709" r:id="rId22"/>
    <p:sldLayoutId id="2147483679" r:id="rId23"/>
  </p:sldLayoutIdLst>
  <p:hf hdr="0" dt="0"/>
  <p:txStyles>
    <p:titleStyle>
      <a:lvl1pPr algn="l" defTabSz="914400" rtl="0" eaLnBrk="1" latinLnBrk="0" hangingPunct="1">
        <a:lnSpc>
          <a:spcPct val="98000"/>
        </a:lnSpc>
        <a:spcBef>
          <a:spcPct val="0"/>
        </a:spcBef>
        <a:buNone/>
        <a:defRPr sz="2800" kern="1200">
          <a:solidFill>
            <a:srgbClr val="000000"/>
          </a:solidFill>
          <a:latin typeface="+mj-lt"/>
          <a:ea typeface="+mj-ea"/>
          <a:cs typeface="+mj-cs"/>
        </a:defRPr>
      </a:lvl1pPr>
    </p:titleStyle>
    <p:bodyStyle>
      <a:lvl1pPr marL="0" indent="0" algn="l" defTabSz="914400" rtl="0" eaLnBrk="1" fontAlgn="ctr" latinLnBrk="0" hangingPunct="1">
        <a:lnSpc>
          <a:spcPct val="100000"/>
        </a:lnSpc>
        <a:spcBef>
          <a:spcPts val="0"/>
        </a:spcBef>
        <a:spcAft>
          <a:spcPts val="600"/>
        </a:spcAft>
        <a:buFontTx/>
        <a:buNone/>
        <a:defRPr sz="1800" b="0" kern="1200">
          <a:solidFill>
            <a:srgbClr val="000000"/>
          </a:solidFill>
          <a:latin typeface="+mn-lt"/>
          <a:ea typeface="+mn-ea"/>
          <a:cs typeface="+mn-cs"/>
        </a:defRPr>
      </a:lvl1pPr>
      <a:lvl2pPr marL="341313" indent="-173038" algn="l" defTabSz="914400" rtl="0" eaLnBrk="1" fontAlgn="ctr" latinLnBrk="0" hangingPunct="1">
        <a:lnSpc>
          <a:spcPct val="100000"/>
        </a:lnSpc>
        <a:spcBef>
          <a:spcPts val="0"/>
        </a:spcBef>
        <a:spcAft>
          <a:spcPts val="600"/>
        </a:spcAft>
        <a:buFont typeface="Arial" panose="020B0604020202020204" pitchFamily="34" charset="0"/>
        <a:buChar char="•"/>
        <a:defRPr sz="1800" kern="1200">
          <a:solidFill>
            <a:srgbClr val="000000"/>
          </a:solidFill>
          <a:latin typeface="+mn-lt"/>
          <a:ea typeface="+mn-ea"/>
          <a:cs typeface="+mn-cs"/>
        </a:defRPr>
      </a:lvl2pPr>
      <a:lvl3pPr marL="514350" indent="-173038" algn="l" defTabSz="914400" rtl="0" eaLnBrk="1" fontAlgn="ctr" latinLnBrk="0" hangingPunct="1">
        <a:lnSpc>
          <a:spcPct val="100000"/>
        </a:lnSpc>
        <a:spcBef>
          <a:spcPts val="0"/>
        </a:spcBef>
        <a:spcAft>
          <a:spcPts val="600"/>
        </a:spcAft>
        <a:buFont typeface="Trust Hartford Sans" pitchFamily="50" charset="0"/>
        <a:buChar char="»"/>
        <a:defRPr sz="1600" kern="1200">
          <a:solidFill>
            <a:srgbClr val="000000"/>
          </a:solidFill>
          <a:latin typeface="+mn-lt"/>
          <a:ea typeface="+mn-ea"/>
          <a:cs typeface="+mn-cs"/>
        </a:defRPr>
      </a:lvl3pPr>
      <a:lvl4pPr marL="514350" indent="-173038" algn="l" defTabSz="914400" rtl="0" eaLnBrk="1" fontAlgn="ctr" latinLnBrk="0" hangingPunct="1">
        <a:lnSpc>
          <a:spcPct val="100000"/>
        </a:lnSpc>
        <a:spcBef>
          <a:spcPts val="0"/>
        </a:spcBef>
        <a:spcAft>
          <a:spcPts val="1200"/>
        </a:spcAft>
        <a:buFont typeface="Trust Hartford Sans Light" pitchFamily="50" charset="0"/>
        <a:buChar char="»"/>
        <a:defRPr sz="1800" kern="1200">
          <a:solidFill>
            <a:srgbClr val="000000"/>
          </a:solidFill>
          <a:latin typeface="+mn-lt"/>
          <a:ea typeface="+mn-ea"/>
          <a:cs typeface="+mn-cs"/>
        </a:defRPr>
      </a:lvl4pPr>
      <a:lvl5pPr marL="800100" indent="-227013" algn="l" defTabSz="914400" rtl="0" eaLnBrk="1" fontAlgn="ctr" latinLnBrk="0" hangingPunct="1">
        <a:lnSpc>
          <a:spcPct val="100000"/>
        </a:lnSpc>
        <a:spcBef>
          <a:spcPts val="0"/>
        </a:spcBef>
        <a:spcAft>
          <a:spcPts val="600"/>
        </a:spcAft>
        <a:buFont typeface="Trust Hartford Sans" pitchFamily="50" charset="0"/>
        <a:buChar char="—"/>
        <a:defRPr sz="1400" kern="1200">
          <a:solidFill>
            <a:srgbClr val="000000"/>
          </a:solidFill>
          <a:latin typeface="+mn-lt"/>
          <a:ea typeface="+mn-ea"/>
          <a:cs typeface="+mn-cs"/>
        </a:defRPr>
      </a:lvl5pPr>
      <a:lvl6pPr marL="566928" indent="0" algn="l" defTabSz="914400" rtl="0" eaLnBrk="1" fontAlgn="ctr" latinLnBrk="0" hangingPunct="1">
        <a:lnSpc>
          <a:spcPct val="101000"/>
        </a:lnSpc>
        <a:spcBef>
          <a:spcPts val="0"/>
        </a:spcBef>
        <a:spcAft>
          <a:spcPts val="1200"/>
        </a:spcAft>
        <a:buFont typeface="Trust Hartford Sans" pitchFamily="50" charset="0"/>
        <a:buNone/>
        <a:defRPr sz="1200" kern="1200">
          <a:solidFill>
            <a:srgbClr val="000000"/>
          </a:solidFill>
          <a:latin typeface="+mn-lt"/>
          <a:ea typeface="+mn-ea"/>
          <a:cs typeface="+mn-cs"/>
        </a:defRPr>
      </a:lvl6pPr>
      <a:lvl7pPr marL="786384" indent="0" algn="l" defTabSz="914400" rtl="0" eaLnBrk="1" fontAlgn="ctr" latinLnBrk="0" hangingPunct="1">
        <a:lnSpc>
          <a:spcPct val="101000"/>
        </a:lnSpc>
        <a:spcBef>
          <a:spcPts val="0"/>
        </a:spcBef>
        <a:spcAft>
          <a:spcPts val="1200"/>
        </a:spcAft>
        <a:buFont typeface="Arial" panose="020B0604020202020204" pitchFamily="34" charset="0"/>
        <a:buNone/>
        <a:defRPr sz="1200" kern="1200">
          <a:solidFill>
            <a:srgbClr val="000000"/>
          </a:solidFill>
          <a:latin typeface="+mn-lt"/>
          <a:ea typeface="+mn-ea"/>
          <a:cs typeface="+mn-cs"/>
        </a:defRPr>
      </a:lvl7pPr>
      <a:lvl8pPr marL="969264" indent="0" algn="l" defTabSz="914400" rtl="0" eaLnBrk="1" fontAlgn="ctr" latinLnBrk="0" hangingPunct="1">
        <a:lnSpc>
          <a:spcPct val="101000"/>
        </a:lnSpc>
        <a:spcBef>
          <a:spcPts val="0"/>
        </a:spcBef>
        <a:spcAft>
          <a:spcPts val="1600"/>
        </a:spcAft>
        <a:buFont typeface="Trust Hartford Sans" pitchFamily="50" charset="0"/>
        <a:buNone/>
        <a:defRPr sz="1200" kern="1200">
          <a:solidFill>
            <a:srgbClr val="000000"/>
          </a:solidFill>
          <a:latin typeface="+mn-lt"/>
          <a:ea typeface="+mn-ea"/>
          <a:cs typeface="+mn-cs"/>
        </a:defRPr>
      </a:lvl8pPr>
      <a:lvl9pPr marL="1188720" indent="0" algn="l" defTabSz="914400" rtl="0" eaLnBrk="1" fontAlgn="ctr" latinLnBrk="0" hangingPunct="1">
        <a:lnSpc>
          <a:spcPct val="101000"/>
        </a:lnSpc>
        <a:spcBef>
          <a:spcPts val="0"/>
        </a:spcBef>
        <a:spcAft>
          <a:spcPts val="1600"/>
        </a:spcAft>
        <a:buFont typeface="Arial" panose="020B0604020202020204" pitchFamily="34" charset="0"/>
        <a:buNone/>
        <a:defRPr sz="1200" kern="1200">
          <a:solidFill>
            <a:srgbClr val="000000"/>
          </a:solidFill>
          <a:latin typeface="+mn-lt"/>
          <a:ea typeface="+mn-ea"/>
          <a:cs typeface="+mn-cs"/>
        </a:defRPr>
      </a:lvl9pPr>
    </p:bodyStyle>
    <p:otherStyle>
      <a:defPPr>
        <a:defRPr lang="en-US"/>
      </a:defPPr>
      <a:lvl1pPr marL="0" algn="l" defTabSz="914400" rtl="0" eaLnBrk="1" fontAlgn="ctr" latinLnBrk="0" hangingPunct="1">
        <a:defRPr sz="1200" kern="1200">
          <a:solidFill>
            <a:schemeClr val="tx1"/>
          </a:solidFill>
          <a:latin typeface="+mn-lt"/>
          <a:ea typeface="+mn-ea"/>
          <a:cs typeface="+mn-cs"/>
        </a:defRPr>
      </a:lvl1pPr>
      <a:lvl2pPr marL="0" algn="l" defTabSz="914400" rtl="0" eaLnBrk="1" fontAlgn="ctr" latinLnBrk="0" hangingPunct="1">
        <a:defRPr sz="1200" kern="1200">
          <a:solidFill>
            <a:schemeClr val="tx1"/>
          </a:solidFill>
          <a:latin typeface="+mn-lt"/>
          <a:ea typeface="+mn-ea"/>
          <a:cs typeface="+mn-cs"/>
        </a:defRPr>
      </a:lvl2pPr>
      <a:lvl3pPr marL="0" algn="l" defTabSz="914400" rtl="0" eaLnBrk="1" fontAlgn="ctr" latinLnBrk="0" hangingPunct="1">
        <a:defRPr sz="1200" kern="1200">
          <a:solidFill>
            <a:schemeClr val="tx1"/>
          </a:solidFill>
          <a:latin typeface="+mn-lt"/>
          <a:ea typeface="+mn-ea"/>
          <a:cs typeface="+mn-cs"/>
        </a:defRPr>
      </a:lvl3pPr>
      <a:lvl4pPr marL="0" algn="l" defTabSz="914400" rtl="0" eaLnBrk="1" fontAlgn="ctr" latinLnBrk="0" hangingPunct="1">
        <a:defRPr sz="1200" kern="1200">
          <a:solidFill>
            <a:schemeClr val="tx1"/>
          </a:solidFill>
          <a:latin typeface="+mn-lt"/>
          <a:ea typeface="+mn-ea"/>
          <a:cs typeface="+mn-cs"/>
        </a:defRPr>
      </a:lvl4pPr>
      <a:lvl5pPr marL="0" algn="l" defTabSz="914400" rtl="0" eaLnBrk="1" fontAlgn="ctr" latinLnBrk="0" hangingPunct="1">
        <a:defRPr sz="1200" kern="1200">
          <a:solidFill>
            <a:schemeClr val="tx1"/>
          </a:solidFill>
          <a:latin typeface="+mn-lt"/>
          <a:ea typeface="+mn-ea"/>
          <a:cs typeface="+mn-cs"/>
        </a:defRPr>
      </a:lvl5pPr>
      <a:lvl6pPr marL="0" algn="l" defTabSz="914400" rtl="0" eaLnBrk="1" fontAlgn="ctr" latinLnBrk="0" hangingPunct="1">
        <a:defRPr sz="1200" kern="1200">
          <a:solidFill>
            <a:schemeClr val="tx1"/>
          </a:solidFill>
          <a:latin typeface="+mn-lt"/>
          <a:ea typeface="+mn-ea"/>
          <a:cs typeface="+mn-cs"/>
        </a:defRPr>
      </a:lvl6pPr>
      <a:lvl7pPr marL="0" algn="l" defTabSz="914400" rtl="0" eaLnBrk="1" fontAlgn="ctr" latinLnBrk="0" hangingPunct="1">
        <a:defRPr sz="1200" kern="1200">
          <a:solidFill>
            <a:schemeClr val="tx1"/>
          </a:solidFill>
          <a:latin typeface="+mn-lt"/>
          <a:ea typeface="+mn-ea"/>
          <a:cs typeface="+mn-cs"/>
        </a:defRPr>
      </a:lvl7pPr>
      <a:lvl8pPr marL="0" algn="l" defTabSz="914400" rtl="0" eaLnBrk="1" fontAlgn="ctr" latinLnBrk="0" hangingPunct="1">
        <a:defRPr sz="1200" kern="1200">
          <a:solidFill>
            <a:schemeClr val="tx1"/>
          </a:solidFill>
          <a:latin typeface="+mn-lt"/>
          <a:ea typeface="+mn-ea"/>
          <a:cs typeface="+mn-cs"/>
        </a:defRPr>
      </a:lvl8pPr>
      <a:lvl9pPr marL="0" algn="l" defTabSz="914400" rtl="0" eaLnBrk="1" fontAlgn="ctr"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60">
          <p15:clr>
            <a:srgbClr val="F26B43"/>
          </p15:clr>
        </p15:guide>
        <p15:guide id="3" pos="3720">
          <p15:clr>
            <a:srgbClr val="F26B43"/>
          </p15:clr>
        </p15:guide>
        <p15:guide id="4" pos="7320">
          <p15:clr>
            <a:srgbClr val="F26B43"/>
          </p15:clr>
        </p15:guide>
        <p15:guide id="5" orient="horz" pos="3840">
          <p15:clr>
            <a:srgbClr val="F26B43"/>
          </p15:clr>
        </p15:guide>
        <p15:guide id="6" orient="horz" pos="798">
          <p15:clr>
            <a:srgbClr val="F26B43"/>
          </p15:clr>
        </p15:guide>
        <p15:guide id="7" pos="39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microsoft.com/office/2018/10/relationships/comments" Target="../comments/modernComment_106_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microsoft.com/office/2018/10/relationships/comments" Target="../comments/modernComment_118_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NYC Taxi Data Platform</a:t>
            </a:r>
          </a:p>
          <a:p>
            <a:r>
              <a:rPr sz="1800" i="1"/>
              <a:t>How does adverse weather affect taxi demand across NYC boroughs?</a:t>
            </a:r>
          </a:p>
        </p:txBody>
      </p:sp>
      <p:sp>
        <p:nvSpPr>
          <p:cNvPr id="3" name="Subtitle 2"/>
          <p:cNvSpPr>
            <a:spLocks noGrp="1"/>
          </p:cNvSpPr>
          <p:nvPr>
            <p:ph type="subTitle" idx="1"/>
          </p:nvPr>
        </p:nvSpPr>
        <p:spPr>
          <a:xfrm>
            <a:off x="574674" y="5394222"/>
            <a:ext cx="4572000" cy="553998"/>
          </a:xfrm>
        </p:spPr>
        <p:txBody>
          <a:bodyPr/>
          <a:lstStyle/>
          <a:p>
            <a:r>
              <a:rPr dirty="0"/>
              <a:t>Team AMO: </a:t>
            </a:r>
            <a:r>
              <a:rPr lang="en-US" dirty="0"/>
              <a:t>Ariana Lopez, Maryam</a:t>
            </a:r>
            <a:r>
              <a:rPr dirty="0"/>
              <a:t> </a:t>
            </a:r>
            <a:r>
              <a:t>Choudhury,</a:t>
            </a:r>
            <a:r>
              <a:rPr lang="en-US"/>
              <a:t> Orlando</a:t>
            </a:r>
            <a:r>
              <a:rPr dirty="0"/>
              <a:t> Marin</a:t>
            </a:r>
          </a:p>
        </p:txBody>
      </p:sp>
      <p:pic>
        <p:nvPicPr>
          <p:cNvPr id="5" name="Picture 4">
            <a:extLst>
              <a:ext uri="{FF2B5EF4-FFF2-40B4-BE49-F238E27FC236}">
                <a16:creationId xmlns:a16="http://schemas.microsoft.com/office/drawing/2014/main" id="{77CD915C-1B5B-C835-82B5-54F2CDC1C757}"/>
              </a:ext>
            </a:extLst>
          </p:cNvPr>
          <p:cNvPicPr>
            <a:picLocks noChangeAspect="1"/>
          </p:cNvPicPr>
          <p:nvPr/>
        </p:nvPicPr>
        <p:blipFill>
          <a:blip r:embed="rId3"/>
          <a:stretch>
            <a:fillRect/>
          </a:stretch>
        </p:blipFill>
        <p:spPr>
          <a:xfrm>
            <a:off x="9514024" y="4267200"/>
            <a:ext cx="2092960" cy="2153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Topics of Discussion</a:t>
            </a:r>
          </a:p>
        </p:txBody>
      </p:sp>
      <p:sp>
        <p:nvSpPr>
          <p:cNvPr id="3" name="Content Placeholder 2"/>
          <p:cNvSpPr>
            <a:spLocks noGrp="1"/>
          </p:cNvSpPr>
          <p:nvPr>
            <p:ph idx="1"/>
          </p:nvPr>
        </p:nvSpPr>
        <p:spPr/>
        <p:txBody>
          <a:bodyPr/>
          <a:lstStyle/>
          <a:p>
            <a:endParaRPr/>
          </a:p>
        </p:txBody>
      </p:sp>
      <p:sp>
        <p:nvSpPr>
          <p:cNvPr id="4" name="TextBox 3"/>
          <p:cNvSpPr txBox="1"/>
          <p:nvPr/>
        </p:nvSpPr>
        <p:spPr>
          <a:xfrm>
            <a:off x="800000" y="1200000"/>
            <a:ext cx="600000" cy="700000"/>
          </a:xfrm>
          <a:prstGeom prst="rect">
            <a:avLst/>
          </a:prstGeom>
          <a:noFill/>
        </p:spPr>
        <p:txBody>
          <a:bodyPr wrap="none">
            <a:spAutoFit/>
          </a:bodyPr>
          <a:lstStyle/>
          <a:p>
            <a:r>
              <a:rPr sz="4800">
                <a:solidFill>
                  <a:srgbClr val="FE3082"/>
                </a:solidFill>
              </a:rPr>
              <a:t>1</a:t>
            </a:r>
          </a:p>
        </p:txBody>
      </p:sp>
      <p:sp>
        <p:nvSpPr>
          <p:cNvPr id="5" name="TextBox 4"/>
          <p:cNvSpPr txBox="1"/>
          <p:nvPr/>
        </p:nvSpPr>
        <p:spPr>
          <a:xfrm>
            <a:off x="1600000" y="1350000"/>
            <a:ext cx="9000000" cy="500000"/>
          </a:xfrm>
          <a:prstGeom prst="rect">
            <a:avLst/>
          </a:prstGeom>
          <a:noFill/>
        </p:spPr>
        <p:txBody>
          <a:bodyPr wrap="none">
            <a:spAutoFit/>
          </a:bodyPr>
          <a:lstStyle/>
          <a:p>
            <a:r>
              <a:rPr sz="1800" b="1">
                <a:solidFill>
                  <a:srgbClr val="2D2D2D"/>
                </a:solidFill>
              </a:rPr>
              <a:t>The Finding and Why It Matters</a:t>
            </a:r>
          </a:p>
        </p:txBody>
      </p:sp>
      <p:sp>
        <p:nvSpPr>
          <p:cNvPr id="6" name="TextBox 5"/>
          <p:cNvSpPr txBox="1"/>
          <p:nvPr/>
        </p:nvSpPr>
        <p:spPr>
          <a:xfrm>
            <a:off x="800000" y="2050000"/>
            <a:ext cx="600000" cy="700000"/>
          </a:xfrm>
          <a:prstGeom prst="rect">
            <a:avLst/>
          </a:prstGeom>
          <a:noFill/>
        </p:spPr>
        <p:txBody>
          <a:bodyPr wrap="none">
            <a:spAutoFit/>
          </a:bodyPr>
          <a:lstStyle/>
          <a:p>
            <a:r>
              <a:rPr sz="4800">
                <a:solidFill>
                  <a:srgbClr val="FE3082"/>
                </a:solidFill>
              </a:rPr>
              <a:t>2</a:t>
            </a:r>
          </a:p>
        </p:txBody>
      </p:sp>
      <p:sp>
        <p:nvSpPr>
          <p:cNvPr id="7" name="TextBox 6"/>
          <p:cNvSpPr txBox="1"/>
          <p:nvPr/>
        </p:nvSpPr>
        <p:spPr>
          <a:xfrm>
            <a:off x="1600000" y="2200000"/>
            <a:ext cx="9000000" cy="500000"/>
          </a:xfrm>
          <a:prstGeom prst="rect">
            <a:avLst/>
          </a:prstGeom>
          <a:noFill/>
        </p:spPr>
        <p:txBody>
          <a:bodyPr wrap="none">
            <a:spAutoFit/>
          </a:bodyPr>
          <a:lstStyle/>
          <a:p>
            <a:r>
              <a:rPr sz="1800" b="1">
                <a:solidFill>
                  <a:srgbClr val="2D2D2D"/>
                </a:solidFill>
              </a:rPr>
              <a:t>Data and Architecture</a:t>
            </a:r>
          </a:p>
        </p:txBody>
      </p:sp>
      <p:sp>
        <p:nvSpPr>
          <p:cNvPr id="8" name="TextBox 7"/>
          <p:cNvSpPr txBox="1"/>
          <p:nvPr/>
        </p:nvSpPr>
        <p:spPr>
          <a:xfrm>
            <a:off x="800000" y="2900000"/>
            <a:ext cx="600000" cy="700000"/>
          </a:xfrm>
          <a:prstGeom prst="rect">
            <a:avLst/>
          </a:prstGeom>
          <a:noFill/>
        </p:spPr>
        <p:txBody>
          <a:bodyPr wrap="none">
            <a:spAutoFit/>
          </a:bodyPr>
          <a:lstStyle/>
          <a:p>
            <a:r>
              <a:rPr sz="4800">
                <a:solidFill>
                  <a:srgbClr val="FE3082"/>
                </a:solidFill>
              </a:rPr>
              <a:t>3</a:t>
            </a:r>
          </a:p>
        </p:txBody>
      </p:sp>
      <p:sp>
        <p:nvSpPr>
          <p:cNvPr id="9" name="TextBox 8"/>
          <p:cNvSpPr txBox="1"/>
          <p:nvPr/>
        </p:nvSpPr>
        <p:spPr>
          <a:xfrm>
            <a:off x="1600000" y="3050000"/>
            <a:ext cx="9000000" cy="500000"/>
          </a:xfrm>
          <a:prstGeom prst="rect">
            <a:avLst/>
          </a:prstGeom>
          <a:noFill/>
        </p:spPr>
        <p:txBody>
          <a:bodyPr wrap="none">
            <a:spAutoFit/>
          </a:bodyPr>
          <a:lstStyle/>
          <a:p>
            <a:r>
              <a:rPr sz="1800" b="1">
                <a:solidFill>
                  <a:srgbClr val="2D2D2D"/>
                </a:solidFill>
              </a:rPr>
              <a:t>Data Quality</a:t>
            </a:r>
          </a:p>
        </p:txBody>
      </p:sp>
      <p:sp>
        <p:nvSpPr>
          <p:cNvPr id="10" name="TextBox 9"/>
          <p:cNvSpPr txBox="1"/>
          <p:nvPr/>
        </p:nvSpPr>
        <p:spPr>
          <a:xfrm>
            <a:off x="800000" y="3750000"/>
            <a:ext cx="600000" cy="700000"/>
          </a:xfrm>
          <a:prstGeom prst="rect">
            <a:avLst/>
          </a:prstGeom>
          <a:noFill/>
        </p:spPr>
        <p:txBody>
          <a:bodyPr wrap="none">
            <a:spAutoFit/>
          </a:bodyPr>
          <a:lstStyle/>
          <a:p>
            <a:r>
              <a:rPr sz="4800">
                <a:solidFill>
                  <a:srgbClr val="FE3082"/>
                </a:solidFill>
              </a:rPr>
              <a:t>4</a:t>
            </a:r>
          </a:p>
        </p:txBody>
      </p:sp>
      <p:sp>
        <p:nvSpPr>
          <p:cNvPr id="11" name="TextBox 10"/>
          <p:cNvSpPr txBox="1"/>
          <p:nvPr/>
        </p:nvSpPr>
        <p:spPr>
          <a:xfrm>
            <a:off x="1600000" y="3900000"/>
            <a:ext cx="9000000" cy="500000"/>
          </a:xfrm>
          <a:prstGeom prst="rect">
            <a:avLst/>
          </a:prstGeom>
          <a:noFill/>
        </p:spPr>
        <p:txBody>
          <a:bodyPr wrap="none">
            <a:spAutoFit/>
          </a:bodyPr>
          <a:lstStyle/>
          <a:p>
            <a:r>
              <a:rPr sz="1800" b="1">
                <a:solidFill>
                  <a:srgbClr val="2D2D2D"/>
                </a:solidFill>
              </a:rPr>
              <a:t>Year-over-Year Analysis</a:t>
            </a:r>
          </a:p>
        </p:txBody>
      </p:sp>
      <p:sp>
        <p:nvSpPr>
          <p:cNvPr id="12" name="TextBox 11"/>
          <p:cNvSpPr txBox="1"/>
          <p:nvPr/>
        </p:nvSpPr>
        <p:spPr>
          <a:xfrm>
            <a:off x="800000" y="4600000"/>
            <a:ext cx="600000" cy="700000"/>
          </a:xfrm>
          <a:prstGeom prst="rect">
            <a:avLst/>
          </a:prstGeom>
          <a:noFill/>
        </p:spPr>
        <p:txBody>
          <a:bodyPr wrap="none">
            <a:spAutoFit/>
          </a:bodyPr>
          <a:lstStyle/>
          <a:p>
            <a:r>
              <a:rPr sz="4800">
                <a:solidFill>
                  <a:srgbClr val="FE3082"/>
                </a:solidFill>
              </a:rPr>
              <a:t>5</a:t>
            </a:r>
          </a:p>
        </p:txBody>
      </p:sp>
      <p:sp>
        <p:nvSpPr>
          <p:cNvPr id="13" name="TextBox 12"/>
          <p:cNvSpPr txBox="1"/>
          <p:nvPr/>
        </p:nvSpPr>
        <p:spPr>
          <a:xfrm>
            <a:off x="1600000" y="4750000"/>
            <a:ext cx="9000000" cy="500000"/>
          </a:xfrm>
          <a:prstGeom prst="rect">
            <a:avLst/>
          </a:prstGeom>
          <a:noFill/>
        </p:spPr>
        <p:txBody>
          <a:bodyPr wrap="none">
            <a:spAutoFit/>
          </a:bodyPr>
          <a:lstStyle/>
          <a:p>
            <a:r>
              <a:rPr sz="1800" b="1">
                <a:solidFill>
                  <a:srgbClr val="2D2D2D"/>
                </a:solidFill>
              </a:rPr>
              <a:t>Technical Deep Dive</a:t>
            </a:r>
          </a:p>
        </p:txBody>
      </p:sp>
      <p:sp>
        <p:nvSpPr>
          <p:cNvPr id="14" name="TextBox 13"/>
          <p:cNvSpPr txBox="1"/>
          <p:nvPr/>
        </p:nvSpPr>
        <p:spPr>
          <a:xfrm>
            <a:off x="800000" y="5450000"/>
            <a:ext cx="600000" cy="700000"/>
          </a:xfrm>
          <a:prstGeom prst="rect">
            <a:avLst/>
          </a:prstGeom>
          <a:noFill/>
        </p:spPr>
        <p:txBody>
          <a:bodyPr wrap="none">
            <a:spAutoFit/>
          </a:bodyPr>
          <a:lstStyle/>
          <a:p>
            <a:r>
              <a:rPr sz="4800">
                <a:solidFill>
                  <a:srgbClr val="FE3082"/>
                </a:solidFill>
              </a:rPr>
              <a:t>6</a:t>
            </a:r>
          </a:p>
        </p:txBody>
      </p:sp>
      <p:sp>
        <p:nvSpPr>
          <p:cNvPr id="15" name="TextBox 14"/>
          <p:cNvSpPr txBox="1"/>
          <p:nvPr/>
        </p:nvSpPr>
        <p:spPr>
          <a:xfrm>
            <a:off x="1600000" y="5600000"/>
            <a:ext cx="9000000" cy="500000"/>
          </a:xfrm>
          <a:prstGeom prst="rect">
            <a:avLst/>
          </a:prstGeom>
          <a:noFill/>
        </p:spPr>
        <p:txBody>
          <a:bodyPr wrap="none">
            <a:spAutoFit/>
          </a:bodyPr>
          <a:lstStyle/>
          <a:p>
            <a:r>
              <a:rPr sz="1800" b="1">
                <a:solidFill>
                  <a:srgbClr val="2D2D2D"/>
                </a:solidFill>
              </a:rPr>
              <a:t>Future State and Recommendation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1</a:t>
            </a:r>
          </a:p>
        </p:txBody>
      </p:sp>
      <p:sp>
        <p:nvSpPr>
          <p:cNvPr id="4" name="Subtitle 3"/>
          <p:cNvSpPr>
            <a:spLocks noGrp="1"/>
          </p:cNvSpPr>
          <p:nvPr>
            <p:ph type="subTitle" idx="1"/>
          </p:nvPr>
        </p:nvSpPr>
        <p:spPr/>
        <p:txBody>
          <a:bodyPr/>
          <a:lstStyle/>
          <a:p>
            <a:r>
              <a:t>The Finding and Why It Matters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Headline Finding</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2D2D2D"/>
                </a:solidFill>
              </a:rPr>
              <a:t>[STATE THE YEAR-OVER-YEAR FINDING IN ONE SENTENCE]</a:t>
            </a:r>
          </a:p>
          <a:p>
            <a:pPr algn="ctr"/>
            <a:r>
              <a:rPr sz="1400" i="1">
                <a:solidFill>
                  <a:srgbClr val="555555"/>
                </a:solidFill>
              </a:rPr>
              <a:t>e.g., During adverse weather, trips dropped X% in outer boroughs but only Y% in Manhattan</a:t>
            </a:r>
          </a:p>
        </p:txBody>
      </p:sp>
      <p:sp>
        <p:nvSpPr>
          <p:cNvPr id="6" name="Rounded Rectangle 5"/>
          <p:cNvSpPr/>
          <p:nvPr/>
        </p:nvSpPr>
        <p:spPr>
          <a:xfrm>
            <a:off x="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38M+</a:t>
            </a:r>
          </a:p>
          <a:p>
            <a:pPr algn="ctr"/>
            <a:r>
              <a:rPr sz="1200">
                <a:solidFill>
                  <a:srgbClr val="555555"/>
                </a:solidFill>
              </a:rPr>
              <a:t>Trip Records Analyzed</a:t>
            </a:r>
          </a:p>
        </p:txBody>
      </p:sp>
      <p:sp>
        <p:nvSpPr>
          <p:cNvPr id="7" name="Rounded Rectangle 6"/>
          <p:cNvSpPr/>
          <p:nvPr/>
        </p:nvSpPr>
        <p:spPr>
          <a:xfrm>
            <a:off x="4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10 months</a:t>
            </a:r>
          </a:p>
          <a:p>
            <a:pPr algn="ctr"/>
            <a:r>
              <a:rPr sz="1200">
                <a:solidFill>
                  <a:srgbClr val="555555"/>
                </a:solidFill>
              </a:rPr>
              <a:t>Jan-May 2025 vs 2026</a:t>
            </a:r>
          </a:p>
        </p:txBody>
      </p:sp>
      <p:sp>
        <p:nvSpPr>
          <p:cNvPr id="8" name="Rounded Rectangle 7"/>
          <p:cNvSpPr/>
          <p:nvPr/>
        </p:nvSpPr>
        <p:spPr>
          <a:xfrm>
            <a:off x="8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800" b="1">
                <a:solidFill>
                  <a:srgbClr val="0D47A1"/>
                </a:solidFill>
              </a:rPr>
              <a:t>5 boroughs</a:t>
            </a:r>
          </a:p>
          <a:p>
            <a:pPr algn="ctr"/>
            <a:r>
              <a:rPr sz="1200">
                <a:solidFill>
                  <a:srgbClr val="555555"/>
                </a:solidFill>
              </a:rPr>
              <a:t>Weather Impact Compared</a:t>
            </a:r>
          </a:p>
        </p:txBody>
      </p:sp>
      <p:sp>
        <p:nvSpPr>
          <p:cNvPr id="9" name="Rounded Rectangle 8"/>
          <p:cNvSpPr/>
          <p:nvPr/>
        </p:nvSpPr>
        <p:spPr>
          <a:xfrm>
            <a:off x="400000" y="4600000"/>
            <a:ext cx="11400000" cy="1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Key Insight: [One sentence connecting the finding to a business recommendation]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Business Question</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2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0D47A1"/>
                </a:solidFill>
              </a:rPr>
              <a:t>How does adverse weather affect taxi demand across NYC boroughs,</a:t>
            </a:r>
          </a:p>
          <a:p>
            <a:pPr algn="ctr"/>
            <a:r>
              <a:rPr sz="2000" b="1">
                <a:solidFill>
                  <a:srgbClr val="0D47A1"/>
                </a:solidFill>
              </a:rPr>
              <a:t>and how did those patterns shift between 2025 and 2026?</a:t>
            </a:r>
          </a:p>
        </p:txBody>
      </p:sp>
      <p:sp>
        <p:nvSpPr>
          <p:cNvPr id="6" name="Rounded Rectangle 5"/>
          <p:cNvSpPr/>
          <p:nvPr/>
        </p:nvSpPr>
        <p:spPr>
          <a:xfrm>
            <a:off x="400000" y="2600000"/>
            <a:ext cx="5400000" cy="22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Why It Matters</a:t>
            </a:r>
          </a:p>
          <a:p>
            <a:pPr>
              <a:spcBef>
                <a:spcPts val="600"/>
              </a:spcBef>
            </a:pPr>
            <a:r>
              <a:rPr sz="1300">
                <a:solidFill>
                  <a:srgbClr val="2D2D2D"/>
                </a:solidFill>
              </a:rPr>
              <a:t>•  Fleet operators need to know where demand drops during storms</a:t>
            </a:r>
          </a:p>
          <a:p>
            <a:pPr>
              <a:spcBef>
                <a:spcPts val="600"/>
              </a:spcBef>
            </a:pPr>
            <a:r>
              <a:rPr sz="1300">
                <a:solidFill>
                  <a:srgbClr val="2D2D2D"/>
                </a:solidFill>
              </a:rPr>
              <a:t>•  Surge pricing decisions depend on weather sensitivity by zone</a:t>
            </a:r>
          </a:p>
          <a:p>
            <a:pPr>
              <a:spcBef>
                <a:spcPts val="600"/>
              </a:spcBef>
            </a:pPr>
            <a:r>
              <a:rPr sz="1300">
                <a:solidFill>
                  <a:srgbClr val="2D2D2D"/>
                </a:solidFill>
              </a:rPr>
              <a:t>•  NYC TLC planning benefits from quantified weather impact</a:t>
            </a:r>
          </a:p>
        </p:txBody>
      </p:sp>
      <p:sp>
        <p:nvSpPr>
          <p:cNvPr id="7" name="Rounded Rectangle 6"/>
          <p:cNvSpPr/>
          <p:nvPr/>
        </p:nvSpPr>
        <p:spPr>
          <a:xfrm>
            <a:off x="6100000" y="2600000"/>
            <a:ext cx="5700000" cy="22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Scope</a:t>
            </a:r>
          </a:p>
          <a:p>
            <a:pPr>
              <a:spcBef>
                <a:spcPts val="600"/>
              </a:spcBef>
            </a:pPr>
            <a:r>
              <a:rPr sz="1300">
                <a:solidFill>
                  <a:srgbClr val="2D2D2D"/>
                </a:solidFill>
              </a:rPr>
              <a:t>•  Yellow + Green taxi, Jan-May 2025 vs Jan-May 2026</a:t>
            </a:r>
          </a:p>
          <a:p>
            <a:pPr>
              <a:spcBef>
                <a:spcPts val="600"/>
              </a:spcBef>
            </a:pPr>
            <a:r>
              <a:rPr sz="1300">
                <a:solidFill>
                  <a:srgbClr val="2D2D2D"/>
                </a:solidFill>
              </a:rPr>
              <a:t>•  39.2 million trip records from S3</a:t>
            </a:r>
          </a:p>
          <a:p>
            <a:pPr>
              <a:spcBef>
                <a:spcPts val="600"/>
              </a:spcBef>
            </a:pPr>
            <a:r>
              <a:rPr sz="1300">
                <a:solidFill>
                  <a:srgbClr val="2D2D2D"/>
                </a:solidFill>
              </a:rPr>
              <a:t>•  Weather enrichment: hourly NYC conditions</a:t>
            </a:r>
          </a:p>
          <a:p>
            <a:pPr>
              <a:spcBef>
                <a:spcPts val="600"/>
              </a:spcBef>
            </a:pPr>
            <a:r>
              <a:rPr sz="1300">
                <a:solidFill>
                  <a:srgbClr val="2D2D2D"/>
                </a:solidFill>
              </a:rPr>
              <a:t>•  265 taxi zones mapped to 5 boroughs</a:t>
            </a:r>
          </a:p>
        </p:txBody>
      </p:sp>
      <p:sp>
        <p:nvSpPr>
          <p:cNvPr id="8" name="Rounded Rectangle 7"/>
          <p:cNvSpPr/>
          <p:nvPr/>
        </p:nvSpPr>
        <p:spPr>
          <a:xfrm>
            <a:off x="400000" y="5100000"/>
            <a:ext cx="11400000" cy="10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D2D2D"/>
                </a:solidFill>
              </a:rPr>
              <a:t>How We Know We Answered It: </a:t>
            </a:r>
            <a:r>
              <a:rPr sz="1400">
                <a:solidFill>
                  <a:srgbClr val="2D2D2D"/>
                </a:solidFill>
              </a:rPr>
              <a:t>Pre-aggregated mart (34,719 rows) with trip counts, revenue, and duration by borough, weather, and year. Same months, same filters, fair comparison.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2</a:t>
            </a:r>
          </a:p>
        </p:txBody>
      </p:sp>
      <p:sp>
        <p:nvSpPr>
          <p:cNvPr id="4" name="Subtitle 3"/>
          <p:cNvSpPr>
            <a:spLocks noGrp="1"/>
          </p:cNvSpPr>
          <p:nvPr>
            <p:ph type="subTitle" idx="1"/>
          </p:nvPr>
        </p:nvSpPr>
        <p:spPr/>
        <p:txBody>
          <a:bodyPr/>
          <a:lstStyle/>
          <a:p>
            <a:r>
              <a:t>Data and 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Data</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3411366" cy="3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0D47A1"/>
                </a:solidFill>
              </a:rPr>
              <a:t>What We Were Given</a:t>
            </a:r>
          </a:p>
          <a:p>
            <a:pPr algn="ctr"/>
            <a:endParaRPr lang="en-US" sz="1600" b="1" dirty="0">
              <a:solidFill>
                <a:srgbClr val="0D47A1"/>
              </a:solidFill>
            </a:endParaRPr>
          </a:p>
          <a:p>
            <a:pPr>
              <a:spcBef>
                <a:spcPts val="800"/>
              </a:spcBef>
            </a:pPr>
            <a:r>
              <a:rPr sz="1300">
                <a:solidFill>
                  <a:srgbClr val="2D2D2D"/>
                </a:solidFill>
              </a:rPr>
              <a:t>•  20 Parquet files in S3</a:t>
            </a:r>
          </a:p>
          <a:p>
            <a:pPr>
              <a:spcBef>
                <a:spcPts val="800"/>
              </a:spcBef>
            </a:pPr>
            <a:r>
              <a:rPr sz="1300" dirty="0">
                <a:solidFill>
                  <a:srgbClr val="2D2D2D"/>
                </a:solidFill>
              </a:rPr>
              <a:t>•  Yellow: </a:t>
            </a:r>
            <a:r>
              <a:rPr lang="en-US" sz="1300">
                <a:solidFill>
                  <a:srgbClr val="2D2D2D"/>
                </a:solidFill>
              </a:rPr>
              <a:t>38.8M</a:t>
            </a:r>
            <a:r>
              <a:rPr sz="1300" dirty="0">
                <a:solidFill>
                  <a:srgbClr val="2D2D2D"/>
                </a:solidFill>
              </a:rPr>
              <a:t> rows</a:t>
            </a:r>
          </a:p>
          <a:p>
            <a:pPr>
              <a:spcBef>
                <a:spcPts val="800"/>
              </a:spcBef>
            </a:pPr>
            <a:r>
              <a:rPr sz="1300">
                <a:solidFill>
                  <a:srgbClr val="2D2D2D"/>
                </a:solidFill>
              </a:rPr>
              <a:t>•  Green: </a:t>
            </a:r>
            <a:r>
              <a:rPr lang="en-US" sz="1300">
                <a:solidFill>
                  <a:srgbClr val="2D2D2D"/>
                </a:solidFill>
              </a:rPr>
              <a:t>465K rows</a:t>
            </a:r>
            <a:endParaRPr sz="1300">
              <a:solidFill>
                <a:srgbClr val="2D2D2D"/>
              </a:solidFill>
            </a:endParaRPr>
          </a:p>
          <a:p>
            <a:pPr>
              <a:spcBef>
                <a:spcPts val="800"/>
              </a:spcBef>
            </a:pPr>
            <a:r>
              <a:rPr sz="1300" dirty="0">
                <a:solidFill>
                  <a:srgbClr val="2D2D2D"/>
                </a:solidFill>
              </a:rPr>
              <a:t>•  </a:t>
            </a:r>
            <a:r>
              <a:rPr lang="en-US" sz="1300">
                <a:solidFill>
                  <a:srgbClr val="2D2D2D"/>
                </a:solidFill>
              </a:rPr>
              <a:t>Jan-May 2025 &amp; 2026</a:t>
            </a:r>
            <a:endParaRPr sz="1300">
              <a:solidFill>
                <a:srgbClr val="2D2D2D"/>
              </a:solidFill>
            </a:endParaRPr>
          </a:p>
          <a:p>
            <a:pPr>
              <a:spcBef>
                <a:spcPts val="800"/>
              </a:spcBef>
            </a:pPr>
            <a:r>
              <a:rPr sz="1300">
                <a:solidFill>
                  <a:srgbClr val="2D2D2D"/>
                </a:solidFill>
              </a:rPr>
              <a:t>•  </a:t>
            </a:r>
            <a:r>
              <a:rPr lang="en-US" sz="1300">
                <a:solidFill>
                  <a:srgbClr val="2D2D2D"/>
                </a:solidFill>
              </a:rPr>
              <a:t>265 taxi zones</a:t>
            </a:r>
            <a:endParaRPr sz="1300">
              <a:solidFill>
                <a:srgbClr val="2D2D2D"/>
              </a:solidFill>
            </a:endParaRPr>
          </a:p>
        </p:txBody>
      </p:sp>
      <p:sp>
        <p:nvSpPr>
          <p:cNvPr id="6" name="Rounded Rectangle 5"/>
          <p:cNvSpPr/>
          <p:nvPr/>
        </p:nvSpPr>
        <p:spPr>
          <a:xfrm>
            <a:off x="4297219" y="1100000"/>
            <a:ext cx="3404709" cy="3497926"/>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2E7D32"/>
                </a:solidFill>
              </a:rPr>
              <a:t>What We Added</a:t>
            </a:r>
          </a:p>
          <a:p>
            <a:pPr algn="ctr"/>
            <a:endParaRPr lang="en-US" sz="1600" b="1" dirty="0">
              <a:solidFill>
                <a:srgbClr val="2E7D32"/>
              </a:solidFill>
            </a:endParaRPr>
          </a:p>
          <a:p>
            <a:pPr marL="285750" indent="-285750">
              <a:spcBef>
                <a:spcPts val="800"/>
              </a:spcBef>
              <a:buFont typeface="Arial,Sans-Serif"/>
              <a:buChar char="•"/>
            </a:pPr>
            <a:r>
              <a:rPr lang="en-US" sz="1300" dirty="0">
                <a:solidFill>
                  <a:srgbClr val="2D2D2D"/>
                </a:solidFill>
              </a:rPr>
              <a:t>Open-</a:t>
            </a:r>
            <a:r>
              <a:rPr lang="en-US" sz="1300" dirty="0" err="1">
                <a:solidFill>
                  <a:srgbClr val="2D2D2D"/>
                </a:solidFill>
              </a:rPr>
              <a:t>Meteo</a:t>
            </a:r>
            <a:r>
              <a:rPr lang="en-US" sz="1300" dirty="0">
                <a:solidFill>
                  <a:srgbClr val="2D2D2D"/>
                </a:solidFill>
              </a:rPr>
              <a:t> Historical Weather API</a:t>
            </a:r>
            <a:endParaRPr lang="en-US" sz="1300" dirty="0">
              <a:solidFill>
                <a:srgbClr val="000000"/>
              </a:solidFill>
            </a:endParaRPr>
          </a:p>
          <a:p>
            <a:pPr marL="285750" indent="-285750">
              <a:spcBef>
                <a:spcPts val="800"/>
              </a:spcBef>
              <a:buFont typeface="Arial,Sans-Serif"/>
              <a:buChar char="•"/>
            </a:pPr>
            <a:r>
              <a:rPr lang="en-US" sz="1300">
                <a:solidFill>
                  <a:srgbClr val="2D2D2D"/>
                </a:solidFill>
              </a:rPr>
              <a:t>7,248 hourly records</a:t>
            </a:r>
            <a:endParaRPr lang="en-US" sz="1300">
              <a:solidFill>
                <a:srgbClr val="000000"/>
              </a:solidFill>
            </a:endParaRPr>
          </a:p>
          <a:p>
            <a:pPr marL="285750" indent="-285750">
              <a:spcBef>
                <a:spcPts val="800"/>
              </a:spcBef>
              <a:buFont typeface="Arial,Sans-Serif"/>
              <a:buChar char="•"/>
            </a:pPr>
            <a:r>
              <a:rPr lang="en-US" sz="1300">
                <a:solidFill>
                  <a:srgbClr val="2D2D2D"/>
                </a:solidFill>
              </a:rPr>
              <a:t>Temperature</a:t>
            </a:r>
            <a:endParaRPr lang="en-US" sz="1300" dirty="0">
              <a:solidFill>
                <a:srgbClr val="2D2D2D"/>
              </a:solidFill>
            </a:endParaRPr>
          </a:p>
          <a:p>
            <a:pPr marL="285750" indent="-285750">
              <a:spcBef>
                <a:spcPts val="800"/>
              </a:spcBef>
              <a:buFont typeface="Arial"/>
              <a:buChar char="•"/>
            </a:pPr>
            <a:r>
              <a:rPr lang="en-US" sz="1300">
                <a:solidFill>
                  <a:srgbClr val="2D2D2D"/>
                </a:solidFill>
              </a:rPr>
              <a:t>Precipitation</a:t>
            </a:r>
            <a:endParaRPr lang="en-US"/>
          </a:p>
          <a:p>
            <a:pPr marL="285750" indent="-285750">
              <a:spcBef>
                <a:spcPts val="800"/>
              </a:spcBef>
              <a:buFont typeface="Arial"/>
              <a:buChar char="•"/>
            </a:pPr>
            <a:r>
              <a:rPr lang="en-US" sz="1300">
                <a:solidFill>
                  <a:srgbClr val="2D2D2D"/>
                </a:solidFill>
              </a:rPr>
              <a:t>Wind</a:t>
            </a:r>
            <a:endParaRPr lang="en-US" sz="1300" dirty="0">
              <a:solidFill>
                <a:srgbClr val="2D2D2D"/>
              </a:solidFill>
            </a:endParaRPr>
          </a:p>
          <a:p>
            <a:pPr marL="285750" indent="-285750">
              <a:spcBef>
                <a:spcPts val="800"/>
              </a:spcBef>
              <a:buFont typeface="Arial"/>
              <a:buChar char="•"/>
            </a:pPr>
            <a:r>
              <a:rPr lang="en-US" sz="1300">
                <a:solidFill>
                  <a:srgbClr val="2D2D2D"/>
                </a:solidFill>
              </a:rPr>
              <a:t>Weather codes</a:t>
            </a:r>
            <a:endParaRPr lang="en-US" sz="1300" dirty="0">
              <a:solidFill>
                <a:srgbClr val="2D2D2D"/>
              </a:solidFill>
            </a:endParaRPr>
          </a:p>
          <a:p>
            <a:pPr>
              <a:spcBef>
                <a:spcPts val="800"/>
              </a:spcBef>
            </a:pPr>
            <a:endParaRPr lang="en-US" sz="1300" dirty="0">
              <a:solidFill>
                <a:srgbClr val="2D2D2D"/>
              </a:solidFill>
            </a:endParaRPr>
          </a:p>
        </p:txBody>
      </p:sp>
      <p:sp>
        <p:nvSpPr>
          <p:cNvPr id="7" name="Rounded Rectangle 6"/>
          <p:cNvSpPr/>
          <p:nvPr/>
        </p:nvSpPr>
        <p:spPr>
          <a:xfrm>
            <a:off x="8293073" y="1097220"/>
            <a:ext cx="3404708" cy="3502779"/>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lstStyle/>
          <a:p>
            <a:pPr algn="ctr"/>
            <a:r>
              <a:rPr sz="1600" b="1">
                <a:solidFill>
                  <a:srgbClr val="E65100"/>
                </a:solidFill>
              </a:rPr>
              <a:t>Schema Challenges</a:t>
            </a:r>
            <a:endParaRPr lang="en-US"/>
          </a:p>
          <a:p>
            <a:pPr algn="ctr"/>
            <a:endParaRPr lang="en-US" sz="1600" b="1" dirty="0">
              <a:solidFill>
                <a:srgbClr val="E65100"/>
              </a:solidFill>
            </a:endParaRPr>
          </a:p>
          <a:p>
            <a:pPr marL="171450" indent="-171450" algn="ctr">
              <a:spcBef>
                <a:spcPts val="600"/>
              </a:spcBef>
              <a:buFont typeface="Arial"/>
              <a:buChar char="•"/>
            </a:pPr>
            <a:r>
              <a:rPr lang="en-US" sz="1200">
                <a:solidFill>
                  <a:srgbClr val="2D2D2D"/>
                </a:solidFill>
              </a:rPr>
              <a:t>Different timestamp fields</a:t>
            </a:r>
            <a:endParaRPr lang="en-US" sz="1200" dirty="0">
              <a:solidFill>
                <a:srgbClr val="2D2D2D"/>
              </a:solidFill>
            </a:endParaRPr>
          </a:p>
          <a:p>
            <a:pPr marL="171450" indent="-171450" algn="ctr">
              <a:spcBef>
                <a:spcPts val="600"/>
              </a:spcBef>
              <a:buFont typeface="Arial"/>
              <a:buChar char="•"/>
            </a:pPr>
            <a:r>
              <a:rPr lang="en-US" sz="1200">
                <a:solidFill>
                  <a:srgbClr val="2D2D2D"/>
                </a:solidFill>
              </a:rPr>
              <a:t>Green-only fields</a:t>
            </a:r>
            <a:endParaRPr lang="en-US" sz="1200" dirty="0">
              <a:solidFill>
                <a:srgbClr val="2D2D2D"/>
              </a:solidFill>
            </a:endParaRPr>
          </a:p>
          <a:p>
            <a:pPr marL="171450" indent="-171450" algn="ctr">
              <a:spcBef>
                <a:spcPts val="600"/>
              </a:spcBef>
              <a:buFont typeface="Arial"/>
              <a:buChar char="•"/>
            </a:pPr>
            <a:r>
              <a:rPr lang="en-US" sz="1200" dirty="0">
                <a:solidFill>
                  <a:srgbClr val="2D2D2D"/>
                </a:solidFill>
              </a:rPr>
              <a:t>Case-sensitive </a:t>
            </a:r>
            <a:r>
              <a:rPr lang="en-US" sz="1200">
                <a:solidFill>
                  <a:srgbClr val="2D2D2D"/>
                </a:solidFill>
              </a:rPr>
              <a:t>inferred columns</a:t>
            </a:r>
            <a:endParaRPr lang="en-US" sz="1200" dirty="0">
              <a:solidFill>
                <a:srgbClr val="2D2D2D"/>
              </a:solidFill>
            </a:endParaRPr>
          </a:p>
        </p:txBody>
      </p:sp>
      <p:sp>
        <p:nvSpPr>
          <p:cNvPr id="8" name="Rounded Rectangle 7"/>
          <p:cNvSpPr/>
          <p:nvPr/>
        </p:nvSpPr>
        <p:spPr>
          <a:xfrm>
            <a:off x="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800" b="1">
                <a:solidFill>
                  <a:schemeClr val="bg2">
                    <a:lumMod val="49000"/>
                  </a:schemeClr>
                </a:solidFill>
              </a:rPr>
              <a:t>39,224,735</a:t>
            </a:r>
          </a:p>
          <a:p>
            <a:pPr algn="ctr"/>
            <a:r>
              <a:rPr sz="1200">
                <a:solidFill>
                  <a:schemeClr val="tx1"/>
                </a:solidFill>
              </a:rPr>
              <a:t>Total Trip Records</a:t>
            </a:r>
          </a:p>
        </p:txBody>
      </p:sp>
      <p:sp>
        <p:nvSpPr>
          <p:cNvPr id="9" name="Rounded Rectangle 8"/>
          <p:cNvSpPr/>
          <p:nvPr/>
        </p:nvSpPr>
        <p:spPr>
          <a:xfrm>
            <a:off x="4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800" b="1">
                <a:solidFill>
                  <a:schemeClr val="bg2">
                    <a:lumMod val="49000"/>
                  </a:schemeClr>
                </a:solidFill>
              </a:rPr>
              <a:t>7,248</a:t>
            </a:r>
            <a:endParaRPr lang="en-US">
              <a:solidFill>
                <a:schemeClr val="bg2">
                  <a:lumMod val="49000"/>
                </a:schemeClr>
              </a:solidFill>
            </a:endParaRPr>
          </a:p>
          <a:p>
            <a:pPr algn="ctr"/>
            <a:r>
              <a:rPr sz="1200">
                <a:solidFill>
                  <a:srgbClr val="555555"/>
                </a:solidFill>
              </a:rPr>
              <a:t>Weather Hours</a:t>
            </a:r>
          </a:p>
        </p:txBody>
      </p:sp>
      <p:sp>
        <p:nvSpPr>
          <p:cNvPr id="10" name="Rounded Rectangle 9"/>
          <p:cNvSpPr/>
          <p:nvPr/>
        </p:nvSpPr>
        <p:spPr>
          <a:xfrm>
            <a:off x="8400000" y="5000000"/>
            <a:ext cx="3200000" cy="1400000"/>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2800" b="1">
                <a:solidFill>
                  <a:schemeClr val="bg2">
                    <a:lumMod val="49000"/>
                  </a:schemeClr>
                </a:solidFill>
              </a:rPr>
              <a:t>265</a:t>
            </a:r>
            <a:endParaRPr lang="en-US" sz="2800" b="1">
              <a:solidFill>
                <a:schemeClr val="bg2">
                  <a:lumMod val="49000"/>
                </a:schemeClr>
              </a:solidFill>
            </a:endParaRPr>
          </a:p>
          <a:p>
            <a:pPr algn="ctr"/>
            <a:r>
              <a:rPr sz="1200">
                <a:solidFill>
                  <a:srgbClr val="555555"/>
                </a:solidFill>
              </a:rPr>
              <a:t>Taxi Zones</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Paths We Explored</a:t>
            </a: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22196" y="1260195"/>
            <a:ext cx="3500000" cy="3212902"/>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E65100"/>
                </a:solidFill>
              </a:rPr>
              <a:t>NYC Permit Data</a:t>
            </a:r>
            <a:endParaRPr lang="en-US"/>
          </a:p>
          <a:p>
            <a:pPr algn="ctr">
              <a:spcBef>
                <a:spcPts val="800"/>
              </a:spcBef>
            </a:pPr>
            <a:r>
              <a:rPr lang="en-US" sz="1200" i="1">
                <a:solidFill>
                  <a:srgbClr val="555555"/>
                </a:solidFill>
              </a:rPr>
              <a:t>Explored as enrichment</a:t>
            </a:r>
            <a:endParaRPr sz="1200" i="1">
              <a:solidFill>
                <a:srgbClr val="555555"/>
              </a:solidFill>
            </a:endParaRPr>
          </a:p>
          <a:p>
            <a:pPr marL="171450" indent="-171450">
              <a:spcBef>
                <a:spcPts val="1200"/>
              </a:spcBef>
              <a:buFont typeface="Arial"/>
              <a:buChar char="•"/>
            </a:pPr>
            <a:r>
              <a:rPr lang="en-US" sz="1200" dirty="0">
                <a:solidFill>
                  <a:srgbClr val="2D2D2D"/>
                </a:solidFill>
              </a:rPr>
              <a:t>Cou</a:t>
            </a:r>
            <a:r>
              <a:rPr lang="en-US" sz="1200">
                <a:solidFill>
                  <a:srgbClr val="2D2D2D"/>
                </a:solidFill>
              </a:rPr>
              <a:t>ld road work affect taxi demand?</a:t>
            </a:r>
            <a:endParaRPr lang="en-US" sz="1200" dirty="0">
              <a:solidFill>
                <a:srgbClr val="2D2D2D"/>
              </a:solidFill>
            </a:endParaRPr>
          </a:p>
          <a:p>
            <a:pPr marL="171450" indent="-171450">
              <a:spcBef>
                <a:spcPts val="1200"/>
              </a:spcBef>
              <a:buFont typeface="Arial"/>
              <a:buChar char="•"/>
            </a:pPr>
            <a:r>
              <a:rPr lang="en-US" sz="1200" dirty="0">
                <a:solidFill>
                  <a:srgbClr val="2D2D2D"/>
                </a:solidFill>
              </a:rPr>
              <a:t>Taxi data only identified pickup/dop-off </a:t>
            </a:r>
            <a:r>
              <a:rPr lang="en-US" sz="1200" dirty="0" err="1">
                <a:solidFill>
                  <a:srgbClr val="2D2D2D"/>
                </a:solidFill>
              </a:rPr>
              <a:t>somes</a:t>
            </a:r>
            <a:endParaRPr lang="en-US" sz="1200" dirty="0">
              <a:solidFill>
                <a:srgbClr val="2D2D2D"/>
              </a:solidFill>
            </a:endParaRPr>
          </a:p>
          <a:p>
            <a:pPr marL="171450" indent="-171450">
              <a:spcBef>
                <a:spcPts val="1200"/>
              </a:spcBef>
              <a:buFont typeface="Arial"/>
              <a:buChar char="•"/>
            </a:pPr>
            <a:r>
              <a:rPr lang="en-US" sz="1200" dirty="0">
                <a:solidFill>
                  <a:srgbClr val="2D2D2D"/>
                </a:solidFill>
              </a:rPr>
              <a:t>We could not reliably determine which construction sites a trip encou</a:t>
            </a:r>
            <a:r>
              <a:rPr lang="en-US" sz="1200">
                <a:solidFill>
                  <a:srgbClr val="2D2D2D"/>
                </a:solidFill>
              </a:rPr>
              <a:t>ntering </a:t>
            </a:r>
            <a:endParaRPr lang="en-US" sz="1200" dirty="0">
              <a:solidFill>
                <a:srgbClr val="2D2D2D"/>
              </a:solidFill>
            </a:endParaRPr>
          </a:p>
          <a:p>
            <a:pPr marL="171450" indent="-171450">
              <a:spcBef>
                <a:spcPts val="1200"/>
              </a:spcBef>
              <a:buFont typeface="Arial"/>
              <a:buChar char="•"/>
            </a:pPr>
            <a:r>
              <a:rPr lang="en-US" sz="1200">
                <a:solidFill>
                  <a:srgbClr val="2D2D2D"/>
                </a:solidFill>
              </a:rPr>
              <a:t>Decided to exclude this data to avoid making any unsupported assumptions</a:t>
            </a:r>
            <a:endParaRPr lang="en-US" sz="1200" dirty="0">
              <a:solidFill>
                <a:srgbClr val="2D2D2D"/>
              </a:solidFill>
            </a:endParaRPr>
          </a:p>
          <a:p>
            <a:pPr marL="171450" indent="-171450">
              <a:spcBef>
                <a:spcPts val="1200"/>
              </a:spcBef>
              <a:buFont typeface="Arial"/>
              <a:buChar char="•"/>
            </a:pPr>
            <a:endParaRPr lang="en-US" sz="1100" dirty="0">
              <a:solidFill>
                <a:srgbClr val="2D2D2D"/>
              </a:solidFill>
            </a:endParaRPr>
          </a:p>
        </p:txBody>
      </p:sp>
      <p:sp>
        <p:nvSpPr>
          <p:cNvPr id="6" name="Rounded Rectangle 5"/>
          <p:cNvSpPr/>
          <p:nvPr/>
        </p:nvSpPr>
        <p:spPr>
          <a:xfrm>
            <a:off x="7043561" y="1260195"/>
            <a:ext cx="3500000" cy="3231488"/>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1600" b="1">
                <a:solidFill>
                  <a:srgbClr val="0D47A1"/>
                </a:solidFill>
              </a:rPr>
              <a:t>Data Pipeline</a:t>
            </a:r>
            <a:endParaRPr lang="en-US"/>
          </a:p>
          <a:p>
            <a:pPr algn="ctr">
              <a:spcBef>
                <a:spcPts val="800"/>
              </a:spcBef>
            </a:pPr>
            <a:r>
              <a:rPr lang="en-US" sz="1200" i="1">
                <a:solidFill>
                  <a:srgbClr val="555555"/>
                </a:solidFill>
              </a:rPr>
              <a:t>Partially Built</a:t>
            </a:r>
            <a:r>
              <a:rPr sz="1200" i="1" dirty="0">
                <a:solidFill>
                  <a:srgbClr val="555555"/>
                </a:solidFill>
              </a:rPr>
              <a:t> </a:t>
            </a:r>
          </a:p>
          <a:p>
            <a:pPr marL="171450" indent="-171450">
              <a:spcBef>
                <a:spcPts val="400"/>
              </a:spcBef>
              <a:buFont typeface="Arial"/>
              <a:buChar char="•"/>
            </a:pPr>
            <a:endParaRPr lang="en-US" sz="1200" dirty="0">
              <a:solidFill>
                <a:srgbClr val="2D2D2D"/>
              </a:solidFill>
            </a:endParaRPr>
          </a:p>
          <a:p>
            <a:pPr marL="171450" indent="-171450">
              <a:lnSpc>
                <a:spcPct val="150000"/>
              </a:lnSpc>
              <a:spcBef>
                <a:spcPts val="400"/>
              </a:spcBef>
              <a:buFont typeface="Arial"/>
              <a:buChar char="•"/>
            </a:pPr>
            <a:r>
              <a:rPr lang="en-US" sz="1200" dirty="0">
                <a:solidFill>
                  <a:srgbClr val="2D2D2D"/>
                </a:solidFill>
              </a:rPr>
              <a:t>Used AWS Glue + </a:t>
            </a:r>
            <a:r>
              <a:rPr lang="en-US" sz="1200" dirty="0" err="1">
                <a:solidFill>
                  <a:srgbClr val="2D2D2D"/>
                </a:solidFill>
              </a:rPr>
              <a:t>PySpark</a:t>
            </a:r>
            <a:r>
              <a:rPr lang="en-US" sz="1200" dirty="0">
                <a:solidFill>
                  <a:srgbClr val="2D2D2D"/>
                </a:solidFill>
              </a:rPr>
              <a:t> for transformation</a:t>
            </a:r>
            <a:endParaRPr lang="en-US" sz="1200"/>
          </a:p>
          <a:p>
            <a:pPr marL="171450" indent="-171450">
              <a:lnSpc>
                <a:spcPct val="150000"/>
              </a:lnSpc>
              <a:spcBef>
                <a:spcPts val="400"/>
              </a:spcBef>
              <a:buFont typeface="Arial"/>
              <a:buChar char="•"/>
            </a:pPr>
            <a:r>
              <a:rPr lang="en-US" sz="1200" dirty="0">
                <a:solidFill>
                  <a:srgbClr val="2D2D2D"/>
                </a:solidFill>
              </a:rPr>
              <a:t>Valuable </a:t>
            </a:r>
            <a:r>
              <a:rPr lang="en-US" sz="1200">
                <a:solidFill>
                  <a:srgbClr val="2D2D2D"/>
                </a:solidFill>
              </a:rPr>
              <a:t>hands-on</a:t>
            </a:r>
            <a:r>
              <a:rPr lang="en-US" sz="1200" dirty="0">
                <a:solidFill>
                  <a:srgbClr val="2D2D2D"/>
                </a:solidFill>
              </a:rPr>
              <a:t> experience with AWS</a:t>
            </a:r>
          </a:p>
          <a:p>
            <a:pPr marL="171450" indent="-171450">
              <a:lnSpc>
                <a:spcPct val="150000"/>
              </a:lnSpc>
              <a:spcBef>
                <a:spcPts val="400"/>
              </a:spcBef>
              <a:buFont typeface="Arial"/>
              <a:buChar char="•"/>
            </a:pPr>
            <a:r>
              <a:rPr lang="en-US" sz="1200">
                <a:solidFill>
                  <a:srgbClr val="2D2D2D"/>
                </a:solidFill>
              </a:rPr>
              <a:t>Steeper learning curve and required more development effort</a:t>
            </a:r>
            <a:endParaRPr lang="en-US" sz="1200" dirty="0">
              <a:solidFill>
                <a:srgbClr val="2D2D2D"/>
              </a:solidFill>
            </a:endParaRPr>
          </a:p>
          <a:p>
            <a:pPr marL="171450" indent="-171450">
              <a:lnSpc>
                <a:spcPct val="150000"/>
              </a:lnSpc>
              <a:spcBef>
                <a:spcPts val="400"/>
              </a:spcBef>
              <a:buFont typeface="Arial"/>
              <a:buChar char="•"/>
            </a:pPr>
            <a:r>
              <a:rPr lang="en-US" sz="1200">
                <a:solidFill>
                  <a:srgbClr val="2D2D2D"/>
                </a:solidFill>
              </a:rPr>
              <a:t>Less practical within  our project timeline</a:t>
            </a:r>
            <a:endParaRPr lang="en-US" sz="1200" dirty="0">
              <a:solidFill>
                <a:srgbClr val="2D2D2D"/>
              </a:solidFill>
            </a:endParaRPr>
          </a:p>
          <a:p>
            <a:pPr marL="171450" indent="-171450">
              <a:spcBef>
                <a:spcPts val="400"/>
              </a:spcBef>
              <a:buFont typeface="Arial"/>
              <a:buChar char="•"/>
            </a:pPr>
            <a:endParaRPr lang="en-US" sz="1100" dirty="0">
              <a:solidFill>
                <a:srgbClr val="2D2D2D"/>
              </a:solidFill>
            </a:endParaRPr>
          </a:p>
        </p:txBody>
      </p:sp>
      <p:sp>
        <p:nvSpPr>
          <p:cNvPr id="11" name="Rounded Rectangle 10"/>
          <p:cNvSpPr/>
          <p:nvPr/>
        </p:nvSpPr>
        <p:spPr>
          <a:xfrm>
            <a:off x="400000" y="4656171"/>
            <a:ext cx="11400000" cy="1543829"/>
          </a:xfrm>
          <a:prstGeom prst="roundRect">
            <a:avLst/>
          </a:prstGeom>
          <a:solidFill>
            <a:schemeClr val="bg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sz="1400" b="1">
                <a:solidFill>
                  <a:schemeClr val="bg2">
                    <a:lumMod val="49000"/>
                  </a:schemeClr>
                </a:solidFill>
              </a:rPr>
              <a:t>What the Exploration Taught Us</a:t>
            </a:r>
            <a:endParaRPr lang="en-US" sz="1200">
              <a:solidFill>
                <a:srgbClr val="2D2D2D"/>
              </a:solidFill>
            </a:endParaRPr>
          </a:p>
          <a:p>
            <a:pPr algn="ctr"/>
            <a:endParaRPr lang="en-US" sz="1400" b="1" dirty="0">
              <a:solidFill>
                <a:schemeClr val="bg2">
                  <a:lumMod val="49000"/>
                </a:schemeClr>
              </a:solidFill>
            </a:endParaRPr>
          </a:p>
          <a:p>
            <a:pPr marL="285750" indent="-285750">
              <a:buFont typeface="Arial"/>
              <a:buChar char="•"/>
            </a:pPr>
            <a:r>
              <a:rPr lang="en-US" sz="1400">
                <a:solidFill>
                  <a:schemeClr val="tx1"/>
                </a:solidFill>
              </a:rPr>
              <a:t>Not every enrichment source can be relatively connected to our data</a:t>
            </a:r>
          </a:p>
          <a:p>
            <a:pPr marL="285750" indent="-285750">
              <a:buFont typeface="Arial"/>
              <a:buChar char="•"/>
            </a:pPr>
            <a:r>
              <a:rPr lang="en-US" sz="1400" dirty="0">
                <a:solidFill>
                  <a:schemeClr val="tx1"/>
                </a:solidFill>
              </a:rPr>
              <a:t>Pattern B gave us valuable AWS and </a:t>
            </a:r>
            <a:r>
              <a:rPr lang="en-US" sz="1400" dirty="0" err="1">
                <a:solidFill>
                  <a:schemeClr val="tx1"/>
                </a:solidFill>
              </a:rPr>
              <a:t>PySpark</a:t>
            </a:r>
            <a:r>
              <a:rPr lang="en-US" sz="1400" dirty="0">
                <a:solidFill>
                  <a:schemeClr val="tx1"/>
                </a:solidFill>
              </a:rPr>
              <a:t> </a:t>
            </a:r>
            <a:r>
              <a:rPr lang="en-US" sz="1400" dirty="0" err="1">
                <a:solidFill>
                  <a:schemeClr val="tx1"/>
                </a:solidFill>
              </a:rPr>
              <a:t>experienc</a:t>
            </a:r>
            <a:r>
              <a:rPr lang="en-US" sz="1400" dirty="0">
                <a:solidFill>
                  <a:schemeClr val="tx1"/>
                </a:solidFill>
              </a:rPr>
              <a:t>e</a:t>
            </a:r>
          </a:p>
          <a:p>
            <a:pPr marL="285750" indent="-285750">
              <a:buFont typeface="Arial"/>
              <a:buChar char="•"/>
            </a:pPr>
            <a:r>
              <a:rPr lang="en-US" sz="1400" dirty="0">
                <a:solidFill>
                  <a:schemeClr val="tx1"/>
                </a:solidFill>
              </a:rPr>
              <a:t>Comparing both approaches helped us make an informed ar</a:t>
            </a:r>
            <a:r>
              <a:rPr lang="en-US" sz="1400">
                <a:solidFill>
                  <a:schemeClr val="tx1"/>
                </a:solidFill>
              </a:rPr>
              <a:t>chitecture experience</a:t>
            </a:r>
            <a:endParaRPr lang="en-US" sz="1400" dirty="0">
              <a:solidFill>
                <a:schemeClr val="tx1"/>
              </a:solidFill>
            </a:endParaRPr>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Architecture Decision: </a:t>
            </a:r>
            <a:r>
              <a:rPr lang="en-US"/>
              <a:t>Snowflake + DBT</a:t>
            </a:r>
            <a:endParaRP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5400000" cy="2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Why We Chose It</a:t>
            </a:r>
          </a:p>
          <a:p>
            <a:pPr>
              <a:spcBef>
                <a:spcPts val="600"/>
              </a:spcBef>
            </a:pPr>
            <a:r>
              <a:rPr sz="1300">
                <a:solidFill>
                  <a:srgbClr val="2D2D2D"/>
                </a:solidFill>
              </a:rPr>
              <a:t>•  Team is strongest in SQL</a:t>
            </a:r>
          </a:p>
          <a:p>
            <a:pPr>
              <a:spcBef>
                <a:spcPts val="600"/>
              </a:spcBef>
            </a:pPr>
            <a:r>
              <a:rPr sz="1300">
                <a:solidFill>
                  <a:srgbClr val="2D2D2D"/>
                </a:solidFill>
              </a:rPr>
              <a:t>•  Fewest moving parts for a one-week sprint</a:t>
            </a:r>
          </a:p>
          <a:p>
            <a:pPr>
              <a:spcBef>
                <a:spcPts val="600"/>
              </a:spcBef>
            </a:pPr>
            <a:r>
              <a:rPr sz="1300">
                <a:solidFill>
                  <a:srgbClr val="2D2D2D"/>
                </a:solidFill>
              </a:rPr>
              <a:t>•  All transforms tested and version-controlled (dbt)</a:t>
            </a:r>
          </a:p>
          <a:p>
            <a:pPr>
              <a:spcBef>
                <a:spcPts val="600"/>
              </a:spcBef>
            </a:pPr>
            <a:r>
              <a:rPr sz="1300">
                <a:solidFill>
                  <a:srgbClr val="2D2D2D"/>
                </a:solidFill>
              </a:rPr>
              <a:t>•  Snowflake handles 39M rows natively</a:t>
            </a:r>
          </a:p>
          <a:p>
            <a:pPr>
              <a:spcBef>
                <a:spcPts val="600"/>
              </a:spcBef>
            </a:pPr>
            <a:r>
              <a:rPr sz="1300">
                <a:solidFill>
                  <a:srgbClr val="2D2D2D"/>
                </a:solidFill>
              </a:rPr>
              <a:t>•  Full pipeline re-runs in ~6 minutes</a:t>
            </a:r>
          </a:p>
        </p:txBody>
      </p:sp>
      <p:sp>
        <p:nvSpPr>
          <p:cNvPr id="6" name="Rounded Rectangle 5"/>
          <p:cNvSpPr/>
          <p:nvPr/>
        </p:nvSpPr>
        <p:spPr>
          <a:xfrm>
            <a:off x="6100000" y="1100000"/>
            <a:ext cx="57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What We Gave Up</a:t>
            </a:r>
          </a:p>
          <a:p>
            <a:pPr>
              <a:spcBef>
                <a:spcPts val="600"/>
              </a:spcBef>
            </a:pPr>
            <a:r>
              <a:rPr sz="1300">
                <a:solidFill>
                  <a:srgbClr val="2D2D2D"/>
                </a:solidFill>
              </a:rPr>
              <a:t>•  No Spark/Glue experience demonstrated</a:t>
            </a:r>
          </a:p>
          <a:p>
            <a:pPr>
              <a:spcBef>
                <a:spcPts val="600"/>
              </a:spcBef>
            </a:pPr>
            <a:r>
              <a:rPr sz="1300">
                <a:solidFill>
                  <a:srgbClr val="2D2D2D"/>
                </a:solidFill>
              </a:rPr>
              <a:t>•  No DataFrames or distributed compute</a:t>
            </a:r>
          </a:p>
          <a:p>
            <a:pPr>
              <a:spcBef>
                <a:spcPts val="600"/>
              </a:spcBef>
            </a:pPr>
            <a:r>
              <a:rPr sz="1300">
                <a:solidFill>
                  <a:srgbClr val="2D2D2D"/>
                </a:solidFill>
              </a:rPr>
              <a:t>•  Less tooling breadth on resume</a:t>
            </a:r>
          </a:p>
          <a:p>
            <a:pPr>
              <a:spcBef>
                <a:spcPts val="600"/>
              </a:spcBef>
            </a:pPr>
            <a:r>
              <a:rPr sz="1300">
                <a:solidFill>
                  <a:srgbClr val="2D2D2D"/>
                </a:solidFill>
              </a:rPr>
              <a:t>•  If data exceeded Snowflake limits, would need rework</a:t>
            </a:r>
          </a:p>
        </p:txBody>
      </p:sp>
      <p:sp>
        <p:nvSpPr>
          <p:cNvPr id="7" name="Rounded Rectangle 6"/>
          <p:cNvSpPr/>
          <p:nvPr/>
        </p:nvSpPr>
        <p:spPr>
          <a:xfrm>
            <a:off x="400000" y="3800000"/>
            <a:ext cx="11400000" cy="2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Key Design Decisions</a:t>
            </a:r>
          </a:p>
          <a:p>
            <a:pPr>
              <a:spcBef>
                <a:spcPts val="600"/>
              </a:spcBef>
            </a:pPr>
            <a:r>
              <a:rPr sz="1200">
                <a:solidFill>
                  <a:srgbClr val="2D2D2D"/>
                </a:solidFill>
              </a:rPr>
              <a:t>•  Tables (not views) for staging: 39M rows too expensive to rebuild on every dashboard query</a:t>
            </a:r>
          </a:p>
          <a:p>
            <a:pPr>
              <a:spcBef>
                <a:spcPts val="600"/>
              </a:spcBef>
            </a:pPr>
            <a:r>
              <a:rPr sz="1200">
                <a:solidFill>
                  <a:srgbClr val="2D2D2D"/>
                </a:solidFill>
              </a:rPr>
              <a:t>•  Flag DQ issues, don't delete: preserves traceability, Gold filters with WHERE is_valid = TRUE</a:t>
            </a:r>
          </a:p>
          <a:p>
            <a:pPr>
              <a:spcBef>
                <a:spcPts val="600"/>
              </a:spcBef>
            </a:pPr>
            <a:r>
              <a:rPr sz="1200">
                <a:solidFill>
                  <a:srgbClr val="2D2D2D"/>
                </a:solidFill>
              </a:rPr>
              <a:t>•  Weather join on date + hour: matches trip pickup timestamp granularity (100% match rate)</a:t>
            </a:r>
          </a:p>
          <a:p>
            <a:pPr>
              <a:spcBef>
                <a:spcPts val="600"/>
              </a:spcBef>
            </a:pPr>
            <a:r>
              <a:rPr sz="1200">
                <a:solidFill>
                  <a:srgbClr val="2D2D2D"/>
                </a:solidFill>
              </a:rPr>
              <a:t>•  Single orchestration script: one command runs everything, idempotent, fails fast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Pipeline Architecture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[Insert Architecture Diagram: Capstone_Architecture_PatternA.drawio]</a:t>
            </a:r>
          </a:p>
          <a:p>
            <a:pPr algn="ctr">
              <a:spcBef>
                <a:spcPts val="2000"/>
              </a:spcBef>
            </a:pPr>
            <a:r>
              <a:rPr sz="1600" b="1">
                <a:solidFill>
                  <a:srgbClr val="2D2D2D"/>
                </a:solidFill>
              </a:rPr>
              <a:t>S3 RAW  →  Snowflake Bronze  →  dbt Silver  →  dbt Gold  →  Tableau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3</a:t>
            </a:r>
          </a:p>
        </p:txBody>
      </p:sp>
      <p:sp>
        <p:nvSpPr>
          <p:cNvPr id="4" name="Subtitle 3"/>
          <p:cNvSpPr>
            <a:spLocks noGrp="1"/>
          </p:cNvSpPr>
          <p:nvPr>
            <p:ph type="subTitle" idx="1"/>
          </p:nvPr>
        </p:nvSpPr>
        <p:spPr/>
        <p:txBody>
          <a:bodyPr/>
          <a:lstStyle/>
          <a:p>
            <a:r>
              <a:t>Data Quality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Quality: What Was Wrong and What We Did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1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Pipeline Reconciliation</a:t>
            </a:r>
          </a:p>
          <a:p>
            <a:pPr>
              <a:spcBef>
                <a:spcPts val="400"/>
              </a:spcBef>
            </a:pPr>
            <a:r>
              <a:rPr sz="1100">
                <a:solidFill>
                  <a:srgbClr val="2D2D2D"/>
                </a:solidFill>
              </a:rPr>
              <a:t>Rows in source files:  39,224,735</a:t>
            </a:r>
          </a:p>
          <a:p>
            <a:pPr>
              <a:spcBef>
                <a:spcPts val="400"/>
              </a:spcBef>
            </a:pPr>
            <a:r>
              <a:rPr sz="1100">
                <a:solidFill>
                  <a:srgbClr val="2D2D2D"/>
                </a:solidFill>
              </a:rPr>
              <a:t>Rows loaded to Bronze:  39,224,735 (0 lost)</a:t>
            </a:r>
          </a:p>
          <a:p>
            <a:pPr>
              <a:spcBef>
                <a:spcPts val="400"/>
              </a:spcBef>
            </a:pPr>
            <a:r>
              <a:rPr sz="1100">
                <a:solidFill>
                  <a:srgbClr val="2D2D2D"/>
                </a:solidFill>
              </a:rPr>
              <a:t>Rows in Silver:  39,224,735 (flagged, not removed)</a:t>
            </a:r>
          </a:p>
          <a:p>
            <a:pPr>
              <a:spcBef>
                <a:spcPts val="400"/>
              </a:spcBef>
            </a:pPr>
            <a:r>
              <a:rPr sz="1100">
                <a:solidFill>
                  <a:srgbClr val="2D2D2D"/>
                </a:solidFill>
              </a:rPr>
              <a:t>Rows in Gold (valid only):  38,053,445</a:t>
            </a:r>
          </a:p>
          <a:p>
            <a:pPr>
              <a:spcBef>
                <a:spcPts val="400"/>
              </a:spcBef>
            </a:pPr>
            <a:r>
              <a:rPr sz="1100">
                <a:solidFill>
                  <a:srgbClr val="2D2D2D"/>
                </a:solidFill>
              </a:rPr>
              <a:t>Rows flagged invalid:  1,171,290 (3.0%)</a:t>
            </a:r>
          </a:p>
        </p:txBody>
      </p:sp>
      <p:sp>
        <p:nvSpPr>
          <p:cNvPr id="6" name="Rounded Rectangle 5"/>
          <p:cNvSpPr/>
          <p:nvPr/>
        </p:nvSpPr>
        <p:spPr>
          <a:xfrm>
            <a:off x="6100000" y="1000000"/>
            <a:ext cx="5700000" cy="32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E3082"/>
                </a:solidFill>
              </a:rPr>
              <a:t>Top Defects Found</a:t>
            </a:r>
          </a:p>
          <a:p>
            <a:pPr>
              <a:spcBef>
                <a:spcPts val="500"/>
              </a:spcBef>
            </a:pPr>
            <a:r>
              <a:rPr sz="1100">
                <a:solidFill>
                  <a:srgbClr val="2D2D2D"/>
                </a:solidFill>
              </a:rPr>
              <a:t>•  Null/zero passenger_count: 9.2M (23%) - Kept (warn)</a:t>
            </a:r>
          </a:p>
          <a:p>
            <a:pPr>
              <a:spcBef>
                <a:spcPts val="500"/>
              </a:spcBef>
            </a:pPr>
            <a:r>
              <a:rPr sz="1100">
                <a:solidFill>
                  <a:srgbClr val="2D2D2D"/>
                </a:solidFill>
              </a:rPr>
              <a:t>•  Payment type 0 (undocumented): 9M (23%) - Kept (warn)</a:t>
            </a:r>
          </a:p>
          <a:p>
            <a:pPr>
              <a:spcBef>
                <a:spcPts val="500"/>
              </a:spcBef>
            </a:pPr>
            <a:r>
              <a:rPr sz="1100">
                <a:solidFill>
                  <a:srgbClr val="2D2D2D"/>
                </a:solidFill>
              </a:rPr>
              <a:t>•  Timestamp out of range: 702K (1.8%) - Flagged invalid</a:t>
            </a:r>
          </a:p>
          <a:p>
            <a:pPr>
              <a:spcBef>
                <a:spcPts val="500"/>
              </a:spcBef>
            </a:pPr>
            <a:r>
              <a:rPr sz="1100">
                <a:solidFill>
                  <a:srgbClr val="2D2D2D"/>
                </a:solidFill>
              </a:rPr>
              <a:t>•  Negative fare: 247K (0.6%) - Flagged invalid</a:t>
            </a:r>
          </a:p>
          <a:p>
            <a:pPr>
              <a:spcBef>
                <a:spcPts val="500"/>
              </a:spcBef>
            </a:pPr>
            <a:r>
              <a:rPr sz="1100">
                <a:solidFill>
                  <a:srgbClr val="2D2D2D"/>
                </a:solidFill>
              </a:rPr>
              <a:t>•  Distance &gt; 100 miles: 131K (0.3%) - Flagged invalid</a:t>
            </a:r>
          </a:p>
          <a:p>
            <a:pPr>
              <a:spcBef>
                <a:spcPts val="500"/>
              </a:spcBef>
            </a:pPr>
            <a:r>
              <a:rPr sz="1100">
                <a:solidFill>
                  <a:srgbClr val="2D2D2D"/>
                </a:solidFill>
              </a:rPr>
              <a:t>•  Dropoff before pickup: 87K (0.2%) - Flagged invalid</a:t>
            </a:r>
          </a:p>
        </p:txBody>
      </p:sp>
      <p:sp>
        <p:nvSpPr>
          <p:cNvPr id="7" name="Rounded Rectangle 6"/>
          <p:cNvSpPr/>
          <p:nvPr/>
        </p:nvSpPr>
        <p:spPr>
          <a:xfrm>
            <a:off x="400000" y="3100000"/>
            <a:ext cx="5400000" cy="11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The Cash Tip Trap</a:t>
            </a:r>
          </a:p>
          <a:p>
            <a:pPr>
              <a:spcBef>
                <a:spcPts val="400"/>
              </a:spcBef>
            </a:pPr>
            <a:r>
              <a:rPr sz="1100">
                <a:solidFill>
                  <a:srgbClr val="2D2D2D"/>
                </a:solidFill>
              </a:rPr>
              <a:t>tip_amount is recorded for credit card payments only. Cash tips appear as $0.00. Our tip analysis is limited to credit card transactions and we state this explicitly.</a:t>
            </a:r>
          </a:p>
        </p:txBody>
      </p:sp>
      <p:sp>
        <p:nvSpPr>
          <p:cNvPr id="8" name="Rounded Rectangle 7"/>
          <p:cNvSpPr/>
          <p:nvPr/>
        </p:nvSpPr>
        <p:spPr>
          <a:xfrm>
            <a:off x="400000" y="4500000"/>
            <a:ext cx="11400000" cy="15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Our Approach: Flag, Don't Delete</a:t>
            </a:r>
          </a:p>
          <a:p>
            <a:pPr>
              <a:spcBef>
                <a:spcPts val="400"/>
              </a:spcBef>
            </a:pPr>
            <a:r>
              <a:rPr sz="1200">
                <a:solidFill>
                  <a:srgbClr val="2D2D2D"/>
                </a:solidFill>
              </a:rPr>
              <a:t>Every row gets is_valid (boolean) + dq_flag_reason (which checks failed). Silver keeps all 39.2M rows. Gold filters to valid only. Full traceability preserved. Two defects found NOT in the data catalog: payment_type 0 and null passenger_count.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4</a:t>
            </a:r>
          </a:p>
        </p:txBody>
      </p:sp>
      <p:sp>
        <p:nvSpPr>
          <p:cNvPr id="4" name="Subtitle 3"/>
          <p:cNvSpPr>
            <a:spLocks noGrp="1"/>
          </p:cNvSpPr>
          <p:nvPr>
            <p:ph type="subTitle" idx="1"/>
          </p:nvPr>
        </p:nvSpPr>
        <p:spPr/>
        <p:txBody>
          <a:bodyPr/>
          <a:lstStyle/>
          <a:p>
            <a:r>
              <a:t>Year-over-Year Analysis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Year-over-Year Finding</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12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2D2D2D"/>
                </a:solidFill>
              </a:rPr>
              <a:t>[STATE THE YEAR-OVER-YEAR FINDING HERE]</a:t>
            </a:r>
          </a:p>
          <a:p>
            <a:pPr algn="ctr"/>
            <a:r>
              <a:rPr sz="1300" i="1">
                <a:solidFill>
                  <a:srgbClr val="555555"/>
                </a:solidFill>
              </a:rPr>
              <a:t>e.g., During rain/snow events, outer-borough demand fell X% YoY while Manhattan held steady</a:t>
            </a:r>
          </a:p>
        </p:txBody>
      </p:sp>
      <p:sp>
        <p:nvSpPr>
          <p:cNvPr id="6" name="Rounded Rectangle 5"/>
          <p:cNvSpPr/>
          <p:nvPr/>
        </p:nvSpPr>
        <p:spPr>
          <a:xfrm>
            <a:off x="400000" y="2600000"/>
            <a:ext cx="54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D47A1"/>
                </a:solidFill>
              </a:rPr>
              <a:t>Is the comparison fair?</a:t>
            </a:r>
          </a:p>
          <a:p>
            <a:r>
              <a:rPr sz="1200">
                <a:solidFill>
                  <a:srgbClr val="2D2D2D"/>
                </a:solidFill>
              </a:rPr>
              <a:t>Same months (Jan-May), same vehicle types, same DQ filters applied to both years. Weather conditions matched on same hourly granularity.</a:t>
            </a:r>
          </a:p>
        </p:txBody>
      </p:sp>
      <p:sp>
        <p:nvSpPr>
          <p:cNvPr id="7" name="Rounded Rectangle 6"/>
          <p:cNvSpPr/>
          <p:nvPr/>
        </p:nvSpPr>
        <p:spPr>
          <a:xfrm>
            <a:off x="6100000" y="2600000"/>
            <a:ext cx="5700000" cy="1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Could a DQ issue explain it?</a:t>
            </a:r>
          </a:p>
          <a:p>
            <a:r>
              <a:rPr sz="1200">
                <a:solidFill>
                  <a:srgbClr val="2D2D2D"/>
                </a:solidFill>
              </a:rPr>
              <a:t>[What we checked and ruled out: e.g., invalid rows distributed evenly across both years, no systematic bias]</a:t>
            </a:r>
          </a:p>
        </p:txBody>
      </p:sp>
      <p:sp>
        <p:nvSpPr>
          <p:cNvPr id="8" name="Rounded Rectangle 7"/>
          <p:cNvSpPr/>
          <p:nvPr/>
        </p:nvSpPr>
        <p:spPr>
          <a:xfrm>
            <a:off x="400000" y="4300000"/>
            <a:ext cx="5400000" cy="1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Is it large enough to be real?</a:t>
            </a:r>
          </a:p>
          <a:p>
            <a:r>
              <a:rPr sz="1200">
                <a:solidFill>
                  <a:srgbClr val="2D2D2D"/>
                </a:solidFill>
              </a:rPr>
              <a:t>[Evidence the change is not noise, or honest confidence statement]</a:t>
            </a:r>
          </a:p>
        </p:txBody>
      </p:sp>
      <p:sp>
        <p:nvSpPr>
          <p:cNvPr id="9" name="Rounded Rectangle 8"/>
          <p:cNvSpPr/>
          <p:nvPr/>
        </p:nvSpPr>
        <p:spPr>
          <a:xfrm>
            <a:off x="6100000" y="4300000"/>
            <a:ext cx="57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D47A1"/>
                </a:solidFill>
              </a:rPr>
              <a:t>So What?</a:t>
            </a:r>
          </a:p>
          <a:p>
            <a:r>
              <a:rPr sz="1200">
                <a:solidFill>
                  <a:srgbClr val="2D2D2D"/>
                </a:solidFill>
              </a:rPr>
              <a:t>[Business recommendation: e.g., stage more drivers in X borough during Y weather because Z]</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2000" i="1">
                <a:solidFill>
                  <a:srgbClr val="555555"/>
                </a:solidFill>
              </a:rPr>
              <a:t>[Insert Tableau Dashboard Screenshot]</a:t>
            </a:r>
          </a:p>
          <a:p>
            <a:pPr algn="ctr">
              <a:spcBef>
                <a:spcPts val="1600"/>
              </a:spcBef>
            </a:pPr>
            <a:r>
              <a:rPr sz="1400">
                <a:solidFill>
                  <a:srgbClr val="2D2D2D"/>
                </a:solidFill>
              </a:rPr>
              <a:t>Connected to AMO_GOLD.MART_WEATHER_DEMAND (34,719 rows)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Supporting Analysis (duplicate as needed)</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[Additional charts / breakdowns from Tableau]</a:t>
            </a:r>
          </a:p>
          <a:p>
            <a:pPr algn="ctr">
              <a:spcBef>
                <a:spcPts val="1200"/>
              </a:spcBef>
            </a:pPr>
            <a:r>
              <a:rPr sz="1400">
                <a:solidFill>
                  <a:srgbClr val="2D2D2D"/>
                </a:solidFill>
              </a:rPr>
              <a:t>Revenue by weather, duration by borough, payment type splits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5</a:t>
            </a:r>
          </a:p>
        </p:txBody>
      </p:sp>
      <p:sp>
        <p:nvSpPr>
          <p:cNvPr id="4" name="Subtitle 3"/>
          <p:cNvSpPr>
            <a:spLocks noGrp="1"/>
          </p:cNvSpPr>
          <p:nvPr>
            <p:ph type="subTitle" idx="1"/>
          </p:nvPr>
        </p:nvSpPr>
        <p:spPr/>
        <p:txBody>
          <a:bodyPr/>
          <a:lstStyle/>
          <a:p>
            <a:r>
              <a:t>Technical Deep Dive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Technical Decisions and Trade-offs</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22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dbt Model Layering</a:t>
            </a:r>
          </a:p>
          <a:p>
            <a:pPr>
              <a:spcBef>
                <a:spcPts val="500"/>
              </a:spcBef>
            </a:pPr>
            <a:r>
              <a:rPr sz="1100">
                <a:solidFill>
                  <a:srgbClr val="2D2D2D"/>
                </a:solidFill>
              </a:rPr>
              <a:t>•  Staging (stg_*): tables, not views. 39M rows too expensive to rebuild per query</a:t>
            </a:r>
          </a:p>
          <a:p>
            <a:pPr>
              <a:spcBef>
                <a:spcPts val="500"/>
              </a:spcBef>
            </a:pPr>
            <a:r>
              <a:rPr sz="1100">
                <a:solidFill>
                  <a:srgbClr val="2D2D2D"/>
                </a:solidFill>
              </a:rPr>
              <a:t>•  Fact (fct_trips): enriched with borough + weather, filtered to valid</a:t>
            </a:r>
          </a:p>
          <a:p>
            <a:pPr>
              <a:spcBef>
                <a:spcPts val="500"/>
              </a:spcBef>
            </a:pPr>
            <a:r>
              <a:rPr sz="1100">
                <a:solidFill>
                  <a:srgbClr val="2D2D2D"/>
                </a:solidFill>
              </a:rPr>
              <a:t>•  Mart (mart_weather_demand): pre-aggregated for Tableau (34K rows)</a:t>
            </a:r>
          </a:p>
          <a:p>
            <a:pPr>
              <a:spcBef>
                <a:spcPts val="500"/>
              </a:spcBef>
            </a:pPr>
            <a:r>
              <a:rPr sz="1100">
                <a:solidFill>
                  <a:srgbClr val="2D2D2D"/>
                </a:solidFill>
              </a:rPr>
              <a:t>•  Dimensions (dim_zones, dim_weather): lookup tables for drilldown</a:t>
            </a:r>
          </a:p>
        </p:txBody>
      </p:sp>
      <p:sp>
        <p:nvSpPr>
          <p:cNvPr id="6" name="Rounded Rectangle 5"/>
          <p:cNvSpPr/>
          <p:nvPr/>
        </p:nvSpPr>
        <p:spPr>
          <a:xfrm>
            <a:off x="6100000" y="1000000"/>
            <a:ext cx="5700000" cy="22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Testing Strategy</a:t>
            </a:r>
          </a:p>
          <a:p>
            <a:pPr>
              <a:spcBef>
                <a:spcPts val="500"/>
              </a:spcBef>
            </a:pPr>
            <a:r>
              <a:rPr sz="1100">
                <a:solidFill>
                  <a:srgbClr val="2D2D2D"/>
                </a:solidFill>
              </a:rPr>
              <a:t>•  32 automated dbt tests (31 pass, 1 expected warn)</a:t>
            </a:r>
          </a:p>
          <a:p>
            <a:pPr>
              <a:spcBef>
                <a:spcPts val="500"/>
              </a:spcBef>
            </a:pPr>
            <a:r>
              <a:rPr sz="1100">
                <a:solidFill>
                  <a:srgbClr val="2D2D2D"/>
                </a:solidFill>
              </a:rPr>
              <a:t>•  not_null on all key columns</a:t>
            </a:r>
          </a:p>
          <a:p>
            <a:pPr>
              <a:spcBef>
                <a:spcPts val="500"/>
              </a:spcBef>
            </a:pPr>
            <a:r>
              <a:rPr sz="1100">
                <a:solidFill>
                  <a:srgbClr val="2D2D2D"/>
                </a:solidFill>
              </a:rPr>
              <a:t>•  unique on dimension primary keys</a:t>
            </a:r>
          </a:p>
          <a:p>
            <a:pPr>
              <a:spcBef>
                <a:spcPts val="500"/>
              </a:spcBef>
            </a:pPr>
            <a:r>
              <a:rPr sz="1100">
                <a:solidFill>
                  <a:srgbClr val="2D2D2D"/>
                </a:solidFill>
              </a:rPr>
              <a:t>•  accepted_values on categorical columns</a:t>
            </a:r>
          </a:p>
          <a:p>
            <a:pPr>
              <a:spcBef>
                <a:spcPts val="500"/>
              </a:spcBef>
            </a:pPr>
            <a:r>
              <a:rPr sz="1100">
                <a:solidFill>
                  <a:srgbClr val="2D2D2D"/>
                </a:solidFill>
              </a:rPr>
              <a:t>•  relationships on zone foreign keys</a:t>
            </a:r>
          </a:p>
          <a:p>
            <a:pPr>
              <a:spcBef>
                <a:spcPts val="500"/>
              </a:spcBef>
            </a:pPr>
            <a:r>
              <a:rPr sz="1100">
                <a:solidFill>
                  <a:srgbClr val="2D2D2D"/>
                </a:solidFill>
              </a:rPr>
              <a:t>•  Warn severity for known issues (documents, doesn't block)</a:t>
            </a:r>
          </a:p>
        </p:txBody>
      </p:sp>
      <p:sp>
        <p:nvSpPr>
          <p:cNvPr id="7" name="Rounded Rectangle 6"/>
          <p:cNvSpPr/>
          <p:nvPr/>
        </p:nvSpPr>
        <p:spPr>
          <a:xfrm>
            <a:off x="400000" y="3500000"/>
            <a:ext cx="54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Orchestration</a:t>
            </a:r>
          </a:p>
          <a:p>
            <a:pPr>
              <a:spcBef>
                <a:spcPts val="500"/>
              </a:spcBef>
            </a:pPr>
            <a:r>
              <a:rPr sz="1100">
                <a:solidFill>
                  <a:srgbClr val="2D2D2D"/>
                </a:solidFill>
              </a:rPr>
              <a:t>•  Single Python script: python pipeline/orchestrate.py</a:t>
            </a:r>
          </a:p>
          <a:p>
            <a:pPr>
              <a:spcBef>
                <a:spcPts val="500"/>
              </a:spcBef>
            </a:pPr>
            <a:r>
              <a:rPr sz="1100">
                <a:solidFill>
                  <a:srgbClr val="2D2D2D"/>
                </a:solidFill>
              </a:rPr>
              <a:t>•  Runs end-to-end in ~6 minutes</a:t>
            </a:r>
          </a:p>
          <a:p>
            <a:pPr>
              <a:spcBef>
                <a:spcPts val="500"/>
              </a:spcBef>
            </a:pPr>
            <a:r>
              <a:rPr sz="1100">
                <a:solidFill>
                  <a:srgbClr val="2D2D2D"/>
                </a:solidFill>
              </a:rPr>
              <a:t>•  Idempotent: safe to re-run (CREATE OR REPLACE)</a:t>
            </a:r>
          </a:p>
          <a:p>
            <a:pPr>
              <a:spcBef>
                <a:spcPts val="500"/>
              </a:spcBef>
            </a:pPr>
            <a:r>
              <a:rPr sz="1100">
                <a:solidFill>
                  <a:srgbClr val="2D2D2D"/>
                </a:solidFill>
              </a:rPr>
              <a:t>•  7 steps: Bronze infra, load, weather, verify, dbt run, dbt test, summary</a:t>
            </a:r>
          </a:p>
          <a:p>
            <a:pPr>
              <a:spcBef>
                <a:spcPts val="500"/>
              </a:spcBef>
            </a:pPr>
            <a:r>
              <a:rPr sz="1100">
                <a:solidFill>
                  <a:srgbClr val="2D2D2D"/>
                </a:solidFill>
              </a:rPr>
              <a:t>•  Fails fast with clear error messages</a:t>
            </a:r>
          </a:p>
        </p:txBody>
      </p:sp>
      <p:sp>
        <p:nvSpPr>
          <p:cNvPr id="8" name="Rounded Rectangle 7"/>
          <p:cNvSpPr/>
          <p:nvPr/>
        </p:nvSpPr>
        <p:spPr>
          <a:xfrm>
            <a:off x="6100000" y="3500000"/>
            <a:ext cx="5700000" cy="2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E3082"/>
                </a:solidFill>
              </a:rPr>
              <a:t>Key Transformations</a:t>
            </a:r>
          </a:p>
          <a:p>
            <a:pPr>
              <a:spcBef>
                <a:spcPts val="500"/>
              </a:spcBef>
            </a:pPr>
            <a:r>
              <a:rPr sz="1100">
                <a:solidFill>
                  <a:srgbClr val="2D2D2D"/>
                </a:solidFill>
              </a:rPr>
              <a:t>•  Union Yellow + Green (tpep/lpep rename)</a:t>
            </a:r>
          </a:p>
          <a:p>
            <a:pPr>
              <a:spcBef>
                <a:spcPts val="500"/>
              </a:spcBef>
            </a:pPr>
            <a:r>
              <a:rPr sz="1100">
                <a:solidFill>
                  <a:srgbClr val="2D2D2D"/>
                </a:solidFill>
              </a:rPr>
              <a:t>•  DQ flagging: is_valid + dq_flag_reason</a:t>
            </a:r>
          </a:p>
          <a:p>
            <a:pPr>
              <a:spcBef>
                <a:spcPts val="500"/>
              </a:spcBef>
            </a:pPr>
            <a:r>
              <a:rPr sz="1100">
                <a:solidFill>
                  <a:srgbClr val="2D2D2D"/>
                </a:solidFill>
              </a:rPr>
              <a:t>•  Time derivation: hour, rush, night, weekend</a:t>
            </a:r>
          </a:p>
          <a:p>
            <a:pPr>
              <a:spcBef>
                <a:spcPts val="500"/>
              </a:spcBef>
            </a:pPr>
            <a:r>
              <a:rPr sz="1100">
                <a:solidFill>
                  <a:srgbClr val="2D2D2D"/>
                </a:solidFill>
              </a:rPr>
              <a:t>•  Weather join on pickup date + hour</a:t>
            </a:r>
          </a:p>
          <a:p>
            <a:pPr>
              <a:spcBef>
                <a:spcPts val="500"/>
              </a:spcBef>
            </a:pPr>
            <a:r>
              <a:rPr sz="1100">
                <a:solidFill>
                  <a:srgbClr val="2D2D2D"/>
                </a:solidFill>
              </a:rPr>
              <a:t>•  Borough join via zone lookup</a:t>
            </a:r>
          </a:p>
          <a:p>
            <a:pPr>
              <a:spcBef>
                <a:spcPts val="500"/>
              </a:spcBef>
            </a:pPr>
            <a:r>
              <a:rPr sz="1100">
                <a:solidFill>
                  <a:srgbClr val="2D2D2D"/>
                </a:solidFill>
              </a:rPr>
              <a:t>•  Revenue: all fee columns carried through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Cost and Performance Rationale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5400000" cy="20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Warehouse Configuration</a:t>
            </a:r>
          </a:p>
          <a:p>
            <a:pPr>
              <a:spcBef>
                <a:spcPts val="600"/>
              </a:spcBef>
            </a:pPr>
            <a:r>
              <a:rPr sz="1200">
                <a:solidFill>
                  <a:srgbClr val="2D2D2D"/>
                </a:solidFill>
              </a:rPr>
              <a:t>•  Warehouse: COMPUTE_WH</a:t>
            </a:r>
          </a:p>
          <a:p>
            <a:pPr>
              <a:spcBef>
                <a:spcPts val="600"/>
              </a:spcBef>
            </a:pPr>
            <a:r>
              <a:rPr sz="1200">
                <a:solidFill>
                  <a:srgbClr val="2D2D2D"/>
                </a:solidFill>
              </a:rPr>
              <a:t>•  Size: [X-Small / Small]</a:t>
            </a:r>
          </a:p>
          <a:p>
            <a:pPr>
              <a:spcBef>
                <a:spcPts val="600"/>
              </a:spcBef>
            </a:pPr>
            <a:r>
              <a:rPr sz="1200">
                <a:solidFill>
                  <a:srgbClr val="2D2D2D"/>
                </a:solidFill>
              </a:rPr>
              <a:t>•  Auto-suspend: [X seconds]</a:t>
            </a:r>
          </a:p>
          <a:p>
            <a:pPr>
              <a:spcBef>
                <a:spcPts val="600"/>
              </a:spcBef>
            </a:pPr>
            <a:r>
              <a:rPr sz="1200">
                <a:solidFill>
                  <a:srgbClr val="2D2D2D"/>
                </a:solidFill>
              </a:rPr>
              <a:t>•  Tables: transient (no fail-safe cost)</a:t>
            </a:r>
          </a:p>
        </p:txBody>
      </p:sp>
      <p:sp>
        <p:nvSpPr>
          <p:cNvPr id="6" name="Rounded Rectangle 5"/>
          <p:cNvSpPr/>
          <p:nvPr/>
        </p:nvSpPr>
        <p:spPr>
          <a:xfrm>
            <a:off x="6100000" y="1000000"/>
            <a:ext cx="5700000" cy="2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Performance</a:t>
            </a:r>
          </a:p>
          <a:p>
            <a:pPr>
              <a:spcBef>
                <a:spcPts val="600"/>
              </a:spcBef>
            </a:pPr>
            <a:r>
              <a:rPr sz="1200">
                <a:solidFill>
                  <a:srgbClr val="2D2D2D"/>
                </a:solidFill>
              </a:rPr>
              <a:t>•  Full pipeline: ~6 min end-to-end</a:t>
            </a:r>
          </a:p>
          <a:p>
            <a:pPr>
              <a:spcBef>
                <a:spcPts val="600"/>
              </a:spcBef>
            </a:pPr>
            <a:r>
              <a:rPr sz="1200">
                <a:solidFill>
                  <a:srgbClr val="2D2D2D"/>
                </a:solidFill>
              </a:rPr>
              <a:t>•  Dashboard queries: &lt;1 sec (34K rows)</a:t>
            </a:r>
          </a:p>
          <a:p>
            <a:pPr>
              <a:spcBef>
                <a:spcPts val="600"/>
              </a:spcBef>
            </a:pPr>
            <a:r>
              <a:rPr sz="1200">
                <a:solidFill>
                  <a:srgbClr val="2D2D2D"/>
                </a:solidFill>
              </a:rPr>
              <a:t>•  dbt build (Silver + Gold): ~4 min</a:t>
            </a:r>
          </a:p>
          <a:p>
            <a:pPr>
              <a:spcBef>
                <a:spcPts val="600"/>
              </a:spcBef>
            </a:pPr>
            <a:r>
              <a:rPr sz="1200">
                <a:solidFill>
                  <a:srgbClr val="2D2D2D"/>
                </a:solidFill>
              </a:rPr>
              <a:t>•  COPY INTO: ~90 sec for 39M rows</a:t>
            </a:r>
          </a:p>
        </p:txBody>
      </p:sp>
      <p:sp>
        <p:nvSpPr>
          <p:cNvPr id="7" name="Rounded Rectangle 6"/>
          <p:cNvSpPr/>
          <p:nvPr/>
        </p:nvSpPr>
        <p:spPr>
          <a:xfrm>
            <a:off x="400000" y="3300000"/>
            <a:ext cx="114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At 10x the Data Volume</a:t>
            </a:r>
          </a:p>
          <a:p>
            <a:pPr>
              <a:spcBef>
                <a:spcPts val="500"/>
              </a:spcBef>
            </a:pPr>
            <a:r>
              <a:rPr sz="1200">
                <a:solidFill>
                  <a:srgbClr val="2D2D2D"/>
                </a:solidFill>
              </a:rPr>
              <a:t>•  Ingestion: switch to Snowpipe for continuous loading instead of batch COPY INTO</a:t>
            </a:r>
          </a:p>
          <a:p>
            <a:pPr>
              <a:spcBef>
                <a:spcPts val="500"/>
              </a:spcBef>
            </a:pPr>
            <a:r>
              <a:rPr sz="1200">
                <a:solidFill>
                  <a:srgbClr val="2D2D2D"/>
                </a:solidFill>
              </a:rPr>
              <a:t>•  Warehouse: scale up to Medium or use multi-cluster warehouse for concurrency</a:t>
            </a:r>
          </a:p>
          <a:p>
            <a:pPr>
              <a:spcBef>
                <a:spcPts val="500"/>
              </a:spcBef>
            </a:pPr>
            <a:r>
              <a:rPr sz="1200">
                <a:solidFill>
                  <a:srgbClr val="2D2D2D"/>
                </a:solidFill>
              </a:rPr>
              <a:t>•  Materialization: consider incremental models in dbt (append new data only, skip full rebuild)</a:t>
            </a:r>
          </a:p>
          <a:p>
            <a:pPr>
              <a:spcBef>
                <a:spcPts val="500"/>
              </a:spcBef>
            </a:pPr>
            <a:r>
              <a:rPr sz="1200">
                <a:solidFill>
                  <a:srgbClr val="2D2D2D"/>
                </a:solidFill>
              </a:rPr>
              <a:t>•  Storage: partition by year/month for query pruning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endParaRPr/>
          </a:p>
        </p:txBody>
      </p:sp>
      <p:sp>
        <p:nvSpPr>
          <p:cNvPr id="3" name="Title 2"/>
          <p:cNvSpPr>
            <a:spLocks noGrp="1"/>
          </p:cNvSpPr>
          <p:nvPr>
            <p:ph type="title"/>
          </p:nvPr>
        </p:nvSpPr>
        <p:spPr/>
        <p:txBody>
          <a:bodyPr/>
          <a:lstStyle/>
          <a:p>
            <a:r>
              <a:t>6</a:t>
            </a:r>
          </a:p>
        </p:txBody>
      </p:sp>
      <p:sp>
        <p:nvSpPr>
          <p:cNvPr id="4" name="Subtitle 3"/>
          <p:cNvSpPr>
            <a:spLocks noGrp="1"/>
          </p:cNvSpPr>
          <p:nvPr>
            <p:ph type="subTitle" idx="1"/>
          </p:nvPr>
        </p:nvSpPr>
        <p:spPr/>
        <p:txBody>
          <a:bodyPr/>
          <a:lstStyle/>
          <a:p>
            <a:r>
              <a:t>Future State and Recommendation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State Proposal</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000000"/>
            <a:ext cx="3600000" cy="48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2E7D32"/>
                </a:solidFill>
              </a:rPr>
              <a:t>Real-Time Ingestion</a:t>
            </a:r>
          </a:p>
          <a:p>
            <a:pPr>
              <a:spcBef>
                <a:spcPts val="1600"/>
              </a:spcBef>
            </a:pPr>
            <a:r>
              <a:rPr sz="1100" b="1">
                <a:solidFill>
                  <a:srgbClr val="2E7D32"/>
                </a:solidFill>
              </a:rPr>
              <a:t>What:</a:t>
            </a:r>
          </a:p>
          <a:p>
            <a:r>
              <a:rPr sz="1100">
                <a:solidFill>
                  <a:srgbClr val="2D2D2D"/>
                </a:solidFill>
              </a:rPr>
              <a:t>Snowpipe + streams for continuous loading</a:t>
            </a:r>
          </a:p>
          <a:p>
            <a:pPr>
              <a:spcBef>
                <a:spcPts val="1200"/>
              </a:spcBef>
            </a:pPr>
            <a:r>
              <a:rPr sz="1100" b="1">
                <a:solidFill>
                  <a:srgbClr val="2E7D32"/>
                </a:solidFill>
              </a:rPr>
              <a:t>Effort:</a:t>
            </a:r>
          </a:p>
          <a:p>
            <a:r>
              <a:rPr sz="1100">
                <a:solidFill>
                  <a:srgbClr val="2D2D2D"/>
                </a:solidFill>
              </a:rPr>
              <a:t>1-2 sprints</a:t>
            </a:r>
          </a:p>
          <a:p>
            <a:pPr>
              <a:spcBef>
                <a:spcPts val="1200"/>
              </a:spcBef>
            </a:pPr>
            <a:r>
              <a:rPr sz="1100" b="1">
                <a:solidFill>
                  <a:srgbClr val="2E7D32"/>
                </a:solidFill>
              </a:rPr>
              <a:t>Business Benefit:</a:t>
            </a:r>
          </a:p>
          <a:p>
            <a:r>
              <a:rPr sz="1100">
                <a:solidFill>
                  <a:srgbClr val="2D2D2D"/>
                </a:solidFill>
              </a:rPr>
              <a:t>Live demand monitoring during storms</a:t>
            </a:r>
          </a:p>
        </p:txBody>
      </p:sp>
      <p:sp>
        <p:nvSpPr>
          <p:cNvPr id="6" name="Rounded Rectangle 5"/>
          <p:cNvSpPr/>
          <p:nvPr/>
        </p:nvSpPr>
        <p:spPr>
          <a:xfrm>
            <a:off x="4300000" y="1000000"/>
            <a:ext cx="3600000" cy="4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0D47A1"/>
                </a:solidFill>
              </a:rPr>
              <a:t>ML Forecasting</a:t>
            </a:r>
          </a:p>
          <a:p>
            <a:pPr>
              <a:spcBef>
                <a:spcPts val="1600"/>
              </a:spcBef>
            </a:pPr>
            <a:r>
              <a:rPr sz="1100" b="1">
                <a:solidFill>
                  <a:srgbClr val="0D47A1"/>
                </a:solidFill>
              </a:rPr>
              <a:t>What:</a:t>
            </a:r>
          </a:p>
          <a:p>
            <a:r>
              <a:rPr sz="1100">
                <a:solidFill>
                  <a:srgbClr val="2D2D2D"/>
                </a:solidFill>
              </a:rPr>
              <a:t>Predict demand drops by borough before storms hit</a:t>
            </a:r>
          </a:p>
          <a:p>
            <a:pPr>
              <a:spcBef>
                <a:spcPts val="1200"/>
              </a:spcBef>
            </a:pPr>
            <a:r>
              <a:rPr sz="1100" b="1">
                <a:solidFill>
                  <a:srgbClr val="0D47A1"/>
                </a:solidFill>
              </a:rPr>
              <a:t>Effort:</a:t>
            </a:r>
          </a:p>
          <a:p>
            <a:r>
              <a:rPr sz="1100">
                <a:solidFill>
                  <a:srgbClr val="2D2D2D"/>
                </a:solidFill>
              </a:rPr>
              <a:t>2-3 sprints</a:t>
            </a:r>
          </a:p>
          <a:p>
            <a:pPr>
              <a:spcBef>
                <a:spcPts val="1200"/>
              </a:spcBef>
            </a:pPr>
            <a:r>
              <a:rPr sz="1100" b="1">
                <a:solidFill>
                  <a:srgbClr val="0D47A1"/>
                </a:solidFill>
              </a:rPr>
              <a:t>Business Benefit:</a:t>
            </a:r>
          </a:p>
          <a:p>
            <a:r>
              <a:rPr sz="1100">
                <a:solidFill>
                  <a:srgbClr val="2D2D2D"/>
                </a:solidFill>
              </a:rPr>
              <a:t>Proactive fleet positioning, fewer empty cabs</a:t>
            </a:r>
          </a:p>
        </p:txBody>
      </p:sp>
      <p:sp>
        <p:nvSpPr>
          <p:cNvPr id="7" name="Rounded Rectangle 6"/>
          <p:cNvSpPr/>
          <p:nvPr/>
        </p:nvSpPr>
        <p:spPr>
          <a:xfrm>
            <a:off x="8200000" y="1000000"/>
            <a:ext cx="3600000" cy="48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E65100"/>
                </a:solidFill>
              </a:rPr>
              <a:t>Multi-City Expansion</a:t>
            </a:r>
          </a:p>
          <a:p>
            <a:pPr>
              <a:spcBef>
                <a:spcPts val="1600"/>
              </a:spcBef>
            </a:pPr>
            <a:r>
              <a:rPr sz="1100" b="1">
                <a:solidFill>
                  <a:srgbClr val="E65100"/>
                </a:solidFill>
              </a:rPr>
              <a:t>What:</a:t>
            </a:r>
          </a:p>
          <a:p>
            <a:r>
              <a:rPr sz="1100">
                <a:solidFill>
                  <a:srgbClr val="2D2D2D"/>
                </a:solidFill>
              </a:rPr>
              <a:t>Replicate pipeline for Chicago, Boston, etc.</a:t>
            </a:r>
          </a:p>
          <a:p>
            <a:pPr>
              <a:spcBef>
                <a:spcPts val="1200"/>
              </a:spcBef>
            </a:pPr>
            <a:r>
              <a:rPr sz="1100" b="1">
                <a:solidFill>
                  <a:srgbClr val="E65100"/>
                </a:solidFill>
              </a:rPr>
              <a:t>Effort:</a:t>
            </a:r>
          </a:p>
          <a:p>
            <a:r>
              <a:rPr sz="1100">
                <a:solidFill>
                  <a:srgbClr val="2D2D2D"/>
                </a:solidFill>
              </a:rPr>
              <a:t>3-4 sprints per city</a:t>
            </a:r>
          </a:p>
          <a:p>
            <a:pPr>
              <a:spcBef>
                <a:spcPts val="1200"/>
              </a:spcBef>
            </a:pPr>
            <a:r>
              <a:rPr sz="1100" b="1">
                <a:solidFill>
                  <a:srgbClr val="E65100"/>
                </a:solidFill>
              </a:rPr>
              <a:t>Business Benefit:</a:t>
            </a:r>
          </a:p>
          <a:p>
            <a:r>
              <a:rPr sz="1100">
                <a:solidFill>
                  <a:srgbClr val="2D2D2D"/>
                </a:solidFill>
              </a:rPr>
              <a:t>National weather-demand intelligence</a:t>
            </a:r>
          </a:p>
        </p:txBody>
      </p:sp>
      <p:sp>
        <p:nvSpPr>
          <p:cNvPr id="8" name="Rounded Rectangle 7"/>
          <p:cNvSpPr/>
          <p:nvPr/>
        </p:nvSpPr>
        <p:spPr>
          <a:xfrm>
            <a:off x="400000" y="6000000"/>
            <a:ext cx="11400000" cy="6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D2D2D"/>
                </a:solidFill>
              </a:rPr>
              <a:t>Highest Impact: Real-Time Ingestion. Fleet operators need minute-level demand signals during active storms.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State Architecture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00000" y="2500000"/>
            <a:ext cx="8000000" cy="2000000"/>
          </a:xfrm>
          <a:prstGeom prst="rect">
            <a:avLst/>
          </a:prstGeom>
          <a:noFill/>
        </p:spPr>
        <p:txBody>
          <a:bodyPr wrap="none">
            <a:spAutoFit/>
          </a:bodyPr>
          <a:lstStyle/>
          <a:p>
            <a:pPr algn="ctr"/>
            <a:r>
              <a:rPr sz="1800" i="1">
                <a:solidFill>
                  <a:srgbClr val="555555"/>
                </a:solidFill>
              </a:rPr>
              <a:t>[Insert Future State Architecture Diagram]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Recommendation</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200000"/>
            <a:ext cx="11400000" cy="1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0D47A1"/>
                </a:solidFill>
              </a:rPr>
              <a:t>[One clear recommendation tied to the finding]</a:t>
            </a:r>
          </a:p>
          <a:p>
            <a:pPr algn="ctr">
              <a:spcBef>
                <a:spcPts val="800"/>
              </a:spcBef>
            </a:pPr>
            <a:r>
              <a:rPr sz="1400" i="1">
                <a:solidFill>
                  <a:srgbClr val="555555"/>
                </a:solidFill>
              </a:rPr>
              <a:t>e.g., Pre-position 15% more vehicles in outer boroughs during forecasted rain events</a:t>
            </a:r>
          </a:p>
        </p:txBody>
      </p:sp>
      <p:sp>
        <p:nvSpPr>
          <p:cNvPr id="6" name="Rounded Rectangle 5"/>
          <p:cNvSpPr/>
          <p:nvPr/>
        </p:nvSpPr>
        <p:spPr>
          <a:xfrm>
            <a:off x="400000" y="3400000"/>
            <a:ext cx="5400000" cy="15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2E7D32"/>
                </a:solidFill>
              </a:rPr>
              <a:t>Actionable Next Step</a:t>
            </a:r>
          </a:p>
          <a:p>
            <a:pPr>
              <a:spcBef>
                <a:spcPts val="800"/>
              </a:spcBef>
            </a:pPr>
            <a:r>
              <a:rPr sz="1300">
                <a:solidFill>
                  <a:srgbClr val="2D2D2D"/>
                </a:solidFill>
              </a:rPr>
              <a:t>[What the client should do first]</a:t>
            </a:r>
          </a:p>
        </p:txBody>
      </p:sp>
      <p:sp>
        <p:nvSpPr>
          <p:cNvPr id="7" name="Rounded Rectangle 6"/>
          <p:cNvSpPr/>
          <p:nvPr/>
        </p:nvSpPr>
        <p:spPr>
          <a:xfrm>
            <a:off x="6100000" y="3400000"/>
            <a:ext cx="5700000" cy="15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Implementation Cost</a:t>
            </a:r>
          </a:p>
          <a:p>
            <a:pPr>
              <a:spcBef>
                <a:spcPts val="800"/>
              </a:spcBef>
            </a:pPr>
            <a:r>
              <a:rPr sz="1300">
                <a:solidFill>
                  <a:srgbClr val="2D2D2D"/>
                </a:solidFill>
              </a:rPr>
              <a:t>[What it would take: time, team, tools]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r>
              <a:t>Questions?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Use Disclosure</a:t>
            </a:r>
          </a:p>
        </p:txBody>
      </p:sp>
      <p:sp>
        <p:nvSpPr>
          <p:cNvPr id="3" name="Content Placeholder 2"/>
          <p:cNvSpPr>
            <a:spLocks noGrp="1"/>
          </p:cNvSpPr>
          <p:nvPr>
            <p:ph idx="1"/>
          </p:nvPr>
        </p:nvSpPr>
        <p:spPr/>
        <p:txBody>
          <a:bodyPr/>
          <a:lstStyle/>
          <a:p>
            <a:endParaRPr/>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00000" y="1100000"/>
            <a:ext cx="11400000" cy="50000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rPr>
              <a:t>  Where We Used AI                    What For                              What We Verified</a:t>
            </a:r>
          </a:p>
        </p:txBody>
      </p:sp>
      <p:sp>
        <p:nvSpPr>
          <p:cNvPr id="6" name="Rounded Rectangle 5"/>
          <p:cNvSpPr/>
          <p:nvPr/>
        </p:nvSpPr>
        <p:spPr>
          <a:xfrm>
            <a:off x="400000" y="1650000"/>
            <a:ext cx="11400000" cy="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7" name="Rounded Rectangle 6"/>
          <p:cNvSpPr/>
          <p:nvPr/>
        </p:nvSpPr>
        <p:spPr>
          <a:xfrm>
            <a:off x="400000" y="2200000"/>
            <a:ext cx="11400000" cy="5000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8" name="Rounded Rectangle 7"/>
          <p:cNvSpPr/>
          <p:nvPr/>
        </p:nvSpPr>
        <p:spPr>
          <a:xfrm>
            <a:off x="400000" y="2750000"/>
            <a:ext cx="11400000" cy="5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a:solidFill>
                  <a:srgbClr val="2D2D2D"/>
                </a:solidFill>
              </a:rPr>
              <a:t>  [Tool]                                        [Purpose]                                    [Verification]</a:t>
            </a:r>
          </a:p>
        </p:txBody>
      </p:sp>
      <p:sp>
        <p:nvSpPr>
          <p:cNvPr id="9" name="Rounded Rectangle 8"/>
          <p:cNvSpPr/>
          <p:nvPr/>
        </p:nvSpPr>
        <p:spPr>
          <a:xfrm>
            <a:off x="400000" y="3600000"/>
            <a:ext cx="114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E65100"/>
                </a:solidFill>
              </a:rPr>
              <a:t>What We Rejected or Corrected From AI Suggestions</a:t>
            </a:r>
          </a:p>
          <a:p>
            <a:pPr>
              <a:spcBef>
                <a:spcPts val="800"/>
              </a:spcBef>
            </a:pPr>
            <a:r>
              <a:rPr sz="1200">
                <a:solidFill>
                  <a:srgbClr val="2D2D2D"/>
                </a:solidFill>
              </a:rPr>
              <a:t>[Describe corrections made, things that required manual verification, etc.]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Headline Finding (NEW VERSION)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1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500" b="1">
                <a:solidFill>
                  <a:srgbClr val="333333"/>
                </a:solidFill>
              </a:rPr>
              <a:t>In 2025, adverse weather boosted taxi demand in Manhattan (+15.6%) and</a:t>
            </a:r>
          </a:p>
          <a:p>
            <a:r>
              <a:rPr sz="1500" b="1">
                <a:solidFill>
                  <a:srgbClr val="333333"/>
                </a:solidFill>
              </a:rPr>
              <a:t>Brooklyn (+20.6%) as riders switched to cabs. By 2026, that pattern reversed:</a:t>
            </a:r>
          </a:p>
          <a:p>
            <a:r>
              <a:rPr sz="1500" b="1">
                <a:solidFill>
                  <a:srgbClr val="333333"/>
                </a:solidFill>
              </a:rPr>
              <a:t>adverse weather now suppresses demand across all boroughs.</a:t>
            </a:r>
          </a:p>
        </p:txBody>
      </p:sp>
      <p:sp>
        <p:nvSpPr>
          <p:cNvPr id="6" name="Rounded Rectangle 5"/>
          <p:cNvSpPr/>
          <p:nvPr/>
        </p:nvSpPr>
        <p:spPr>
          <a:xfrm>
            <a:off x="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2800" b="1">
                <a:solidFill>
                  <a:srgbClr val="333333"/>
                </a:solidFill>
              </a:rPr>
              <a:t>38M+</a:t>
            </a:r>
          </a:p>
          <a:p>
            <a:r>
              <a:rPr sz="1400" b="0">
                <a:solidFill>
                  <a:srgbClr val="333333"/>
                </a:solidFill>
              </a:rPr>
              <a:t>Trip Records Analyzed</a:t>
            </a:r>
          </a:p>
        </p:txBody>
      </p:sp>
      <p:sp>
        <p:nvSpPr>
          <p:cNvPr id="7" name="Rounded Rectangle 6"/>
          <p:cNvSpPr/>
          <p:nvPr/>
        </p:nvSpPr>
        <p:spPr>
          <a:xfrm>
            <a:off x="4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2800" b="1">
                <a:solidFill>
                  <a:srgbClr val="333333"/>
                </a:solidFill>
              </a:rPr>
              <a:t>10 months</a:t>
            </a:r>
          </a:p>
          <a:p>
            <a:r>
              <a:rPr sz="1400" b="0">
                <a:solidFill>
                  <a:srgbClr val="333333"/>
                </a:solidFill>
              </a:rPr>
              <a:t>Jan-May 2025 vs 2026</a:t>
            </a:r>
          </a:p>
        </p:txBody>
      </p:sp>
      <p:sp>
        <p:nvSpPr>
          <p:cNvPr id="8" name="Rounded Rectangle 7"/>
          <p:cNvSpPr/>
          <p:nvPr/>
        </p:nvSpPr>
        <p:spPr>
          <a:xfrm>
            <a:off x="8400000" y="2800000"/>
            <a:ext cx="3200000" cy="1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2800" b="1">
                <a:solidFill>
                  <a:srgbClr val="333333"/>
                </a:solidFill>
              </a:rPr>
              <a:t>5 boroughs</a:t>
            </a:r>
          </a:p>
          <a:p>
            <a:r>
              <a:rPr sz="1400" b="0">
                <a:solidFill>
                  <a:srgbClr val="333333"/>
                </a:solidFill>
              </a:rPr>
              <a:t>Weather Impact Compared</a:t>
            </a:r>
          </a:p>
        </p:txBody>
      </p:sp>
      <p:sp>
        <p:nvSpPr>
          <p:cNvPr id="9" name="Rounded Rectangle 8"/>
          <p:cNvSpPr/>
          <p:nvPr/>
        </p:nvSpPr>
        <p:spPr>
          <a:xfrm>
            <a:off x="400000" y="4600000"/>
            <a:ext cx="11400000" cy="1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Key Insight: Snow severity doubled (25.2 in vs. 11.6 in), causing rush-hour storm losses to exceed off-peak losses by 3-5x. Pre-positioning vehicles is the highest-value intervention.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Business Question (NEW VERSION)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12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600" b="1">
                <a:solidFill>
                  <a:srgbClr val="333333"/>
                </a:solidFill>
              </a:rPr>
              <a:t>How does adverse weather affect taxi demand across NYC boroughs,</a:t>
            </a:r>
          </a:p>
          <a:p>
            <a:r>
              <a:rPr sz="1600" b="1">
                <a:solidFill>
                  <a:srgbClr val="333333"/>
                </a:solidFill>
              </a:rPr>
              <a:t>and how did those patterns shift between 2025 and 2026?</a:t>
            </a:r>
          </a:p>
        </p:txBody>
      </p:sp>
      <p:sp>
        <p:nvSpPr>
          <p:cNvPr id="6" name="Rounded Rectangle 5"/>
          <p:cNvSpPr/>
          <p:nvPr/>
        </p:nvSpPr>
        <p:spPr>
          <a:xfrm>
            <a:off x="400000" y="2600000"/>
            <a:ext cx="5400000" cy="22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Why It Matters</a:t>
            </a:r>
          </a:p>
          <a:p>
            <a:r>
              <a:rPr sz="1000" b="0">
                <a:solidFill>
                  <a:srgbClr val="333333"/>
                </a:solidFill>
              </a:rPr>
              <a:t/>
            </a:r>
          </a:p>
          <a:p>
            <a:r>
              <a:rPr sz="1200" b="0">
                <a:solidFill>
                  <a:srgbClr val="333333"/>
                </a:solidFill>
              </a:rPr>
              <a:t>Fleet operators need to know where demand drops during storms</a:t>
            </a:r>
          </a:p>
          <a:p>
            <a:r>
              <a:rPr sz="1200" b="0">
                <a:solidFill>
                  <a:srgbClr val="333333"/>
                </a:solidFill>
              </a:rPr>
              <a:t>Surge pricing decisions depend on weather sensitivity by zone</a:t>
            </a:r>
          </a:p>
          <a:p>
            <a:r>
              <a:rPr sz="1200" b="0">
                <a:solidFill>
                  <a:srgbClr val="333333"/>
                </a:solidFill>
              </a:rPr>
              <a:t>NYC TLC planning benefits from quantified weather impact</a:t>
            </a:r>
          </a:p>
        </p:txBody>
      </p:sp>
      <p:sp>
        <p:nvSpPr>
          <p:cNvPr id="7" name="Rounded Rectangle 6"/>
          <p:cNvSpPr/>
          <p:nvPr/>
        </p:nvSpPr>
        <p:spPr>
          <a:xfrm>
            <a:off x="6100000" y="2600000"/>
            <a:ext cx="5700000" cy="22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Scope</a:t>
            </a:r>
          </a:p>
          <a:p>
            <a:r>
              <a:rPr sz="1000" b="0">
                <a:solidFill>
                  <a:srgbClr val="333333"/>
                </a:solidFill>
              </a:rPr>
              <a:t/>
            </a:r>
          </a:p>
          <a:p>
            <a:r>
              <a:rPr sz="1200" b="0">
                <a:solidFill>
                  <a:srgbClr val="333333"/>
                </a:solidFill>
              </a:rPr>
              <a:t>Yellow + Green taxi, Jan-May 2025 vs Jan-May 2026</a:t>
            </a:r>
          </a:p>
          <a:p>
            <a:r>
              <a:rPr sz="1200" b="0">
                <a:solidFill>
                  <a:srgbClr val="333333"/>
                </a:solidFill>
              </a:rPr>
              <a:t>39.2 million trip records from S3</a:t>
            </a:r>
          </a:p>
          <a:p>
            <a:r>
              <a:rPr sz="1200" b="0">
                <a:solidFill>
                  <a:srgbClr val="333333"/>
                </a:solidFill>
              </a:rPr>
              <a:t>Weather enrichment: hourly NYC conditions (7,248 hrs)</a:t>
            </a:r>
          </a:p>
          <a:p>
            <a:r>
              <a:rPr sz="1200" b="0">
                <a:solidFill>
                  <a:srgbClr val="333333"/>
                </a:solidFill>
              </a:rPr>
              <a:t>265 taxi zones mapped to 5 boroughs</a:t>
            </a:r>
          </a:p>
        </p:txBody>
      </p:sp>
      <p:sp>
        <p:nvSpPr>
          <p:cNvPr id="8" name="Rounded Rectangle 7"/>
          <p:cNvSpPr/>
          <p:nvPr/>
        </p:nvSpPr>
        <p:spPr>
          <a:xfrm>
            <a:off x="400000" y="5100000"/>
            <a:ext cx="11400000" cy="10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How We Know We Answered It: Pre-aggregated mart (30,251 rows) with trip counts, revenue, and duration by borough, weather, year, month, hour, rush hour, night, weekend, and payment type.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Year-over-Year Finding (NEW VERSION)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15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2025: Adverse weather INCREASED daytime taxi demand in Manhattan (+15.6%)</a:t>
            </a:r>
          </a:p>
          <a:p>
            <a:r>
              <a:rPr sz="1300" b="1">
                <a:solidFill>
                  <a:srgbClr val="333333"/>
                </a:solidFill>
              </a:rPr>
              <a:t>and Brooklyn (+20.6%) as riders switched from walking/transit to cabs.</a:t>
            </a:r>
          </a:p>
          <a:p>
            <a:r>
              <a:rPr sz="1000" b="0">
                <a:solidFill>
                  <a:srgbClr val="333333"/>
                </a:solidFill>
              </a:rPr>
              <a:t/>
            </a:r>
          </a:p>
          <a:p>
            <a:r>
              <a:rPr sz="1300" b="1">
                <a:solidFill>
                  <a:srgbClr val="333333"/>
                </a:solidFill>
              </a:rPr>
              <a:t>2026: That same weather DECREASED demand everywhere. Manhattan -18.4%,</a:t>
            </a:r>
          </a:p>
          <a:p>
            <a:r>
              <a:rPr sz="1300" b="1">
                <a:solidFill>
                  <a:srgbClr val="333333"/>
                </a:solidFill>
              </a:rPr>
              <a:t>Brooklyn -9.7%, Queens -24.3%, Bronx -24.1%.</a:t>
            </a:r>
          </a:p>
        </p:txBody>
      </p:sp>
      <p:sp>
        <p:nvSpPr>
          <p:cNvPr id="6" name="Rounded Rectangle 5"/>
          <p:cNvSpPr/>
          <p:nvPr/>
        </p:nvSpPr>
        <p:spPr>
          <a:xfrm>
            <a:off x="400000" y="2900000"/>
            <a:ext cx="5400000" cy="16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Is the comparison fair?</a:t>
            </a:r>
          </a:p>
          <a:p>
            <a:r>
              <a:rPr sz="1000" b="0">
                <a:solidFill>
                  <a:srgbClr val="333333"/>
                </a:solidFill>
              </a:rPr>
              <a:t/>
            </a:r>
          </a:p>
          <a:p>
            <a:r>
              <a:rPr sz="1100" b="0">
                <a:solidFill>
                  <a:srgbClr val="333333"/>
                </a:solidFill>
              </a:rPr>
              <a:t>Same months (Jan-May), same vehicle types, same DQ</a:t>
            </a:r>
          </a:p>
          <a:p>
            <a:r>
              <a:rPr sz="1100" b="0">
                <a:solidFill>
                  <a:srgbClr val="333333"/>
                </a:solidFill>
              </a:rPr>
              <a:t>filters applied to both years. Weather matched on</a:t>
            </a:r>
          </a:p>
          <a:p>
            <a:r>
              <a:rPr sz="1100" b="0">
                <a:solidFill>
                  <a:srgbClr val="333333"/>
                </a:solidFill>
              </a:rPr>
              <a:t>same hourly granularity. 3.0% flagged invalid in both.</a:t>
            </a:r>
          </a:p>
        </p:txBody>
      </p:sp>
      <p:sp>
        <p:nvSpPr>
          <p:cNvPr id="7" name="Rounded Rectangle 6"/>
          <p:cNvSpPr/>
          <p:nvPr/>
        </p:nvSpPr>
        <p:spPr>
          <a:xfrm>
            <a:off x="6100000" y="2900000"/>
            <a:ext cx="5700000" cy="16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1">
                <a:solidFill>
                  <a:srgbClr val="333333"/>
                </a:solidFill>
              </a:rPr>
              <a:t>What drove it?</a:t>
            </a:r>
          </a:p>
          <a:p>
            <a:r>
              <a:rPr sz="1000" b="0">
                <a:solidFill>
                  <a:srgbClr val="333333"/>
                </a:solidFill>
              </a:rPr>
              <a:t/>
            </a:r>
          </a:p>
          <a:p>
            <a:r>
              <a:rPr sz="1100" b="0">
                <a:solidFill>
                  <a:srgbClr val="333333"/>
                </a:solidFill>
              </a:rPr>
              <a:t>Snow severity doubled: 11.6 in (2025) vs 25.2 in (2026)</a:t>
            </a:r>
          </a:p>
          <a:p>
            <a:r>
              <a:rPr sz="1100" b="0">
                <a:solidFill>
                  <a:srgbClr val="333333"/>
                </a:solidFill>
              </a:rPr>
              <a:t>Snow hours: 84 vs 133. Rain still boosts demand both years.</a:t>
            </a:r>
          </a:p>
          <a:p>
            <a:r>
              <a:rPr sz="1100" b="0">
                <a:solidFill>
                  <a:srgbClr val="333333"/>
                </a:solidFill>
              </a:rPr>
              <a:t>Snow drove Manhattan -31.3%, Queens -31.4% in 2026.</a:t>
            </a:r>
          </a:p>
        </p:txBody>
      </p:sp>
      <p:sp>
        <p:nvSpPr>
          <p:cNvPr id="8" name="Rounded Rectangle 7"/>
          <p:cNvSpPr/>
          <p:nvPr/>
        </p:nvSpPr>
        <p:spPr>
          <a:xfrm>
            <a:off x="400000" y="4800000"/>
            <a:ext cx="11400000" cy="10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200" b="1">
                <a:solidFill>
                  <a:srgbClr val="333333"/>
                </a:solidFill>
              </a:rPr>
              <a:t>So What? Pre-position vehicles before forecasted snow events, prioritize rush-hour coverage. Rain = revenue opportunity (+11-22% demand). Snow = risk requiring proactive fleet response (-19% to -31% demand).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Streamlit Dashboard (NEW VERSION - place before Tableau)</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0">
                <a:solidFill>
                  <a:srgbClr val="333333"/>
                </a:solidFill>
              </a:rPr>
              <a:t>[Insert Streamlit Dashboard Screenshot]</a:t>
            </a:r>
          </a:p>
          <a:p>
            <a:r>
              <a:rPr sz="1200" b="0">
                <a:solidFill>
                  <a:srgbClr val="333333"/>
                </a:solidFill>
              </a:rPr>
              <a:t>Deployed on Streamlit Community Cloud | Live Snowflake connection | 6 interactive visualizations with borough tabs</a:t>
            </a:r>
          </a:p>
        </p:txBody>
      </p:sp>
      <p:sp>
        <p:nvSpPr>
          <p:cNvPr id="6" name="Rounded Rectangle 5"/>
          <p:cNvSpPr/>
          <p:nvPr/>
        </p:nvSpPr>
        <p:spPr>
          <a:xfrm>
            <a:off x="400000" y="2100000"/>
            <a:ext cx="5400000" cy="2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6 Visualizations Tell the Story</a:t>
            </a:r>
          </a:p>
          <a:p>
            <a:r>
              <a:rPr sz="1000" b="0">
                <a:solidFill>
                  <a:srgbClr val="333333"/>
                </a:solidFill>
              </a:rPr>
              <a:t/>
            </a:r>
          </a:p>
          <a:p>
            <a:r>
              <a:rPr sz="1100" b="0">
                <a:solidFill>
                  <a:srgbClr val="333333"/>
                </a:solidFill>
              </a:rPr>
              <a:t>1. Monthly trip volume (YoY growth trend)</a:t>
            </a:r>
          </a:p>
          <a:p>
            <a:r>
              <a:rPr sz="1100" b="0">
                <a:solidFill>
                  <a:srgbClr val="333333"/>
                </a:solidFill>
              </a:rPr>
              <a:t>2. Weekday vs. weekend hourly demand patterns</a:t>
            </a:r>
          </a:p>
          <a:p>
            <a:r>
              <a:rPr sz="1100" b="0">
                <a:solidFill>
                  <a:srgbClr val="333333"/>
                </a:solidFill>
              </a:rPr>
              <a:t>3. Average trip cost by weather (stable across conditions)</a:t>
            </a:r>
          </a:p>
          <a:p>
            <a:r>
              <a:rPr sz="1100" b="0">
                <a:solidFill>
                  <a:srgbClr val="333333"/>
                </a:solidFill>
              </a:rPr>
              <a:t>4. Weather's demand effect flipped 2025 to 2026 (core finding)</a:t>
            </a:r>
          </a:p>
          <a:p>
            <a:r>
              <a:rPr sz="1100" b="0">
                <a:solidFill>
                  <a:srgbClr val="333333"/>
                </a:solidFill>
              </a:rPr>
              <a:t>5. Rain vs. snow breakdown (snow is the driver)</a:t>
            </a:r>
          </a:p>
          <a:p>
            <a:r>
              <a:rPr sz="1100" b="0">
                <a:solidFill>
                  <a:srgbClr val="333333"/>
                </a:solidFill>
              </a:rPr>
              <a:t>6. Revenue per storm-hour (dollar impact, rush vs off-peak)</a:t>
            </a:r>
          </a:p>
        </p:txBody>
      </p:sp>
      <p:sp>
        <p:nvSpPr>
          <p:cNvPr id="7" name="Rounded Rectangle 6"/>
          <p:cNvSpPr/>
          <p:nvPr/>
        </p:nvSpPr>
        <p:spPr>
          <a:xfrm>
            <a:off x="6100000" y="2100000"/>
            <a:ext cx="57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Key Insights from the Dashboard</a:t>
            </a:r>
          </a:p>
          <a:p>
            <a:r>
              <a:rPr sz="1000" b="0">
                <a:solidFill>
                  <a:srgbClr val="333333"/>
                </a:solidFill>
              </a:rPr>
              <a:t/>
            </a:r>
          </a:p>
          <a:p>
            <a:r>
              <a:rPr sz="1100" b="0">
                <a:solidFill>
                  <a:srgbClr val="333333"/>
                </a:solidFill>
              </a:rPr>
              <a:t>Manhattan: +15.6% demand in storms (2025) to -18.4% (2026)</a:t>
            </a:r>
          </a:p>
          <a:p>
            <a:r>
              <a:rPr sz="1100" b="0">
                <a:solidFill>
                  <a:srgbClr val="333333"/>
                </a:solidFill>
              </a:rPr>
              <a:t>Snow drove -31% demand in Manhattan/Queens in 2026</a:t>
            </a:r>
          </a:p>
          <a:p>
            <a:r>
              <a:rPr sz="1100" b="0">
                <a:solidFill>
                  <a:srgbClr val="333333"/>
                </a:solidFill>
              </a:rPr>
              <a:t>Rain STILL boosts demand (+11-22%) in both years</a:t>
            </a:r>
          </a:p>
          <a:p>
            <a:r>
              <a:rPr sz="1100" b="0">
                <a:solidFill>
                  <a:srgbClr val="333333"/>
                </a:solidFill>
              </a:rPr>
              <a:t>Trip cost stable across weather (volume, not price, changes)</a:t>
            </a:r>
          </a:p>
          <a:p>
            <a:r>
              <a:rPr sz="1100" b="0">
                <a:solidFill>
                  <a:srgbClr val="333333"/>
                </a:solidFill>
              </a:rPr>
              <a:t>Rush-hour storm losses exceed off-peak by 3-5x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 (NEW VERSION)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11400000" cy="14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Implement a storm-response protocol: pre-position 15-20% more vehicles in Manhattan and</a:t>
            </a:r>
          </a:p>
          <a:p>
            <a:r>
              <a:rPr sz="1400" b="1">
                <a:solidFill>
                  <a:srgbClr val="333333"/>
                </a:solidFill>
              </a:rPr>
              <a:t>Brooklyn during forecasted snow events, with priority coverage during rush hours (7-10 AM, 4-7 PM).</a:t>
            </a:r>
          </a:p>
          <a:p>
            <a:r>
              <a:rPr sz="1000" b="0">
                <a:solidFill>
                  <a:srgbClr val="333333"/>
                </a:solidFill>
              </a:rPr>
              <a:t/>
            </a:r>
          </a:p>
          <a:p>
            <a:r>
              <a:rPr sz="1200" b="0">
                <a:solidFill>
                  <a:srgbClr val="333333"/>
                </a:solidFill>
              </a:rPr>
              <a:t>Rain events remain a revenue opportunity (demand increases +11-22%), so maintain or expand coverage during rain.</a:t>
            </a:r>
          </a:p>
        </p:txBody>
      </p:sp>
      <p:sp>
        <p:nvSpPr>
          <p:cNvPr id="6" name="Rounded Rectangle 5"/>
          <p:cNvSpPr/>
          <p:nvPr/>
        </p:nvSpPr>
        <p:spPr>
          <a:xfrm>
            <a:off x="400000" y="2800000"/>
            <a:ext cx="5400000" cy="18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Actionable Next Step</a:t>
            </a:r>
          </a:p>
          <a:p>
            <a:r>
              <a:rPr sz="1000" b="0">
                <a:solidFill>
                  <a:srgbClr val="333333"/>
                </a:solidFill>
              </a:rPr>
              <a:t/>
            </a:r>
          </a:p>
          <a:p>
            <a:r>
              <a:rPr sz="1200" b="0">
                <a:solidFill>
                  <a:srgbClr val="333333"/>
                </a:solidFill>
              </a:rPr>
              <a:t>Integrate hourly weather forecasts into dispatch.</a:t>
            </a:r>
          </a:p>
          <a:p>
            <a:r>
              <a:rPr sz="1200" b="0">
                <a:solidFill>
                  <a:srgbClr val="333333"/>
                </a:solidFill>
              </a:rPr>
              <a:t>Trigger pre-positioning 2 hours before snow onset.</a:t>
            </a:r>
          </a:p>
          <a:p>
            <a:r>
              <a:rPr sz="1200" b="0">
                <a:solidFill>
                  <a:srgbClr val="333333"/>
                </a:solidFill>
              </a:rPr>
              <a:t>Track revenue-per-storm-hour as the KPI.</a:t>
            </a:r>
          </a:p>
        </p:txBody>
      </p:sp>
      <p:sp>
        <p:nvSpPr>
          <p:cNvPr id="7" name="Rounded Rectangle 6"/>
          <p:cNvSpPr/>
          <p:nvPr/>
        </p:nvSpPr>
        <p:spPr>
          <a:xfrm>
            <a:off x="6100000" y="2800000"/>
            <a:ext cx="5700000" cy="18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Implementation Cost</a:t>
            </a:r>
          </a:p>
          <a:p>
            <a:r>
              <a:rPr sz="1000" b="0">
                <a:solidFill>
                  <a:srgbClr val="333333"/>
                </a:solidFill>
              </a:rPr>
              <a:t/>
            </a:r>
          </a:p>
          <a:p>
            <a:r>
              <a:rPr sz="1200" b="0">
                <a:solidFill>
                  <a:srgbClr val="333333"/>
                </a:solidFill>
              </a:rPr>
              <a:t>1-2 sprint integration with existing dispatch</a:t>
            </a:r>
          </a:p>
          <a:p>
            <a:r>
              <a:rPr sz="1200" b="0">
                <a:solidFill>
                  <a:srgbClr val="333333"/>
                </a:solidFill>
              </a:rPr>
              <a:t>Weather API subscription: $0 (Open-Meteo)</a:t>
            </a:r>
          </a:p>
          <a:p>
            <a:r>
              <a:rPr sz="1200" b="0">
                <a:solidFill>
                  <a:srgbClr val="333333"/>
                </a:solidFill>
              </a:rPr>
              <a:t>Snowpipe for real-time data: included in Snowflake</a:t>
            </a:r>
          </a:p>
          <a:p>
            <a:r>
              <a:rPr sz="1200" b="0">
                <a:solidFill>
                  <a:srgbClr val="333333"/>
                </a:solidFill>
              </a:rPr>
              <a:t>Alerting logic: 1 engineer, 2 weeks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p:txBody>
          <a:bodyPr/>
          <a:lstStyle/>
          <a:p>
            <a:r>
              <a:t>6</a:t>
            </a:r>
          </a:p>
        </p:txBody>
      </p:sp>
      <p:sp>
        <p:nvSpPr>
          <p:cNvPr id="4" name="Subtitle 3"/>
          <p:cNvSpPr>
            <a:spLocks noGrp="1"/>
          </p:cNvSpPr>
          <p:nvPr>
            <p:ph type="subTitle" idx="1"/>
          </p:nvPr>
        </p:nvSpPr>
        <p:spPr/>
        <p:txBody>
          <a:bodyPr/>
          <a:lstStyle/>
          <a:p>
            <a:r>
              <a:t>Extensions: Beyond the Requirements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Extensions Overview</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3500000" cy="24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600" b="1">
                <a:solidFill>
                  <a:srgbClr val="333333"/>
                </a:solidFill>
              </a:rPr>
              <a:t>Streamlit Dashboard</a:t>
            </a:r>
          </a:p>
          <a:p>
            <a:r>
              <a:rPr sz="1000" b="0">
                <a:solidFill>
                  <a:srgbClr val="333333"/>
                </a:solidFill>
              </a:rPr>
              <a:t/>
            </a:r>
          </a:p>
          <a:p>
            <a:r>
              <a:rPr sz="1200" b="0">
                <a:solidFill>
                  <a:srgbClr val="333333"/>
                </a:solidFill>
              </a:rPr>
              <a:t>Deployed interactive app</a:t>
            </a:r>
          </a:p>
          <a:p>
            <a:r>
              <a:rPr sz="1200" b="0">
                <a:solidFill>
                  <a:srgbClr val="333333"/>
                </a:solidFill>
              </a:rPr>
              <a:t>6 progressive visualizations</a:t>
            </a:r>
          </a:p>
          <a:p>
            <a:r>
              <a:rPr sz="1200" b="0">
                <a:solidFill>
                  <a:srgbClr val="333333"/>
                </a:solidFill>
              </a:rPr>
              <a:t>Live Snowflake connection</a:t>
            </a:r>
          </a:p>
          <a:p>
            <a:r>
              <a:rPr sz="1200" b="0">
                <a:solidFill>
                  <a:srgbClr val="333333"/>
                </a:solidFill>
              </a:rPr>
              <a:t>Streamlit Community Cloud</a:t>
            </a:r>
          </a:p>
          <a:p>
            <a:r>
              <a:rPr sz="1200" b="0">
                <a:solidFill>
                  <a:srgbClr val="333333"/>
                </a:solidFill>
              </a:rPr>
              <a:t>CI/CD via GitHub Actions</a:t>
            </a:r>
          </a:p>
        </p:txBody>
      </p:sp>
      <p:sp>
        <p:nvSpPr>
          <p:cNvPr id="6" name="Rounded Rectangle 5"/>
          <p:cNvSpPr/>
          <p:nvPr/>
        </p:nvSpPr>
        <p:spPr>
          <a:xfrm>
            <a:off x="4200000" y="1100000"/>
            <a:ext cx="3500000" cy="24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600" b="1">
                <a:solidFill>
                  <a:srgbClr val="333333"/>
                </a:solidFill>
              </a:rPr>
              <a:t>BigQuery ML</a:t>
            </a:r>
          </a:p>
          <a:p>
            <a:r>
              <a:rPr sz="1000" b="0">
                <a:solidFill>
                  <a:srgbClr val="333333"/>
                </a:solidFill>
              </a:rPr>
              <a:t/>
            </a:r>
          </a:p>
          <a:p>
            <a:r>
              <a:rPr sz="1200" b="0">
                <a:solidFill>
                  <a:srgbClr val="333333"/>
                </a:solidFill>
              </a:rPr>
              <a:t>K-Means trip segmentation</a:t>
            </a:r>
          </a:p>
          <a:p>
            <a:r>
              <a:rPr sz="1200" b="0">
                <a:solidFill>
                  <a:srgbClr val="333333"/>
                </a:solidFill>
              </a:rPr>
              <a:t>Tested k=3, 4, 5, 6</a:t>
            </a:r>
          </a:p>
          <a:p>
            <a:r>
              <a:rPr sz="1200" b="0">
                <a:solidFill>
                  <a:srgbClr val="333333"/>
                </a:solidFill>
              </a:rPr>
              <a:t>Davies-Bouldin evaluation</a:t>
            </a:r>
          </a:p>
          <a:p>
            <a:r>
              <a:rPr sz="1200" b="0">
                <a:solidFill>
                  <a:srgbClr val="333333"/>
                </a:solidFill>
              </a:rPr>
              <a:t>4 clusters selected</a:t>
            </a:r>
          </a:p>
          <a:p>
            <a:r>
              <a:rPr sz="1200" b="0">
                <a:solidFill>
                  <a:srgbClr val="333333"/>
                </a:solidFill>
              </a:rPr>
              <a:t>Zone-level behavior patterns</a:t>
            </a:r>
          </a:p>
        </p:txBody>
      </p:sp>
      <p:sp>
        <p:nvSpPr>
          <p:cNvPr id="7" name="Rounded Rectangle 6"/>
          <p:cNvSpPr/>
          <p:nvPr/>
        </p:nvSpPr>
        <p:spPr>
          <a:xfrm>
            <a:off x="8000000" y="1100000"/>
            <a:ext cx="3500000" cy="24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600" b="1">
                <a:solidFill>
                  <a:srgbClr val="333333"/>
                </a:solidFill>
              </a:rPr>
              <a:t>Pipeline Orchestration</a:t>
            </a:r>
          </a:p>
          <a:p>
            <a:r>
              <a:rPr sz="1000" b="0">
                <a:solidFill>
                  <a:srgbClr val="333333"/>
                </a:solidFill>
              </a:rPr>
              <a:t/>
            </a:r>
          </a:p>
          <a:p>
            <a:r>
              <a:rPr sz="1200" b="0">
                <a:solidFill>
                  <a:srgbClr val="333333"/>
                </a:solidFill>
              </a:rPr>
              <a:t>Single-command execution</a:t>
            </a:r>
          </a:p>
          <a:p>
            <a:r>
              <a:rPr sz="1200" b="0">
                <a:solidFill>
                  <a:srgbClr val="333333"/>
                </a:solidFill>
              </a:rPr>
              <a:t>7 steps, ~6 min end-to-end</a:t>
            </a:r>
          </a:p>
          <a:p>
            <a:r>
              <a:rPr sz="1200" b="0">
                <a:solidFill>
                  <a:srgbClr val="333333"/>
                </a:solidFill>
              </a:rPr>
              <a:t>Idempotent (safe to re-run)</a:t>
            </a:r>
          </a:p>
          <a:p>
            <a:r>
              <a:rPr sz="1200" b="0">
                <a:solidFill>
                  <a:srgbClr val="333333"/>
                </a:solidFill>
              </a:rPr>
              <a:t>Fail-fast with clear errors</a:t>
            </a:r>
          </a:p>
          <a:p>
            <a:r>
              <a:rPr sz="1200" b="0">
                <a:solidFill>
                  <a:srgbClr val="333333"/>
                </a:solidFill>
              </a:rPr>
              <a:t>Row count reconciliation</a:t>
            </a:r>
          </a:p>
        </p:txBody>
      </p:sp>
      <p:sp>
        <p:nvSpPr>
          <p:cNvPr id="8" name="Rounded Rectangle 7"/>
          <p:cNvSpPr/>
          <p:nvPr/>
        </p:nvSpPr>
        <p:spPr>
          <a:xfrm>
            <a:off x="400000" y="3800000"/>
            <a:ext cx="11400000" cy="900000"/>
          </a:xfrm>
          <a:prstGeom prst="roundRect">
            <a:avLst/>
          </a:prstGeom>
          <a:solidFill>
            <a:srgbClr val="FCE4EC"/>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300" b="0">
                <a:solidFill>
                  <a:srgbClr val="333333"/>
                </a:solidFill>
              </a:rPr>
              <a:t>All three extensions are genuinely integrated into the core project. The Streamlit app queries the same Gold layer as Tableau, the ML model uses the same mart data, and orchestration builds the entire pipeline.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BigQuery ML Clustering</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5400000" cy="20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Approach</a:t>
            </a:r>
          </a:p>
          <a:p>
            <a:r>
              <a:rPr sz="1000" b="0">
                <a:solidFill>
                  <a:srgbClr val="333333"/>
                </a:solidFill>
              </a:rPr>
              <a:t/>
            </a:r>
          </a:p>
          <a:p>
            <a:r>
              <a:rPr sz="1200" b="0">
                <a:solidFill>
                  <a:srgbClr val="333333"/>
                </a:solidFill>
              </a:rPr>
              <a:t>Algorithm: K-Means (BigQuery ML)</a:t>
            </a:r>
          </a:p>
          <a:p>
            <a:r>
              <a:rPr sz="1200" b="0">
                <a:solidFill>
                  <a:srgbClr val="333333"/>
                </a:solidFill>
              </a:rPr>
              <a:t>Features: distance, duration, fare, tip, trip count,</a:t>
            </a:r>
          </a:p>
          <a:p>
            <a:r>
              <a:rPr sz="1200" b="0">
                <a:solidFill>
                  <a:srgbClr val="333333"/>
                </a:solidFill>
              </a:rPr>
              <a:t>  rush hour %, night %, weekend %, adverse weather %</a:t>
            </a:r>
          </a:p>
          <a:p>
            <a:r>
              <a:rPr sz="1200" b="0">
                <a:solidFill>
                  <a:srgbClr val="333333"/>
                </a:solidFill>
              </a:rPr>
              <a:t>Evaluation: Davies-Bouldin Index</a:t>
            </a:r>
          </a:p>
          <a:p>
            <a:r>
              <a:rPr sz="1200" b="0">
                <a:solidFill>
                  <a:srgbClr val="333333"/>
                </a:solidFill>
              </a:rPr>
              <a:t>  k=3 (1.78), k=4 (1.42), k=5 (1.50), k=6 (1.40)</a:t>
            </a:r>
          </a:p>
          <a:p>
            <a:r>
              <a:rPr sz="1200" b="1">
                <a:solidFill>
                  <a:srgbClr val="333333"/>
                </a:solidFill>
              </a:rPr>
              <a:t>Selected: k=4 (best quality + interpretability balance)</a:t>
            </a:r>
          </a:p>
        </p:txBody>
      </p:sp>
      <p:sp>
        <p:nvSpPr>
          <p:cNvPr id="6" name="Rounded Rectangle 5"/>
          <p:cNvSpPr/>
          <p:nvPr/>
        </p:nvSpPr>
        <p:spPr>
          <a:xfrm>
            <a:off x="6100000" y="1100000"/>
            <a:ext cx="5700000" cy="20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4 Trip Segments Identified</a:t>
            </a:r>
          </a:p>
          <a:p>
            <a:r>
              <a:rPr sz="1000" b="0">
                <a:solidFill>
                  <a:srgbClr val="333333"/>
                </a:solidFill>
              </a:rPr>
              <a:t/>
            </a:r>
          </a:p>
          <a:p>
            <a:r>
              <a:rPr sz="1200" b="0">
                <a:solidFill>
                  <a:srgbClr val="333333"/>
                </a:solidFill>
              </a:rPr>
              <a:t>Cluster 1 - Standard Trips: 5 mi, 23 min, $32 avg</a:t>
            </a:r>
          </a:p>
          <a:p>
            <a:r>
              <a:rPr sz="1200" b="0">
                <a:solidFill>
                  <a:srgbClr val="333333"/>
                </a:solidFill>
              </a:rPr>
              <a:t>Cluster 2 - High-Value Long: 9 mi, 28 min, $72 avg</a:t>
            </a:r>
          </a:p>
          <a:p>
            <a:r>
              <a:rPr sz="1200" b="0">
                <a:solidFill>
                  <a:srgbClr val="333333"/>
                </a:solidFill>
              </a:rPr>
              <a:t>Cluster 3 - Short Everyday: 2.4 mi, 15 min, $25 avg</a:t>
            </a:r>
          </a:p>
          <a:p>
            <a:r>
              <a:rPr sz="1200" b="0">
                <a:solidFill>
                  <a:srgbClr val="333333"/>
                </a:solidFill>
              </a:rPr>
              <a:t>Cluster 4 - Slow/Congested: 7.6 mi, 36 min, $39 avg</a:t>
            </a:r>
          </a:p>
          <a:p>
            <a:r>
              <a:rPr sz="1000" b="0">
                <a:solidFill>
                  <a:srgbClr val="333333"/>
                </a:solidFill>
              </a:rPr>
              <a:t/>
            </a:r>
          </a:p>
          <a:p>
            <a:r>
              <a:rPr sz="1200" b="1">
                <a:solidFill>
                  <a:srgbClr val="333333"/>
                </a:solidFill>
              </a:rPr>
              <a:t>Short trips (Cluster 3) dominate: 375K of 470K sample</a:t>
            </a:r>
          </a:p>
        </p:txBody>
      </p:sp>
      <p:sp>
        <p:nvSpPr>
          <p:cNvPr id="7" name="Rounded Rectangle 6"/>
          <p:cNvSpPr/>
          <p:nvPr/>
        </p:nvSpPr>
        <p:spPr>
          <a:xfrm>
            <a:off x="400000" y="3400000"/>
            <a:ext cx="11400000" cy="9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200" b="0">
                <a:solidFill>
                  <a:srgbClr val="333333"/>
                </a:solidFill>
              </a:rPr>
              <a:t>Key Finding: Weather showed minimal variation across clusters (~10% adverse in all 4). This confirms weather impacts demand volume (fewer trips happen) rather than trip characteristics (distance, fare, duration stay the same). Independently validates the core Streamlit finding.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Extension: Pipeline Orchestration</a:t>
            </a:r>
          </a:p>
        </p:txBody>
      </p:sp>
      <p:sp>
        <p:nvSpPr>
          <p:cNvPr id="3" name="Content Placeholder 2"/>
          <p:cNvSpPr>
            <a:spLocks noGrp="1"/>
          </p:cNvSpPr>
          <p:nvPr>
            <p:ph idx="1"/>
          </p:nvPr>
        </p:nvSpPr>
        <p:spPr/>
        <p:txBody>
          <a:bodyPr/>
          <a:lstStyle/>
          <a:p/>
        </p:txBody>
      </p:sp>
      <p:sp>
        <p:nvSpPr>
          <p:cNvPr id="4" name="Rectangle 3"/>
          <p:cNvSpPr/>
          <p:nvPr/>
        </p:nvSpPr>
        <p:spPr>
          <a:xfrm>
            <a:off x="0" y="800000"/>
            <a:ext cx="12192000" cy="80000"/>
          </a:xfrm>
          <a:prstGeom prst="rect">
            <a:avLst/>
          </a:prstGeom>
          <a:solidFill>
            <a:srgbClr val="FE3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0000" y="1100000"/>
            <a:ext cx="5400000" cy="280000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One Command, Full Pipeline</a:t>
            </a:r>
          </a:p>
          <a:p>
            <a:r>
              <a:rPr sz="1000" b="0">
                <a:solidFill>
                  <a:srgbClr val="333333"/>
                </a:solidFill>
              </a:rPr>
              <a:t/>
            </a:r>
          </a:p>
          <a:p>
            <a:r>
              <a:rPr sz="1300" b="1">
                <a:solidFill>
                  <a:srgbClr val="333333"/>
                </a:solidFill>
              </a:rPr>
              <a:t>python pipeline/orchestrate.py</a:t>
            </a:r>
          </a:p>
          <a:p>
            <a:r>
              <a:rPr sz="1000" b="0">
                <a:solidFill>
                  <a:srgbClr val="333333"/>
                </a:solidFill>
              </a:rPr>
              <a:t/>
            </a:r>
          </a:p>
          <a:p>
            <a:r>
              <a:rPr sz="1200" b="0">
                <a:solidFill>
                  <a:srgbClr val="333333"/>
                </a:solidFill>
              </a:rPr>
              <a:t>Step 1: Create Bronze infrastructure (stage, tables)</a:t>
            </a:r>
          </a:p>
          <a:p>
            <a:r>
              <a:rPr sz="1200" b="0">
                <a:solidFill>
                  <a:srgbClr val="333333"/>
                </a:solidFill>
              </a:rPr>
              <a:t>Step 2: Load taxi + zone data from S3 (39.2M rows)</a:t>
            </a:r>
          </a:p>
          <a:p>
            <a:r>
              <a:rPr sz="1200" b="0">
                <a:solidFill>
                  <a:srgbClr val="333333"/>
                </a:solidFill>
              </a:rPr>
              <a:t>Step 3: Fetch weather from Open-Meteo API (7,248 hrs)</a:t>
            </a:r>
          </a:p>
          <a:p>
            <a:r>
              <a:rPr sz="1200" b="0">
                <a:solidFill>
                  <a:srgbClr val="333333"/>
                </a:solidFill>
              </a:rPr>
              <a:t>Step 4: Verify Bronze row counts (reconciliation)</a:t>
            </a:r>
          </a:p>
          <a:p>
            <a:r>
              <a:rPr sz="1200" b="0">
                <a:solidFill>
                  <a:srgbClr val="333333"/>
                </a:solidFill>
              </a:rPr>
              <a:t>Step 5: dbt run (Silver + Gold transformations)</a:t>
            </a:r>
          </a:p>
          <a:p>
            <a:r>
              <a:rPr sz="1200" b="0">
                <a:solidFill>
                  <a:srgbClr val="333333"/>
                </a:solidFill>
              </a:rPr>
              <a:t>Step 6: dbt test (32 automated quality checks)</a:t>
            </a:r>
          </a:p>
          <a:p>
            <a:r>
              <a:rPr sz="1200" b="0">
                <a:solidFill>
                  <a:srgbClr val="333333"/>
                </a:solidFill>
              </a:rPr>
              <a:t>Step 7: Print summary with counts at every layer</a:t>
            </a:r>
          </a:p>
        </p:txBody>
      </p:sp>
      <p:sp>
        <p:nvSpPr>
          <p:cNvPr id="6" name="Rounded Rectangle 5"/>
          <p:cNvSpPr/>
          <p:nvPr/>
        </p:nvSpPr>
        <p:spPr>
          <a:xfrm>
            <a:off x="6100000" y="1100000"/>
            <a:ext cx="5700000" cy="280000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400" b="1">
                <a:solidFill>
                  <a:srgbClr val="333333"/>
                </a:solidFill>
              </a:rPr>
              <a:t>Design Properties</a:t>
            </a:r>
          </a:p>
          <a:p>
            <a:r>
              <a:rPr sz="1000" b="0">
                <a:solidFill>
                  <a:srgbClr val="333333"/>
                </a:solidFill>
              </a:rPr>
              <a:t/>
            </a:r>
          </a:p>
          <a:p>
            <a:r>
              <a:rPr sz="1300" b="1">
                <a:solidFill>
                  <a:srgbClr val="333333"/>
                </a:solidFill>
              </a:rPr>
              <a:t>Idempotent</a:t>
            </a:r>
          </a:p>
          <a:p>
            <a:r>
              <a:rPr sz="1100" b="0">
                <a:solidFill>
                  <a:srgbClr val="333333"/>
                </a:solidFill>
              </a:rPr>
              <a:t>  CREATE OR REPLACE + COPY INTO means</a:t>
            </a:r>
          </a:p>
          <a:p>
            <a:r>
              <a:rPr sz="1100" b="0">
                <a:solidFill>
                  <a:srgbClr val="333333"/>
                </a:solidFill>
              </a:rPr>
              <a:t>  re-running never duplicates data</a:t>
            </a:r>
          </a:p>
          <a:p>
            <a:r>
              <a:rPr sz="1000" b="0">
                <a:solidFill>
                  <a:srgbClr val="333333"/>
                </a:solidFill>
              </a:rPr>
              <a:t/>
            </a:r>
          </a:p>
          <a:p>
            <a:r>
              <a:rPr sz="1300" b="1">
                <a:solidFill>
                  <a:srgbClr val="333333"/>
                </a:solidFill>
              </a:rPr>
              <a:t>Fail-Fast</a:t>
            </a:r>
          </a:p>
          <a:p>
            <a:r>
              <a:rPr sz="1100" b="0">
                <a:solidFill>
                  <a:srgbClr val="333333"/>
                </a:solidFill>
              </a:rPr>
              <a:t>  Any step failure stops immediately</a:t>
            </a:r>
          </a:p>
          <a:p>
            <a:r>
              <a:rPr sz="1100" b="0">
                <a:solidFill>
                  <a:srgbClr val="333333"/>
                </a:solidFill>
              </a:rPr>
              <a:t>  with a clear error message</a:t>
            </a:r>
          </a:p>
          <a:p>
            <a:r>
              <a:rPr sz="1000" b="0">
                <a:solidFill>
                  <a:srgbClr val="333333"/>
                </a:solidFill>
              </a:rPr>
              <a:t/>
            </a:r>
          </a:p>
          <a:p>
            <a:r>
              <a:rPr sz="1300" b="1">
                <a:solidFill>
                  <a:srgbClr val="333333"/>
                </a:solidFill>
              </a:rPr>
              <a:t>Verified</a:t>
            </a:r>
          </a:p>
          <a:p>
            <a:r>
              <a:rPr sz="1100" b="0">
                <a:solidFill>
                  <a:srgbClr val="333333"/>
                </a:solidFill>
              </a:rPr>
              <a:t>  Row counts checked against expected</a:t>
            </a:r>
          </a:p>
          <a:p>
            <a:r>
              <a:rPr sz="1100" b="0">
                <a:solidFill>
                  <a:srgbClr val="333333"/>
                </a:solidFill>
              </a:rPr>
              <a:t>  minimums before proceeding to next step</a:t>
            </a:r>
          </a:p>
        </p:txBody>
      </p:sp>
      <p:sp>
        <p:nvSpPr>
          <p:cNvPr id="7" name="Rounded Rectangle 6"/>
          <p:cNvSpPr/>
          <p:nvPr/>
        </p:nvSpPr>
        <p:spPr>
          <a:xfrm>
            <a:off x="400000" y="4200000"/>
            <a:ext cx="11400000" cy="700000"/>
          </a:xfrm>
          <a:prstGeom prst="round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tIns="127000" bIns="127000" lIns="152400" rIns="152400"/>
          <a:lstStyle/>
          <a:p>
            <a:pPr algn="ctr"/>
            <a:r>
              <a:rPr sz="1200" b="0">
                <a:solidFill>
                  <a:srgbClr val="333333"/>
                </a:solidFill>
              </a:rPr>
              <a:t>Any team member can rebuild the entire pipeline from scratch with one command (~6 min). This eliminates 'works on my machine' and proves results are fully reproducible.</a:t>
            </a:r>
          </a:p>
        </p:txBody>
      </p:sp>
    </p:spTree>
  </p:cSld>
  <p:clrMapOvr>
    <a:masterClrMapping/>
  </p:clrMapOvr>
</p:sld>
</file>

<file path=ppt/theme/theme1.xml><?xml version="1.0" encoding="utf-8"?>
<a:theme xmlns:a="http://schemas.openxmlformats.org/drawingml/2006/main" name="The Hartford Template Slides">
  <a:themeElements>
    <a:clrScheme name="HIG Theme Colors">
      <a:dk1>
        <a:sysClr val="windowText" lastClr="000000"/>
      </a:dk1>
      <a:lt1>
        <a:srgbClr val="FFFFFF"/>
      </a:lt1>
      <a:dk2>
        <a:srgbClr val="75013F"/>
      </a:dk2>
      <a:lt2>
        <a:srgbClr val="FE3082"/>
      </a:lt2>
      <a:accent1>
        <a:srgbClr val="BF4A24"/>
      </a:accent1>
      <a:accent2>
        <a:srgbClr val="7A9900"/>
      </a:accent2>
      <a:accent3>
        <a:srgbClr val="367A3D"/>
      </a:accent3>
      <a:accent4>
        <a:srgbClr val="12543D"/>
      </a:accent4>
      <a:accent5>
        <a:srgbClr val="818284"/>
      </a:accent5>
      <a:accent6>
        <a:srgbClr val="1C2E5E"/>
      </a:accent6>
      <a:hlink>
        <a:srgbClr val="0D5996"/>
      </a:hlink>
      <a:folHlink>
        <a:srgbClr val="000000"/>
      </a:folHlink>
    </a:clrScheme>
    <a:fontScheme name="The Hartford Fonts">
      <a:majorFont>
        <a:latin typeface="Trust Hartford Serif"/>
        <a:ea typeface=""/>
        <a:cs typeface=""/>
      </a:majorFont>
      <a:minorFont>
        <a:latin typeface="Trust Hartford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Burgundy">
      <a:srgbClr val="75013F"/>
    </a:custClr>
    <a:custClr name="Pink">
      <a:srgbClr val="FE3082"/>
    </a:custClr>
    <a:custClr name="Tan">
      <a:srgbClr val="EBE5DF"/>
    </a:custClr>
    <a:custClr name="Tangerine">
      <a:srgbClr val="F59900"/>
    </a:custClr>
    <a:custClr name="Burnt Orange">
      <a:srgbClr val="BF4A24"/>
    </a:custClr>
    <a:custClr name="Yellow Green">
      <a:srgbClr val="7A9900"/>
    </a:custClr>
    <a:custClr name="Dark Yellow Green">
      <a:srgbClr val="367A3D"/>
    </a:custClr>
    <a:custClr name="Green">
      <a:srgbClr val="3DA373"/>
    </a:custClr>
    <a:custClr name="Dark Green">
      <a:srgbClr val="12543D"/>
    </a:custClr>
    <a:custClr name="Light Blue">
      <a:srgbClr val="73A3C2"/>
    </a:custClr>
    <a:custClr name="Dark Blue">
      <a:srgbClr val="1C2E5E"/>
    </a:custClr>
    <a:custClr name="Grey">
      <a:srgbClr val="808080"/>
    </a:custClr>
  </a:custClrLst>
  <a:extLst>
    <a:ext uri="{05A4C25C-085E-4340-85A3-A5531E510DB2}">
      <thm15:themeFamily xmlns:thm15="http://schemas.microsoft.com/office/thememl/2012/main" name="HIG_Widescreen_Template_FINAL.pptx" id="{CD353832-D829-4280-89A1-06AFFF1CC76B}" vid="{3B90B76E-4DE7-4C57-AA79-D886034896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42c473a-5317-4d13-ad87-86a2a47c9514">
      <Terms xmlns="http://schemas.microsoft.com/office/infopath/2007/PartnerControls"/>
    </lcf76f155ced4ddcb4097134ff3c332f>
    <TaxCatchAll xmlns="65a51801-ec80-49bd-9bc3-86cb9f3d0a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9D4D9C6D7EB3A45BA07DDCE137F3A77" ma:contentTypeVersion="16" ma:contentTypeDescription="Create a new document." ma:contentTypeScope="" ma:versionID="80a29a38a3811a9c8488ec60c8ebf733">
  <xsd:schema xmlns:xsd="http://www.w3.org/2001/XMLSchema" xmlns:xs="http://www.w3.org/2001/XMLSchema" xmlns:p="http://schemas.microsoft.com/office/2006/metadata/properties" xmlns:ns2="842c473a-5317-4d13-ad87-86a2a47c9514" xmlns:ns3="65a51801-ec80-49bd-9bc3-86cb9f3d0aa5" xmlns:ns4="dca353f4-67a1-4cb1-9c7d-5d6923610443" targetNamespace="http://schemas.microsoft.com/office/2006/metadata/properties" ma:root="true" ma:fieldsID="d5f0f043c1799197e3af8cd28bdc65c6" ns2:_="" ns3:_="" ns4:_="">
    <xsd:import namespace="842c473a-5317-4d13-ad87-86a2a47c9514"/>
    <xsd:import namespace="65a51801-ec80-49bd-9bc3-86cb9f3d0aa5"/>
    <xsd:import namespace="dca353f4-67a1-4cb1-9c7d-5d692361044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4:SharedWithUsers" minOccurs="0"/>
                <xsd:element ref="ns4: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2c473a-5317-4d13-ad87-86a2a47c95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0c56ab5-1ab2-4a8e-bda2-ee42cffeb2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5a51801-ec80-49bd-9bc3-86cb9f3d0aa5"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b53f09ee-0b74-43df-b2fc-a7c8c11a9fab}" ma:internalName="TaxCatchAll" ma:showField="CatchAllData" ma:web="dca353f4-67a1-4cb1-9c7d-5d692361044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ca353f4-67a1-4cb1-9c7d-5d6923610443"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F5A6BA-5C40-4396-A321-3C576FF36A31}">
  <ds:schemaRefs>
    <ds:schemaRef ds:uri="http://schemas.microsoft.com/office/2006/metadata/properties"/>
    <ds:schemaRef ds:uri="http://schemas.microsoft.com/office/infopath/2007/PartnerControls"/>
    <ds:schemaRef ds:uri="842c473a-5317-4d13-ad87-86a2a47c9514"/>
    <ds:schemaRef ds:uri="65a51801-ec80-49bd-9bc3-86cb9f3d0aa5"/>
  </ds:schemaRefs>
</ds:datastoreItem>
</file>

<file path=customXml/itemProps2.xml><?xml version="1.0" encoding="utf-8"?>
<ds:datastoreItem xmlns:ds="http://schemas.openxmlformats.org/officeDocument/2006/customXml" ds:itemID="{81E6C963-5293-43DA-A96C-045F7BFE1667}">
  <ds:schemaRefs>
    <ds:schemaRef ds:uri="http://schemas.microsoft.com/sharepoint/v3/contenttype/forms"/>
  </ds:schemaRefs>
</ds:datastoreItem>
</file>

<file path=customXml/itemProps3.xml><?xml version="1.0" encoding="utf-8"?>
<ds:datastoreItem xmlns:ds="http://schemas.openxmlformats.org/officeDocument/2006/customXml" ds:itemID="{4387F914-44F5-4DBF-AC00-AB7E9ECE04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2c473a-5317-4d13-ad87-86a2a47c9514"/>
    <ds:schemaRef ds:uri="65a51801-ec80-49bd-9bc3-86cb9f3d0aa5"/>
    <ds:schemaRef ds:uri="dca353f4-67a1-4cb1-9c7d-5d69236104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1</TotalTime>
  <Words>3570</Words>
  <Application>Microsoft Office PowerPoint</Application>
  <PresentationFormat>Widescreen</PresentationFormat>
  <Paragraphs>254</Paragraphs>
  <Slides>25</Slides>
  <Notes>18</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The Hartford Template Slides</vt:lpstr>
      <vt:lpstr>NYC Taxi Data Platform How does adverse weather affect taxi demand across NYC boroughs?</vt:lpstr>
      <vt:lpstr>Topics of Discussion</vt:lpstr>
      <vt:lpstr>1</vt:lpstr>
      <vt:lpstr>Headline Finding</vt:lpstr>
      <vt:lpstr>The Business Question</vt:lpstr>
      <vt:lpstr>2</vt:lpstr>
      <vt:lpstr>The Data</vt:lpstr>
      <vt:lpstr>Paths We Explored</vt:lpstr>
      <vt:lpstr>Architecture Decision: Snowflake + DBT</vt:lpstr>
      <vt:lpstr>Pipeline Architecture</vt:lpstr>
      <vt:lpstr>3</vt:lpstr>
      <vt:lpstr>Data Quality: What Was Wrong and What We Did</vt:lpstr>
      <vt:lpstr>4</vt:lpstr>
      <vt:lpstr>Year-over-Year Finding</vt:lpstr>
      <vt:lpstr>Dashboard</vt:lpstr>
      <vt:lpstr>Supporting Analysis (duplicate as needed)</vt:lpstr>
      <vt:lpstr>5</vt:lpstr>
      <vt:lpstr>Technical Decisions and Trade-offs</vt:lpstr>
      <vt:lpstr>Cost and Performance Rationale</vt:lpstr>
      <vt:lpstr>6</vt:lpstr>
      <vt:lpstr>Future State Proposal</vt:lpstr>
      <vt:lpstr>Future State Architecture</vt:lpstr>
      <vt:lpstr>Recommendation</vt:lpstr>
      <vt:lpstr>Thank You</vt:lpstr>
      <vt:lpstr>AI Use Disclosure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Marin, Orlando (Applied AI and Analytics)</dc:creator>
  <cp:keywords/>
  <dc:description>Version 1.2
25-BD-2785360 Brand Refresh - HIG Master Template - Widescreen PPT FINAL</dc:description>
  <cp:lastModifiedBy>Marin, Orlando (Applied AI and Analytics)</cp:lastModifiedBy>
  <cp:revision>447</cp:revision>
  <cp:lastPrinted>2024-04-30T20:31:00Z</cp:lastPrinted>
  <dcterms:created xsi:type="dcterms:W3CDTF">2026-07-23T20:23:29Z</dcterms:created>
  <dcterms:modified xsi:type="dcterms:W3CDTF">2026-08-13T11:43:28Z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27861f-9136-4b0c-8ea1-6998fc0dabd0_Enabled">
    <vt:lpwstr>true</vt:lpwstr>
  </property>
  <property fmtid="{D5CDD505-2E9C-101B-9397-08002B2CF9AE}" pid="3" name="MSIP_Label_d927861f-9136-4b0c-8ea1-6998fc0dabd0_SetDate">
    <vt:lpwstr>2026-07-23T20:28:35Z</vt:lpwstr>
  </property>
  <property fmtid="{D5CDD505-2E9C-101B-9397-08002B2CF9AE}" pid="4" name="MSIP_Label_d927861f-9136-4b0c-8ea1-6998fc0dabd0_Method">
    <vt:lpwstr>Privileged</vt:lpwstr>
  </property>
  <property fmtid="{D5CDD505-2E9C-101B-9397-08002B2CF9AE}" pid="5" name="MSIP_Label_d927861f-9136-4b0c-8ea1-6998fc0dabd0_Name">
    <vt:lpwstr>NC - Show Footer</vt:lpwstr>
  </property>
  <property fmtid="{D5CDD505-2E9C-101B-9397-08002B2CF9AE}" pid="6" name="MSIP_Label_d927861f-9136-4b0c-8ea1-6998fc0dabd0_SiteId">
    <vt:lpwstr>a311fc62-83f4-45f0-9502-1bb2247d4c8d</vt:lpwstr>
  </property>
  <property fmtid="{D5CDD505-2E9C-101B-9397-08002B2CF9AE}" pid="7" name="MSIP_Label_d927861f-9136-4b0c-8ea1-6998fc0dabd0_ActionId">
    <vt:lpwstr>6e341894-8460-4288-9635-75af306aec01</vt:lpwstr>
  </property>
  <property fmtid="{D5CDD505-2E9C-101B-9397-08002B2CF9AE}" pid="8" name="MSIP_Label_d927861f-9136-4b0c-8ea1-6998fc0dabd0_ContentBits">
    <vt:lpwstr>2</vt:lpwstr>
  </property>
  <property fmtid="{D5CDD505-2E9C-101B-9397-08002B2CF9AE}" pid="9" name="MSIP_Label_d927861f-9136-4b0c-8ea1-6998fc0dabd0_Tag">
    <vt:lpwstr>10, 0, 1, 1</vt:lpwstr>
  </property>
  <property fmtid="{D5CDD505-2E9C-101B-9397-08002B2CF9AE}" pid="10" name="ClassificationContentMarkingFooterLocations">
    <vt:lpwstr>The Hartford Template Slides:5</vt:lpwstr>
  </property>
  <property fmtid="{D5CDD505-2E9C-101B-9397-08002B2CF9AE}" pid="11" name="ClassificationContentMarkingFooterText">
    <vt:lpwstr>© 2026 The Hartford. Classification: Non-Confidential. No part of this document may be reproduced, published, or used without the permission of The Hartford.</vt:lpwstr>
  </property>
</Properties>
</file>