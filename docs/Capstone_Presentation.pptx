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3" r:id="rId4"/>
  </p:sldMasterIdLst>
  <p:notesMasterIdLst>
    <p:notesMasterId r:id="rId37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26"/>
    <p:sldId id="267" r:id="rId25"/>
    <p:sldId id="268" r:id="rId24"/>
    <p:sldId id="269" r:id="rId23"/>
    <p:sldId id="270" r:id="rId22"/>
    <p:sldId id="271" r:id="rId21"/>
    <p:sldId id="272" r:id="rId20"/>
    <p:sldId id="273" r:id="rId19"/>
    <p:sldId id="274" r:id="rId18"/>
    <p:sldId id="275" r:id="rId17"/>
    <p:sldId id="276" r:id="rId16"/>
    <p:sldId id="277" r:id="rId15"/>
    <p:sldId id="278" r:id="rId14"/>
    <p:sldId id="279" r:id="rId13"/>
  </p:sldIdLst>
  <p:sldSz cx="12192000" cy="6858000"/>
  <p:notesSz cx="6858000" cy="9144000"/>
  <p:embeddedFontLst>
    <p:embeddedFont>
      <p:font typeface="Trust Hartford Mono" pitchFamily="50" charset="0"/>
      <p:regular r:id="rId38"/>
      <p:bold r:id="rId39"/>
      <p:italic r:id="rId40"/>
      <p:boldItalic r:id="rId41"/>
    </p:embeddedFont>
    <p:embeddedFont>
      <p:font typeface="Trust Hartford Sans" pitchFamily="50" charset="0"/>
      <p:regular r:id="rId42"/>
      <p:bold r:id="rId43"/>
      <p:italic r:id="rId44"/>
      <p:boldItalic r:id="rId45"/>
    </p:embeddedFont>
    <p:embeddedFont>
      <p:font typeface="Trust Hartford Sans Light" pitchFamily="50" charset="0"/>
      <p:regular r:id="rId46"/>
      <p:italic r:id="rId47"/>
    </p:embeddedFont>
    <p:embeddedFont>
      <p:font typeface="Trust Hartford Serif" pitchFamily="50" charset="0"/>
      <p:regular r:id="rId48"/>
      <p:bold r:id="rId49"/>
      <p:italic r:id="rId50"/>
      <p:boldItalic r:id="rId51"/>
    </p:embeddedFont>
    <p:embeddedFont>
      <p:font typeface="Trust Hartford Serif XLight" pitchFamily="50" charset="0"/>
      <p:regular r:id="rId52"/>
      <p:italic r:id="rId53"/>
    </p:embeddedFont>
  </p:embeddedFontLst>
  <p:defaultTextStyle>
    <a:defPPr>
      <a:defRPr lang="en-US"/>
    </a:defPPr>
    <a:lvl1pPr marL="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B14874C-4B50-8014-91A3-463629EBBE24}" name="Klim, Jamie (Enterprise Marketing)" initials="" userId="S::James.Klim@thehartford.com::ad579b43-3ce8-40d5-ae4c-10bb8498a6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5DF"/>
    <a:srgbClr val="FE3082"/>
    <a:srgbClr val="73A2C2"/>
    <a:srgbClr val="8F96AD"/>
    <a:srgbClr val="C7CBD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74A2FF2-876A-4A6F-922C-DD539E22E740}">
  <a:tblStyle styleId="{F74A2FF2-876A-4A6F-922C-DD539E22E740}" styleName="The Hartford Table Styl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bg1"/>
              </a:solidFill>
            </a:ln>
          </a:left>
          <a:right>
            <a:ln w="12700" cmpd="sng">
              <a:solidFill>
                <a:schemeClr val="bg1"/>
              </a:solidFill>
            </a:ln>
          </a:right>
          <a:top>
            <a:ln w="12700" cmpd="sng">
              <a:solidFill>
                <a:schemeClr val="bg1"/>
              </a:solidFill>
            </a:ln>
          </a:top>
          <a:bottom>
            <a:ln w="12700" cmpd="sng">
              <a:solidFill>
                <a:schemeClr val="bg1"/>
              </a:solidFill>
            </a:ln>
          </a:bottom>
          <a:insideH>
            <a:ln w="12700" cmpd="sng">
              <a:solidFill>
                <a:schemeClr val="bg1"/>
              </a:solidFill>
            </a:ln>
          </a:insideH>
          <a:insideV>
            <a:ln w="12700" cmpd="sng">
              <a:solidFill>
                <a:schemeClr val="bg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rgbClr val="EAE5DF"/>
          </a:solidFill>
        </a:fill>
      </a:tcStyle>
    </a:band1H>
    <a:band2H>
      <a:tcStyle>
        <a:tcBdr/>
        <a:fill>
          <a:solidFill>
            <a:srgbClr val="EAE5DF"/>
          </a:solidFill>
        </a:fill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tx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613C4D0A-429A-40B9-85B9-7F5FD54E15C4}" styleName="The Hartford Table Styl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bg1"/>
              </a:solidFill>
            </a:ln>
          </a:left>
          <a:right>
            <a:ln w="12700" cmpd="sng">
              <a:solidFill>
                <a:schemeClr val="bg1"/>
              </a:solidFill>
            </a:ln>
          </a:right>
          <a:top>
            <a:ln w="12700" cmpd="sng">
              <a:solidFill>
                <a:schemeClr val="bg1"/>
              </a:solidFill>
            </a:ln>
          </a:top>
          <a:bottom>
            <a:ln w="12700" cmpd="sng">
              <a:solidFill>
                <a:schemeClr val="bg1"/>
              </a:solidFill>
            </a:ln>
          </a:bottom>
          <a:insideH>
            <a:ln w="12700" cmpd="sng">
              <a:solidFill>
                <a:schemeClr val="bg1"/>
              </a:solidFill>
            </a:ln>
          </a:insideH>
          <a:insideV>
            <a:ln w="12700" cmpd="sng">
              <a:solidFill>
                <a:schemeClr val="bg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rgbClr val="EAE5DF"/>
          </a:solidFill>
        </a:fill>
      </a:tcStyle>
    </a:band1H>
    <a:band2H>
      <a:tcStyle>
        <a:tcBdr/>
        <a:fill>
          <a:solidFill>
            <a:srgbClr val="EAE5DF"/>
          </a:solidFill>
        </a:fill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bg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F9F6A034-655A-47D2-A762-C7606B091322}" styleName="The Hartford Table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bg1"/>
              </a:solidFill>
            </a:ln>
          </a:left>
          <a:right>
            <a:ln w="12700" cmpd="sng">
              <a:solidFill>
                <a:schemeClr val="bg1"/>
              </a:solidFill>
            </a:ln>
          </a:right>
          <a:top>
            <a:ln w="12700" cmpd="sng">
              <a:solidFill>
                <a:schemeClr val="bg1"/>
              </a:solidFill>
            </a:ln>
          </a:top>
          <a:bottom>
            <a:ln w="12700" cmpd="sng">
              <a:solidFill>
                <a:schemeClr val="bg1"/>
              </a:solidFill>
            </a:ln>
          </a:bottom>
          <a:insideH>
            <a:ln w="12700" cmpd="sng">
              <a:solidFill>
                <a:schemeClr val="bg1"/>
              </a:solidFill>
            </a:ln>
          </a:insideH>
          <a:insideV>
            <a:ln w="12700" cmpd="sng">
              <a:solidFill>
                <a:schemeClr val="bg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rgbClr val="EAE5DF"/>
          </a:solidFill>
        </a:fill>
      </a:tcStyle>
    </a:band1H>
    <a:band2H>
      <a:tcStyle>
        <a:tcBdr/>
        <a:fill>
          <a:solidFill>
            <a:srgbClr val="EAE5DF"/>
          </a:solidFill>
        </a:fill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6" autoAdjust="0"/>
    <p:restoredTop sz="96301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2" d="100"/>
        <a:sy n="82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8.xml"/><Relationship Id="rId20" Type="http://schemas.openxmlformats.org/officeDocument/2006/relationships/slide" Target="slides/slide17.xml"/><Relationship Id="rId21" Type="http://schemas.openxmlformats.org/officeDocument/2006/relationships/slide" Target="slides/slide16.xml"/><Relationship Id="rId22" Type="http://schemas.openxmlformats.org/officeDocument/2006/relationships/slide" Target="slides/slide15.xml"/><Relationship Id="rId23" Type="http://schemas.openxmlformats.org/officeDocument/2006/relationships/slide" Target="slides/slide14.xml"/><Relationship Id="rId24" Type="http://schemas.openxmlformats.org/officeDocument/2006/relationships/slide" Target="slides/slide13.xml"/><Relationship Id="rId25" Type="http://schemas.openxmlformats.org/officeDocument/2006/relationships/slide" Target="slides/slide12.xml"/><Relationship Id="rId26" Type="http://schemas.openxmlformats.org/officeDocument/2006/relationships/slide" Target="slides/slide1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notesMaster" Target="notesMasters/notesMaster1.xml"/><Relationship Id="rId38" Type="http://schemas.openxmlformats.org/officeDocument/2006/relationships/font" Target="fonts/font1.fntdata"/><Relationship Id="rId39" Type="http://schemas.openxmlformats.org/officeDocument/2006/relationships/font" Target="fonts/font2.fntdata"/><Relationship Id="rId40" Type="http://schemas.openxmlformats.org/officeDocument/2006/relationships/font" Target="fonts/font3.fntdata"/><Relationship Id="rId41" Type="http://schemas.openxmlformats.org/officeDocument/2006/relationships/font" Target="fonts/font4.fntdata"/><Relationship Id="rId42" Type="http://schemas.openxmlformats.org/officeDocument/2006/relationships/font" Target="fonts/font5.fntdata"/><Relationship Id="rId43" Type="http://schemas.openxmlformats.org/officeDocument/2006/relationships/font" Target="fonts/font6.fntdata"/><Relationship Id="rId44" Type="http://schemas.openxmlformats.org/officeDocument/2006/relationships/font" Target="fonts/font7.fntdata"/><Relationship Id="rId45" Type="http://schemas.openxmlformats.org/officeDocument/2006/relationships/font" Target="fonts/font8.fntdata"/><Relationship Id="rId46" Type="http://schemas.openxmlformats.org/officeDocument/2006/relationships/font" Target="fonts/font9.fntdata"/><Relationship Id="rId47" Type="http://schemas.openxmlformats.org/officeDocument/2006/relationships/font" Target="fonts/font10.fntdata"/><Relationship Id="rId48" Type="http://schemas.openxmlformats.org/officeDocument/2006/relationships/font" Target="fonts/font11.fntdata"/><Relationship Id="rId49" Type="http://schemas.openxmlformats.org/officeDocument/2006/relationships/font" Target="fonts/font12.fntdata"/><Relationship Id="rId50" Type="http://schemas.openxmlformats.org/officeDocument/2006/relationships/font" Target="fonts/font13.fntdata"/><Relationship Id="rId51" Type="http://schemas.openxmlformats.org/officeDocument/2006/relationships/font" Target="fonts/font14.fntdata"/><Relationship Id="rId52" Type="http://schemas.openxmlformats.org/officeDocument/2006/relationships/font" Target="fonts/font15.fntdata"/><Relationship Id="rId53" Type="http://schemas.openxmlformats.org/officeDocument/2006/relationships/font" Target="fonts/font16.fntdata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95900D-F12B-44FC-9687-D94AAC84787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66933-377C-4AC7-AB6F-0438E161D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47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CF625AB5-078E-84D7-9A5B-1CF2CBF82760}"/>
              </a:ext>
            </a:extLst>
          </p:cNvPr>
          <p:cNvSpPr/>
          <p:nvPr/>
        </p:nvSpPr>
        <p:spPr>
          <a:xfrm>
            <a:off x="-9144" y="1014984"/>
            <a:ext cx="12207240" cy="5852160"/>
          </a:xfrm>
          <a:prstGeom prst="rect">
            <a:avLst/>
          </a:prstGeom>
          <a:solidFill>
            <a:schemeClr val="tx2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1328600"/>
            <a:ext cx="6858000" cy="2338332"/>
          </a:xfrm>
        </p:spPr>
        <p:txBody>
          <a:bodyPr anchor="t" anchorCtr="0">
            <a:spAutoFit/>
          </a:bodyPr>
          <a:lstStyle>
            <a:lvl1pPr algn="l">
              <a:lnSpc>
                <a:spcPct val="83000"/>
              </a:lnSpc>
              <a:defRPr sz="6000" spc="-10" baseline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8463"/>
            <a:ext cx="4572000" cy="279757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5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6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pic>
        <p:nvPicPr>
          <p:cNvPr id="10" name="Picture 7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331CF39C-A66D-C7F1-A529-D4B354335236}"/>
              </a:ext>
            </a:extLst>
          </p:cNvPr>
          <p:cNvSpPr txBox="1">
            <a:spLocks/>
          </p:cNvSpPr>
          <p:nvPr userDrawn="1"/>
        </p:nvSpPr>
        <p:spPr>
          <a:xfrm>
            <a:off x="10890250" y="6665595"/>
            <a:ext cx="827086" cy="1828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550" dirty="0">
                <a:solidFill>
                  <a:schemeClr val="bg1"/>
                </a:solidFill>
              </a:rPr>
              <a:t>© 2026 The Hartford</a:t>
            </a:r>
            <a:endParaRPr lang="en-CA" sz="5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118464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for Prin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1328600"/>
            <a:ext cx="6858000" cy="38130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000" spc="-10" baseline="0">
                <a:solidFill>
                  <a:schemeClr val="tx2"/>
                </a:solidFill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8463"/>
            <a:ext cx="4572000" cy="279757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097956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F1C735B7-8481-62FC-BF08-EDE946399CF8}"/>
              </a:ext>
            </a:extLst>
          </p:cNvPr>
          <p:cNvSpPr/>
          <p:nvPr userDrawn="1"/>
        </p:nvSpPr>
        <p:spPr>
          <a:xfrm>
            <a:off x="7809491" y="-9144"/>
            <a:ext cx="4382510" cy="6876288"/>
          </a:xfrm>
          <a:prstGeom prst="rect">
            <a:avLst/>
          </a:prstGeom>
          <a:solidFill>
            <a:schemeClr val="bg1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CF625AB5-078E-84D7-9A5B-1CF2CBF82760}"/>
              </a:ext>
            </a:extLst>
          </p:cNvPr>
          <p:cNvSpPr/>
          <p:nvPr/>
        </p:nvSpPr>
        <p:spPr>
          <a:xfrm>
            <a:off x="0" y="0"/>
            <a:ext cx="7817301" cy="6876288"/>
          </a:xfrm>
          <a:prstGeom prst="rect">
            <a:avLst/>
          </a:prstGeom>
          <a:solidFill>
            <a:schemeClr val="tx2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1328600"/>
            <a:ext cx="4544568" cy="38130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000" spc="-10" baseline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8463"/>
            <a:ext cx="4572000" cy="279757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5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6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63D65320-DE59-204A-D895-8D8CAAFA0C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32413" y="1266825"/>
            <a:ext cx="6291072" cy="4315968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B3ABB18D-F104-EA7B-8FDA-7044647E2369}"/>
              </a:ext>
            </a:extLst>
          </p:cNvPr>
          <p:cNvSpPr txBox="1">
            <a:spLocks/>
          </p:cNvSpPr>
          <p:nvPr userDrawn="1"/>
        </p:nvSpPr>
        <p:spPr>
          <a:xfrm>
            <a:off x="10890250" y="6665595"/>
            <a:ext cx="827086" cy="1828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550" dirty="0">
                <a:solidFill>
                  <a:schemeClr val="tx1"/>
                </a:solidFill>
              </a:rPr>
              <a:t>© 2026 The Hartford</a:t>
            </a:r>
            <a:endParaRPr lang="en-CA" sz="5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787679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Lar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">
            <a:extLst>
              <a:ext uri="{FF2B5EF4-FFF2-40B4-BE49-F238E27FC236}">
                <a16:creationId xmlns:a16="http://schemas.microsoft.com/office/drawing/2014/main" id="{63D65320-DE59-204A-D895-8D8CAAFA0C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9144" y="1014984"/>
            <a:ext cx="12207240" cy="585216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4060209"/>
            <a:ext cx="8193024" cy="1605321"/>
          </a:xfrm>
        </p:spPr>
        <p:txBody>
          <a:bodyPr anchor="b" anchorCtr="0"/>
          <a:lstStyle>
            <a:lvl1pPr algn="l">
              <a:lnSpc>
                <a:spcPct val="83000"/>
              </a:lnSpc>
              <a:defRPr sz="6000" spc="-1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5530"/>
            <a:ext cx="4379976" cy="282690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5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6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pic>
        <p:nvPicPr>
          <p:cNvPr id="10" name="Picture 7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6D4A4A16-65BF-C7C6-0906-0A3A83C0ABDF}"/>
              </a:ext>
            </a:extLst>
          </p:cNvPr>
          <p:cNvSpPr txBox="1">
            <a:spLocks/>
          </p:cNvSpPr>
          <p:nvPr userDrawn="1"/>
        </p:nvSpPr>
        <p:spPr>
          <a:xfrm>
            <a:off x="10890250" y="6665595"/>
            <a:ext cx="827086" cy="1828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550" dirty="0">
                <a:solidFill>
                  <a:schemeClr val="tx1"/>
                </a:solidFill>
              </a:rPr>
              <a:t>© 2026 The Hartford</a:t>
            </a:r>
            <a:endParaRPr lang="en-CA" sz="5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1389557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861FFE4-4E43-4713-813A-0DAF9AE2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2300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FD406D62-F299-1872-4AE3-14E1BFF9D604}"/>
              </a:ext>
            </a:extLst>
          </p:cNvPr>
          <p:cNvSpPr/>
          <p:nvPr userDrawn="1"/>
        </p:nvSpPr>
        <p:spPr>
          <a:xfrm>
            <a:off x="-9144" y="1015253"/>
            <a:ext cx="12207240" cy="5852160"/>
          </a:xfrm>
          <a:prstGeom prst="rect">
            <a:avLst/>
          </a:prstGeom>
          <a:solidFill>
            <a:srgbClr val="000000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5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08E74E92-0105-2629-2700-A469D18B06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51342C42-3386-CF2B-F48F-64BF5C03BD6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3A182900-B29A-8975-E83F-9A4CB6BE0A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1821525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FD406D62-F299-1872-4AE3-14E1BFF9D604}"/>
              </a:ext>
            </a:extLst>
          </p:cNvPr>
          <p:cNvSpPr/>
          <p:nvPr/>
        </p:nvSpPr>
        <p:spPr>
          <a:xfrm>
            <a:off x="-9144" y="1015253"/>
            <a:ext cx="12207240" cy="5852160"/>
          </a:xfrm>
          <a:prstGeom prst="rect">
            <a:avLst/>
          </a:prstGeom>
          <a:solidFill>
            <a:schemeClr val="tx2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6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68226E32-7671-2EEA-4968-48495929914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969EC5CE-87AC-AED2-33E0-01D0E152E0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73C08BC6-C335-5F49-53AE-5A301BBC125F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2497182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30FAF86B-4E49-B75F-62EE-93D1CAC4D4DA}"/>
              </a:ext>
            </a:extLst>
          </p:cNvPr>
          <p:cNvSpPr/>
          <p:nvPr userDrawn="1"/>
        </p:nvSpPr>
        <p:spPr>
          <a:xfrm>
            <a:off x="-9144" y="1015253"/>
            <a:ext cx="12207240" cy="5852160"/>
          </a:xfrm>
          <a:prstGeom prst="rect">
            <a:avLst/>
          </a:prstGeom>
          <a:solidFill>
            <a:srgbClr val="FE3082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6380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3E1843C9-8396-98D1-936A-19CA1CF6EA2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57682E16-7F7C-0AC6-E655-F664800CCC4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C374B29D-12BF-4A64-844B-94423BFBBD3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911294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FD406D62-F299-1872-4AE3-14E1BFF9D604}"/>
              </a:ext>
            </a:extLst>
          </p:cNvPr>
          <p:cNvSpPr/>
          <p:nvPr userDrawn="1"/>
        </p:nvSpPr>
        <p:spPr>
          <a:xfrm>
            <a:off x="0" y="1005840"/>
            <a:ext cx="12207240" cy="5852160"/>
          </a:xfrm>
          <a:prstGeom prst="rect">
            <a:avLst/>
          </a:prstGeom>
          <a:solidFill>
            <a:srgbClr val="EAE5DF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5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rgbClr val="000000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D06E3603-D17B-BB78-0AAD-1CE1E49BB5E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D291AD73-4314-3218-8409-1F65EF63A5F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A767656C-D477-09DA-30A3-B5ECF3E71BB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3937439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for Prin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5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5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rgbClr val="000000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4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4" hidden="1">
            <a:extLst>
              <a:ext uri="{FF2B5EF4-FFF2-40B4-BE49-F238E27FC236}">
                <a16:creationId xmlns:a16="http://schemas.microsoft.com/office/drawing/2014/main" id="{AA23FF5A-06A2-055F-DA6D-D2D17589DFB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5" hidden="1">
            <a:extLst>
              <a:ext uri="{FF2B5EF4-FFF2-40B4-BE49-F238E27FC236}">
                <a16:creationId xmlns:a16="http://schemas.microsoft.com/office/drawing/2014/main" id="{0D307FFC-4500-17A0-46BF-FE089E05E78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97454CBC-B355-69E9-CBEA-612E308DF85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6962900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6D83-BB70-49AB-BC44-801646DE8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1C58F-8883-4B64-915B-599721E64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365" y="1243584"/>
            <a:ext cx="8193024" cy="124649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spcAft>
                <a:spcPts val="600"/>
              </a:spcAft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spcAft>
                <a:spcPts val="600"/>
              </a:spcAft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1E14BD53-CB03-4E8A-BD70-E6FB80F54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38002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4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DBB1C-A9EF-DAE0-11AE-653661648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365" y="1243584"/>
            <a:ext cx="5330952" cy="124649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spcAft>
                <a:spcPts val="600"/>
              </a:spcAft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spcAft>
                <a:spcPts val="600"/>
              </a:spcAft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B173D2-691F-C1A6-428C-0D01945A09E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91072" y="1243584"/>
            <a:ext cx="5330952" cy="124649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spcAft>
                <a:spcPts val="600"/>
              </a:spcAft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spcAft>
                <a:spcPts val="600"/>
              </a:spcAft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6981527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4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8492F97-92F8-20F8-00BB-E9BD6972F89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66928" y="1261872"/>
            <a:ext cx="5321808" cy="1553952"/>
          </a:xfrm>
          <a:prstGeom prst="rect">
            <a:avLst/>
          </a:prstGeom>
          <a:ln w="19050">
            <a:solidFill>
              <a:srgbClr val="FE3082"/>
            </a:solidFill>
          </a:ln>
        </p:spPr>
        <p:txBody>
          <a:bodyPr vert="horz" wrap="square" lIns="237744" tIns="219456" rIns="219456" bIns="219456" rtlCol="0">
            <a:spAutoFit/>
          </a:bodyPr>
          <a:lstStyle>
            <a:lvl5pPr marL="573087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73D2F27-D700-CBBA-59A7-E59114C4F62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291867" y="1261872"/>
            <a:ext cx="5321808" cy="1553952"/>
          </a:xfrm>
          <a:prstGeom prst="rect">
            <a:avLst/>
          </a:prstGeom>
          <a:ln w="19050">
            <a:solidFill>
              <a:srgbClr val="FE3082"/>
            </a:solidFill>
          </a:ln>
        </p:spPr>
        <p:txBody>
          <a:bodyPr vert="horz" wrap="square" lIns="237744" tIns="219456" rIns="219456" bIns="219456" rtlCol="0">
            <a:spAutoFit/>
          </a:bodyPr>
          <a:lstStyle>
            <a:lvl5pPr marL="573087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54201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3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7FDE2-4874-4984-957C-A70C053DC5B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566928" y="1261872"/>
            <a:ext cx="3438144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F69BCF-89CC-495E-BB4D-B7C17F10C8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74327" y="1261872"/>
            <a:ext cx="3438144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4249539-7309-53CA-83C2-E24EC1C7717E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8181726" y="1261872"/>
            <a:ext cx="3438144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193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Stack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C7A69BD-4F3D-CA03-42E4-8A8EDC5D4F75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66928" y="1261872"/>
            <a:ext cx="11055096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CB44951-A185-95B8-0E3F-26D343020BC1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66928" y="3004045"/>
            <a:ext cx="11055096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AEA9B09-0448-7261-D8A5-C1EB7AF72AF7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566928" y="4736592"/>
            <a:ext cx="11055096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188701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6CDEC52-F600-0269-4368-DD9444773D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6060" y="365126"/>
            <a:ext cx="5459439" cy="424412"/>
          </a:xfrm>
        </p:spPr>
        <p:txBody>
          <a:bodyPr/>
          <a:lstStyle>
            <a:lvl1pPr marL="118872" indent="-118872">
              <a:defRPr>
                <a:solidFill>
                  <a:srgbClr val="000000"/>
                </a:solidFill>
              </a:defRPr>
            </a:lvl1pPr>
          </a:lstStyle>
          <a:p>
            <a:r>
              <a:rPr lang="en-CA" dirty="0"/>
              <a:t>“</a:t>
            </a:r>
            <a:r>
              <a:rPr lang="en-US" dirty="0"/>
              <a:t>Quotation”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993DBCC-185E-416E-B7BD-18744CEB050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74646" y="2854018"/>
            <a:ext cx="5340381" cy="186526"/>
          </a:xfrm>
        </p:spPr>
        <p:txBody>
          <a:bodyPr>
            <a:spAutoFit/>
          </a:bodyPr>
          <a:lstStyle>
            <a:lvl1pPr marL="0" indent="0">
              <a:spcAft>
                <a:spcPts val="0"/>
              </a:spcAft>
              <a:buNone/>
              <a:defRPr sz="12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— Attribution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9E747D10-7BBB-4A01-8B0C-E01972CC50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86503" y="-9144"/>
            <a:ext cx="5916912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216E81AB-9F50-4889-B893-55C34359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6" hidden="1">
            <a:extLst>
              <a:ext uri="{FF2B5EF4-FFF2-40B4-BE49-F238E27FC236}">
                <a16:creationId xmlns:a16="http://schemas.microsoft.com/office/drawing/2014/main" id="{804C3198-7A9B-44D5-BEDF-235235F889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A6DBBAA9-92F7-4B04-B157-6831738AC82A}" type="datetime4">
              <a:rPr lang="en-US" smtClean="0"/>
              <a:t>July 23, 2026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705632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4" y="360233"/>
            <a:ext cx="5329427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C1D4DCB7-987B-31A3-0F8D-41041DF92F5A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286500" y="-9144"/>
            <a:ext cx="5916915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6" hidden="1">
            <a:extLst>
              <a:ext uri="{FF2B5EF4-FFF2-40B4-BE49-F238E27FC236}">
                <a16:creationId xmlns:a16="http://schemas.microsoft.com/office/drawing/2014/main" id="{7C1CF5EF-6CDE-4837-9334-DEC1BCC59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2C55AB44-A465-440F-B1AF-326DFCED3A38}" type="datetime4">
              <a:rPr lang="en-US" smtClean="0"/>
              <a:t>July 23, 2026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D231B04-DB95-5111-5DBD-92A3D6728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365" y="1243584"/>
            <a:ext cx="5329426" cy="954107"/>
          </a:xfrm>
        </p:spPr>
        <p:txBody>
          <a:bodyPr/>
          <a:lstStyle>
            <a:lvl1pPr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886695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3"/>
            <a:ext cx="5330952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1D4DCB7-987B-31A3-0F8D-41041DF92F5A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286502" y="-9144"/>
            <a:ext cx="5916913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7" hidden="1">
            <a:extLst>
              <a:ext uri="{FF2B5EF4-FFF2-40B4-BE49-F238E27FC236}">
                <a16:creationId xmlns:a16="http://schemas.microsoft.com/office/drawing/2014/main" id="{7C1CF5EF-6CDE-4837-9334-DEC1BCC59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2C55AB44-A465-440F-B1AF-326DFCED3A38}" type="datetime4">
              <a:rPr lang="en-US" smtClean="0"/>
              <a:t>July 23, 2026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6F9773E-9A42-DC45-0E44-5A2A136F206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4365" y="1243584"/>
            <a:ext cx="2478024" cy="1231106"/>
          </a:xfrm>
        </p:spPr>
        <p:txBody>
          <a:bodyPr/>
          <a:lstStyle>
            <a:lvl1pPr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66508C5-76DF-5EFA-3933-CD90B1B9D7F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427293" y="1243584"/>
            <a:ext cx="2478024" cy="1231106"/>
          </a:xfrm>
        </p:spPr>
        <p:txBody>
          <a:bodyPr/>
          <a:lstStyle>
            <a:lvl1pPr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60397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Numbered Points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3"/>
            <a:ext cx="5330952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7FDE2-4874-4984-957C-A70C053DC5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76072" y="1243584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1D4DCB7-987B-31A3-0F8D-41041DF92F5A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286502" y="-9144"/>
            <a:ext cx="5916913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7" hidden="1">
            <a:extLst>
              <a:ext uri="{FF2B5EF4-FFF2-40B4-BE49-F238E27FC236}">
                <a16:creationId xmlns:a16="http://schemas.microsoft.com/office/drawing/2014/main" id="{7C1CF5EF-6CDE-4837-9334-DEC1BCC59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2C55AB44-A465-440F-B1AF-326DFCED3A38}" type="datetime4">
              <a:rPr lang="en-US" smtClean="0"/>
              <a:t>July 23, 2026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F5EA95-00CC-B3FD-3442-8121D31164BB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3425150" y="1243584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BD1469E-14AA-D9D8-06F2-FE414A59E73D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576072" y="3890531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96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4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76C5B92-C1FA-7596-79D8-7E05E4D9BA53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3425150" y="3890531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96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4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03844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D3A6E-7CF8-4BC2-A0EB-FA90FCA21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2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08E4A003-1EAA-47A9-9AAC-94B864F536D1}"/>
              </a:ext>
            </a:extLst>
          </p:cNvPr>
          <p:cNvSpPr>
            <a:spLocks noGrp="1"/>
          </p:cNvSpPr>
          <p:nvPr>
            <p:ph type="tbl" idx="1"/>
          </p:nvPr>
        </p:nvSpPr>
        <p:spPr>
          <a:xfrm>
            <a:off x="576072" y="1600200"/>
            <a:ext cx="11044428" cy="352958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CA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32DD8E0E-D906-4051-A76A-02442FC1B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7356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5638-9DCB-4A4B-A17A-9B6530753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2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4523EDA-C4FA-4F10-8196-8DE4BF36E8D0}"/>
              </a:ext>
            </a:extLst>
          </p:cNvPr>
          <p:cNvSpPr>
            <a:spLocks noGrp="1"/>
          </p:cNvSpPr>
          <p:nvPr>
            <p:ph type="chart" idx="1"/>
          </p:nvPr>
        </p:nvSpPr>
        <p:spPr>
          <a:xfrm>
            <a:off x="574365" y="1600200"/>
            <a:ext cx="11040880" cy="43204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CA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1CF895C5-5776-4C7F-AE1B-8503F6652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26921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5638-9DCB-4A4B-A17A-9B6530753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2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4523EDA-C4FA-4F10-8196-8DE4BF36E8D0}"/>
              </a:ext>
            </a:extLst>
          </p:cNvPr>
          <p:cNvSpPr>
            <a:spLocks noGrp="1"/>
          </p:cNvSpPr>
          <p:nvPr>
            <p:ph type="chart" idx="1"/>
          </p:nvPr>
        </p:nvSpPr>
        <p:spPr>
          <a:xfrm>
            <a:off x="574364" y="1600200"/>
            <a:ext cx="5460675" cy="43204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CA" dirty="0"/>
          </a:p>
        </p:txBody>
      </p:sp>
      <p:sp>
        <p:nvSpPr>
          <p:cNvPr id="8" name="Chart Placeholder 3">
            <a:extLst>
              <a:ext uri="{FF2B5EF4-FFF2-40B4-BE49-F238E27FC236}">
                <a16:creationId xmlns:a16="http://schemas.microsoft.com/office/drawing/2014/main" id="{0EE9AC9D-70EA-AA85-CBE6-23C5257EB501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6153810" y="1600200"/>
            <a:ext cx="5460675" cy="43204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CA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CF895C5-5776-4C7F-AE1B-8503F6652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37474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94764-B876-42DD-B472-BDC2CC61E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3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9D22D01-6D3C-4EFB-B1F4-AED8B951C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408097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4BB9D9-8ECA-4A10-B219-3433124D1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3" y="360233"/>
            <a:ext cx="8229600" cy="42441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04456C-1FCF-4CED-BB81-08069A400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4365" y="1243584"/>
            <a:ext cx="8193024" cy="124925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05F7A51-81ED-4EE1-B1B5-D78F6FA1B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5244" y="6491950"/>
            <a:ext cx="437707" cy="18288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rgbClr val="FE3082"/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38CBA7-4B79-B1CD-65D4-67FA9B0D9D97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494088" y="6703060"/>
            <a:ext cx="521970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6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© 2026 The Hartford. Classification: Non-Confidential. No part of this document may be reproduced, published, or used without the permission of The Hartford.</a:t>
            </a:r>
          </a:p>
        </p:txBody>
      </p:sp>
    </p:spTree>
    <p:extLst>
      <p:ext uri="{BB962C8B-B14F-4D97-AF65-F5344CB8AC3E}">
        <p14:creationId xmlns:p14="http://schemas.microsoft.com/office/powerpoint/2010/main" val="2771823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98" r:id="rId2"/>
    <p:sldLayoutId id="2147483700" r:id="rId3"/>
    <p:sldLayoutId id="2147483699" r:id="rId4"/>
    <p:sldLayoutId id="2147483680" r:id="rId5"/>
    <p:sldLayoutId id="2147483676" r:id="rId6"/>
    <p:sldLayoutId id="2147483701" r:id="rId7"/>
    <p:sldLayoutId id="2147483702" r:id="rId8"/>
    <p:sldLayoutId id="2147483703" r:id="rId9"/>
    <p:sldLayoutId id="2147483704" r:id="rId10"/>
    <p:sldLayoutId id="2147483675" r:id="rId11"/>
    <p:sldLayoutId id="2147483677" r:id="rId12"/>
    <p:sldLayoutId id="2147483705" r:id="rId13"/>
    <p:sldLayoutId id="2147483706" r:id="rId14"/>
    <p:sldLayoutId id="2147483707" r:id="rId15"/>
    <p:sldLayoutId id="2147483682" r:id="rId16"/>
    <p:sldLayoutId id="2147483710" r:id="rId17"/>
    <p:sldLayoutId id="2147483711" r:id="rId18"/>
    <p:sldLayoutId id="2147483712" r:id="rId19"/>
    <p:sldLayoutId id="2147483696" r:id="rId20"/>
    <p:sldLayoutId id="2147483708" r:id="rId21"/>
    <p:sldLayoutId id="2147483709" r:id="rId22"/>
    <p:sldLayoutId id="2147483679" r:id="rId23"/>
  </p:sldLayoutIdLst>
  <p:hf hdr="0" dt="0"/>
  <p:txStyles>
    <p:titleStyle>
      <a:lvl1pPr algn="l" defTabSz="914400" rtl="0" eaLnBrk="1" latinLnBrk="0" hangingPunct="1">
        <a:lnSpc>
          <a:spcPct val="98000"/>
        </a:lnSpc>
        <a:spcBef>
          <a:spcPct val="0"/>
        </a:spcBef>
        <a:buNone/>
        <a:defRPr sz="2800" kern="120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sz="1800" b="0" kern="1200">
          <a:solidFill>
            <a:srgbClr val="000000"/>
          </a:solidFill>
          <a:latin typeface="+mn-lt"/>
          <a:ea typeface="+mn-ea"/>
          <a:cs typeface="+mn-cs"/>
        </a:defRPr>
      </a:lvl1pPr>
      <a:lvl2pPr marL="341313" indent="-173038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2pPr>
      <a:lvl3pPr marL="514350" indent="-173038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 typeface="Trust Hartford Sans" pitchFamily="50" charset="0"/>
        <a:buChar char="»"/>
        <a:defRPr sz="1600" kern="1200">
          <a:solidFill>
            <a:srgbClr val="000000"/>
          </a:solidFill>
          <a:latin typeface="+mn-lt"/>
          <a:ea typeface="+mn-ea"/>
          <a:cs typeface="+mn-cs"/>
        </a:defRPr>
      </a:lvl3pPr>
      <a:lvl4pPr marL="514350" indent="-173038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1200"/>
        </a:spcAft>
        <a:buFont typeface="Trust Hartford Sans Light" pitchFamily="50" charset="0"/>
        <a:buChar char="»"/>
        <a:defRPr sz="1800" kern="1200">
          <a:solidFill>
            <a:srgbClr val="000000"/>
          </a:solidFill>
          <a:latin typeface="+mn-lt"/>
          <a:ea typeface="+mn-ea"/>
          <a:cs typeface="+mn-cs"/>
        </a:defRPr>
      </a:lvl4pPr>
      <a:lvl5pPr marL="800100" indent="-227013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 typeface="Trust Hartford Sans" pitchFamily="50" charset="0"/>
        <a:buChar char="—"/>
        <a:defRPr sz="1400" kern="1200">
          <a:solidFill>
            <a:srgbClr val="000000"/>
          </a:solidFill>
          <a:latin typeface="+mn-lt"/>
          <a:ea typeface="+mn-ea"/>
          <a:cs typeface="+mn-cs"/>
        </a:defRPr>
      </a:lvl5pPr>
      <a:lvl6pPr marL="566928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200"/>
        </a:spcAft>
        <a:buFont typeface="Trust Hartford Sans" pitchFamily="50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6pPr>
      <a:lvl7pPr marL="786384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7pPr>
      <a:lvl8pPr marL="969264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600"/>
        </a:spcAft>
        <a:buFont typeface="Trust Hartford Sans" pitchFamily="50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8pPr>
      <a:lvl9pPr marL="1188720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600"/>
        </a:spcAft>
        <a:buFont typeface="Arial" panose="020B0604020202020204" pitchFamily="34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60">
          <p15:clr>
            <a:srgbClr val="F26B43"/>
          </p15:clr>
        </p15:guide>
        <p15:guide id="3" pos="3720">
          <p15:clr>
            <a:srgbClr val="F26B43"/>
          </p15:clr>
        </p15:guide>
        <p15:guide id="4" pos="7320">
          <p15:clr>
            <a:srgbClr val="F26B43"/>
          </p15:clr>
        </p15:guide>
        <p15:guide id="5" orient="horz" pos="3840">
          <p15:clr>
            <a:srgbClr val="F26B43"/>
          </p15:clr>
        </p15:guide>
        <p15:guide id="6" orient="horz" pos="798">
          <p15:clr>
            <a:srgbClr val="F26B43"/>
          </p15:clr>
        </p15:guide>
        <p15:guide id="7" pos="39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NYC Taxi Data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Fuchsia</a:t>
            </a:r>
          </a:p>
          <a:p>
            <a:r>
              <a:t>Orlando Marin, Ariana Lopez, Maryam Choudhury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	Our Question and Why It Matters</a:t>
            </a:r>
          </a:p>
          <a:p/>
          <a:p>
            <a:r>
              <a:t>2	The Data and Our Architecture</a:t>
            </a:r>
          </a:p>
          <a:p/>
          <a:p>
            <a:r>
              <a:t>3	Data Quality: What Was Wrong and What We Did</a:t>
            </a:r>
          </a:p>
          <a:p/>
          <a:p>
            <a:r>
              <a:t>4	Findings: Year-over-Year</a:t>
            </a:r>
          </a:p>
          <a:p/>
          <a:p>
            <a:r>
              <a:t>5	Technical Deep Dive</a:t>
            </a:r>
          </a:p>
          <a:p/>
          <a:p>
            <a:r>
              <a:t>6	Future State and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Our Question and Why It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Headline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[STATE THE YEAR-OVER-YEAR FINDING IN ONE SENTENCE]</a:t>
            </a:r>
          </a:p>
          <a:p/>
          <a:p>
            <a:r>
              <a:t>Example: "Airport zone trips grew X% year over year while outer-borough demand declined by Y%"</a:t>
            </a:r>
          </a:p>
          <a:p/>
          <a:p/>
          <a:p>
            <a:r>
              <a:t>[KEY METRIC]		[KEY METRIC]		[KEY METRIC]</a:t>
            </a:r>
          </a:p>
          <a:p>
            <a:r>
              <a:t>[value]			[value]			[value]</a:t>
            </a:r>
          </a:p>
          <a:p>
            <a:r>
              <a:t>[label]			[label]			[label]</a:t>
            </a:r>
          </a:p>
          <a:p/>
          <a:p/>
          <a:p>
            <a:r>
              <a:t>Key Insight: [One sentence connecting the finding to a business recommendation]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Business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Our Question</a:t>
            </a:r>
          </a:p>
          <a:p>
            <a:r>
              <a:t>[State in one sentence, specific enough that someone could tell whether you answered it]</a:t>
            </a:r>
          </a:p>
          <a:p/>
          <a:p>
            <a:r>
              <a:t>Why It Matters</a:t>
            </a:r>
          </a:p>
          <a:p>
            <a:r>
              <a:t>[Why a business person should care about this answer]</a:t>
            </a:r>
          </a:p>
          <a:p/>
          <a:p>
            <a:r>
              <a:t>How We Know We Answered It</a:t>
            </a:r>
          </a:p>
          <a:p>
            <a:r>
              <a:t>[What evidence constitutes a sufficient answer]</a:t>
            </a:r>
          </a:p>
          <a:p/>
          <a:p>
            <a:r>
              <a:t>Scope</a:t>
            </a:r>
          </a:p>
          <a:p>
            <a:r>
              <a:t>Yellow + Green taxi trips, January-May 2025 vs January-May 2026</a:t>
            </a:r>
          </a:p>
          <a:p>
            <a:r>
              <a:t>30+ million rows across 20 Parquet files from S3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 Data and Our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We Were Given</a:t>
            </a:r>
          </a:p>
          <a:p>
            <a:r>
              <a:t>  - 20 Parquet files in s3://techcatalyst-de-2026/raw/</a:t>
            </a:r>
          </a:p>
          <a:p>
            <a:r>
              <a:t>  - Yellow taxi: 10 files, ~33 million rows (~600 MB)</a:t>
            </a:r>
          </a:p>
          <a:p>
            <a:r>
              <a:t>  - Green taxi: 10 files, ~600 thousand rows (~16 MB)</a:t>
            </a:r>
          </a:p>
          <a:p>
            <a:r>
              <a:t>  - Taxi zone lookup: 265 zones mapped to boroughs</a:t>
            </a:r>
          </a:p>
          <a:p>
            <a:r>
              <a:t>  - Date range: January-May 2025 and January-May 2026</a:t>
            </a:r>
          </a:p>
          <a:p/>
          <a:p>
            <a:r>
              <a:t>Schema Challenges</a:t>
            </a:r>
          </a:p>
          <a:p>
            <a:r>
              <a:t>  - Yellow uses tpep_pickup_datetime, Green uses lpep_pickup_datetime</a:t>
            </a:r>
          </a:p>
          <a:p>
            <a:r>
              <a:t>  - Green has ehail_fee and trip_type columns; no airport_fee</a:t>
            </a:r>
          </a:p>
          <a:p>
            <a:r>
              <a:t>  - cbd_congestion_fee column added starting January 2025</a:t>
            </a:r>
          </a:p>
          <a:p>
            <a:r>
              <a:t>  - Must reconcile before unioning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Pattern Chosen: [A (ELT) / B (ETL) / Custom]</a:t>
            </a:r>
          </a:p>
          <a:p/>
          <a:p>
            <a:r>
              <a:t>Why We Chose It</a:t>
            </a:r>
          </a:p>
          <a:p>
            <a:r>
              <a:t>[Reasoning: team strengths, reliability, scope, time constraints]</a:t>
            </a:r>
          </a:p>
          <a:p/>
          <a:p>
            <a:r>
              <a:t>What We Gave Up</a:t>
            </a:r>
          </a:p>
          <a:p>
            <a:r>
              <a:t>[Trade-off: what the other pattern would have given us]</a:t>
            </a:r>
          </a:p>
          <a:p/>
          <a:p>
            <a:r>
              <a:t>Key Design Decisions</a:t>
            </a:r>
          </a:p>
          <a:p>
            <a:r>
              <a:t>  - [Decision 1 and reasoning]</a:t>
            </a:r>
          </a:p>
          <a:p>
            <a:r>
              <a:t>  - [Decision 2 and reasoning]</a:t>
            </a:r>
          </a:p>
          <a:p>
            <a:r>
              <a:t>  - [Decision 3 and reasoning]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 Quality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Quality: What Was Wrong and What We Did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Pipeline Reconciliation</a:t>
            </a:r>
          </a:p>
          <a:p>
            <a:r>
              <a:t>  Rows in source files:		[count]</a:t>
            </a:r>
          </a:p>
          <a:p>
            <a:r>
              <a:t>  Rows loaded to bronze:		[count]</a:t>
            </a:r>
          </a:p>
          <a:p>
            <a:r>
              <a:t>  Rows surviving to silver:		[count]</a:t>
            </a:r>
          </a:p>
          <a:p>
            <a:r>
              <a:t>  Rows dropped:			[count] ([X]%)</a:t>
            </a:r>
          </a:p>
          <a:p/>
          <a:p>
            <a:r>
              <a:t>Top Defects Found</a:t>
            </a:r>
          </a:p>
          <a:p>
            <a:r>
              <a:t>  [Defect 1]: [count] records ([X]%) - Decision: [drop/correct/quarantine/keep]</a:t>
            </a:r>
          </a:p>
          <a:p>
            <a:r>
              <a:t>  [Defect 2]: [count] records ([X]%) - Decision: [drop/correct/quarantine/keep]</a:t>
            </a:r>
          </a:p>
          <a:p>
            <a:r>
              <a:t>  [Defect 3]: [count] records ([X]%) - Decision: [drop/correct/quarantine/keep]</a:t>
            </a:r>
          </a:p>
          <a:p>
            <a:r>
              <a:t>  [Defect 4]: [count] records ([X]%) - Decision: [drop/correct/quarantine/keep]</a:t>
            </a:r>
          </a:p>
          <a:p>
            <a:r>
              <a:t>  [Defect 5 - not in catalog]: [count] records ([X]%) - Decision: [action]</a:t>
            </a:r>
          </a:p>
          <a:p/>
          <a:p>
            <a:r>
              <a:t>The Cash Tip Question</a:t>
            </a:r>
          </a:p>
          <a:p>
            <a:r>
              <a:t>  tip_amount is recorded for credit card only. Cash tips appear as $0.00.</a:t>
            </a:r>
          </a:p>
          <a:p>
            <a:r>
              <a:t>  [How we handled it in our analysis]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Findings: Year-over-Year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Year-over-Year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[The Claim]</a:t>
            </a:r>
          </a:p>
          <a:p>
            <a:r>
              <a:t>"[X changed by Y% between January-May 2025 and January-May 2026]"</a:t>
            </a:r>
          </a:p>
          <a:p/>
          <a:p>
            <a:r>
              <a:t>Is the comparison fair?</a:t>
            </a:r>
          </a:p>
          <a:p>
            <a:r>
              <a:t>  [Same months, same vehicle types, same filters applied to both years]</a:t>
            </a:r>
          </a:p>
          <a:p/>
          <a:p>
            <a:r>
              <a:t>Could a data quality issue explain the difference?</a:t>
            </a:r>
          </a:p>
          <a:p>
            <a:r>
              <a:t>  [What we checked and ruled out]</a:t>
            </a:r>
          </a:p>
          <a:p/>
          <a:p>
            <a:r>
              <a:t>Is the change large enough to be real?</a:t>
            </a:r>
          </a:p>
          <a:p>
            <a:r>
              <a:t>  [Evidence it is not noise, or honest statement of confidence level]</a:t>
            </a:r>
          </a:p>
          <a:p/>
          <a:p>
            <a:r>
              <a:t>So What?</a:t>
            </a:r>
          </a:p>
          <a:p>
            <a:r>
              <a:t>  [What this means for the business, what action it suggests]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Supporting Analysis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Technical Deep Dive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Decisions and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dbt Model Layering</a:t>
            </a:r>
          </a:p>
          <a:p>
            <a:r>
              <a:t>  Staging (views): [reasoning - cheap, always current, no storage cost]</a:t>
            </a:r>
          </a:p>
          <a:p>
            <a:r>
              <a:t>  Marts (tables): [reasoning - queried repeatedly by dashboard, pay build cost once]</a:t>
            </a:r>
          </a:p>
          <a:p/>
          <a:p>
            <a:r>
              <a:t>Key Transformation Choices</a:t>
            </a:r>
          </a:p>
          <a:p>
            <a:r>
              <a:t>  - [SQL vs DataFrame for specific logic and why]</a:t>
            </a:r>
          </a:p>
          <a:p>
            <a:r>
              <a:t>  - [How we handled the Yellow/Green union]</a:t>
            </a:r>
          </a:p>
          <a:p>
            <a:r>
              <a:t>  - [Derived columns and their purpose]</a:t>
            </a:r>
          </a:p>
          <a:p/>
          <a:p>
            <a:r>
              <a:t>Testing Strategy</a:t>
            </a:r>
          </a:p>
          <a:p>
            <a:r>
              <a:t>  - not_null and unique on keys</a:t>
            </a:r>
          </a:p>
          <a:p>
            <a:r>
              <a:t>  - accepted_values on categorical lookups</a:t>
            </a:r>
          </a:p>
          <a:p>
            <a:r>
              <a:t>  - relationship tests on zone joins</a:t>
            </a:r>
          </a:p>
          <a:p>
            <a:r>
              <a:t>  - [Additional custom tests]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and Performance Rationale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Table Types</a:t>
            </a:r>
          </a:p>
          <a:p>
            <a:r>
              <a:t>  [Transient vs permanent, and what we traded away]</a:t>
            </a:r>
          </a:p>
          <a:p/>
          <a:p>
            <a:r>
              <a:t>Warehouse Sizing</a:t>
            </a:r>
          </a:p>
          <a:p>
            <a:r>
              <a:t>  Size: [X-Small / Small / Medium]</a:t>
            </a:r>
          </a:p>
          <a:p>
            <a:r>
              <a:t>  Auto-suspend: [X seconds]</a:t>
            </a:r>
          </a:p>
          <a:p>
            <a:r>
              <a:t>  Reasoning: [why this fits our workload]</a:t>
            </a:r>
          </a:p>
          <a:p/>
          <a:p>
            <a:r>
              <a:t>File Handling on Load</a:t>
            </a:r>
          </a:p>
          <a:p>
            <a:r>
              <a:t>  [How we handled file sizing and formats]</a:t>
            </a:r>
          </a:p>
          <a:p/>
          <a:p>
            <a:r>
              <a:t>At 10x the Data Volume</a:t>
            </a:r>
          </a:p>
          <a:p>
            <a:r>
              <a:t>  - [What we would change about ingestion]</a:t>
            </a:r>
          </a:p>
          <a:p>
            <a:r>
              <a:t>  - [What we would change about warehouse sizing]</a:t>
            </a:r>
          </a:p>
          <a:p>
            <a:r>
              <a:t>  - [What we would change about materialization]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Future State and Recommendation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State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[Improvement 1]		[Improvement 2]		[Improvement 3]</a:t>
            </a:r>
          </a:p>
          <a:p/>
          <a:p>
            <a:r>
              <a:t>Future Goal:			Future Goal:			Future Goal:</a:t>
            </a:r>
          </a:p>
          <a:p>
            <a:r>
              <a:t>[description]			[description]			[description]</a:t>
            </a:r>
          </a:p>
          <a:p/>
          <a:p>
            <a:r>
              <a:t>Effort Estimate:		Effort Estimate:		Effort Estimate:</a:t>
            </a:r>
          </a:p>
          <a:p>
            <a:r>
              <a:t>[time/cost]			[time/cost]			[time/cost]</a:t>
            </a:r>
          </a:p>
          <a:p/>
          <a:p>
            <a:r>
              <a:t>Business Benefit:		Business Benefit:		Business Benefit:</a:t>
            </a:r>
          </a:p>
          <a:p>
            <a:r>
              <a:t>[value]				[value]				[value]</a:t>
            </a:r>
          </a:p>
          <a:p/>
          <a:p/>
          <a:p>
            <a:r>
              <a:t>Highest-impact improvement: [which one and why]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State Architecture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[One clear recommendation for the client, tied to the finding]</a:t>
            </a:r>
          </a:p>
          <a:p/>
          <a:p/>
          <a:p>
            <a:r>
              <a:t>[Actionable next step]</a:t>
            </a:r>
          </a:p>
          <a:p/>
          <a:p/>
          <a:p>
            <a:r>
              <a:t>[What it would take to implement]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Use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Where We Used AI		What For			What We Verified</a:t>
            </a:r>
          </a:p>
          <a:p/>
          <a:p>
            <a:r>
              <a:t>[tool]				[purpose]			[verification]</a:t>
            </a:r>
          </a:p>
          <a:p>
            <a:r>
              <a:t>[tool]				[purpose]			[verification]</a:t>
            </a:r>
          </a:p>
          <a:p>
            <a:r>
              <a:t>[tool]				[purpose]			[verification]</a:t>
            </a:r>
          </a:p>
          <a:p/>
          <a:p/>
          <a:p>
            <a:r>
              <a:t>What We Rejected or Corrected From AI Suggestions</a:t>
            </a:r>
          </a:p>
          <a:p>
            <a:r>
              <a:t>  [description of corrections made]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Hartford Template Slides">
  <a:themeElements>
    <a:clrScheme name="HIG Theme Colors">
      <a:dk1>
        <a:sysClr val="windowText" lastClr="000000"/>
      </a:dk1>
      <a:lt1>
        <a:srgbClr val="FFFFFF"/>
      </a:lt1>
      <a:dk2>
        <a:srgbClr val="75013F"/>
      </a:dk2>
      <a:lt2>
        <a:srgbClr val="FE3082"/>
      </a:lt2>
      <a:accent1>
        <a:srgbClr val="BF4A24"/>
      </a:accent1>
      <a:accent2>
        <a:srgbClr val="7A9900"/>
      </a:accent2>
      <a:accent3>
        <a:srgbClr val="367A3D"/>
      </a:accent3>
      <a:accent4>
        <a:srgbClr val="12543D"/>
      </a:accent4>
      <a:accent5>
        <a:srgbClr val="818284"/>
      </a:accent5>
      <a:accent6>
        <a:srgbClr val="1C2E5E"/>
      </a:accent6>
      <a:hlink>
        <a:srgbClr val="0D5996"/>
      </a:hlink>
      <a:folHlink>
        <a:srgbClr val="000000"/>
      </a:folHlink>
    </a:clrScheme>
    <a:fontScheme name="The Hartford Fonts">
      <a:majorFont>
        <a:latin typeface="Trust Hartford Serif"/>
        <a:ea typeface=""/>
        <a:cs typeface=""/>
      </a:majorFont>
      <a:minorFont>
        <a:latin typeface="Trust Hartford Sans"/>
        <a:ea typeface=""/>
        <a:cs typeface=""/>
      </a:minorFont>
    </a:fontScheme>
    <a:fmtScheme name="Flat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>
            <a:shade val="65000"/>
          </a:schemeClr>
        </a:solidFill>
      </a:fillStyleLst>
      <a:lnStyleLst>
        <a:ln w="3175" cap="flat" cmpd="sng" algn="ctr">
          <a:solidFill>
            <a:schemeClr val="phClr">
              <a:shade val="65000"/>
            </a:schemeClr>
          </a:solidFill>
          <a:prstDash val="solid"/>
        </a:ln>
        <a:ln w="3175" cap="flat" cmpd="sng" algn="ctr">
          <a:solidFill>
            <a:schemeClr val="phClr"/>
          </a:solidFill>
          <a:prstDash val="solid"/>
        </a:ln>
        <a:ln w="0" cap="flat" cmpd="sng" algn="ctr">
          <a:noFill/>
        </a:ln>
      </a:lnStyleLst>
      <a:effectStyleLst>
        <a:effectStyle>
          <a:effectLst>
            <a:blur/>
          </a:effectLst>
        </a:effectStyle>
        <a:effectStyle>
          <a:effectLst>
            <a:blur/>
          </a:effectLst>
        </a:effectStyle>
        <a:effectStyle>
          <a:effectLst>
            <a:fillOverlay blend="darken">
              <a:solidFill>
                <a:schemeClr val="phClr">
                  <a:shade val="30000"/>
                </a:schemeClr>
              </a:solidFill>
            </a:fillOverlay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Burgundy">
      <a:srgbClr val="75013F"/>
    </a:custClr>
    <a:custClr name="Pink">
      <a:srgbClr val="FE3082"/>
    </a:custClr>
    <a:custClr name="Tan">
      <a:srgbClr val="EBE5DF"/>
    </a:custClr>
    <a:custClr name="Tangerine">
      <a:srgbClr val="F59900"/>
    </a:custClr>
    <a:custClr name="Burnt Orange">
      <a:srgbClr val="BF4A24"/>
    </a:custClr>
    <a:custClr name="Yellow Green">
      <a:srgbClr val="7A9900"/>
    </a:custClr>
    <a:custClr name="Dark Yellow Green">
      <a:srgbClr val="367A3D"/>
    </a:custClr>
    <a:custClr name="Green">
      <a:srgbClr val="3DA373"/>
    </a:custClr>
    <a:custClr name="Dark Green">
      <a:srgbClr val="12543D"/>
    </a:custClr>
    <a:custClr name="Light Blue">
      <a:srgbClr val="73A3C2"/>
    </a:custClr>
    <a:custClr name="Dark Blue">
      <a:srgbClr val="1C2E5E"/>
    </a:custClr>
    <a:custClr name="Grey">
      <a:srgbClr val="808080"/>
    </a:custClr>
  </a:custClrLst>
  <a:extLst>
    <a:ext uri="{05A4C25C-085E-4340-85A3-A5531E510DB2}">
      <thm15:themeFamily xmlns:thm15="http://schemas.microsoft.com/office/thememl/2012/main" name="HIG_Widescreen_Template_FINAL.pptx" id="{CD353832-D829-4280-89A1-06AFFF1CC76B}" vid="{3B90B76E-4DE7-4C57-AA79-D886034896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42c473a-5317-4d13-ad87-86a2a47c9514">
      <Terms xmlns="http://schemas.microsoft.com/office/infopath/2007/PartnerControls"/>
    </lcf76f155ced4ddcb4097134ff3c332f>
    <TaxCatchAll xmlns="65a51801-ec80-49bd-9bc3-86cb9f3d0a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9D4D9C6D7EB3A45BA07DDCE137F3A77" ma:contentTypeVersion="16" ma:contentTypeDescription="Create a new document." ma:contentTypeScope="" ma:versionID="80a29a38a3811a9c8488ec60c8ebf733">
  <xsd:schema xmlns:xsd="http://www.w3.org/2001/XMLSchema" xmlns:xs="http://www.w3.org/2001/XMLSchema" xmlns:p="http://schemas.microsoft.com/office/2006/metadata/properties" xmlns:ns2="842c473a-5317-4d13-ad87-86a2a47c9514" xmlns:ns3="65a51801-ec80-49bd-9bc3-86cb9f3d0aa5" xmlns:ns4="dca353f4-67a1-4cb1-9c7d-5d6923610443" targetNamespace="http://schemas.microsoft.com/office/2006/metadata/properties" ma:root="true" ma:fieldsID="d5f0f043c1799197e3af8cd28bdc65c6" ns2:_="" ns3:_="" ns4:_="">
    <xsd:import namespace="842c473a-5317-4d13-ad87-86a2a47c9514"/>
    <xsd:import namespace="65a51801-ec80-49bd-9bc3-86cb9f3d0aa5"/>
    <xsd:import namespace="dca353f4-67a1-4cb1-9c7d-5d692361044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4:SharedWithUsers" minOccurs="0"/>
                <xsd:element ref="ns4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2c473a-5317-4d13-ad87-86a2a47c95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0c56ab5-1ab2-4a8e-bda2-ee42cffeb21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51801-ec80-49bd-9bc3-86cb9f3d0aa5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b53f09ee-0b74-43df-b2fc-a7c8c11a9fab}" ma:internalName="TaxCatchAll" ma:showField="CatchAllData" ma:web="dca353f4-67a1-4cb1-9c7d-5d69236104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a353f4-67a1-4cb1-9c7d-5d6923610443" elementFormDefault="qualified">
    <xsd:import namespace="http://schemas.microsoft.com/office/2006/documentManagement/types"/>
    <xsd:import namespace="http://schemas.microsoft.com/office/infopath/2007/PartnerControls"/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F5A6BA-5C40-4396-A321-3C576FF36A31}">
  <ds:schemaRefs>
    <ds:schemaRef ds:uri="http://schemas.microsoft.com/office/2006/metadata/properties"/>
    <ds:schemaRef ds:uri="http://schemas.microsoft.com/office/infopath/2007/PartnerControls"/>
    <ds:schemaRef ds:uri="842c473a-5317-4d13-ad87-86a2a47c9514"/>
    <ds:schemaRef ds:uri="65a51801-ec80-49bd-9bc3-86cb9f3d0aa5"/>
  </ds:schemaRefs>
</ds:datastoreItem>
</file>

<file path=customXml/itemProps2.xml><?xml version="1.0" encoding="utf-8"?>
<ds:datastoreItem xmlns:ds="http://schemas.openxmlformats.org/officeDocument/2006/customXml" ds:itemID="{4387F914-44F5-4DBF-AC00-AB7E9ECE04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42c473a-5317-4d13-ad87-86a2a47c9514"/>
    <ds:schemaRef ds:uri="65a51801-ec80-49bd-9bc3-86cb9f3d0aa5"/>
    <ds:schemaRef ds:uri="dca353f4-67a1-4cb1-9c7d-5d69236104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1E6C963-5293-43DA-A96C-045F7BFE166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</TotalTime>
  <Words>1907</Words>
  <Application>Microsoft Office PowerPoint</Application>
  <PresentationFormat>Widescreen</PresentationFormat>
  <Paragraphs>297</Paragraphs>
  <Slides>32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1" baseType="lpstr">
      <vt:lpstr>Calibri</vt:lpstr>
      <vt:lpstr>Aptos</vt:lpstr>
      <vt:lpstr>Trust Hartford Mono</vt:lpstr>
      <vt:lpstr>Trust Hartford Sans</vt:lpstr>
      <vt:lpstr>Trust Hartford Sans Light</vt:lpstr>
      <vt:lpstr>Trust Hartford Serif</vt:lpstr>
      <vt:lpstr>Arial</vt:lpstr>
      <vt:lpstr>Trust Hartford Serif XLight</vt:lpstr>
      <vt:lpstr>The Hartford Template Slides</vt:lpstr>
      <vt:lpstr>PowerPoint Presentation</vt:lpstr>
      <vt:lpstr>Template Slides</vt:lpstr>
      <vt:lpstr>Title and Divider Slides</vt:lpstr>
      <vt:lpstr>Content Slides</vt:lpstr>
      <vt:lpstr>Print Presentation Example</vt:lpstr>
      <vt:lpstr>Digital Presentation Example</vt:lpstr>
      <vt:lpstr>Color Option Examples</vt:lpstr>
      <vt:lpstr>Chart Templates</vt:lpstr>
      <vt:lpstr>Chart and Table Examples</vt:lpstr>
      <vt:lpstr>Financial Chart and Table Examples</vt:lpstr>
      <vt:lpstr>How to Add the New Financial Chart Colors</vt:lpstr>
      <vt:lpstr>Fonts</vt:lpstr>
      <vt:lpstr>Fonts</vt:lpstr>
      <vt:lpstr>Converting Slide Formats to Avoid Content Distortion</vt:lpstr>
      <vt:lpstr>Applying the Template to Existing Presentations</vt:lpstr>
      <vt:lpstr>Your presentation begins here.</vt:lpstr>
      <vt:lpstr>1</vt:lpstr>
      <vt:lpstr>2</vt:lpstr>
      <vt:lpstr>3</vt:lpstr>
      <vt:lpstr>4</vt:lpstr>
      <vt:lpstr>Title Slide for Reduced Ink Printing</vt:lpstr>
      <vt:lpstr>PowerPoint Presentation</vt:lpstr>
      <vt:lpstr>Agenda</vt:lpstr>
      <vt:lpstr>PowerPoint Presentation</vt:lpstr>
      <vt:lpstr>Sample Chart and Stats Callout</vt:lpstr>
      <vt:lpstr>Sample Pie Chart</vt:lpstr>
      <vt:lpstr>Sample Finance Pie Chart</vt:lpstr>
      <vt:lpstr>Sample Clustered Column and Line Chart</vt:lpstr>
      <vt:lpstr>Sample Line Chart</vt:lpstr>
      <vt:lpstr>Sample Tables </vt:lpstr>
      <vt:lpstr>Sample Tables </vt:lpstr>
      <vt:lpstr>Sample Icon Use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Marin, Orlando (Applied AI and Analytics)</dc:creator>
  <cp:keywords/>
  <dc:description>Version 1.2
25-BD-2785360 Brand Refresh - HIG Master Template - Widescreen PPT FINAL</dc:description>
  <cp:lastModifiedBy>Marin, Orlando (Applied AI and Analytics)</cp:lastModifiedBy>
  <cp:revision>1</cp:revision>
  <cp:lastPrinted>2024-04-30T20:31:00Z</cp:lastPrinted>
  <dcterms:created xsi:type="dcterms:W3CDTF">2026-07-23T20:23:29Z</dcterms:created>
  <dcterms:modified xsi:type="dcterms:W3CDTF">2026-07-23T20:29:41Z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927861f-9136-4b0c-8ea1-6998fc0dabd0_Enabled">
    <vt:lpwstr>true</vt:lpwstr>
  </property>
  <property fmtid="{D5CDD505-2E9C-101B-9397-08002B2CF9AE}" pid="3" name="MSIP_Label_d927861f-9136-4b0c-8ea1-6998fc0dabd0_SetDate">
    <vt:lpwstr>2026-07-23T20:28:35Z</vt:lpwstr>
  </property>
  <property fmtid="{D5CDD505-2E9C-101B-9397-08002B2CF9AE}" pid="4" name="MSIP_Label_d927861f-9136-4b0c-8ea1-6998fc0dabd0_Method">
    <vt:lpwstr>Privileged</vt:lpwstr>
  </property>
  <property fmtid="{D5CDD505-2E9C-101B-9397-08002B2CF9AE}" pid="5" name="MSIP_Label_d927861f-9136-4b0c-8ea1-6998fc0dabd0_Name">
    <vt:lpwstr>NC - Show Footer</vt:lpwstr>
  </property>
  <property fmtid="{D5CDD505-2E9C-101B-9397-08002B2CF9AE}" pid="6" name="MSIP_Label_d927861f-9136-4b0c-8ea1-6998fc0dabd0_SiteId">
    <vt:lpwstr>a311fc62-83f4-45f0-9502-1bb2247d4c8d</vt:lpwstr>
  </property>
  <property fmtid="{D5CDD505-2E9C-101B-9397-08002B2CF9AE}" pid="7" name="MSIP_Label_d927861f-9136-4b0c-8ea1-6998fc0dabd0_ActionId">
    <vt:lpwstr>6e341894-8460-4288-9635-75af306aec01</vt:lpwstr>
  </property>
  <property fmtid="{D5CDD505-2E9C-101B-9397-08002B2CF9AE}" pid="8" name="MSIP_Label_d927861f-9136-4b0c-8ea1-6998fc0dabd0_ContentBits">
    <vt:lpwstr>2</vt:lpwstr>
  </property>
  <property fmtid="{D5CDD505-2E9C-101B-9397-08002B2CF9AE}" pid="9" name="MSIP_Label_d927861f-9136-4b0c-8ea1-6998fc0dabd0_Tag">
    <vt:lpwstr>10, 0, 1, 1</vt:lpwstr>
  </property>
  <property fmtid="{D5CDD505-2E9C-101B-9397-08002B2CF9AE}" pid="10" name="ClassificationContentMarkingFooterLocations">
    <vt:lpwstr>The Hartford Template Slides:5</vt:lpwstr>
  </property>
  <property fmtid="{D5CDD505-2E9C-101B-9397-08002B2CF9AE}" pid="11" name="ClassificationContentMarkingFooterText">
    <vt:lpwstr>© 2026 The Hartford. Classification: Non-Confidential. No part of this document may be reproduced, published, or used without the permission of The Hartford.</vt:lpwstr>
  </property>
</Properties>
</file>